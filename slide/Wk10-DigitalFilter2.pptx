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ink/ink1.xml" ContentType="application/inkml+xml"/>
  <Override PartName="/ppt/notesSlides/notesSlide37.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24" r:id="rId4"/>
    <p:sldMasterId id="2147483978" r:id="rId5"/>
    <p:sldMasterId id="2147483989" r:id="rId6"/>
    <p:sldMasterId id="2147484019" r:id="rId7"/>
  </p:sldMasterIdLst>
  <p:notesMasterIdLst>
    <p:notesMasterId r:id="rId145"/>
  </p:notesMasterIdLst>
  <p:handoutMasterIdLst>
    <p:handoutMasterId r:id="rId146"/>
  </p:handoutMasterIdLst>
  <p:sldIdLst>
    <p:sldId id="463" r:id="rId8"/>
    <p:sldId id="516" r:id="rId9"/>
    <p:sldId id="571" r:id="rId10"/>
    <p:sldId id="604" r:id="rId11"/>
    <p:sldId id="605" r:id="rId12"/>
    <p:sldId id="606" r:id="rId13"/>
    <p:sldId id="607" r:id="rId14"/>
    <p:sldId id="608" r:id="rId15"/>
    <p:sldId id="623" r:id="rId16"/>
    <p:sldId id="624" r:id="rId17"/>
    <p:sldId id="625" r:id="rId18"/>
    <p:sldId id="622" r:id="rId19"/>
    <p:sldId id="609" r:id="rId20"/>
    <p:sldId id="610" r:id="rId21"/>
    <p:sldId id="611" r:id="rId22"/>
    <p:sldId id="612" r:id="rId23"/>
    <p:sldId id="627" r:id="rId24"/>
    <p:sldId id="626" r:id="rId25"/>
    <p:sldId id="628" r:id="rId26"/>
    <p:sldId id="613" r:id="rId27"/>
    <p:sldId id="614" r:id="rId28"/>
    <p:sldId id="616" r:id="rId29"/>
    <p:sldId id="617" r:id="rId30"/>
    <p:sldId id="618" r:id="rId31"/>
    <p:sldId id="619" r:id="rId32"/>
    <p:sldId id="620" r:id="rId33"/>
    <p:sldId id="621" r:id="rId34"/>
    <p:sldId id="572" r:id="rId35"/>
    <p:sldId id="573" r:id="rId36"/>
    <p:sldId id="589" r:id="rId37"/>
    <p:sldId id="574" r:id="rId38"/>
    <p:sldId id="597" r:id="rId39"/>
    <p:sldId id="590" r:id="rId40"/>
    <p:sldId id="591" r:id="rId41"/>
    <p:sldId id="592" r:id="rId42"/>
    <p:sldId id="496" r:id="rId43"/>
    <p:sldId id="594" r:id="rId44"/>
    <p:sldId id="593" r:id="rId45"/>
    <p:sldId id="595" r:id="rId46"/>
    <p:sldId id="576" r:id="rId47"/>
    <p:sldId id="596" r:id="rId48"/>
    <p:sldId id="577" r:id="rId49"/>
    <p:sldId id="598" r:id="rId50"/>
    <p:sldId id="599" r:id="rId51"/>
    <p:sldId id="600" r:id="rId52"/>
    <p:sldId id="601" r:id="rId53"/>
    <p:sldId id="602" r:id="rId54"/>
    <p:sldId id="603" r:id="rId55"/>
    <p:sldId id="578" r:id="rId56"/>
    <p:sldId id="579" r:id="rId57"/>
    <p:sldId id="580" r:id="rId58"/>
    <p:sldId id="575" r:id="rId59"/>
    <p:sldId id="581" r:id="rId60"/>
    <p:sldId id="582" r:id="rId61"/>
    <p:sldId id="583" r:id="rId62"/>
    <p:sldId id="584" r:id="rId63"/>
    <p:sldId id="585" r:id="rId64"/>
    <p:sldId id="586" r:id="rId65"/>
    <p:sldId id="587" r:id="rId66"/>
    <p:sldId id="588" r:id="rId67"/>
    <p:sldId id="409" r:id="rId68"/>
    <p:sldId id="557" r:id="rId69"/>
    <p:sldId id="558" r:id="rId70"/>
    <p:sldId id="559" r:id="rId71"/>
    <p:sldId id="538" r:id="rId72"/>
    <p:sldId id="539" r:id="rId73"/>
    <p:sldId id="560" r:id="rId74"/>
    <p:sldId id="561" r:id="rId75"/>
    <p:sldId id="562" r:id="rId76"/>
    <p:sldId id="563" r:id="rId77"/>
    <p:sldId id="564" r:id="rId78"/>
    <p:sldId id="565" r:id="rId79"/>
    <p:sldId id="567" r:id="rId80"/>
    <p:sldId id="568" r:id="rId81"/>
    <p:sldId id="537" r:id="rId82"/>
    <p:sldId id="503" r:id="rId83"/>
    <p:sldId id="523" r:id="rId84"/>
    <p:sldId id="524" r:id="rId85"/>
    <p:sldId id="525" r:id="rId86"/>
    <p:sldId id="526" r:id="rId87"/>
    <p:sldId id="527" r:id="rId88"/>
    <p:sldId id="528" r:id="rId89"/>
    <p:sldId id="529" r:id="rId90"/>
    <p:sldId id="530" r:id="rId91"/>
    <p:sldId id="531" r:id="rId92"/>
    <p:sldId id="532" r:id="rId93"/>
    <p:sldId id="533" r:id="rId94"/>
    <p:sldId id="534" r:id="rId95"/>
    <p:sldId id="535" r:id="rId96"/>
    <p:sldId id="536" r:id="rId97"/>
    <p:sldId id="504" r:id="rId98"/>
    <p:sldId id="505" r:id="rId99"/>
    <p:sldId id="517" r:id="rId100"/>
    <p:sldId id="506" r:id="rId101"/>
    <p:sldId id="507" r:id="rId102"/>
    <p:sldId id="508" r:id="rId103"/>
    <p:sldId id="510" r:id="rId104"/>
    <p:sldId id="512" r:id="rId105"/>
    <p:sldId id="518" r:id="rId106"/>
    <p:sldId id="519" r:id="rId107"/>
    <p:sldId id="520" r:id="rId108"/>
    <p:sldId id="513" r:id="rId109"/>
    <p:sldId id="521" r:id="rId110"/>
    <p:sldId id="522" r:id="rId111"/>
    <p:sldId id="511" r:id="rId112"/>
    <p:sldId id="515" r:id="rId113"/>
    <p:sldId id="487" r:id="rId114"/>
    <p:sldId id="440" r:id="rId115"/>
    <p:sldId id="489" r:id="rId116"/>
    <p:sldId id="464" r:id="rId117"/>
    <p:sldId id="490" r:id="rId118"/>
    <p:sldId id="495" r:id="rId119"/>
    <p:sldId id="491" r:id="rId120"/>
    <p:sldId id="492" r:id="rId121"/>
    <p:sldId id="493" r:id="rId122"/>
    <p:sldId id="483" r:id="rId123"/>
    <p:sldId id="484" r:id="rId124"/>
    <p:sldId id="494" r:id="rId125"/>
    <p:sldId id="475" r:id="rId126"/>
    <p:sldId id="497" r:id="rId127"/>
    <p:sldId id="485" r:id="rId128"/>
    <p:sldId id="501" r:id="rId129"/>
    <p:sldId id="500" r:id="rId130"/>
    <p:sldId id="502" r:id="rId131"/>
    <p:sldId id="473" r:id="rId132"/>
    <p:sldId id="476" r:id="rId133"/>
    <p:sldId id="477" r:id="rId134"/>
    <p:sldId id="478" r:id="rId135"/>
    <p:sldId id="480" r:id="rId136"/>
    <p:sldId id="481" r:id="rId137"/>
    <p:sldId id="482" r:id="rId138"/>
    <p:sldId id="433" r:id="rId139"/>
    <p:sldId id="394" r:id="rId140"/>
    <p:sldId id="351" r:id="rId141"/>
    <p:sldId id="365" r:id="rId142"/>
    <p:sldId id="427" r:id="rId143"/>
    <p:sldId id="396" r:id="rId144"/>
  </p:sldIdLst>
  <p:sldSz cx="12192000" cy="6858000"/>
  <p:notesSz cx="9869488" cy="6735763"/>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p:defaultTextStyle>
  <p:extLst>
    <p:ext uri="{521415D9-36F7-43E2-AB2F-B90AF26B5E84}">
      <p14:sectionLst xmlns:p14="http://schemas.microsoft.com/office/powerpoint/2010/main">
        <p14:section name="既定のセクション" id="{52E52AE5-B9FA-4318-BDF6-7577F6F2861D}">
          <p14:sldIdLst>
            <p14:sldId id="463"/>
            <p14:sldId id="516"/>
            <p14:sldId id="571"/>
            <p14:sldId id="604"/>
            <p14:sldId id="605"/>
            <p14:sldId id="606"/>
            <p14:sldId id="607"/>
            <p14:sldId id="608"/>
            <p14:sldId id="623"/>
            <p14:sldId id="624"/>
            <p14:sldId id="625"/>
            <p14:sldId id="622"/>
            <p14:sldId id="609"/>
            <p14:sldId id="610"/>
            <p14:sldId id="611"/>
            <p14:sldId id="612"/>
            <p14:sldId id="627"/>
            <p14:sldId id="626"/>
            <p14:sldId id="628"/>
            <p14:sldId id="613"/>
            <p14:sldId id="614"/>
            <p14:sldId id="616"/>
            <p14:sldId id="617"/>
            <p14:sldId id="618"/>
            <p14:sldId id="619"/>
            <p14:sldId id="620"/>
            <p14:sldId id="621"/>
            <p14:sldId id="572"/>
            <p14:sldId id="573"/>
            <p14:sldId id="589"/>
            <p14:sldId id="574"/>
            <p14:sldId id="597"/>
            <p14:sldId id="590"/>
            <p14:sldId id="591"/>
            <p14:sldId id="592"/>
            <p14:sldId id="496"/>
            <p14:sldId id="594"/>
            <p14:sldId id="593"/>
            <p14:sldId id="595"/>
            <p14:sldId id="576"/>
            <p14:sldId id="596"/>
            <p14:sldId id="577"/>
            <p14:sldId id="598"/>
            <p14:sldId id="599"/>
            <p14:sldId id="600"/>
            <p14:sldId id="601"/>
            <p14:sldId id="602"/>
            <p14:sldId id="603"/>
            <p14:sldId id="578"/>
            <p14:sldId id="579"/>
            <p14:sldId id="580"/>
            <p14:sldId id="575"/>
            <p14:sldId id="581"/>
            <p14:sldId id="582"/>
            <p14:sldId id="583"/>
            <p14:sldId id="584"/>
            <p14:sldId id="585"/>
            <p14:sldId id="586"/>
            <p14:sldId id="587"/>
            <p14:sldId id="588"/>
            <p14:sldId id="409"/>
            <p14:sldId id="557"/>
            <p14:sldId id="558"/>
            <p14:sldId id="559"/>
            <p14:sldId id="538"/>
            <p14:sldId id="539"/>
            <p14:sldId id="560"/>
            <p14:sldId id="561"/>
            <p14:sldId id="562"/>
            <p14:sldId id="563"/>
            <p14:sldId id="564"/>
            <p14:sldId id="565"/>
            <p14:sldId id="567"/>
            <p14:sldId id="568"/>
            <p14:sldId id="537"/>
            <p14:sldId id="503"/>
            <p14:sldId id="523"/>
            <p14:sldId id="524"/>
            <p14:sldId id="525"/>
            <p14:sldId id="526"/>
            <p14:sldId id="527"/>
            <p14:sldId id="528"/>
            <p14:sldId id="529"/>
            <p14:sldId id="530"/>
            <p14:sldId id="531"/>
            <p14:sldId id="532"/>
            <p14:sldId id="533"/>
            <p14:sldId id="534"/>
            <p14:sldId id="535"/>
            <p14:sldId id="536"/>
            <p14:sldId id="504"/>
            <p14:sldId id="505"/>
            <p14:sldId id="517"/>
            <p14:sldId id="506"/>
            <p14:sldId id="507"/>
            <p14:sldId id="508"/>
            <p14:sldId id="510"/>
            <p14:sldId id="512"/>
            <p14:sldId id="518"/>
            <p14:sldId id="519"/>
            <p14:sldId id="520"/>
            <p14:sldId id="513"/>
            <p14:sldId id="521"/>
            <p14:sldId id="522"/>
            <p14:sldId id="511"/>
            <p14:sldId id="515"/>
            <p14:sldId id="487"/>
            <p14:sldId id="440"/>
            <p14:sldId id="489"/>
            <p14:sldId id="464"/>
            <p14:sldId id="490"/>
            <p14:sldId id="495"/>
            <p14:sldId id="491"/>
            <p14:sldId id="492"/>
            <p14:sldId id="493"/>
            <p14:sldId id="483"/>
            <p14:sldId id="484"/>
            <p14:sldId id="494"/>
            <p14:sldId id="475"/>
          </p14:sldIdLst>
        </p14:section>
        <p14:section name="タイトルなしのセクション" id="{54AB21DE-C8B7-4850-AA3C-D88A6ABE412B}">
          <p14:sldIdLst>
            <p14:sldId id="497"/>
            <p14:sldId id="485"/>
            <p14:sldId id="501"/>
            <p14:sldId id="500"/>
            <p14:sldId id="502"/>
            <p14:sldId id="473"/>
            <p14:sldId id="476"/>
            <p14:sldId id="477"/>
            <p14:sldId id="478"/>
            <p14:sldId id="480"/>
            <p14:sldId id="481"/>
            <p14:sldId id="482"/>
            <p14:sldId id="433"/>
            <p14:sldId id="394"/>
            <p14:sldId id="351"/>
            <p14:sldId id="365"/>
            <p14:sldId id="427"/>
            <p14:sldId id="396"/>
          </p14:sldIdLst>
        </p14:section>
      </p14:sectionLst>
    </p:ext>
    <p:ext uri="{EFAFB233-063F-42B5-8137-9DF3F51BA10A}">
      <p15:sldGuideLst xmlns:p15="http://schemas.microsoft.com/office/powerpoint/2012/main">
        <p15:guide id="1" orient="horz" pos="921" userDrawn="1">
          <p15:clr>
            <a:srgbClr val="A4A3A4"/>
          </p15:clr>
        </p15:guide>
        <p15:guide id="2" pos="37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4"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FF"/>
    <a:srgbClr val="3399FF"/>
    <a:srgbClr val="6699FF"/>
    <a:srgbClr val="FF3300"/>
    <a:srgbClr val="B60225"/>
    <a:srgbClr val="C03137"/>
    <a:srgbClr val="969EA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82DBDB-4F5E-687E-8EB6-55F4E09EEAE3}" v="4" dt="2026-09-07T01:21:28.6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921"/>
        <p:guide pos="375"/>
      </p:guideLst>
    </p:cSldViewPr>
  </p:slide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0.xml"/><Relationship Id="rId21" Type="http://schemas.openxmlformats.org/officeDocument/2006/relationships/slide" Target="slides/slide14.xml"/><Relationship Id="rId42" Type="http://schemas.openxmlformats.org/officeDocument/2006/relationships/slide" Target="slides/slide35.xml"/><Relationship Id="rId63" Type="http://schemas.openxmlformats.org/officeDocument/2006/relationships/slide" Target="slides/slide56.xml"/><Relationship Id="rId84" Type="http://schemas.openxmlformats.org/officeDocument/2006/relationships/slide" Target="slides/slide77.xml"/><Relationship Id="rId138" Type="http://schemas.openxmlformats.org/officeDocument/2006/relationships/slide" Target="slides/slide131.xml"/><Relationship Id="rId107" Type="http://schemas.openxmlformats.org/officeDocument/2006/relationships/slide" Target="slides/slide100.xml"/><Relationship Id="rId11" Type="http://schemas.openxmlformats.org/officeDocument/2006/relationships/slide" Target="slides/slide4.xml"/><Relationship Id="rId32" Type="http://schemas.openxmlformats.org/officeDocument/2006/relationships/slide" Target="slides/slide25.xml"/><Relationship Id="rId53" Type="http://schemas.openxmlformats.org/officeDocument/2006/relationships/slide" Target="slides/slide46.xml"/><Relationship Id="rId74" Type="http://schemas.openxmlformats.org/officeDocument/2006/relationships/slide" Target="slides/slide67.xml"/><Relationship Id="rId128" Type="http://schemas.openxmlformats.org/officeDocument/2006/relationships/slide" Target="slides/slide121.xml"/><Relationship Id="rId149" Type="http://schemas.openxmlformats.org/officeDocument/2006/relationships/theme" Target="theme/theme1.xml"/><Relationship Id="rId5" Type="http://schemas.openxmlformats.org/officeDocument/2006/relationships/slideMaster" Target="slideMasters/slideMaster2.xml"/><Relationship Id="rId95" Type="http://schemas.openxmlformats.org/officeDocument/2006/relationships/slide" Target="slides/slide88.xml"/><Relationship Id="rId22" Type="http://schemas.openxmlformats.org/officeDocument/2006/relationships/slide" Target="slides/slide15.xml"/><Relationship Id="rId27" Type="http://schemas.openxmlformats.org/officeDocument/2006/relationships/slide" Target="slides/slide20.xml"/><Relationship Id="rId43" Type="http://schemas.openxmlformats.org/officeDocument/2006/relationships/slide" Target="slides/slide36.xml"/><Relationship Id="rId48" Type="http://schemas.openxmlformats.org/officeDocument/2006/relationships/slide" Target="slides/slide41.xml"/><Relationship Id="rId64" Type="http://schemas.openxmlformats.org/officeDocument/2006/relationships/slide" Target="slides/slide57.xml"/><Relationship Id="rId69" Type="http://schemas.openxmlformats.org/officeDocument/2006/relationships/slide" Target="slides/slide62.xml"/><Relationship Id="rId113" Type="http://schemas.openxmlformats.org/officeDocument/2006/relationships/slide" Target="slides/slide106.xml"/><Relationship Id="rId118" Type="http://schemas.openxmlformats.org/officeDocument/2006/relationships/slide" Target="slides/slide111.xml"/><Relationship Id="rId134" Type="http://schemas.openxmlformats.org/officeDocument/2006/relationships/slide" Target="slides/slide127.xml"/><Relationship Id="rId139" Type="http://schemas.openxmlformats.org/officeDocument/2006/relationships/slide" Target="slides/slide132.xml"/><Relationship Id="rId80" Type="http://schemas.openxmlformats.org/officeDocument/2006/relationships/slide" Target="slides/slide73.xml"/><Relationship Id="rId85" Type="http://schemas.openxmlformats.org/officeDocument/2006/relationships/slide" Target="slides/slide78.xml"/><Relationship Id="rId150" Type="http://schemas.openxmlformats.org/officeDocument/2006/relationships/tableStyles" Target="tableStyles.xml"/><Relationship Id="rId12" Type="http://schemas.openxmlformats.org/officeDocument/2006/relationships/slide" Target="slides/slide5.xml"/><Relationship Id="rId17" Type="http://schemas.openxmlformats.org/officeDocument/2006/relationships/slide" Target="slides/slide10.xml"/><Relationship Id="rId33" Type="http://schemas.openxmlformats.org/officeDocument/2006/relationships/slide" Target="slides/slide26.xml"/><Relationship Id="rId38" Type="http://schemas.openxmlformats.org/officeDocument/2006/relationships/slide" Target="slides/slide31.xml"/><Relationship Id="rId59" Type="http://schemas.openxmlformats.org/officeDocument/2006/relationships/slide" Target="slides/slide52.xml"/><Relationship Id="rId103" Type="http://schemas.openxmlformats.org/officeDocument/2006/relationships/slide" Target="slides/slide96.xml"/><Relationship Id="rId108" Type="http://schemas.openxmlformats.org/officeDocument/2006/relationships/slide" Target="slides/slide101.xml"/><Relationship Id="rId124" Type="http://schemas.openxmlformats.org/officeDocument/2006/relationships/slide" Target="slides/slide117.xml"/><Relationship Id="rId129" Type="http://schemas.openxmlformats.org/officeDocument/2006/relationships/slide" Target="slides/slide122.xml"/><Relationship Id="rId54" Type="http://schemas.openxmlformats.org/officeDocument/2006/relationships/slide" Target="slides/slide47.xml"/><Relationship Id="rId70" Type="http://schemas.openxmlformats.org/officeDocument/2006/relationships/slide" Target="slides/slide63.xml"/><Relationship Id="rId75" Type="http://schemas.openxmlformats.org/officeDocument/2006/relationships/slide" Target="slides/slide68.xml"/><Relationship Id="rId91" Type="http://schemas.openxmlformats.org/officeDocument/2006/relationships/slide" Target="slides/slide84.xml"/><Relationship Id="rId96" Type="http://schemas.openxmlformats.org/officeDocument/2006/relationships/slide" Target="slides/slide89.xml"/><Relationship Id="rId140" Type="http://schemas.openxmlformats.org/officeDocument/2006/relationships/slide" Target="slides/slide133.xml"/><Relationship Id="rId145"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23" Type="http://schemas.openxmlformats.org/officeDocument/2006/relationships/slide" Target="slides/slide16.xml"/><Relationship Id="rId28" Type="http://schemas.openxmlformats.org/officeDocument/2006/relationships/slide" Target="slides/slide21.xml"/><Relationship Id="rId49" Type="http://schemas.openxmlformats.org/officeDocument/2006/relationships/slide" Target="slides/slide42.xml"/><Relationship Id="rId114" Type="http://schemas.openxmlformats.org/officeDocument/2006/relationships/slide" Target="slides/slide107.xml"/><Relationship Id="rId119" Type="http://schemas.openxmlformats.org/officeDocument/2006/relationships/slide" Target="slides/slide112.xml"/><Relationship Id="rId44" Type="http://schemas.openxmlformats.org/officeDocument/2006/relationships/slide" Target="slides/slide37.xml"/><Relationship Id="rId60" Type="http://schemas.openxmlformats.org/officeDocument/2006/relationships/slide" Target="slides/slide53.xml"/><Relationship Id="rId65" Type="http://schemas.openxmlformats.org/officeDocument/2006/relationships/slide" Target="slides/slide58.xml"/><Relationship Id="rId81" Type="http://schemas.openxmlformats.org/officeDocument/2006/relationships/slide" Target="slides/slide74.xml"/><Relationship Id="rId86" Type="http://schemas.openxmlformats.org/officeDocument/2006/relationships/slide" Target="slides/slide79.xml"/><Relationship Id="rId130" Type="http://schemas.openxmlformats.org/officeDocument/2006/relationships/slide" Target="slides/slide123.xml"/><Relationship Id="rId135" Type="http://schemas.openxmlformats.org/officeDocument/2006/relationships/slide" Target="slides/slide128.xml"/><Relationship Id="rId151" Type="http://schemas.microsoft.com/office/2016/11/relationships/changesInfo" Target="changesInfos/changesInfo1.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109" Type="http://schemas.openxmlformats.org/officeDocument/2006/relationships/slide" Target="slides/slide10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97" Type="http://schemas.openxmlformats.org/officeDocument/2006/relationships/slide" Target="slides/slide90.xml"/><Relationship Id="rId104" Type="http://schemas.openxmlformats.org/officeDocument/2006/relationships/slide" Target="slides/slide97.xml"/><Relationship Id="rId120" Type="http://schemas.openxmlformats.org/officeDocument/2006/relationships/slide" Target="slides/slide113.xml"/><Relationship Id="rId125" Type="http://schemas.openxmlformats.org/officeDocument/2006/relationships/slide" Target="slides/slide118.xml"/><Relationship Id="rId141" Type="http://schemas.openxmlformats.org/officeDocument/2006/relationships/slide" Target="slides/slide134.xml"/><Relationship Id="rId146" Type="http://schemas.openxmlformats.org/officeDocument/2006/relationships/handoutMaster" Target="handoutMasters/handoutMaster1.xml"/><Relationship Id="rId7" Type="http://schemas.openxmlformats.org/officeDocument/2006/relationships/slideMaster" Target="slideMasters/slideMaster4.xml"/><Relationship Id="rId71" Type="http://schemas.openxmlformats.org/officeDocument/2006/relationships/slide" Target="slides/slide64.xml"/><Relationship Id="rId92" Type="http://schemas.openxmlformats.org/officeDocument/2006/relationships/slide" Target="slides/slide85.xml"/><Relationship Id="rId2" Type="http://schemas.openxmlformats.org/officeDocument/2006/relationships/customXml" Target="../customXml/item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slide" Target="slides/slide80.xml"/><Relationship Id="rId110" Type="http://schemas.openxmlformats.org/officeDocument/2006/relationships/slide" Target="slides/slide103.xml"/><Relationship Id="rId115" Type="http://schemas.openxmlformats.org/officeDocument/2006/relationships/slide" Target="slides/slide108.xml"/><Relationship Id="rId131" Type="http://schemas.openxmlformats.org/officeDocument/2006/relationships/slide" Target="slides/slide124.xml"/><Relationship Id="rId136" Type="http://schemas.openxmlformats.org/officeDocument/2006/relationships/slide" Target="slides/slide129.xml"/><Relationship Id="rId61" Type="http://schemas.openxmlformats.org/officeDocument/2006/relationships/slide" Target="slides/slide54.xml"/><Relationship Id="rId82" Type="http://schemas.openxmlformats.org/officeDocument/2006/relationships/slide" Target="slides/slide75.xml"/><Relationship Id="rId152" Type="http://schemas.microsoft.com/office/2015/10/relationships/revisionInfo" Target="revisionInfo.xml"/><Relationship Id="rId19" Type="http://schemas.openxmlformats.org/officeDocument/2006/relationships/slide" Target="slides/slide12.xml"/><Relationship Id="rId14" Type="http://schemas.openxmlformats.org/officeDocument/2006/relationships/slide" Target="slides/slide7.xml"/><Relationship Id="rId30" Type="http://schemas.openxmlformats.org/officeDocument/2006/relationships/slide" Target="slides/slide23.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slide" Target="slides/slide70.xml"/><Relationship Id="rId100" Type="http://schemas.openxmlformats.org/officeDocument/2006/relationships/slide" Target="slides/slide93.xml"/><Relationship Id="rId105" Type="http://schemas.openxmlformats.org/officeDocument/2006/relationships/slide" Target="slides/slide98.xml"/><Relationship Id="rId126" Type="http://schemas.openxmlformats.org/officeDocument/2006/relationships/slide" Target="slides/slide119.xml"/><Relationship Id="rId147" Type="http://schemas.openxmlformats.org/officeDocument/2006/relationships/presProps" Target="presProps.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93" Type="http://schemas.openxmlformats.org/officeDocument/2006/relationships/slide" Target="slides/slide86.xml"/><Relationship Id="rId98" Type="http://schemas.openxmlformats.org/officeDocument/2006/relationships/slide" Target="slides/slide91.xml"/><Relationship Id="rId121" Type="http://schemas.openxmlformats.org/officeDocument/2006/relationships/slide" Target="slides/slide114.xml"/><Relationship Id="rId142" Type="http://schemas.openxmlformats.org/officeDocument/2006/relationships/slide" Target="slides/slide135.xml"/><Relationship Id="rId3" Type="http://schemas.openxmlformats.org/officeDocument/2006/relationships/customXml" Target="../customXml/item3.xml"/><Relationship Id="rId25" Type="http://schemas.openxmlformats.org/officeDocument/2006/relationships/slide" Target="slides/slide18.xml"/><Relationship Id="rId46" Type="http://schemas.openxmlformats.org/officeDocument/2006/relationships/slide" Target="slides/slide39.xml"/><Relationship Id="rId67" Type="http://schemas.openxmlformats.org/officeDocument/2006/relationships/slide" Target="slides/slide60.xml"/><Relationship Id="rId116" Type="http://schemas.openxmlformats.org/officeDocument/2006/relationships/slide" Target="slides/slide109.xml"/><Relationship Id="rId137" Type="http://schemas.openxmlformats.org/officeDocument/2006/relationships/slide" Target="slides/slide130.xml"/><Relationship Id="rId20" Type="http://schemas.openxmlformats.org/officeDocument/2006/relationships/slide" Target="slides/slide13.xml"/><Relationship Id="rId41" Type="http://schemas.openxmlformats.org/officeDocument/2006/relationships/slide" Target="slides/slide34.xml"/><Relationship Id="rId62" Type="http://schemas.openxmlformats.org/officeDocument/2006/relationships/slide" Target="slides/slide55.xml"/><Relationship Id="rId83" Type="http://schemas.openxmlformats.org/officeDocument/2006/relationships/slide" Target="slides/slide76.xml"/><Relationship Id="rId88" Type="http://schemas.openxmlformats.org/officeDocument/2006/relationships/slide" Target="slides/slide81.xml"/><Relationship Id="rId111" Type="http://schemas.openxmlformats.org/officeDocument/2006/relationships/slide" Target="slides/slide104.xml"/><Relationship Id="rId132" Type="http://schemas.openxmlformats.org/officeDocument/2006/relationships/slide" Target="slides/slide125.xml"/><Relationship Id="rId15" Type="http://schemas.openxmlformats.org/officeDocument/2006/relationships/slide" Target="slides/slide8.xml"/><Relationship Id="rId36" Type="http://schemas.openxmlformats.org/officeDocument/2006/relationships/slide" Target="slides/slide29.xml"/><Relationship Id="rId57" Type="http://schemas.openxmlformats.org/officeDocument/2006/relationships/slide" Target="slides/slide50.xml"/><Relationship Id="rId106" Type="http://schemas.openxmlformats.org/officeDocument/2006/relationships/slide" Target="slides/slide99.xml"/><Relationship Id="rId127" Type="http://schemas.openxmlformats.org/officeDocument/2006/relationships/slide" Target="slides/slide120.xml"/><Relationship Id="rId10" Type="http://schemas.openxmlformats.org/officeDocument/2006/relationships/slide" Target="slides/slide3.xml"/><Relationship Id="rId31" Type="http://schemas.openxmlformats.org/officeDocument/2006/relationships/slide" Target="slides/slide24.xml"/><Relationship Id="rId52" Type="http://schemas.openxmlformats.org/officeDocument/2006/relationships/slide" Target="slides/slide45.xml"/><Relationship Id="rId73" Type="http://schemas.openxmlformats.org/officeDocument/2006/relationships/slide" Target="slides/slide66.xml"/><Relationship Id="rId78" Type="http://schemas.openxmlformats.org/officeDocument/2006/relationships/slide" Target="slides/slide71.xml"/><Relationship Id="rId94" Type="http://schemas.openxmlformats.org/officeDocument/2006/relationships/slide" Target="slides/slide87.xml"/><Relationship Id="rId99" Type="http://schemas.openxmlformats.org/officeDocument/2006/relationships/slide" Target="slides/slide92.xml"/><Relationship Id="rId101" Type="http://schemas.openxmlformats.org/officeDocument/2006/relationships/slide" Target="slides/slide94.xml"/><Relationship Id="rId122" Type="http://schemas.openxmlformats.org/officeDocument/2006/relationships/slide" Target="slides/slide115.xml"/><Relationship Id="rId143" Type="http://schemas.openxmlformats.org/officeDocument/2006/relationships/slide" Target="slides/slide136.xml"/><Relationship Id="rId148"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 Id="rId47" Type="http://schemas.openxmlformats.org/officeDocument/2006/relationships/slide" Target="slides/slide40.xml"/><Relationship Id="rId68" Type="http://schemas.openxmlformats.org/officeDocument/2006/relationships/slide" Target="slides/slide61.xml"/><Relationship Id="rId89" Type="http://schemas.openxmlformats.org/officeDocument/2006/relationships/slide" Target="slides/slide82.xml"/><Relationship Id="rId112" Type="http://schemas.openxmlformats.org/officeDocument/2006/relationships/slide" Target="slides/slide105.xml"/><Relationship Id="rId133" Type="http://schemas.openxmlformats.org/officeDocument/2006/relationships/slide" Target="slides/slide126.xml"/><Relationship Id="rId16" Type="http://schemas.openxmlformats.org/officeDocument/2006/relationships/slide" Target="slides/slide9.xml"/><Relationship Id="rId37" Type="http://schemas.openxmlformats.org/officeDocument/2006/relationships/slide" Target="slides/slide30.xml"/><Relationship Id="rId58" Type="http://schemas.openxmlformats.org/officeDocument/2006/relationships/slide" Target="slides/slide51.xml"/><Relationship Id="rId79" Type="http://schemas.openxmlformats.org/officeDocument/2006/relationships/slide" Target="slides/slide72.xml"/><Relationship Id="rId102" Type="http://schemas.openxmlformats.org/officeDocument/2006/relationships/slide" Target="slides/slide95.xml"/><Relationship Id="rId123" Type="http://schemas.openxmlformats.org/officeDocument/2006/relationships/slide" Target="slides/slide116.xml"/><Relationship Id="rId144" Type="http://schemas.openxmlformats.org/officeDocument/2006/relationships/slide" Target="slides/slide137.xml"/><Relationship Id="rId90" Type="http://schemas.openxmlformats.org/officeDocument/2006/relationships/slide" Target="slides/slide8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蛭牟田 真生_釧路学生" userId="S::p220117@kushiro.kosen-ac.jp::3301ff29-8409-43e3-b397-8ca2af160ad8" providerId="AD" clId="Web-{7A82DBDB-4F5E-687E-8EB6-55F4E09EEAE3}"/>
    <pc:docChg chg="sldOrd">
      <pc:chgData name="蛭牟田 真生_釧路学生" userId="S::p220117@kushiro.kosen-ac.jp::3301ff29-8409-43e3-b397-8ca2af160ad8" providerId="AD" clId="Web-{7A82DBDB-4F5E-687E-8EB6-55F4E09EEAE3}" dt="2026-09-07T01:21:28.641" v="3"/>
      <pc:docMkLst>
        <pc:docMk/>
      </pc:docMkLst>
      <pc:sldChg chg="ord">
        <pc:chgData name="蛭牟田 真生_釧路学生" userId="S::p220117@kushiro.kosen-ac.jp::3301ff29-8409-43e3-b397-8ca2af160ad8" providerId="AD" clId="Web-{7A82DBDB-4F5E-687E-8EB6-55F4E09EEAE3}" dt="2026-09-07T01:21:28.641" v="3"/>
        <pc:sldMkLst>
          <pc:docMk/>
          <pc:sldMk cId="2565618186" sldId="562"/>
        </pc:sldMkLst>
      </pc:sldChg>
      <pc:sldChg chg="ord">
        <pc:chgData name="蛭牟田 真生_釧路学生" userId="S::p220117@kushiro.kosen-ac.jp::3301ff29-8409-43e3-b397-8ca2af160ad8" providerId="AD" clId="Web-{7A82DBDB-4F5E-687E-8EB6-55F4E09EEAE3}" dt="2026-09-07T01:20:48.592" v="2"/>
        <pc:sldMkLst>
          <pc:docMk/>
          <pc:sldMk cId="718237328" sldId="580"/>
        </pc:sldMkLst>
      </pc:sldChg>
      <pc:sldChg chg="ord">
        <pc:chgData name="蛭牟田 真生_釧路学生" userId="S::p220117@kushiro.kosen-ac.jp::3301ff29-8409-43e3-b397-8ca2af160ad8" providerId="AD" clId="Web-{7A82DBDB-4F5E-687E-8EB6-55F4E09EEAE3}" dt="2026-09-07T01:20:36.967" v="1"/>
        <pc:sldMkLst>
          <pc:docMk/>
          <pc:sldMk cId="3418929524" sldId="603"/>
        </pc:sldMkLst>
      </pc:sldChg>
      <pc:sldChg chg="ord">
        <pc:chgData name="蛭牟田 真生_釧路学生" userId="S::p220117@kushiro.kosen-ac.jp::3301ff29-8409-43e3-b397-8ca2af160ad8" providerId="AD" clId="Web-{7A82DBDB-4F5E-687E-8EB6-55F4E09EEAE3}" dt="2026-09-07T01:10:09.427" v="0"/>
        <pc:sldMkLst>
          <pc:docMk/>
          <pc:sldMk cId="4015617879" sldId="60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276778" cy="336788"/>
          </a:xfrm>
          <a:prstGeom prst="rect">
            <a:avLst/>
          </a:prstGeom>
        </p:spPr>
        <p:txBody>
          <a:bodyPr vert="horz" lIns="90754" tIns="45377" rIns="90754" bIns="45377" rtlCol="0"/>
          <a:lstStyle>
            <a:lvl1pPr algn="l">
              <a:defRPr sz="1200">
                <a:latin typeface="Arial" pitchFamily="-109" charset="0"/>
                <a:ea typeface="ＭＳ Ｐゴシック" pitchFamily="-109" charset="-128"/>
                <a:cs typeface="ＭＳ Ｐゴシック" pitchFamily="-109" charset="-128"/>
              </a:defRPr>
            </a:lvl1pPr>
          </a:lstStyle>
          <a:p>
            <a:pPr>
              <a:defRPr/>
            </a:pPr>
            <a:endParaRPr lang="en-US"/>
          </a:p>
        </p:txBody>
      </p:sp>
      <p:sp>
        <p:nvSpPr>
          <p:cNvPr id="3" name="Date Placeholder 2"/>
          <p:cNvSpPr>
            <a:spLocks noGrp="1"/>
          </p:cNvSpPr>
          <p:nvPr>
            <p:ph type="dt" sz="quarter" idx="1"/>
          </p:nvPr>
        </p:nvSpPr>
        <p:spPr>
          <a:xfrm>
            <a:off x="5590998" y="0"/>
            <a:ext cx="4276778" cy="336788"/>
          </a:xfrm>
          <a:prstGeom prst="rect">
            <a:avLst/>
          </a:prstGeom>
        </p:spPr>
        <p:txBody>
          <a:bodyPr vert="horz" wrap="square" lIns="90754" tIns="45377" rIns="90754" bIns="45377" numCol="1" anchor="t" anchorCtr="0" compatLnSpc="1">
            <a:prstTxWarp prst="textNoShape">
              <a:avLst/>
            </a:prstTxWarp>
          </a:bodyPr>
          <a:lstStyle>
            <a:lvl1pPr algn="r">
              <a:defRPr sz="1200" smtClean="0"/>
            </a:lvl1pPr>
          </a:lstStyle>
          <a:p>
            <a:pPr>
              <a:defRPr/>
            </a:pPr>
            <a:fld id="{1E377CAF-2816-7F40-B848-406DD27D5DEB}" type="datetime1">
              <a:rPr lang="en-US"/>
              <a:pPr>
                <a:defRPr/>
              </a:pPr>
              <a:t>9/6/2026</a:t>
            </a:fld>
            <a:endParaRPr lang="en-US"/>
          </a:p>
        </p:txBody>
      </p:sp>
      <p:sp>
        <p:nvSpPr>
          <p:cNvPr id="4" name="Footer Placeholder 3"/>
          <p:cNvSpPr>
            <a:spLocks noGrp="1"/>
          </p:cNvSpPr>
          <p:nvPr>
            <p:ph type="ftr" sz="quarter" idx="2"/>
          </p:nvPr>
        </p:nvSpPr>
        <p:spPr>
          <a:xfrm>
            <a:off x="1" y="6397417"/>
            <a:ext cx="4276778" cy="336788"/>
          </a:xfrm>
          <a:prstGeom prst="rect">
            <a:avLst/>
          </a:prstGeom>
        </p:spPr>
        <p:txBody>
          <a:bodyPr vert="horz" lIns="90754" tIns="45377" rIns="90754" bIns="45377" rtlCol="0" anchor="b"/>
          <a:lstStyle>
            <a:lvl1pPr algn="l">
              <a:defRPr sz="1200">
                <a:latin typeface="Arial" pitchFamily="-109" charset="0"/>
                <a:ea typeface="ＭＳ Ｐゴシック" pitchFamily="-109" charset="-128"/>
                <a:cs typeface="ＭＳ Ｐゴシック" pitchFamily="-109" charset="-128"/>
              </a:defRPr>
            </a:lvl1pPr>
          </a:lstStyle>
          <a:p>
            <a:pPr>
              <a:defRPr/>
            </a:pPr>
            <a:endParaRPr lang="en-US"/>
          </a:p>
        </p:txBody>
      </p:sp>
      <p:sp>
        <p:nvSpPr>
          <p:cNvPr id="5" name="Slide Number Placeholder 4"/>
          <p:cNvSpPr>
            <a:spLocks noGrp="1"/>
          </p:cNvSpPr>
          <p:nvPr>
            <p:ph type="sldNum" sz="quarter" idx="3"/>
          </p:nvPr>
        </p:nvSpPr>
        <p:spPr>
          <a:xfrm>
            <a:off x="5590998" y="6397417"/>
            <a:ext cx="4276778" cy="336788"/>
          </a:xfrm>
          <a:prstGeom prst="rect">
            <a:avLst/>
          </a:prstGeom>
        </p:spPr>
        <p:txBody>
          <a:bodyPr vert="horz" wrap="square" lIns="90754" tIns="45377" rIns="90754" bIns="45377" numCol="1" anchor="b" anchorCtr="0" compatLnSpc="1">
            <a:prstTxWarp prst="textNoShape">
              <a:avLst/>
            </a:prstTxWarp>
          </a:bodyPr>
          <a:lstStyle>
            <a:lvl1pPr algn="r">
              <a:defRPr sz="1200" smtClean="0"/>
            </a:lvl1pPr>
          </a:lstStyle>
          <a:p>
            <a:pPr>
              <a:defRPr/>
            </a:pPr>
            <a:fld id="{A35E4603-4871-0F40-9F04-AA53B8A0D3FE}" type="slidenum">
              <a:rPr lang="en-US"/>
              <a:pPr>
                <a:defRPr/>
              </a:pPr>
              <a:t>‹#›</a:t>
            </a:fld>
            <a:endParaRPr lang="en-US"/>
          </a:p>
        </p:txBody>
      </p:sp>
    </p:spTree>
    <p:extLst>
      <p:ext uri="{BB962C8B-B14F-4D97-AF65-F5344CB8AC3E}">
        <p14:creationId xmlns:p14="http://schemas.microsoft.com/office/powerpoint/2010/main" val="4260610143"/>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5T13:06:25.148"/>
    </inkml:context>
    <inkml:brush xml:id="br0">
      <inkml:brushProperty name="width" value="0.05" units="cm"/>
      <inkml:brushProperty name="height" value="0.05" units="cm"/>
      <inkml:brushProperty name="color" value="#FFFFFF"/>
    </inkml:brush>
  </inkml:definitions>
  <inkml:trace contextRef="#ctx0" brushRef="#br0">0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5T13:05:12.950"/>
    </inkml:context>
    <inkml:brush xml:id="br0">
      <inkml:brushProperty name="width" value="0.05" units="cm"/>
      <inkml:brushProperty name="height" value="0.05" units="cm"/>
    </inkml:brush>
  </inkml:definitions>
  <inkml:trace contextRef="#ctx0" brushRef="#br0">0 1 24575,'6'0'0,"9"0"0,7 0 0,7 0 0,11 0 0,5 0 0,1 0 0,-2 0 0,-1 0 0,-2 0 0,-8 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5T13:05:18.596"/>
    </inkml:context>
    <inkml:brush xml:id="br0">
      <inkml:brushProperty name="width" value="0.05" units="cm"/>
      <inkml:brushProperty name="height" value="0.05" units="cm"/>
    </inkml:brush>
  </inkml:definitions>
  <inkml:trace contextRef="#ctx0" brushRef="#br0">0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5T13:05:37.321"/>
    </inkml:context>
    <inkml:brush xml:id="br0">
      <inkml:brushProperty name="width" value="0.05" units="cm"/>
      <inkml:brushProperty name="height" value="0.05" units="cm"/>
    </inkml:brush>
  </inkml:definitions>
  <inkml:trace contextRef="#ctx0" brushRef="#br0">0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5T13:05:38.147"/>
    </inkml:context>
    <inkml:brush xml:id="br0">
      <inkml:brushProperty name="width" value="0.05" units="cm"/>
      <inkml:brushProperty name="height" value="0.05" units="cm"/>
    </inkml:brush>
  </inkml:definitions>
  <inkml:trace contextRef="#ctx0" brushRef="#br0">0 1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5T13:05:38.502"/>
    </inkml:context>
    <inkml:brush xml:id="br0">
      <inkml:brushProperty name="width" value="0.05" units="cm"/>
      <inkml:brushProperty name="height" value="0.05" units="cm"/>
    </inkml:brush>
  </inkml:definitions>
  <inkml:trace contextRef="#ctx0" brushRef="#br0">0 1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5T13:05:38.861"/>
    </inkml:context>
    <inkml:brush xml:id="br0">
      <inkml:brushProperty name="width" value="0.05" units="cm"/>
      <inkml:brushProperty name="height" value="0.05" units="cm"/>
    </inkml:brush>
  </inkml:definitions>
  <inkml:trace contextRef="#ctx0" brushRef="#br0">0 1 24575,'0'0'-8191</inkml:trace>
  <inkml:trace contextRef="#ctx0" brushRef="#br0" timeOffset="1">0 1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5T13:05:39.219"/>
    </inkml:context>
    <inkml:brush xml:id="br0">
      <inkml:brushProperty name="width" value="0.05" units="cm"/>
      <inkml:brushProperty name="height" value="0.05" units="cm"/>
    </inkml:brush>
  </inkml:definitions>
  <inkml:trace contextRef="#ctx0" brushRef="#br0">0 1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5T13:05:41.567"/>
    </inkml:context>
    <inkml:brush xml:id="br0">
      <inkml:brushProperty name="width" value="0.05" units="cm"/>
      <inkml:brushProperty name="height" value="0.05" units="cm"/>
    </inkml:brush>
  </inkml:definitions>
  <inkml:trace contextRef="#ctx0" brushRef="#br0">1 0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5T13:05:43.716"/>
    </inkml:context>
    <inkml:brush xml:id="br0">
      <inkml:brushProperty name="width" value="0.05" units="cm"/>
      <inkml:brushProperty name="height" value="0.05" units="cm"/>
    </inkml:brush>
  </inkml:definitions>
  <inkml:trace contextRef="#ctx0" brushRef="#br0">1 0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5T13:06:45.381"/>
    </inkml:context>
    <inkml:brush xml:id="br0">
      <inkml:brushProperty name="width" value="0.05" units="cm"/>
      <inkml:brushProperty name="height" value="0.05" units="cm"/>
      <inkml:brushProperty name="color" value="#FFFFFF"/>
    </inkml:brush>
  </inkml:definitions>
  <inkml:trace contextRef="#ctx0" brushRef="#br0">1 0 24575,'0'0'-8191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5T13:06:49.258"/>
    </inkml:context>
    <inkml:brush xml:id="br0">
      <inkml:brushProperty name="width" value="0.05" units="cm"/>
      <inkml:brushProperty name="height" value="0.05" units="cm"/>
    </inkml:brush>
  </inkml:definitions>
  <inkml:trace contextRef="#ctx0" brushRef="#br0">1 0 24575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5T13:07:08.363"/>
    </inkml:context>
    <inkml:brush xml:id="br0">
      <inkml:brushProperty name="width" value="0.05" units="cm"/>
      <inkml:brushProperty name="height" value="0.05" units="cm"/>
    </inkml:brush>
  </inkml:definitions>
  <inkml:trace contextRef="#ctx0" brushRef="#br0">1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276778" cy="338348"/>
          </a:xfrm>
          <a:prstGeom prst="rect">
            <a:avLst/>
          </a:prstGeom>
        </p:spPr>
        <p:txBody>
          <a:bodyPr vert="horz" lIns="90754" tIns="45377" rIns="90754" bIns="45377" rtlCol="0"/>
          <a:lstStyle>
            <a:lvl1pPr algn="l">
              <a:defRPr sz="1200"/>
            </a:lvl1pPr>
          </a:lstStyle>
          <a:p>
            <a:endParaRPr lang="en-US"/>
          </a:p>
        </p:txBody>
      </p:sp>
      <p:sp>
        <p:nvSpPr>
          <p:cNvPr id="3" name="Date Placeholder 2"/>
          <p:cNvSpPr>
            <a:spLocks noGrp="1"/>
          </p:cNvSpPr>
          <p:nvPr>
            <p:ph type="dt" idx="1"/>
          </p:nvPr>
        </p:nvSpPr>
        <p:spPr>
          <a:xfrm>
            <a:off x="5590998" y="0"/>
            <a:ext cx="4276778" cy="338348"/>
          </a:xfrm>
          <a:prstGeom prst="rect">
            <a:avLst/>
          </a:prstGeom>
        </p:spPr>
        <p:txBody>
          <a:bodyPr vert="horz" lIns="90754" tIns="45377" rIns="90754" bIns="45377" rtlCol="0"/>
          <a:lstStyle>
            <a:lvl1pPr algn="r">
              <a:defRPr sz="1200"/>
            </a:lvl1pPr>
          </a:lstStyle>
          <a:p>
            <a:fld id="{1D81BB4F-FABC-4A11-8E5D-2813F3D36411}" type="datetimeFigureOut">
              <a:rPr lang="en-US" smtClean="0"/>
              <a:t>9/6/2026</a:t>
            </a:fld>
            <a:endParaRPr lang="en-US"/>
          </a:p>
        </p:txBody>
      </p:sp>
      <p:sp>
        <p:nvSpPr>
          <p:cNvPr id="4" name="Slide Image Placeholder 3"/>
          <p:cNvSpPr>
            <a:spLocks noGrp="1" noRot="1" noChangeAspect="1"/>
          </p:cNvSpPr>
          <p:nvPr>
            <p:ph type="sldImg" idx="2"/>
          </p:nvPr>
        </p:nvSpPr>
        <p:spPr>
          <a:xfrm>
            <a:off x="2914650" y="841375"/>
            <a:ext cx="4040188" cy="2273300"/>
          </a:xfrm>
          <a:prstGeom prst="rect">
            <a:avLst/>
          </a:prstGeom>
          <a:noFill/>
          <a:ln w="12700">
            <a:solidFill>
              <a:prstClr val="black"/>
            </a:solidFill>
          </a:ln>
        </p:spPr>
        <p:txBody>
          <a:bodyPr vert="horz" lIns="90754" tIns="45377" rIns="90754" bIns="45377" rtlCol="0" anchor="ctr"/>
          <a:lstStyle/>
          <a:p>
            <a:endParaRPr lang="en-US"/>
          </a:p>
        </p:txBody>
      </p:sp>
      <p:sp>
        <p:nvSpPr>
          <p:cNvPr id="5" name="Notes Placeholder 4"/>
          <p:cNvSpPr>
            <a:spLocks noGrp="1"/>
          </p:cNvSpPr>
          <p:nvPr>
            <p:ph type="body" sz="quarter" idx="3"/>
          </p:nvPr>
        </p:nvSpPr>
        <p:spPr>
          <a:xfrm>
            <a:off x="986949" y="3241587"/>
            <a:ext cx="7895590" cy="2652206"/>
          </a:xfrm>
          <a:prstGeom prst="rect">
            <a:avLst/>
          </a:prstGeom>
        </p:spPr>
        <p:txBody>
          <a:bodyPr vert="horz" lIns="90754" tIns="45377" rIns="90754" bIns="4537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6397417"/>
            <a:ext cx="4276778" cy="338347"/>
          </a:xfrm>
          <a:prstGeom prst="rect">
            <a:avLst/>
          </a:prstGeom>
        </p:spPr>
        <p:txBody>
          <a:bodyPr vert="horz" lIns="90754" tIns="45377" rIns="90754" bIns="45377" rtlCol="0" anchor="b"/>
          <a:lstStyle>
            <a:lvl1pPr algn="l">
              <a:defRPr sz="1200"/>
            </a:lvl1pPr>
          </a:lstStyle>
          <a:p>
            <a:endParaRPr lang="en-US"/>
          </a:p>
        </p:txBody>
      </p:sp>
      <p:sp>
        <p:nvSpPr>
          <p:cNvPr id="7" name="Slide Number Placeholder 6"/>
          <p:cNvSpPr>
            <a:spLocks noGrp="1"/>
          </p:cNvSpPr>
          <p:nvPr>
            <p:ph type="sldNum" sz="quarter" idx="5"/>
          </p:nvPr>
        </p:nvSpPr>
        <p:spPr>
          <a:xfrm>
            <a:off x="5590998" y="6397417"/>
            <a:ext cx="4276778" cy="338347"/>
          </a:xfrm>
          <a:prstGeom prst="rect">
            <a:avLst/>
          </a:prstGeom>
        </p:spPr>
        <p:txBody>
          <a:bodyPr vert="horz" lIns="90754" tIns="45377" rIns="90754" bIns="45377" rtlCol="0" anchor="b"/>
          <a:lstStyle>
            <a:lvl1pPr algn="r">
              <a:defRPr sz="1200"/>
            </a:lvl1pPr>
          </a:lstStyle>
          <a:p>
            <a:fld id="{27F9F59A-EB1B-4081-A057-2C8AE2F6E348}" type="slidenum">
              <a:rPr lang="en-US" smtClean="0"/>
              <a:t>‹#›</a:t>
            </a:fld>
            <a:endParaRPr lang="en-US"/>
          </a:p>
        </p:txBody>
      </p:sp>
    </p:spTree>
    <p:extLst>
      <p:ext uri="{BB962C8B-B14F-4D97-AF65-F5344CB8AC3E}">
        <p14:creationId xmlns:p14="http://schemas.microsoft.com/office/powerpoint/2010/main" val="2001071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Shingodatanoseisei</a:t>
            </a:r>
            <a:r>
              <a:rPr lang="en-US"/>
              <a:t>   book</a:t>
            </a:r>
            <a:r>
              <a:rPr lang="en-US" baseline="0"/>
              <a:t> chapter . . . . </a:t>
            </a:r>
            <a:endParaRPr lang="en-US"/>
          </a:p>
          <a:p>
            <a:endParaRPr lang="en-US"/>
          </a:p>
        </p:txBody>
      </p:sp>
      <p:sp>
        <p:nvSpPr>
          <p:cNvPr id="4" name="Slide Number Placeholder 3"/>
          <p:cNvSpPr>
            <a:spLocks noGrp="1"/>
          </p:cNvSpPr>
          <p:nvPr>
            <p:ph type="sldNum" sz="quarter" idx="5"/>
          </p:nvPr>
        </p:nvSpPr>
        <p:spPr/>
        <p:txBody>
          <a:bodyPr/>
          <a:lstStyle/>
          <a:p>
            <a:fld id="{27F9F59A-EB1B-4081-A057-2C8AE2F6E348}" type="slidenum">
              <a:rPr lang="en-US" smtClean="0"/>
              <a:t>1</a:t>
            </a:fld>
            <a:endParaRPr lang="en-US"/>
          </a:p>
        </p:txBody>
      </p:sp>
    </p:spTree>
    <p:extLst>
      <p:ext uri="{BB962C8B-B14F-4D97-AF65-F5344CB8AC3E}">
        <p14:creationId xmlns:p14="http://schemas.microsoft.com/office/powerpoint/2010/main" val="17666265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2</a:t>
            </a:fld>
            <a:endParaRPr lang="en-US"/>
          </a:p>
        </p:txBody>
      </p:sp>
    </p:spTree>
    <p:extLst>
      <p:ext uri="{BB962C8B-B14F-4D97-AF65-F5344CB8AC3E}">
        <p14:creationId xmlns:p14="http://schemas.microsoft.com/office/powerpoint/2010/main" val="10558199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3</a:t>
            </a:fld>
            <a:endParaRPr lang="en-US"/>
          </a:p>
        </p:txBody>
      </p:sp>
    </p:spTree>
    <p:extLst>
      <p:ext uri="{BB962C8B-B14F-4D97-AF65-F5344CB8AC3E}">
        <p14:creationId xmlns:p14="http://schemas.microsoft.com/office/powerpoint/2010/main" val="16788638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4</a:t>
            </a:fld>
            <a:endParaRPr lang="en-US"/>
          </a:p>
        </p:txBody>
      </p:sp>
    </p:spTree>
    <p:extLst>
      <p:ext uri="{BB962C8B-B14F-4D97-AF65-F5344CB8AC3E}">
        <p14:creationId xmlns:p14="http://schemas.microsoft.com/office/powerpoint/2010/main" val="17928395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5</a:t>
            </a:fld>
            <a:endParaRPr lang="en-US"/>
          </a:p>
        </p:txBody>
      </p:sp>
    </p:spTree>
    <p:extLst>
      <p:ext uri="{BB962C8B-B14F-4D97-AF65-F5344CB8AC3E}">
        <p14:creationId xmlns:p14="http://schemas.microsoft.com/office/powerpoint/2010/main" val="40457753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6</a:t>
            </a:fld>
            <a:endParaRPr lang="en-US"/>
          </a:p>
        </p:txBody>
      </p:sp>
    </p:spTree>
    <p:extLst>
      <p:ext uri="{BB962C8B-B14F-4D97-AF65-F5344CB8AC3E}">
        <p14:creationId xmlns:p14="http://schemas.microsoft.com/office/powerpoint/2010/main" val="21391526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7</a:t>
            </a:fld>
            <a:endParaRPr lang="en-US"/>
          </a:p>
        </p:txBody>
      </p:sp>
    </p:spTree>
    <p:extLst>
      <p:ext uri="{BB962C8B-B14F-4D97-AF65-F5344CB8AC3E}">
        <p14:creationId xmlns:p14="http://schemas.microsoft.com/office/powerpoint/2010/main" val="25956476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8</a:t>
            </a:fld>
            <a:endParaRPr lang="en-US"/>
          </a:p>
        </p:txBody>
      </p:sp>
    </p:spTree>
    <p:extLst>
      <p:ext uri="{BB962C8B-B14F-4D97-AF65-F5344CB8AC3E}">
        <p14:creationId xmlns:p14="http://schemas.microsoft.com/office/powerpoint/2010/main" val="22345579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9</a:t>
            </a:fld>
            <a:endParaRPr lang="en-US"/>
          </a:p>
        </p:txBody>
      </p:sp>
    </p:spTree>
    <p:extLst>
      <p:ext uri="{BB962C8B-B14F-4D97-AF65-F5344CB8AC3E}">
        <p14:creationId xmlns:p14="http://schemas.microsoft.com/office/powerpoint/2010/main" val="12529308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10</a:t>
            </a:fld>
            <a:endParaRPr lang="en-US"/>
          </a:p>
        </p:txBody>
      </p:sp>
    </p:spTree>
    <p:extLst>
      <p:ext uri="{BB962C8B-B14F-4D97-AF65-F5344CB8AC3E}">
        <p14:creationId xmlns:p14="http://schemas.microsoft.com/office/powerpoint/2010/main" val="10204219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11</a:t>
            </a:fld>
            <a:endParaRPr lang="en-US"/>
          </a:p>
        </p:txBody>
      </p:sp>
    </p:spTree>
    <p:extLst>
      <p:ext uri="{BB962C8B-B14F-4D97-AF65-F5344CB8AC3E}">
        <p14:creationId xmlns:p14="http://schemas.microsoft.com/office/powerpoint/2010/main" val="5654793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12</a:t>
            </a:fld>
            <a:endParaRPr lang="en-US"/>
          </a:p>
        </p:txBody>
      </p:sp>
    </p:spTree>
    <p:extLst>
      <p:ext uri="{BB962C8B-B14F-4D97-AF65-F5344CB8AC3E}">
        <p14:creationId xmlns:p14="http://schemas.microsoft.com/office/powerpoint/2010/main" val="28769728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13</a:t>
            </a:fld>
            <a:endParaRPr lang="en-US"/>
          </a:p>
        </p:txBody>
      </p:sp>
    </p:spTree>
    <p:extLst>
      <p:ext uri="{BB962C8B-B14F-4D97-AF65-F5344CB8AC3E}">
        <p14:creationId xmlns:p14="http://schemas.microsoft.com/office/powerpoint/2010/main" val="17303281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pPr rtl="0"/>
            <a:r>
              <a:rPr lang="en-US" altLang="ja-JP" sz="1200" kern="1200">
                <a:solidFill>
                  <a:schemeClr val="tx1"/>
                </a:solidFill>
                <a:effectLst/>
                <a:latin typeface="+mn-lt"/>
                <a:ea typeface="+mn-ea"/>
                <a:cs typeface="+mn-cs"/>
              </a:rPr>
              <a:t>FIR </a:t>
            </a:r>
            <a:r>
              <a:rPr lang="en-US" altLang="ja-JP" sz="1200" kern="1200" err="1">
                <a:solidFill>
                  <a:schemeClr val="tx1"/>
                </a:solidFill>
                <a:effectLst/>
                <a:latin typeface="+mn-lt"/>
                <a:ea typeface="+mn-ea"/>
                <a:cs typeface="+mn-cs"/>
              </a:rPr>
              <a:t>firuta</a:t>
            </a:r>
            <a:r>
              <a:rPr lang="en-US" altLang="ja-JP" sz="1200" kern="1200">
                <a:solidFill>
                  <a:schemeClr val="tx1"/>
                </a:solidFill>
                <a:effectLst/>
                <a:latin typeface="+mn-lt"/>
                <a:ea typeface="+mn-ea"/>
                <a:cs typeface="+mn-cs"/>
              </a:rPr>
              <a:t> no </a:t>
            </a:r>
            <a:r>
              <a:rPr lang="en-US" altLang="ja-JP" sz="1200" kern="1200" err="1">
                <a:solidFill>
                  <a:schemeClr val="tx1"/>
                </a:solidFill>
                <a:effectLst/>
                <a:latin typeface="+mn-lt"/>
                <a:ea typeface="+mn-ea"/>
                <a:cs typeface="+mn-cs"/>
              </a:rPr>
              <a:t>seishitsu</a:t>
            </a:r>
            <a:endParaRPr lang="en-US" altLang="ja-JP" sz="1200" kern="1200">
              <a:solidFill>
                <a:schemeClr val="tx1"/>
              </a:solidFill>
              <a:effectLst/>
              <a:latin typeface="+mn-lt"/>
              <a:ea typeface="+mn-ea"/>
              <a:cs typeface="+mn-cs"/>
            </a:endParaRPr>
          </a:p>
          <a:p>
            <a:br>
              <a:rPr lang="en-US" altLang="ja-JP">
                <a:effectLst/>
              </a:rPr>
            </a:br>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14</a:t>
            </a:fld>
            <a:endParaRPr lang="en-US"/>
          </a:p>
        </p:txBody>
      </p:sp>
    </p:spTree>
    <p:extLst>
      <p:ext uri="{BB962C8B-B14F-4D97-AF65-F5344CB8AC3E}">
        <p14:creationId xmlns:p14="http://schemas.microsoft.com/office/powerpoint/2010/main" val="9257458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15</a:t>
            </a:fld>
            <a:endParaRPr lang="en-US"/>
          </a:p>
        </p:txBody>
      </p:sp>
    </p:spTree>
    <p:extLst>
      <p:ext uri="{BB962C8B-B14F-4D97-AF65-F5344CB8AC3E}">
        <p14:creationId xmlns:p14="http://schemas.microsoft.com/office/powerpoint/2010/main" val="2022479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16</a:t>
            </a:fld>
            <a:endParaRPr lang="en-US"/>
          </a:p>
        </p:txBody>
      </p:sp>
    </p:spTree>
    <p:extLst>
      <p:ext uri="{BB962C8B-B14F-4D97-AF65-F5344CB8AC3E}">
        <p14:creationId xmlns:p14="http://schemas.microsoft.com/office/powerpoint/2010/main" val="37005663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https://colab.research.google.com/drive/1HL1F0ltgOY4jOXnMt6KzL_zczB9hEWXE#scrollTo=MTjNgUqzZuVL</a:t>
            </a:r>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17</a:t>
            </a:fld>
            <a:endParaRPr lang="en-US"/>
          </a:p>
        </p:txBody>
      </p:sp>
    </p:spTree>
    <p:extLst>
      <p:ext uri="{BB962C8B-B14F-4D97-AF65-F5344CB8AC3E}">
        <p14:creationId xmlns:p14="http://schemas.microsoft.com/office/powerpoint/2010/main" val="31290666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Swali la kujaribu darasani. Jibu swali la kwanza – [0.50, 0.45, 0,0,0,0,0] , jibu la pili – [0.50, 0.425, 0.36125, 0.3070625, 0.2610031, 0.2218527, 0.1885748]</a:t>
            </a:r>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18</a:t>
            </a:fld>
            <a:endParaRPr lang="en-US"/>
          </a:p>
        </p:txBody>
      </p:sp>
    </p:spTree>
    <p:extLst>
      <p:ext uri="{BB962C8B-B14F-4D97-AF65-F5344CB8AC3E}">
        <p14:creationId xmlns:p14="http://schemas.microsoft.com/office/powerpoint/2010/main" val="5211797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Swali la kujaribu darasani. Jibu swali la kwanza – [0.50, 0.45, 0,0,0,0,0] , </a:t>
            </a:r>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19</a:t>
            </a:fld>
            <a:endParaRPr lang="en-US"/>
          </a:p>
        </p:txBody>
      </p:sp>
    </p:spTree>
    <p:extLst>
      <p:ext uri="{BB962C8B-B14F-4D97-AF65-F5344CB8AC3E}">
        <p14:creationId xmlns:p14="http://schemas.microsoft.com/office/powerpoint/2010/main" val="24084617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20</a:t>
            </a:fld>
            <a:endParaRPr lang="en-US"/>
          </a:p>
        </p:txBody>
      </p:sp>
    </p:spTree>
    <p:extLst>
      <p:ext uri="{BB962C8B-B14F-4D97-AF65-F5344CB8AC3E}">
        <p14:creationId xmlns:p14="http://schemas.microsoft.com/office/powerpoint/2010/main" val="8815847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21</a:t>
            </a:fld>
            <a:endParaRPr lang="en-US"/>
          </a:p>
        </p:txBody>
      </p:sp>
    </p:spTree>
    <p:extLst>
      <p:ext uri="{BB962C8B-B14F-4D97-AF65-F5344CB8AC3E}">
        <p14:creationId xmlns:p14="http://schemas.microsoft.com/office/powerpoint/2010/main" val="2995200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22</a:t>
            </a:fld>
            <a:endParaRPr lang="en-US"/>
          </a:p>
        </p:txBody>
      </p:sp>
    </p:spTree>
    <p:extLst>
      <p:ext uri="{BB962C8B-B14F-4D97-AF65-F5344CB8AC3E}">
        <p14:creationId xmlns:p14="http://schemas.microsoft.com/office/powerpoint/2010/main" val="1119127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23</a:t>
            </a:fld>
            <a:endParaRPr lang="en-US"/>
          </a:p>
        </p:txBody>
      </p:sp>
    </p:spTree>
    <p:extLst>
      <p:ext uri="{BB962C8B-B14F-4D97-AF65-F5344CB8AC3E}">
        <p14:creationId xmlns:p14="http://schemas.microsoft.com/office/powerpoint/2010/main" val="10733893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24</a:t>
            </a:fld>
            <a:endParaRPr lang="en-US"/>
          </a:p>
        </p:txBody>
      </p:sp>
    </p:spTree>
    <p:extLst>
      <p:ext uri="{BB962C8B-B14F-4D97-AF65-F5344CB8AC3E}">
        <p14:creationId xmlns:p14="http://schemas.microsoft.com/office/powerpoint/2010/main" val="4631937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25</a:t>
            </a:fld>
            <a:endParaRPr lang="en-US"/>
          </a:p>
        </p:txBody>
      </p:sp>
    </p:spTree>
    <p:extLst>
      <p:ext uri="{BB962C8B-B14F-4D97-AF65-F5344CB8AC3E}">
        <p14:creationId xmlns:p14="http://schemas.microsoft.com/office/powerpoint/2010/main" val="16615905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26</a:t>
            </a:fld>
            <a:endParaRPr lang="en-US"/>
          </a:p>
        </p:txBody>
      </p:sp>
    </p:spTree>
    <p:extLst>
      <p:ext uri="{BB962C8B-B14F-4D97-AF65-F5344CB8AC3E}">
        <p14:creationId xmlns:p14="http://schemas.microsoft.com/office/powerpoint/2010/main" val="30144362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27</a:t>
            </a:fld>
            <a:endParaRPr lang="en-US"/>
          </a:p>
        </p:txBody>
      </p:sp>
    </p:spTree>
    <p:extLst>
      <p:ext uri="{BB962C8B-B14F-4D97-AF65-F5344CB8AC3E}">
        <p14:creationId xmlns:p14="http://schemas.microsoft.com/office/powerpoint/2010/main" val="1199923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28</a:t>
            </a:fld>
            <a:endParaRPr lang="en-US"/>
          </a:p>
        </p:txBody>
      </p:sp>
    </p:spTree>
    <p:extLst>
      <p:ext uri="{BB962C8B-B14F-4D97-AF65-F5344CB8AC3E}">
        <p14:creationId xmlns:p14="http://schemas.microsoft.com/office/powerpoint/2010/main" val="16028133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29</a:t>
            </a:fld>
            <a:endParaRPr lang="en-US"/>
          </a:p>
        </p:txBody>
      </p:sp>
    </p:spTree>
    <p:extLst>
      <p:ext uri="{BB962C8B-B14F-4D97-AF65-F5344CB8AC3E}">
        <p14:creationId xmlns:p14="http://schemas.microsoft.com/office/powerpoint/2010/main" val="12953335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30</a:t>
            </a:fld>
            <a:endParaRPr lang="en-US"/>
          </a:p>
        </p:txBody>
      </p:sp>
    </p:spTree>
    <p:extLst>
      <p:ext uri="{BB962C8B-B14F-4D97-AF65-F5344CB8AC3E}">
        <p14:creationId xmlns:p14="http://schemas.microsoft.com/office/powerpoint/2010/main" val="14763072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31</a:t>
            </a:fld>
            <a:endParaRPr lang="en-US"/>
          </a:p>
        </p:txBody>
      </p:sp>
    </p:spTree>
    <p:extLst>
      <p:ext uri="{BB962C8B-B14F-4D97-AF65-F5344CB8AC3E}">
        <p14:creationId xmlns:p14="http://schemas.microsoft.com/office/powerpoint/2010/main" val="16873029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32</a:t>
            </a:fld>
            <a:endParaRPr lang="en-US"/>
          </a:p>
        </p:txBody>
      </p:sp>
    </p:spTree>
    <p:extLst>
      <p:ext uri="{BB962C8B-B14F-4D97-AF65-F5344CB8AC3E}">
        <p14:creationId xmlns:p14="http://schemas.microsoft.com/office/powerpoint/2010/main" val="1818369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33</a:t>
            </a:fld>
            <a:endParaRPr lang="en-US"/>
          </a:p>
        </p:txBody>
      </p:sp>
    </p:spTree>
    <p:extLst>
      <p:ext uri="{BB962C8B-B14F-4D97-AF65-F5344CB8AC3E}">
        <p14:creationId xmlns:p14="http://schemas.microsoft.com/office/powerpoint/2010/main" val="8612707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34</a:t>
            </a:fld>
            <a:endParaRPr lang="en-US"/>
          </a:p>
        </p:txBody>
      </p:sp>
    </p:spTree>
    <p:extLst>
      <p:ext uri="{BB962C8B-B14F-4D97-AF65-F5344CB8AC3E}">
        <p14:creationId xmlns:p14="http://schemas.microsoft.com/office/powerpoint/2010/main" val="24554826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35</a:t>
            </a:fld>
            <a:endParaRPr lang="en-US"/>
          </a:p>
        </p:txBody>
      </p:sp>
    </p:spTree>
    <p:extLst>
      <p:ext uri="{BB962C8B-B14F-4D97-AF65-F5344CB8AC3E}">
        <p14:creationId xmlns:p14="http://schemas.microsoft.com/office/powerpoint/2010/main" val="331105502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US" b="0" i="0" err="1">
                <a:solidFill>
                  <a:srgbClr val="5F6368"/>
                </a:solidFill>
                <a:effectLst/>
                <a:latin typeface="Roboto" panose="02000000000000000000" pitchFamily="2" charset="0"/>
              </a:rPr>
              <a:t>Noizu</a:t>
            </a:r>
            <a:r>
              <a:rPr lang="en-US" b="0" i="0">
                <a:solidFill>
                  <a:srgbClr val="5F6368"/>
                </a:solidFill>
                <a:effectLst/>
                <a:latin typeface="Roboto" panose="02000000000000000000" pitchFamily="2" charset="0"/>
              </a:rPr>
              <a:t> Teigen</a:t>
            </a:r>
          </a:p>
          <a:p>
            <a:pPr algn="l" rtl="0"/>
            <a:r>
              <a:rPr lang="fi-FI" b="0" i="0">
                <a:solidFill>
                  <a:srgbClr val="5F6368"/>
                </a:solidFill>
                <a:effectLst/>
                <a:latin typeface="Roboto" panose="02000000000000000000" pitchFamily="2" charset="0"/>
              </a:rPr>
              <a:t>Shingō shori no kihon tekunikku</a:t>
            </a:r>
          </a:p>
          <a:p>
            <a:br>
              <a:rPr lang="fi-FI" b="0" i="0">
                <a:effectLst/>
                <a:latin typeface="Google Sans"/>
              </a:rPr>
            </a:br>
            <a:endParaRPr lang="en-US" b="0" i="0">
              <a:solidFill>
                <a:srgbClr val="5F6368"/>
              </a:solidFill>
              <a:effectLst/>
              <a:latin typeface="Roboto" panose="02000000000000000000" pitchFamily="2" charset="0"/>
            </a:endParaRPr>
          </a:p>
          <a:p>
            <a:pPr algn="l" rtl="0"/>
            <a:r>
              <a:rPr lang="en-US" b="0" i="0" err="1">
                <a:solidFill>
                  <a:srgbClr val="5F6368"/>
                </a:solidFill>
                <a:effectLst/>
                <a:latin typeface="Roboto" panose="02000000000000000000" pitchFamily="2" charset="0"/>
              </a:rPr>
              <a:t>Firuta</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ringu</a:t>
            </a:r>
            <a:r>
              <a:rPr lang="en-US" b="0" i="0">
                <a:solidFill>
                  <a:srgbClr val="5F6368"/>
                </a:solidFill>
                <a:effectLst/>
                <a:latin typeface="Roboto" panose="02000000000000000000" pitchFamily="2" charset="0"/>
              </a:rPr>
              <a:t> - </a:t>
            </a:r>
            <a:r>
              <a:rPr lang="en-US" b="0" i="0" err="1">
                <a:solidFill>
                  <a:srgbClr val="5F6368"/>
                </a:solidFill>
                <a:effectLst/>
                <a:latin typeface="Roboto" panose="02000000000000000000" pitchFamily="2" charset="0"/>
              </a:rPr>
              <a:t>tokutei</a:t>
            </a:r>
            <a:r>
              <a:rPr lang="en-US" b="0" i="0">
                <a:solidFill>
                  <a:srgbClr val="5F6368"/>
                </a:solidFill>
                <a:effectLst/>
                <a:latin typeface="Roboto" panose="02000000000000000000" pitchFamily="2" charset="0"/>
              </a:rPr>
              <a:t> no </a:t>
            </a:r>
            <a:r>
              <a:rPr lang="en-US" b="0" i="0" err="1">
                <a:solidFill>
                  <a:srgbClr val="5F6368"/>
                </a:solidFill>
                <a:effectLst/>
                <a:latin typeface="Roboto" panose="02000000000000000000" pitchFamily="2" charset="0"/>
              </a:rPr>
              <a:t>shūhasū</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seibun</a:t>
            </a:r>
            <a:r>
              <a:rPr lang="en-US" b="0" i="0">
                <a:solidFill>
                  <a:srgbClr val="5F6368"/>
                </a:solidFill>
                <a:effectLst/>
                <a:latin typeface="Roboto" panose="02000000000000000000" pitchFamily="2" charset="0"/>
              </a:rPr>
              <a:t> o </a:t>
            </a:r>
            <a:r>
              <a:rPr lang="en-US" b="0" i="0" err="1">
                <a:solidFill>
                  <a:srgbClr val="5F6368"/>
                </a:solidFill>
                <a:effectLst/>
                <a:latin typeface="Roboto" panose="02000000000000000000" pitchFamily="2" charset="0"/>
              </a:rPr>
              <a:t>jokyo</a:t>
            </a:r>
            <a:r>
              <a:rPr lang="en-US" b="0" i="0">
                <a:solidFill>
                  <a:srgbClr val="5F6368"/>
                </a:solidFill>
                <a:effectLst/>
                <a:latin typeface="Roboto" panose="02000000000000000000" pitchFamily="2" charset="0"/>
              </a:rPr>
              <a:t> shite </a:t>
            </a:r>
            <a:r>
              <a:rPr lang="en-US" b="0" i="0" err="1">
                <a:solidFill>
                  <a:srgbClr val="5F6368"/>
                </a:solidFill>
                <a:effectLst/>
                <a:latin typeface="Roboto" panose="02000000000000000000" pitchFamily="2" charset="0"/>
              </a:rPr>
              <a:t>shingō</a:t>
            </a:r>
            <a:r>
              <a:rPr lang="en-US" b="0" i="0">
                <a:solidFill>
                  <a:srgbClr val="5F6368"/>
                </a:solidFill>
                <a:effectLst/>
                <a:latin typeface="Roboto" panose="02000000000000000000" pitchFamily="2" charset="0"/>
              </a:rPr>
              <a:t> o </a:t>
            </a:r>
            <a:r>
              <a:rPr lang="en-US" b="0" i="0" err="1">
                <a:solidFill>
                  <a:srgbClr val="5F6368"/>
                </a:solidFill>
                <a:effectLst/>
                <a:latin typeface="Roboto" panose="02000000000000000000" pitchFamily="2" charset="0"/>
              </a:rPr>
              <a:t>shūsei</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suru</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koto</a:t>
            </a:r>
            <a:r>
              <a:rPr lang="en-US" b="0" i="0">
                <a:solidFill>
                  <a:srgbClr val="5F6368"/>
                </a:solidFill>
                <a:effectLst/>
                <a:latin typeface="Roboto" panose="02000000000000000000" pitchFamily="2" charset="0"/>
              </a:rPr>
              <a:t>.</a:t>
            </a:r>
          </a:p>
          <a:p>
            <a:br>
              <a:rPr lang="en-US" b="0" i="0">
                <a:effectLst/>
                <a:latin typeface="Google Sans"/>
              </a:rPr>
            </a:br>
            <a:endParaRPr lang="en-US" b="0" i="0">
              <a:solidFill>
                <a:srgbClr val="5F6368"/>
              </a:solidFill>
              <a:effectLst/>
              <a:latin typeface="Roboto" panose="02000000000000000000" pitchFamily="2" charset="0"/>
            </a:endParaRPr>
          </a:p>
          <a:p>
            <a:br>
              <a:rPr lang="en-US" b="0" i="0">
                <a:effectLst/>
                <a:latin typeface="Google Sans"/>
              </a:rPr>
            </a:br>
            <a:endParaRPr lang="en-US"/>
          </a:p>
        </p:txBody>
      </p:sp>
      <p:sp>
        <p:nvSpPr>
          <p:cNvPr id="4" name="Slide Number Placeholder 3"/>
          <p:cNvSpPr>
            <a:spLocks noGrp="1"/>
          </p:cNvSpPr>
          <p:nvPr>
            <p:ph type="sldNum" sz="quarter" idx="10"/>
          </p:nvPr>
        </p:nvSpPr>
        <p:spPr/>
        <p:txBody>
          <a:bodyPr/>
          <a:lstStyle/>
          <a:p>
            <a:fld id="{27F9F59A-EB1B-4081-A057-2C8AE2F6E348}" type="slidenum">
              <a:rPr lang="en-US" smtClean="0"/>
              <a:t>36</a:t>
            </a:fld>
            <a:endParaRPr lang="en-US"/>
          </a:p>
        </p:txBody>
      </p:sp>
    </p:spTree>
    <p:extLst>
      <p:ext uri="{BB962C8B-B14F-4D97-AF65-F5344CB8AC3E}">
        <p14:creationId xmlns:p14="http://schemas.microsoft.com/office/powerpoint/2010/main" val="13845405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US" b="0" i="0" err="1">
                <a:solidFill>
                  <a:srgbClr val="5F6368"/>
                </a:solidFill>
                <a:effectLst/>
                <a:latin typeface="Roboto" panose="02000000000000000000" pitchFamily="2" charset="0"/>
              </a:rPr>
              <a:t>Noizu</a:t>
            </a:r>
            <a:r>
              <a:rPr lang="en-US" b="0" i="0">
                <a:solidFill>
                  <a:srgbClr val="5F6368"/>
                </a:solidFill>
                <a:effectLst/>
                <a:latin typeface="Roboto" panose="02000000000000000000" pitchFamily="2" charset="0"/>
              </a:rPr>
              <a:t> Teigen</a:t>
            </a:r>
          </a:p>
          <a:p>
            <a:pPr algn="l" rtl="0"/>
            <a:r>
              <a:rPr lang="fi-FI" b="0" i="0">
                <a:solidFill>
                  <a:srgbClr val="5F6368"/>
                </a:solidFill>
                <a:effectLst/>
                <a:latin typeface="Roboto" panose="02000000000000000000" pitchFamily="2" charset="0"/>
              </a:rPr>
              <a:t>Shingō shori no kihon tekunikku</a:t>
            </a:r>
          </a:p>
          <a:p>
            <a:br>
              <a:rPr lang="fi-FI" b="0" i="0">
                <a:effectLst/>
                <a:latin typeface="Google Sans"/>
              </a:rPr>
            </a:br>
            <a:endParaRPr lang="en-US" b="0" i="0">
              <a:solidFill>
                <a:srgbClr val="5F6368"/>
              </a:solidFill>
              <a:effectLst/>
              <a:latin typeface="Roboto" panose="02000000000000000000" pitchFamily="2" charset="0"/>
            </a:endParaRPr>
          </a:p>
          <a:p>
            <a:pPr algn="l" rtl="0"/>
            <a:r>
              <a:rPr lang="en-US" b="0" i="0" err="1">
                <a:solidFill>
                  <a:srgbClr val="5F6368"/>
                </a:solidFill>
                <a:effectLst/>
                <a:latin typeface="Roboto" panose="02000000000000000000" pitchFamily="2" charset="0"/>
              </a:rPr>
              <a:t>Firuta</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ringu</a:t>
            </a:r>
            <a:r>
              <a:rPr lang="en-US" b="0" i="0">
                <a:solidFill>
                  <a:srgbClr val="5F6368"/>
                </a:solidFill>
                <a:effectLst/>
                <a:latin typeface="Roboto" panose="02000000000000000000" pitchFamily="2" charset="0"/>
              </a:rPr>
              <a:t> - </a:t>
            </a:r>
            <a:r>
              <a:rPr lang="en-US" b="0" i="0" err="1">
                <a:solidFill>
                  <a:srgbClr val="5F6368"/>
                </a:solidFill>
                <a:effectLst/>
                <a:latin typeface="Roboto" panose="02000000000000000000" pitchFamily="2" charset="0"/>
              </a:rPr>
              <a:t>tokutei</a:t>
            </a:r>
            <a:r>
              <a:rPr lang="en-US" b="0" i="0">
                <a:solidFill>
                  <a:srgbClr val="5F6368"/>
                </a:solidFill>
                <a:effectLst/>
                <a:latin typeface="Roboto" panose="02000000000000000000" pitchFamily="2" charset="0"/>
              </a:rPr>
              <a:t> no </a:t>
            </a:r>
            <a:r>
              <a:rPr lang="en-US" b="0" i="0" err="1">
                <a:solidFill>
                  <a:srgbClr val="5F6368"/>
                </a:solidFill>
                <a:effectLst/>
                <a:latin typeface="Roboto" panose="02000000000000000000" pitchFamily="2" charset="0"/>
              </a:rPr>
              <a:t>shūhasū</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seibun</a:t>
            </a:r>
            <a:r>
              <a:rPr lang="en-US" b="0" i="0">
                <a:solidFill>
                  <a:srgbClr val="5F6368"/>
                </a:solidFill>
                <a:effectLst/>
                <a:latin typeface="Roboto" panose="02000000000000000000" pitchFamily="2" charset="0"/>
              </a:rPr>
              <a:t> o </a:t>
            </a:r>
            <a:r>
              <a:rPr lang="en-US" b="0" i="0" err="1">
                <a:solidFill>
                  <a:srgbClr val="5F6368"/>
                </a:solidFill>
                <a:effectLst/>
                <a:latin typeface="Roboto" panose="02000000000000000000" pitchFamily="2" charset="0"/>
              </a:rPr>
              <a:t>jokyo</a:t>
            </a:r>
            <a:r>
              <a:rPr lang="en-US" b="0" i="0">
                <a:solidFill>
                  <a:srgbClr val="5F6368"/>
                </a:solidFill>
                <a:effectLst/>
                <a:latin typeface="Roboto" panose="02000000000000000000" pitchFamily="2" charset="0"/>
              </a:rPr>
              <a:t> shite </a:t>
            </a:r>
            <a:r>
              <a:rPr lang="en-US" b="0" i="0" err="1">
                <a:solidFill>
                  <a:srgbClr val="5F6368"/>
                </a:solidFill>
                <a:effectLst/>
                <a:latin typeface="Roboto" panose="02000000000000000000" pitchFamily="2" charset="0"/>
              </a:rPr>
              <a:t>shingō</a:t>
            </a:r>
            <a:r>
              <a:rPr lang="en-US" b="0" i="0">
                <a:solidFill>
                  <a:srgbClr val="5F6368"/>
                </a:solidFill>
                <a:effectLst/>
                <a:latin typeface="Roboto" panose="02000000000000000000" pitchFamily="2" charset="0"/>
              </a:rPr>
              <a:t> o </a:t>
            </a:r>
            <a:r>
              <a:rPr lang="en-US" b="0" i="0" err="1">
                <a:solidFill>
                  <a:srgbClr val="5F6368"/>
                </a:solidFill>
                <a:effectLst/>
                <a:latin typeface="Roboto" panose="02000000000000000000" pitchFamily="2" charset="0"/>
              </a:rPr>
              <a:t>shūsei</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suru</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koto</a:t>
            </a:r>
            <a:r>
              <a:rPr lang="en-US" b="0" i="0">
                <a:solidFill>
                  <a:srgbClr val="5F6368"/>
                </a:solidFill>
                <a:effectLst/>
                <a:latin typeface="Roboto" panose="02000000000000000000" pitchFamily="2" charset="0"/>
              </a:rPr>
              <a:t>.</a:t>
            </a:r>
          </a:p>
          <a:p>
            <a:br>
              <a:rPr lang="en-US" b="0" i="0">
                <a:effectLst/>
                <a:latin typeface="Google Sans"/>
              </a:rPr>
            </a:br>
            <a:endParaRPr lang="en-US" b="0" i="0">
              <a:solidFill>
                <a:srgbClr val="5F6368"/>
              </a:solidFill>
              <a:effectLst/>
              <a:latin typeface="Roboto" panose="02000000000000000000" pitchFamily="2" charset="0"/>
            </a:endParaRPr>
          </a:p>
          <a:p>
            <a:br>
              <a:rPr lang="en-US" b="0" i="0">
                <a:effectLst/>
                <a:latin typeface="Google Sans"/>
              </a:rPr>
            </a:br>
            <a:endParaRPr lang="en-US"/>
          </a:p>
        </p:txBody>
      </p:sp>
      <p:sp>
        <p:nvSpPr>
          <p:cNvPr id="4" name="Slide Number Placeholder 3"/>
          <p:cNvSpPr>
            <a:spLocks noGrp="1"/>
          </p:cNvSpPr>
          <p:nvPr>
            <p:ph type="sldNum" sz="quarter" idx="10"/>
          </p:nvPr>
        </p:nvSpPr>
        <p:spPr/>
        <p:txBody>
          <a:bodyPr/>
          <a:lstStyle/>
          <a:p>
            <a:fld id="{27F9F59A-EB1B-4081-A057-2C8AE2F6E348}" type="slidenum">
              <a:rPr lang="en-US" smtClean="0"/>
              <a:t>37</a:t>
            </a:fld>
            <a:endParaRPr lang="en-US"/>
          </a:p>
        </p:txBody>
      </p:sp>
    </p:spTree>
    <p:extLst>
      <p:ext uri="{BB962C8B-B14F-4D97-AF65-F5344CB8AC3E}">
        <p14:creationId xmlns:p14="http://schemas.microsoft.com/office/powerpoint/2010/main" val="30168810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US" b="0" i="0" err="1">
                <a:solidFill>
                  <a:srgbClr val="5F6368"/>
                </a:solidFill>
                <a:effectLst/>
                <a:latin typeface="Roboto" panose="02000000000000000000" pitchFamily="2" charset="0"/>
              </a:rPr>
              <a:t>Noizu</a:t>
            </a:r>
            <a:r>
              <a:rPr lang="en-US" b="0" i="0">
                <a:solidFill>
                  <a:srgbClr val="5F6368"/>
                </a:solidFill>
                <a:effectLst/>
                <a:latin typeface="Roboto" panose="02000000000000000000" pitchFamily="2" charset="0"/>
              </a:rPr>
              <a:t> Teigen</a:t>
            </a:r>
          </a:p>
          <a:p>
            <a:pPr algn="l" rtl="0"/>
            <a:r>
              <a:rPr lang="fi-FI" b="0" i="0">
                <a:solidFill>
                  <a:srgbClr val="5F6368"/>
                </a:solidFill>
                <a:effectLst/>
                <a:latin typeface="Roboto" panose="02000000000000000000" pitchFamily="2" charset="0"/>
              </a:rPr>
              <a:t>Shingō shori no kihon tekunikku</a:t>
            </a:r>
          </a:p>
          <a:p>
            <a:br>
              <a:rPr lang="fi-FI" b="0" i="0">
                <a:effectLst/>
                <a:latin typeface="Google Sans"/>
              </a:rPr>
            </a:br>
            <a:endParaRPr lang="en-US" b="0" i="0">
              <a:solidFill>
                <a:srgbClr val="5F6368"/>
              </a:solidFill>
              <a:effectLst/>
              <a:latin typeface="Roboto" panose="02000000000000000000" pitchFamily="2" charset="0"/>
            </a:endParaRPr>
          </a:p>
          <a:p>
            <a:pPr algn="l" rtl="0"/>
            <a:r>
              <a:rPr lang="en-US" b="0" i="0" err="1">
                <a:solidFill>
                  <a:srgbClr val="5F6368"/>
                </a:solidFill>
                <a:effectLst/>
                <a:latin typeface="Roboto" panose="02000000000000000000" pitchFamily="2" charset="0"/>
              </a:rPr>
              <a:t>Firuta</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ringu</a:t>
            </a:r>
            <a:r>
              <a:rPr lang="en-US" b="0" i="0">
                <a:solidFill>
                  <a:srgbClr val="5F6368"/>
                </a:solidFill>
                <a:effectLst/>
                <a:latin typeface="Roboto" panose="02000000000000000000" pitchFamily="2" charset="0"/>
              </a:rPr>
              <a:t> - </a:t>
            </a:r>
            <a:r>
              <a:rPr lang="en-US" b="0" i="0" err="1">
                <a:solidFill>
                  <a:srgbClr val="5F6368"/>
                </a:solidFill>
                <a:effectLst/>
                <a:latin typeface="Roboto" panose="02000000000000000000" pitchFamily="2" charset="0"/>
              </a:rPr>
              <a:t>tokutei</a:t>
            </a:r>
            <a:r>
              <a:rPr lang="en-US" b="0" i="0">
                <a:solidFill>
                  <a:srgbClr val="5F6368"/>
                </a:solidFill>
                <a:effectLst/>
                <a:latin typeface="Roboto" panose="02000000000000000000" pitchFamily="2" charset="0"/>
              </a:rPr>
              <a:t> no </a:t>
            </a:r>
            <a:r>
              <a:rPr lang="en-US" b="0" i="0" err="1">
                <a:solidFill>
                  <a:srgbClr val="5F6368"/>
                </a:solidFill>
                <a:effectLst/>
                <a:latin typeface="Roboto" panose="02000000000000000000" pitchFamily="2" charset="0"/>
              </a:rPr>
              <a:t>shūhasū</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seibun</a:t>
            </a:r>
            <a:r>
              <a:rPr lang="en-US" b="0" i="0">
                <a:solidFill>
                  <a:srgbClr val="5F6368"/>
                </a:solidFill>
                <a:effectLst/>
                <a:latin typeface="Roboto" panose="02000000000000000000" pitchFamily="2" charset="0"/>
              </a:rPr>
              <a:t> o </a:t>
            </a:r>
            <a:r>
              <a:rPr lang="en-US" b="0" i="0" err="1">
                <a:solidFill>
                  <a:srgbClr val="5F6368"/>
                </a:solidFill>
                <a:effectLst/>
                <a:latin typeface="Roboto" panose="02000000000000000000" pitchFamily="2" charset="0"/>
              </a:rPr>
              <a:t>jokyo</a:t>
            </a:r>
            <a:r>
              <a:rPr lang="en-US" b="0" i="0">
                <a:solidFill>
                  <a:srgbClr val="5F6368"/>
                </a:solidFill>
                <a:effectLst/>
                <a:latin typeface="Roboto" panose="02000000000000000000" pitchFamily="2" charset="0"/>
              </a:rPr>
              <a:t> shite </a:t>
            </a:r>
            <a:r>
              <a:rPr lang="en-US" b="0" i="0" err="1">
                <a:solidFill>
                  <a:srgbClr val="5F6368"/>
                </a:solidFill>
                <a:effectLst/>
                <a:latin typeface="Roboto" panose="02000000000000000000" pitchFamily="2" charset="0"/>
              </a:rPr>
              <a:t>shingō</a:t>
            </a:r>
            <a:r>
              <a:rPr lang="en-US" b="0" i="0">
                <a:solidFill>
                  <a:srgbClr val="5F6368"/>
                </a:solidFill>
                <a:effectLst/>
                <a:latin typeface="Roboto" panose="02000000000000000000" pitchFamily="2" charset="0"/>
              </a:rPr>
              <a:t> o </a:t>
            </a:r>
            <a:r>
              <a:rPr lang="en-US" b="0" i="0" err="1">
                <a:solidFill>
                  <a:srgbClr val="5F6368"/>
                </a:solidFill>
                <a:effectLst/>
                <a:latin typeface="Roboto" panose="02000000000000000000" pitchFamily="2" charset="0"/>
              </a:rPr>
              <a:t>shūsei</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suru</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koto</a:t>
            </a:r>
            <a:r>
              <a:rPr lang="en-US" b="0" i="0">
                <a:solidFill>
                  <a:srgbClr val="5F6368"/>
                </a:solidFill>
                <a:effectLst/>
                <a:latin typeface="Roboto" panose="02000000000000000000" pitchFamily="2" charset="0"/>
              </a:rPr>
              <a:t>.</a:t>
            </a:r>
          </a:p>
          <a:p>
            <a:br>
              <a:rPr lang="en-US" b="0" i="0">
                <a:effectLst/>
                <a:latin typeface="Google Sans"/>
              </a:rPr>
            </a:br>
            <a:endParaRPr lang="en-US" b="0" i="0">
              <a:solidFill>
                <a:srgbClr val="5F6368"/>
              </a:solidFill>
              <a:effectLst/>
              <a:latin typeface="Roboto" panose="02000000000000000000" pitchFamily="2" charset="0"/>
            </a:endParaRPr>
          </a:p>
          <a:p>
            <a:br>
              <a:rPr lang="en-US" b="0" i="0">
                <a:effectLst/>
                <a:latin typeface="Google Sans"/>
              </a:rPr>
            </a:br>
            <a:endParaRPr lang="en-US"/>
          </a:p>
        </p:txBody>
      </p:sp>
      <p:sp>
        <p:nvSpPr>
          <p:cNvPr id="4" name="Slide Number Placeholder 3"/>
          <p:cNvSpPr>
            <a:spLocks noGrp="1"/>
          </p:cNvSpPr>
          <p:nvPr>
            <p:ph type="sldNum" sz="quarter" idx="10"/>
          </p:nvPr>
        </p:nvSpPr>
        <p:spPr/>
        <p:txBody>
          <a:bodyPr/>
          <a:lstStyle/>
          <a:p>
            <a:fld id="{27F9F59A-EB1B-4081-A057-2C8AE2F6E348}" type="slidenum">
              <a:rPr lang="en-US" smtClean="0"/>
              <a:t>38</a:t>
            </a:fld>
            <a:endParaRPr lang="en-US"/>
          </a:p>
        </p:txBody>
      </p:sp>
    </p:spTree>
    <p:extLst>
      <p:ext uri="{BB962C8B-B14F-4D97-AF65-F5344CB8AC3E}">
        <p14:creationId xmlns:p14="http://schemas.microsoft.com/office/powerpoint/2010/main" val="85973315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US" b="0" i="0" err="1">
                <a:solidFill>
                  <a:srgbClr val="5F6368"/>
                </a:solidFill>
                <a:effectLst/>
                <a:latin typeface="Roboto" panose="02000000000000000000" pitchFamily="2" charset="0"/>
              </a:rPr>
              <a:t>Noizu</a:t>
            </a:r>
            <a:r>
              <a:rPr lang="en-US" b="0" i="0">
                <a:solidFill>
                  <a:srgbClr val="5F6368"/>
                </a:solidFill>
                <a:effectLst/>
                <a:latin typeface="Roboto" panose="02000000000000000000" pitchFamily="2" charset="0"/>
              </a:rPr>
              <a:t> Teigen</a:t>
            </a:r>
          </a:p>
          <a:p>
            <a:pPr algn="l" rtl="0"/>
            <a:r>
              <a:rPr lang="fi-FI" b="0" i="0">
                <a:solidFill>
                  <a:srgbClr val="5F6368"/>
                </a:solidFill>
                <a:effectLst/>
                <a:latin typeface="Roboto" panose="02000000000000000000" pitchFamily="2" charset="0"/>
              </a:rPr>
              <a:t>Shingō shori no kihon tekunikku</a:t>
            </a:r>
          </a:p>
          <a:p>
            <a:br>
              <a:rPr lang="fi-FI" b="0" i="0">
                <a:effectLst/>
                <a:latin typeface="Google Sans"/>
              </a:rPr>
            </a:br>
            <a:endParaRPr lang="en-US" b="0" i="0">
              <a:solidFill>
                <a:srgbClr val="5F6368"/>
              </a:solidFill>
              <a:effectLst/>
              <a:latin typeface="Roboto" panose="02000000000000000000" pitchFamily="2" charset="0"/>
            </a:endParaRPr>
          </a:p>
          <a:p>
            <a:pPr algn="l" rtl="0"/>
            <a:r>
              <a:rPr lang="en-US" b="0" i="0" err="1">
                <a:solidFill>
                  <a:srgbClr val="5F6368"/>
                </a:solidFill>
                <a:effectLst/>
                <a:latin typeface="Roboto" panose="02000000000000000000" pitchFamily="2" charset="0"/>
              </a:rPr>
              <a:t>Firuta</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ringu</a:t>
            </a:r>
            <a:r>
              <a:rPr lang="en-US" b="0" i="0">
                <a:solidFill>
                  <a:srgbClr val="5F6368"/>
                </a:solidFill>
                <a:effectLst/>
                <a:latin typeface="Roboto" panose="02000000000000000000" pitchFamily="2" charset="0"/>
              </a:rPr>
              <a:t> - </a:t>
            </a:r>
            <a:r>
              <a:rPr lang="en-US" b="0" i="0" err="1">
                <a:solidFill>
                  <a:srgbClr val="5F6368"/>
                </a:solidFill>
                <a:effectLst/>
                <a:latin typeface="Roboto" panose="02000000000000000000" pitchFamily="2" charset="0"/>
              </a:rPr>
              <a:t>tokutei</a:t>
            </a:r>
            <a:r>
              <a:rPr lang="en-US" b="0" i="0">
                <a:solidFill>
                  <a:srgbClr val="5F6368"/>
                </a:solidFill>
                <a:effectLst/>
                <a:latin typeface="Roboto" panose="02000000000000000000" pitchFamily="2" charset="0"/>
              </a:rPr>
              <a:t> no </a:t>
            </a:r>
            <a:r>
              <a:rPr lang="en-US" b="0" i="0" err="1">
                <a:solidFill>
                  <a:srgbClr val="5F6368"/>
                </a:solidFill>
                <a:effectLst/>
                <a:latin typeface="Roboto" panose="02000000000000000000" pitchFamily="2" charset="0"/>
              </a:rPr>
              <a:t>shūhasū</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seibun</a:t>
            </a:r>
            <a:r>
              <a:rPr lang="en-US" b="0" i="0">
                <a:solidFill>
                  <a:srgbClr val="5F6368"/>
                </a:solidFill>
                <a:effectLst/>
                <a:latin typeface="Roboto" panose="02000000000000000000" pitchFamily="2" charset="0"/>
              </a:rPr>
              <a:t> o </a:t>
            </a:r>
            <a:r>
              <a:rPr lang="en-US" b="0" i="0" err="1">
                <a:solidFill>
                  <a:srgbClr val="5F6368"/>
                </a:solidFill>
                <a:effectLst/>
                <a:latin typeface="Roboto" panose="02000000000000000000" pitchFamily="2" charset="0"/>
              </a:rPr>
              <a:t>jokyo</a:t>
            </a:r>
            <a:r>
              <a:rPr lang="en-US" b="0" i="0">
                <a:solidFill>
                  <a:srgbClr val="5F6368"/>
                </a:solidFill>
                <a:effectLst/>
                <a:latin typeface="Roboto" panose="02000000000000000000" pitchFamily="2" charset="0"/>
              </a:rPr>
              <a:t> shite </a:t>
            </a:r>
            <a:r>
              <a:rPr lang="en-US" b="0" i="0" err="1">
                <a:solidFill>
                  <a:srgbClr val="5F6368"/>
                </a:solidFill>
                <a:effectLst/>
                <a:latin typeface="Roboto" panose="02000000000000000000" pitchFamily="2" charset="0"/>
              </a:rPr>
              <a:t>shingō</a:t>
            </a:r>
            <a:r>
              <a:rPr lang="en-US" b="0" i="0">
                <a:solidFill>
                  <a:srgbClr val="5F6368"/>
                </a:solidFill>
                <a:effectLst/>
                <a:latin typeface="Roboto" panose="02000000000000000000" pitchFamily="2" charset="0"/>
              </a:rPr>
              <a:t> o </a:t>
            </a:r>
            <a:r>
              <a:rPr lang="en-US" b="0" i="0" err="1">
                <a:solidFill>
                  <a:srgbClr val="5F6368"/>
                </a:solidFill>
                <a:effectLst/>
                <a:latin typeface="Roboto" panose="02000000000000000000" pitchFamily="2" charset="0"/>
              </a:rPr>
              <a:t>shūsei</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suru</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koto</a:t>
            </a:r>
            <a:r>
              <a:rPr lang="en-US" b="0" i="0">
                <a:solidFill>
                  <a:srgbClr val="5F6368"/>
                </a:solidFill>
                <a:effectLst/>
                <a:latin typeface="Roboto" panose="02000000000000000000" pitchFamily="2" charset="0"/>
              </a:rPr>
              <a:t>.</a:t>
            </a:r>
          </a:p>
          <a:p>
            <a:br>
              <a:rPr lang="en-US" b="0" i="0">
                <a:effectLst/>
                <a:latin typeface="Google Sans"/>
              </a:rPr>
            </a:br>
            <a:endParaRPr lang="en-US" b="0" i="0">
              <a:solidFill>
                <a:srgbClr val="5F6368"/>
              </a:solidFill>
              <a:effectLst/>
              <a:latin typeface="Roboto" panose="02000000000000000000" pitchFamily="2" charset="0"/>
            </a:endParaRPr>
          </a:p>
          <a:p>
            <a:br>
              <a:rPr lang="en-US" b="0" i="0">
                <a:effectLst/>
                <a:latin typeface="Google Sans"/>
              </a:rPr>
            </a:br>
            <a:endParaRPr lang="en-US"/>
          </a:p>
        </p:txBody>
      </p:sp>
      <p:sp>
        <p:nvSpPr>
          <p:cNvPr id="4" name="Slide Number Placeholder 3"/>
          <p:cNvSpPr>
            <a:spLocks noGrp="1"/>
          </p:cNvSpPr>
          <p:nvPr>
            <p:ph type="sldNum" sz="quarter" idx="10"/>
          </p:nvPr>
        </p:nvSpPr>
        <p:spPr/>
        <p:txBody>
          <a:bodyPr/>
          <a:lstStyle/>
          <a:p>
            <a:fld id="{27F9F59A-EB1B-4081-A057-2C8AE2F6E348}" type="slidenum">
              <a:rPr lang="en-US" smtClean="0"/>
              <a:t>39</a:t>
            </a:fld>
            <a:endParaRPr lang="en-US"/>
          </a:p>
        </p:txBody>
      </p:sp>
    </p:spTree>
    <p:extLst>
      <p:ext uri="{BB962C8B-B14F-4D97-AF65-F5344CB8AC3E}">
        <p14:creationId xmlns:p14="http://schemas.microsoft.com/office/powerpoint/2010/main" val="215003092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40</a:t>
            </a:fld>
            <a:endParaRPr lang="en-US"/>
          </a:p>
        </p:txBody>
      </p:sp>
    </p:spTree>
    <p:extLst>
      <p:ext uri="{BB962C8B-B14F-4D97-AF65-F5344CB8AC3E}">
        <p14:creationId xmlns:p14="http://schemas.microsoft.com/office/powerpoint/2010/main" val="377052012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41</a:t>
            </a:fld>
            <a:endParaRPr lang="en-US"/>
          </a:p>
        </p:txBody>
      </p:sp>
    </p:spTree>
    <p:extLst>
      <p:ext uri="{BB962C8B-B14F-4D97-AF65-F5344CB8AC3E}">
        <p14:creationId xmlns:p14="http://schemas.microsoft.com/office/powerpoint/2010/main" val="78074405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42</a:t>
            </a:fld>
            <a:endParaRPr lang="en-US"/>
          </a:p>
        </p:txBody>
      </p:sp>
    </p:spTree>
    <p:extLst>
      <p:ext uri="{BB962C8B-B14F-4D97-AF65-F5344CB8AC3E}">
        <p14:creationId xmlns:p14="http://schemas.microsoft.com/office/powerpoint/2010/main" val="246310012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43</a:t>
            </a:fld>
            <a:endParaRPr lang="en-US"/>
          </a:p>
        </p:txBody>
      </p:sp>
    </p:spTree>
    <p:extLst>
      <p:ext uri="{BB962C8B-B14F-4D97-AF65-F5344CB8AC3E}">
        <p14:creationId xmlns:p14="http://schemas.microsoft.com/office/powerpoint/2010/main" val="426763236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44</a:t>
            </a:fld>
            <a:endParaRPr lang="en-US"/>
          </a:p>
        </p:txBody>
      </p:sp>
    </p:spTree>
    <p:extLst>
      <p:ext uri="{BB962C8B-B14F-4D97-AF65-F5344CB8AC3E}">
        <p14:creationId xmlns:p14="http://schemas.microsoft.com/office/powerpoint/2010/main" val="14785591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45</a:t>
            </a:fld>
            <a:endParaRPr lang="en-US"/>
          </a:p>
        </p:txBody>
      </p:sp>
    </p:spTree>
    <p:extLst>
      <p:ext uri="{BB962C8B-B14F-4D97-AF65-F5344CB8AC3E}">
        <p14:creationId xmlns:p14="http://schemas.microsoft.com/office/powerpoint/2010/main" val="113363162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46</a:t>
            </a:fld>
            <a:endParaRPr lang="en-US"/>
          </a:p>
        </p:txBody>
      </p:sp>
    </p:spTree>
    <p:extLst>
      <p:ext uri="{BB962C8B-B14F-4D97-AF65-F5344CB8AC3E}">
        <p14:creationId xmlns:p14="http://schemas.microsoft.com/office/powerpoint/2010/main" val="242583262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47</a:t>
            </a:fld>
            <a:endParaRPr lang="en-US"/>
          </a:p>
        </p:txBody>
      </p:sp>
    </p:spTree>
    <p:extLst>
      <p:ext uri="{BB962C8B-B14F-4D97-AF65-F5344CB8AC3E}">
        <p14:creationId xmlns:p14="http://schemas.microsoft.com/office/powerpoint/2010/main" val="27973376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48</a:t>
            </a:fld>
            <a:endParaRPr lang="en-US"/>
          </a:p>
        </p:txBody>
      </p:sp>
    </p:spTree>
    <p:extLst>
      <p:ext uri="{BB962C8B-B14F-4D97-AF65-F5344CB8AC3E}">
        <p14:creationId xmlns:p14="http://schemas.microsoft.com/office/powerpoint/2010/main" val="190617407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49</a:t>
            </a:fld>
            <a:endParaRPr lang="en-US"/>
          </a:p>
        </p:txBody>
      </p:sp>
    </p:spTree>
    <p:extLst>
      <p:ext uri="{BB962C8B-B14F-4D97-AF65-F5344CB8AC3E}">
        <p14:creationId xmlns:p14="http://schemas.microsoft.com/office/powerpoint/2010/main" val="30845980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50</a:t>
            </a:fld>
            <a:endParaRPr lang="en-US"/>
          </a:p>
        </p:txBody>
      </p:sp>
    </p:spTree>
    <p:extLst>
      <p:ext uri="{BB962C8B-B14F-4D97-AF65-F5344CB8AC3E}">
        <p14:creationId xmlns:p14="http://schemas.microsoft.com/office/powerpoint/2010/main" val="215344102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51</a:t>
            </a:fld>
            <a:endParaRPr lang="en-US"/>
          </a:p>
        </p:txBody>
      </p:sp>
    </p:spTree>
    <p:extLst>
      <p:ext uri="{BB962C8B-B14F-4D97-AF65-F5344CB8AC3E}">
        <p14:creationId xmlns:p14="http://schemas.microsoft.com/office/powerpoint/2010/main" val="133123810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52</a:t>
            </a:fld>
            <a:endParaRPr lang="en-US"/>
          </a:p>
        </p:txBody>
      </p:sp>
    </p:spTree>
    <p:extLst>
      <p:ext uri="{BB962C8B-B14F-4D97-AF65-F5344CB8AC3E}">
        <p14:creationId xmlns:p14="http://schemas.microsoft.com/office/powerpoint/2010/main" val="169211308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53</a:t>
            </a:fld>
            <a:endParaRPr lang="en-US"/>
          </a:p>
        </p:txBody>
      </p:sp>
    </p:spTree>
    <p:extLst>
      <p:ext uri="{BB962C8B-B14F-4D97-AF65-F5344CB8AC3E}">
        <p14:creationId xmlns:p14="http://schemas.microsoft.com/office/powerpoint/2010/main" val="227945108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54</a:t>
            </a:fld>
            <a:endParaRPr lang="en-US"/>
          </a:p>
        </p:txBody>
      </p:sp>
    </p:spTree>
    <p:extLst>
      <p:ext uri="{BB962C8B-B14F-4D97-AF65-F5344CB8AC3E}">
        <p14:creationId xmlns:p14="http://schemas.microsoft.com/office/powerpoint/2010/main" val="37606473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55</a:t>
            </a:fld>
            <a:endParaRPr lang="en-US"/>
          </a:p>
        </p:txBody>
      </p:sp>
    </p:spTree>
    <p:extLst>
      <p:ext uri="{BB962C8B-B14F-4D97-AF65-F5344CB8AC3E}">
        <p14:creationId xmlns:p14="http://schemas.microsoft.com/office/powerpoint/2010/main" val="12449763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56</a:t>
            </a:fld>
            <a:endParaRPr lang="en-US"/>
          </a:p>
        </p:txBody>
      </p:sp>
    </p:spTree>
    <p:extLst>
      <p:ext uri="{BB962C8B-B14F-4D97-AF65-F5344CB8AC3E}">
        <p14:creationId xmlns:p14="http://schemas.microsoft.com/office/powerpoint/2010/main" val="319879494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57</a:t>
            </a:fld>
            <a:endParaRPr lang="en-US"/>
          </a:p>
        </p:txBody>
      </p:sp>
    </p:spTree>
    <p:extLst>
      <p:ext uri="{BB962C8B-B14F-4D97-AF65-F5344CB8AC3E}">
        <p14:creationId xmlns:p14="http://schemas.microsoft.com/office/powerpoint/2010/main" val="265649646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58</a:t>
            </a:fld>
            <a:endParaRPr lang="en-US"/>
          </a:p>
        </p:txBody>
      </p:sp>
    </p:spTree>
    <p:extLst>
      <p:ext uri="{BB962C8B-B14F-4D97-AF65-F5344CB8AC3E}">
        <p14:creationId xmlns:p14="http://schemas.microsoft.com/office/powerpoint/2010/main" val="106102057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59</a:t>
            </a:fld>
            <a:endParaRPr lang="en-US"/>
          </a:p>
        </p:txBody>
      </p:sp>
    </p:spTree>
    <p:extLst>
      <p:ext uri="{BB962C8B-B14F-4D97-AF65-F5344CB8AC3E}">
        <p14:creationId xmlns:p14="http://schemas.microsoft.com/office/powerpoint/2010/main" val="429113558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60</a:t>
            </a:fld>
            <a:endParaRPr lang="en-US"/>
          </a:p>
        </p:txBody>
      </p:sp>
    </p:spTree>
    <p:extLst>
      <p:ext uri="{BB962C8B-B14F-4D97-AF65-F5344CB8AC3E}">
        <p14:creationId xmlns:p14="http://schemas.microsoft.com/office/powerpoint/2010/main" val="427730234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err="1">
                <a:solidFill>
                  <a:srgbClr val="5F6368"/>
                </a:solidFill>
                <a:effectLst/>
              </a:rPr>
              <a:t>Kihon-tekina</a:t>
            </a:r>
            <a:r>
              <a:rPr lang="en-US">
                <a:solidFill>
                  <a:srgbClr val="5F6368"/>
                </a:solidFill>
                <a:effectLst/>
              </a:rPr>
              <a:t> </a:t>
            </a:r>
            <a:r>
              <a:rPr lang="en-US" err="1">
                <a:solidFill>
                  <a:srgbClr val="5F6368"/>
                </a:solidFill>
                <a:effectLst/>
              </a:rPr>
              <a:t>hakei</a:t>
            </a:r>
            <a:endParaRPr lang="en-US">
              <a:solidFill>
                <a:srgbClr val="5F6368"/>
              </a:solidFill>
              <a:effectLst/>
            </a:endParaRPr>
          </a:p>
          <a:p>
            <a:br>
              <a:rPr lang="en-US">
                <a:effectLst/>
              </a:rPr>
            </a:br>
            <a:endParaRPr lang="en-US"/>
          </a:p>
        </p:txBody>
      </p:sp>
      <p:sp>
        <p:nvSpPr>
          <p:cNvPr id="4" name="Slide Number Placeholder 3"/>
          <p:cNvSpPr>
            <a:spLocks noGrp="1"/>
          </p:cNvSpPr>
          <p:nvPr>
            <p:ph type="sldNum" sz="quarter" idx="10"/>
          </p:nvPr>
        </p:nvSpPr>
        <p:spPr/>
        <p:txBody>
          <a:bodyPr/>
          <a:lstStyle/>
          <a:p>
            <a:fld id="{27F9F59A-EB1B-4081-A057-2C8AE2F6E348}" type="slidenum">
              <a:rPr lang="en-US" smtClean="0"/>
              <a:t>61</a:t>
            </a:fld>
            <a:endParaRPr lang="en-US"/>
          </a:p>
        </p:txBody>
      </p:sp>
    </p:spTree>
    <p:extLst>
      <p:ext uri="{BB962C8B-B14F-4D97-AF65-F5344CB8AC3E}">
        <p14:creationId xmlns:p14="http://schemas.microsoft.com/office/powerpoint/2010/main" val="380074949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err="1">
                <a:solidFill>
                  <a:srgbClr val="5F6368"/>
                </a:solidFill>
                <a:effectLst/>
              </a:rPr>
              <a:t>Kihon-tekina</a:t>
            </a:r>
            <a:r>
              <a:rPr lang="en-US">
                <a:solidFill>
                  <a:srgbClr val="5F6368"/>
                </a:solidFill>
                <a:effectLst/>
              </a:rPr>
              <a:t> </a:t>
            </a:r>
            <a:r>
              <a:rPr lang="en-US" err="1">
                <a:solidFill>
                  <a:srgbClr val="5F6368"/>
                </a:solidFill>
                <a:effectLst/>
              </a:rPr>
              <a:t>hakei</a:t>
            </a:r>
            <a:endParaRPr lang="en-US">
              <a:solidFill>
                <a:srgbClr val="5F6368"/>
              </a:solidFill>
              <a:effectLst/>
            </a:endParaRPr>
          </a:p>
          <a:p>
            <a:br>
              <a:rPr lang="en-US">
                <a:effectLst/>
              </a:rPr>
            </a:br>
            <a:endParaRPr lang="en-US"/>
          </a:p>
        </p:txBody>
      </p:sp>
      <p:sp>
        <p:nvSpPr>
          <p:cNvPr id="4" name="Slide Number Placeholder 3"/>
          <p:cNvSpPr>
            <a:spLocks noGrp="1"/>
          </p:cNvSpPr>
          <p:nvPr>
            <p:ph type="sldNum" sz="quarter" idx="10"/>
          </p:nvPr>
        </p:nvSpPr>
        <p:spPr/>
        <p:txBody>
          <a:bodyPr/>
          <a:lstStyle/>
          <a:p>
            <a:fld id="{27F9F59A-EB1B-4081-A057-2C8AE2F6E348}" type="slidenum">
              <a:rPr lang="en-US" smtClean="0"/>
              <a:t>62</a:t>
            </a:fld>
            <a:endParaRPr lang="en-US"/>
          </a:p>
        </p:txBody>
      </p:sp>
    </p:spTree>
    <p:extLst>
      <p:ext uri="{BB962C8B-B14F-4D97-AF65-F5344CB8AC3E}">
        <p14:creationId xmlns:p14="http://schemas.microsoft.com/office/powerpoint/2010/main" val="308760781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err="1">
                <a:solidFill>
                  <a:srgbClr val="5F6368"/>
                </a:solidFill>
                <a:effectLst/>
              </a:rPr>
              <a:t>Kihon-tekina</a:t>
            </a:r>
            <a:r>
              <a:rPr lang="en-US">
                <a:solidFill>
                  <a:srgbClr val="5F6368"/>
                </a:solidFill>
                <a:effectLst/>
              </a:rPr>
              <a:t> </a:t>
            </a:r>
            <a:r>
              <a:rPr lang="en-US" err="1">
                <a:solidFill>
                  <a:srgbClr val="5F6368"/>
                </a:solidFill>
                <a:effectLst/>
              </a:rPr>
              <a:t>hakei</a:t>
            </a:r>
            <a:endParaRPr lang="en-US">
              <a:solidFill>
                <a:srgbClr val="5F6368"/>
              </a:solidFill>
              <a:effectLst/>
            </a:endParaRPr>
          </a:p>
          <a:p>
            <a:br>
              <a:rPr lang="en-US">
                <a:effectLst/>
              </a:rPr>
            </a:br>
            <a:endParaRPr lang="en-US"/>
          </a:p>
        </p:txBody>
      </p:sp>
      <p:sp>
        <p:nvSpPr>
          <p:cNvPr id="4" name="Slide Number Placeholder 3"/>
          <p:cNvSpPr>
            <a:spLocks noGrp="1"/>
          </p:cNvSpPr>
          <p:nvPr>
            <p:ph type="sldNum" sz="quarter" idx="10"/>
          </p:nvPr>
        </p:nvSpPr>
        <p:spPr/>
        <p:txBody>
          <a:bodyPr/>
          <a:lstStyle/>
          <a:p>
            <a:fld id="{27F9F59A-EB1B-4081-A057-2C8AE2F6E348}" type="slidenum">
              <a:rPr lang="en-US" smtClean="0"/>
              <a:t>63</a:t>
            </a:fld>
            <a:endParaRPr lang="en-US"/>
          </a:p>
        </p:txBody>
      </p:sp>
    </p:spTree>
    <p:extLst>
      <p:ext uri="{BB962C8B-B14F-4D97-AF65-F5344CB8AC3E}">
        <p14:creationId xmlns:p14="http://schemas.microsoft.com/office/powerpoint/2010/main" val="154957030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err="1">
                <a:solidFill>
                  <a:srgbClr val="5F6368"/>
                </a:solidFill>
                <a:effectLst/>
              </a:rPr>
              <a:t>Kihon-tekina</a:t>
            </a:r>
            <a:r>
              <a:rPr lang="en-US">
                <a:solidFill>
                  <a:srgbClr val="5F6368"/>
                </a:solidFill>
                <a:effectLst/>
              </a:rPr>
              <a:t> </a:t>
            </a:r>
            <a:r>
              <a:rPr lang="en-US" err="1">
                <a:solidFill>
                  <a:srgbClr val="5F6368"/>
                </a:solidFill>
                <a:effectLst/>
              </a:rPr>
              <a:t>hakei</a:t>
            </a:r>
            <a:endParaRPr lang="en-US">
              <a:solidFill>
                <a:srgbClr val="5F6368"/>
              </a:solidFill>
              <a:effectLst/>
            </a:endParaRPr>
          </a:p>
          <a:p>
            <a:br>
              <a:rPr lang="en-US">
                <a:effectLst/>
              </a:rPr>
            </a:br>
            <a:endParaRPr lang="en-US"/>
          </a:p>
        </p:txBody>
      </p:sp>
      <p:sp>
        <p:nvSpPr>
          <p:cNvPr id="4" name="Slide Number Placeholder 3"/>
          <p:cNvSpPr>
            <a:spLocks noGrp="1"/>
          </p:cNvSpPr>
          <p:nvPr>
            <p:ph type="sldNum" sz="quarter" idx="10"/>
          </p:nvPr>
        </p:nvSpPr>
        <p:spPr/>
        <p:txBody>
          <a:bodyPr/>
          <a:lstStyle/>
          <a:p>
            <a:fld id="{27F9F59A-EB1B-4081-A057-2C8AE2F6E348}" type="slidenum">
              <a:rPr lang="en-US" smtClean="0"/>
              <a:t>64</a:t>
            </a:fld>
            <a:endParaRPr lang="en-US"/>
          </a:p>
        </p:txBody>
      </p:sp>
    </p:spTree>
    <p:extLst>
      <p:ext uri="{BB962C8B-B14F-4D97-AF65-F5344CB8AC3E}">
        <p14:creationId xmlns:p14="http://schemas.microsoft.com/office/powerpoint/2010/main" val="310507246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err="1">
                <a:solidFill>
                  <a:srgbClr val="5F6368"/>
                </a:solidFill>
                <a:effectLst/>
              </a:rPr>
              <a:t>Kihon-tekina</a:t>
            </a:r>
            <a:r>
              <a:rPr lang="en-US">
                <a:solidFill>
                  <a:srgbClr val="5F6368"/>
                </a:solidFill>
                <a:effectLst/>
              </a:rPr>
              <a:t> </a:t>
            </a:r>
            <a:r>
              <a:rPr lang="en-US" err="1">
                <a:solidFill>
                  <a:srgbClr val="5F6368"/>
                </a:solidFill>
                <a:effectLst/>
              </a:rPr>
              <a:t>hakei</a:t>
            </a:r>
            <a:endParaRPr lang="en-US">
              <a:solidFill>
                <a:srgbClr val="5F6368"/>
              </a:solidFill>
              <a:effectLst/>
            </a:endParaRPr>
          </a:p>
          <a:p>
            <a:br>
              <a:rPr lang="en-US">
                <a:effectLst/>
              </a:rPr>
            </a:br>
            <a:endParaRPr lang="en-US"/>
          </a:p>
        </p:txBody>
      </p:sp>
      <p:sp>
        <p:nvSpPr>
          <p:cNvPr id="4" name="Slide Number Placeholder 3"/>
          <p:cNvSpPr>
            <a:spLocks noGrp="1"/>
          </p:cNvSpPr>
          <p:nvPr>
            <p:ph type="sldNum" sz="quarter" idx="10"/>
          </p:nvPr>
        </p:nvSpPr>
        <p:spPr/>
        <p:txBody>
          <a:bodyPr/>
          <a:lstStyle/>
          <a:p>
            <a:fld id="{27F9F59A-EB1B-4081-A057-2C8AE2F6E348}" type="slidenum">
              <a:rPr lang="en-US" smtClean="0"/>
              <a:t>65</a:t>
            </a:fld>
            <a:endParaRPr lang="en-US"/>
          </a:p>
        </p:txBody>
      </p:sp>
    </p:spTree>
    <p:extLst>
      <p:ext uri="{BB962C8B-B14F-4D97-AF65-F5344CB8AC3E}">
        <p14:creationId xmlns:p14="http://schemas.microsoft.com/office/powerpoint/2010/main" val="420555942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66</a:t>
            </a:fld>
            <a:endParaRPr lang="en-US"/>
          </a:p>
        </p:txBody>
      </p:sp>
    </p:spTree>
    <p:extLst>
      <p:ext uri="{BB962C8B-B14F-4D97-AF65-F5344CB8AC3E}">
        <p14:creationId xmlns:p14="http://schemas.microsoft.com/office/powerpoint/2010/main" val="171852243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67</a:t>
            </a:fld>
            <a:endParaRPr lang="en-US"/>
          </a:p>
        </p:txBody>
      </p:sp>
    </p:spTree>
    <p:extLst>
      <p:ext uri="{BB962C8B-B14F-4D97-AF65-F5344CB8AC3E}">
        <p14:creationId xmlns:p14="http://schemas.microsoft.com/office/powerpoint/2010/main" val="362319042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68</a:t>
            </a:fld>
            <a:endParaRPr lang="en-US"/>
          </a:p>
        </p:txBody>
      </p:sp>
    </p:spTree>
    <p:extLst>
      <p:ext uri="{BB962C8B-B14F-4D97-AF65-F5344CB8AC3E}">
        <p14:creationId xmlns:p14="http://schemas.microsoft.com/office/powerpoint/2010/main" val="40790294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69</a:t>
            </a:fld>
            <a:endParaRPr lang="en-US"/>
          </a:p>
        </p:txBody>
      </p:sp>
    </p:spTree>
    <p:extLst>
      <p:ext uri="{BB962C8B-B14F-4D97-AF65-F5344CB8AC3E}">
        <p14:creationId xmlns:p14="http://schemas.microsoft.com/office/powerpoint/2010/main" val="142810798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70</a:t>
            </a:fld>
            <a:endParaRPr lang="en-US"/>
          </a:p>
        </p:txBody>
      </p:sp>
    </p:spTree>
    <p:extLst>
      <p:ext uri="{BB962C8B-B14F-4D97-AF65-F5344CB8AC3E}">
        <p14:creationId xmlns:p14="http://schemas.microsoft.com/office/powerpoint/2010/main" val="32560746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71</a:t>
            </a:fld>
            <a:endParaRPr lang="en-US"/>
          </a:p>
        </p:txBody>
      </p:sp>
    </p:spTree>
    <p:extLst>
      <p:ext uri="{BB962C8B-B14F-4D97-AF65-F5344CB8AC3E}">
        <p14:creationId xmlns:p14="http://schemas.microsoft.com/office/powerpoint/2010/main" val="318466598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72</a:t>
            </a:fld>
            <a:endParaRPr lang="en-US"/>
          </a:p>
        </p:txBody>
      </p:sp>
    </p:spTree>
    <p:extLst>
      <p:ext uri="{BB962C8B-B14F-4D97-AF65-F5344CB8AC3E}">
        <p14:creationId xmlns:p14="http://schemas.microsoft.com/office/powerpoint/2010/main" val="223797730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73</a:t>
            </a:fld>
            <a:endParaRPr lang="en-US"/>
          </a:p>
        </p:txBody>
      </p:sp>
    </p:spTree>
    <p:extLst>
      <p:ext uri="{BB962C8B-B14F-4D97-AF65-F5344CB8AC3E}">
        <p14:creationId xmlns:p14="http://schemas.microsoft.com/office/powerpoint/2010/main" val="373982431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74</a:t>
            </a:fld>
            <a:endParaRPr lang="en-US"/>
          </a:p>
        </p:txBody>
      </p:sp>
    </p:spTree>
    <p:extLst>
      <p:ext uri="{BB962C8B-B14F-4D97-AF65-F5344CB8AC3E}">
        <p14:creationId xmlns:p14="http://schemas.microsoft.com/office/powerpoint/2010/main" val="424254851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fi-FI"/>
              <a:t>Onseishingono dijitaru datano kiroku hoho  (WAV Keishiki)  to Nyushutsuryoku shori no jisso hoho o rikai</a:t>
            </a:r>
          </a:p>
          <a:p>
            <a:br>
              <a:rPr lang="fi-FI"/>
            </a:br>
            <a:endParaRPr lang="pt-BR" sz="1000">
              <a:solidFill>
                <a:srgbClr val="5F6368"/>
              </a:solidFill>
            </a:endParaRPr>
          </a:p>
          <a:p>
            <a:pPr marL="226886" indent="-226886">
              <a:buAutoNum type="alphaLcPeriod"/>
            </a:pPr>
            <a:endParaRPr lang="pt-BR" sz="1000">
              <a:solidFill>
                <a:srgbClr val="5F6368"/>
              </a:solidFill>
            </a:endParaRPr>
          </a:p>
          <a:p>
            <a:br>
              <a:rPr lang="pt-BR">
                <a:effectLst/>
              </a:rPr>
            </a:br>
            <a:endParaRPr lang="en-US">
              <a:solidFill>
                <a:srgbClr val="5F6368"/>
              </a:solidFill>
              <a:effectLst/>
            </a:endParaRP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75</a:t>
            </a:fld>
            <a:endParaRPr lang="en-US"/>
          </a:p>
        </p:txBody>
      </p:sp>
    </p:spTree>
    <p:extLst>
      <p:ext uri="{BB962C8B-B14F-4D97-AF65-F5344CB8AC3E}">
        <p14:creationId xmlns:p14="http://schemas.microsoft.com/office/powerpoint/2010/main" val="1979310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76</a:t>
            </a:fld>
            <a:endParaRPr lang="en-US"/>
          </a:p>
        </p:txBody>
      </p:sp>
    </p:spTree>
    <p:extLst>
      <p:ext uri="{BB962C8B-B14F-4D97-AF65-F5344CB8AC3E}">
        <p14:creationId xmlns:p14="http://schemas.microsoft.com/office/powerpoint/2010/main" val="262278530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77</a:t>
            </a:fld>
            <a:endParaRPr lang="en-US"/>
          </a:p>
        </p:txBody>
      </p:sp>
    </p:spTree>
    <p:extLst>
      <p:ext uri="{BB962C8B-B14F-4D97-AF65-F5344CB8AC3E}">
        <p14:creationId xmlns:p14="http://schemas.microsoft.com/office/powerpoint/2010/main" val="57062883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78</a:t>
            </a:fld>
            <a:endParaRPr lang="en-US"/>
          </a:p>
        </p:txBody>
      </p:sp>
    </p:spTree>
    <p:extLst>
      <p:ext uri="{BB962C8B-B14F-4D97-AF65-F5344CB8AC3E}">
        <p14:creationId xmlns:p14="http://schemas.microsoft.com/office/powerpoint/2010/main" val="237175706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en-US"/>
              <a:t>WAV </a:t>
            </a:r>
            <a:r>
              <a:rPr lang="en-US" err="1"/>
              <a:t>keishiki</a:t>
            </a:r>
            <a:r>
              <a:rPr lang="en-US"/>
              <a:t> no </a:t>
            </a:r>
            <a:r>
              <a:rPr lang="en-US" err="1"/>
              <a:t>kosei</a:t>
            </a: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79</a:t>
            </a:fld>
            <a:endParaRPr lang="en-US"/>
          </a:p>
        </p:txBody>
      </p:sp>
    </p:spTree>
    <p:extLst>
      <p:ext uri="{BB962C8B-B14F-4D97-AF65-F5344CB8AC3E}">
        <p14:creationId xmlns:p14="http://schemas.microsoft.com/office/powerpoint/2010/main" val="112357150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en-US"/>
              <a:t>WAV </a:t>
            </a:r>
            <a:r>
              <a:rPr lang="en-US" err="1"/>
              <a:t>keishiki</a:t>
            </a:r>
            <a:r>
              <a:rPr lang="en-US"/>
              <a:t> no </a:t>
            </a:r>
            <a:r>
              <a:rPr lang="en-US" err="1"/>
              <a:t>kosei</a:t>
            </a: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80</a:t>
            </a:fld>
            <a:endParaRPr lang="en-US"/>
          </a:p>
        </p:txBody>
      </p:sp>
    </p:spTree>
    <p:extLst>
      <p:ext uri="{BB962C8B-B14F-4D97-AF65-F5344CB8AC3E}">
        <p14:creationId xmlns:p14="http://schemas.microsoft.com/office/powerpoint/2010/main" val="317431045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en-US"/>
              <a:t>WAV </a:t>
            </a:r>
            <a:r>
              <a:rPr lang="en-US" err="1"/>
              <a:t>keishiki</a:t>
            </a:r>
            <a:r>
              <a:rPr lang="en-US"/>
              <a:t> no </a:t>
            </a:r>
            <a:r>
              <a:rPr lang="en-US" err="1"/>
              <a:t>kosei</a:t>
            </a: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81</a:t>
            </a:fld>
            <a:endParaRPr lang="en-US"/>
          </a:p>
        </p:txBody>
      </p:sp>
    </p:spTree>
    <p:extLst>
      <p:ext uri="{BB962C8B-B14F-4D97-AF65-F5344CB8AC3E}">
        <p14:creationId xmlns:p14="http://schemas.microsoft.com/office/powerpoint/2010/main" val="66764167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en-US"/>
              <a:t>WAV </a:t>
            </a:r>
            <a:r>
              <a:rPr lang="en-US" err="1"/>
              <a:t>keishiki</a:t>
            </a:r>
            <a:r>
              <a:rPr lang="en-US"/>
              <a:t> no </a:t>
            </a:r>
            <a:r>
              <a:rPr lang="en-US" err="1"/>
              <a:t>kosei</a:t>
            </a: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82</a:t>
            </a:fld>
            <a:endParaRPr lang="en-US"/>
          </a:p>
        </p:txBody>
      </p:sp>
    </p:spTree>
    <p:extLst>
      <p:ext uri="{BB962C8B-B14F-4D97-AF65-F5344CB8AC3E}">
        <p14:creationId xmlns:p14="http://schemas.microsoft.com/office/powerpoint/2010/main" val="303726524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en-US"/>
              <a:t>WAV </a:t>
            </a:r>
            <a:r>
              <a:rPr lang="en-US" err="1"/>
              <a:t>keishiki</a:t>
            </a:r>
            <a:r>
              <a:rPr lang="en-US"/>
              <a:t> no </a:t>
            </a:r>
            <a:r>
              <a:rPr lang="en-US" err="1"/>
              <a:t>kosei</a:t>
            </a: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83</a:t>
            </a:fld>
            <a:endParaRPr lang="en-US"/>
          </a:p>
        </p:txBody>
      </p:sp>
    </p:spTree>
    <p:extLst>
      <p:ext uri="{BB962C8B-B14F-4D97-AF65-F5344CB8AC3E}">
        <p14:creationId xmlns:p14="http://schemas.microsoft.com/office/powerpoint/2010/main" val="341495762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en-US"/>
              <a:t>WAV </a:t>
            </a:r>
            <a:r>
              <a:rPr lang="en-US" err="1"/>
              <a:t>keishiki</a:t>
            </a:r>
            <a:r>
              <a:rPr lang="en-US"/>
              <a:t> no </a:t>
            </a:r>
            <a:r>
              <a:rPr lang="en-US" err="1"/>
              <a:t>kosei</a:t>
            </a: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84</a:t>
            </a:fld>
            <a:endParaRPr lang="en-US"/>
          </a:p>
        </p:txBody>
      </p:sp>
    </p:spTree>
    <p:extLst>
      <p:ext uri="{BB962C8B-B14F-4D97-AF65-F5344CB8AC3E}">
        <p14:creationId xmlns:p14="http://schemas.microsoft.com/office/powerpoint/2010/main" val="313030901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en-US"/>
              <a:t>WAV </a:t>
            </a:r>
            <a:r>
              <a:rPr lang="en-US" err="1"/>
              <a:t>keishiki</a:t>
            </a:r>
            <a:r>
              <a:rPr lang="en-US"/>
              <a:t> no </a:t>
            </a:r>
            <a:r>
              <a:rPr lang="en-US" err="1"/>
              <a:t>kosei</a:t>
            </a: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85</a:t>
            </a:fld>
            <a:endParaRPr lang="en-US"/>
          </a:p>
        </p:txBody>
      </p:sp>
    </p:spTree>
    <p:extLst>
      <p:ext uri="{BB962C8B-B14F-4D97-AF65-F5344CB8AC3E}">
        <p14:creationId xmlns:p14="http://schemas.microsoft.com/office/powerpoint/2010/main" val="291373980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en-US"/>
              <a:t>WAV </a:t>
            </a:r>
            <a:r>
              <a:rPr lang="en-US" err="1"/>
              <a:t>keishiki</a:t>
            </a:r>
            <a:r>
              <a:rPr lang="en-US"/>
              <a:t> no </a:t>
            </a:r>
            <a:r>
              <a:rPr lang="en-US" err="1"/>
              <a:t>kosei</a:t>
            </a: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86</a:t>
            </a:fld>
            <a:endParaRPr lang="en-US"/>
          </a:p>
        </p:txBody>
      </p:sp>
    </p:spTree>
    <p:extLst>
      <p:ext uri="{BB962C8B-B14F-4D97-AF65-F5344CB8AC3E}">
        <p14:creationId xmlns:p14="http://schemas.microsoft.com/office/powerpoint/2010/main" val="5053884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en-US"/>
              <a:t>WAV </a:t>
            </a:r>
            <a:r>
              <a:rPr lang="en-US" err="1"/>
              <a:t>keishiki</a:t>
            </a:r>
            <a:r>
              <a:rPr lang="en-US"/>
              <a:t> no </a:t>
            </a:r>
            <a:r>
              <a:rPr lang="en-US" err="1"/>
              <a:t>kosei</a:t>
            </a: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87</a:t>
            </a:fld>
            <a:endParaRPr lang="en-US"/>
          </a:p>
        </p:txBody>
      </p:sp>
    </p:spTree>
    <p:extLst>
      <p:ext uri="{BB962C8B-B14F-4D97-AF65-F5344CB8AC3E}">
        <p14:creationId xmlns:p14="http://schemas.microsoft.com/office/powerpoint/2010/main" val="394223560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en-US"/>
              <a:t>WAV </a:t>
            </a:r>
            <a:r>
              <a:rPr lang="en-US" err="1"/>
              <a:t>keishiki</a:t>
            </a:r>
            <a:r>
              <a:rPr lang="en-US"/>
              <a:t> no </a:t>
            </a:r>
            <a:r>
              <a:rPr lang="en-US" err="1"/>
              <a:t>kosei</a:t>
            </a: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88</a:t>
            </a:fld>
            <a:endParaRPr lang="en-US"/>
          </a:p>
        </p:txBody>
      </p:sp>
    </p:spTree>
    <p:extLst>
      <p:ext uri="{BB962C8B-B14F-4D97-AF65-F5344CB8AC3E}">
        <p14:creationId xmlns:p14="http://schemas.microsoft.com/office/powerpoint/2010/main" val="303844648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en-US"/>
              <a:t>WAV </a:t>
            </a:r>
            <a:r>
              <a:rPr lang="en-US" err="1"/>
              <a:t>keishiki</a:t>
            </a:r>
            <a:r>
              <a:rPr lang="en-US"/>
              <a:t> no </a:t>
            </a:r>
            <a:r>
              <a:rPr lang="en-US" err="1"/>
              <a:t>kosei</a:t>
            </a: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89</a:t>
            </a:fld>
            <a:endParaRPr lang="en-US"/>
          </a:p>
        </p:txBody>
      </p:sp>
    </p:spTree>
    <p:extLst>
      <p:ext uri="{BB962C8B-B14F-4D97-AF65-F5344CB8AC3E}">
        <p14:creationId xmlns:p14="http://schemas.microsoft.com/office/powerpoint/2010/main" val="276077219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en-US"/>
              <a:t>WAV </a:t>
            </a:r>
            <a:r>
              <a:rPr lang="en-US" err="1"/>
              <a:t>keishiki</a:t>
            </a:r>
            <a:r>
              <a:rPr lang="en-US"/>
              <a:t> no </a:t>
            </a:r>
            <a:r>
              <a:rPr lang="en-US" err="1"/>
              <a:t>kosei</a:t>
            </a: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90</a:t>
            </a:fld>
            <a:endParaRPr lang="en-US"/>
          </a:p>
        </p:txBody>
      </p:sp>
    </p:spTree>
    <p:extLst>
      <p:ext uri="{BB962C8B-B14F-4D97-AF65-F5344CB8AC3E}">
        <p14:creationId xmlns:p14="http://schemas.microsoft.com/office/powerpoint/2010/main" val="250596094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en-US"/>
              <a:t>d. </a:t>
            </a:r>
            <a:r>
              <a:rPr lang="en-US" err="1"/>
              <a:t>a/d</a:t>
            </a:r>
            <a:r>
              <a:rPr lang="en-US"/>
              <a:t> to d/a </a:t>
            </a:r>
            <a:r>
              <a:rPr lang="en-US" err="1"/>
              <a:t>henkan</a:t>
            </a:r>
            <a:r>
              <a:rPr lang="en-US"/>
              <a:t> , e. </a:t>
            </a:r>
            <a:r>
              <a:rPr lang="en-US" err="1"/>
              <a:t>dijitaru</a:t>
            </a:r>
            <a:r>
              <a:rPr lang="en-US"/>
              <a:t> data, f.  </a:t>
            </a:r>
            <a:r>
              <a:rPr lang="en-US" err="1"/>
              <a:t>Kako,Tsushin</a:t>
            </a:r>
            <a:r>
              <a:rPr lang="en-US"/>
              <a:t>, </a:t>
            </a:r>
            <a:r>
              <a:rPr lang="en-US" err="1"/>
              <a:t>kiroku</a:t>
            </a:r>
            <a:r>
              <a:rPr lang="en-US"/>
              <a:t>/</a:t>
            </a:r>
            <a:r>
              <a:rPr lang="en-US" err="1"/>
              <a:t>saisei</a:t>
            </a:r>
            <a:r>
              <a:rPr lang="en-US"/>
              <a:t> g. </a:t>
            </a:r>
            <a:r>
              <a:rPr lang="en-US" err="1"/>
              <a:t>dijitaru</a:t>
            </a:r>
            <a:r>
              <a:rPr lang="en-US"/>
              <a:t> </a:t>
            </a:r>
            <a:r>
              <a:rPr lang="en-US" err="1"/>
              <a:t>shingo</a:t>
            </a:r>
            <a:r>
              <a:rPr lang="en-US"/>
              <a:t> </a:t>
            </a:r>
            <a:r>
              <a:rPr lang="en-US" err="1"/>
              <a:t>nami</a:t>
            </a: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91</a:t>
            </a:fld>
            <a:endParaRPr lang="en-US"/>
          </a:p>
        </p:txBody>
      </p:sp>
    </p:spTree>
    <p:extLst>
      <p:ext uri="{BB962C8B-B14F-4D97-AF65-F5344CB8AC3E}">
        <p14:creationId xmlns:p14="http://schemas.microsoft.com/office/powerpoint/2010/main" val="1786932412"/>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en-US"/>
              <a:t>Analog </a:t>
            </a:r>
            <a:r>
              <a:rPr lang="en-US" err="1"/>
              <a:t>shingo</a:t>
            </a:r>
            <a:r>
              <a:rPr lang="en-US"/>
              <a:t> </a:t>
            </a:r>
            <a:r>
              <a:rPr lang="en-US" err="1"/>
              <a:t>shori</a:t>
            </a:r>
            <a:r>
              <a:rPr lang="en-US"/>
              <a:t>- </a:t>
            </a:r>
            <a:r>
              <a:rPr lang="en-US" err="1"/>
              <a:t>hadoweaoskate</a:t>
            </a:r>
            <a:r>
              <a:rPr lang="en-US"/>
              <a:t> </a:t>
            </a:r>
            <a:r>
              <a:rPr lang="en-US" err="1"/>
              <a:t>nami</a:t>
            </a:r>
            <a:r>
              <a:rPr lang="en-US"/>
              <a:t> </a:t>
            </a:r>
            <a:r>
              <a:rPr lang="en-US" err="1"/>
              <a:t>shingosru</a:t>
            </a:r>
            <a:r>
              <a:rPr lang="en-US"/>
              <a:t> .   B. </a:t>
            </a:r>
            <a:r>
              <a:rPr lang="en-US" err="1"/>
              <a:t>reka</a:t>
            </a:r>
            <a:r>
              <a:rPr lang="en-US"/>
              <a:t> no </a:t>
            </a:r>
            <a:r>
              <a:rPr lang="en-US" err="1"/>
              <a:t>shirui</a:t>
            </a:r>
            <a:r>
              <a:rPr lang="en-US"/>
              <a:t> </a:t>
            </a:r>
            <a:r>
              <a:rPr lang="en-US" err="1"/>
              <a:t>wa</a:t>
            </a:r>
            <a:r>
              <a:rPr lang="en-US"/>
              <a:t> </a:t>
            </a:r>
            <a:r>
              <a:rPr lang="en-US" err="1"/>
              <a:t>i</a:t>
            </a:r>
            <a:r>
              <a:rPr lang="en-US"/>
              <a:t>. </a:t>
            </a:r>
            <a:r>
              <a:rPr lang="en-US" err="1"/>
              <a:t>hakeino</a:t>
            </a:r>
            <a:r>
              <a:rPr lang="en-US"/>
              <a:t> </a:t>
            </a:r>
            <a:r>
              <a:rPr lang="en-US" err="1"/>
              <a:t>hizumi</a:t>
            </a:r>
            <a:r>
              <a:rPr lang="en-US"/>
              <a:t> , </a:t>
            </a:r>
            <a:r>
              <a:rPr lang="en-US" err="1"/>
              <a:t>noizuno</a:t>
            </a:r>
            <a:r>
              <a:rPr lang="en-US"/>
              <a:t> </a:t>
            </a:r>
            <a:r>
              <a:rPr lang="en-US" err="1"/>
              <a:t>konnyu</a:t>
            </a:r>
            <a:r>
              <a:rPr lang="en-US"/>
              <a:t> </a:t>
            </a:r>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92</a:t>
            </a:fld>
            <a:endParaRPr lang="en-US"/>
          </a:p>
        </p:txBody>
      </p:sp>
    </p:spTree>
    <p:extLst>
      <p:ext uri="{BB962C8B-B14F-4D97-AF65-F5344CB8AC3E}">
        <p14:creationId xmlns:p14="http://schemas.microsoft.com/office/powerpoint/2010/main" val="25437306"/>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en-US"/>
              <a:t>c. </a:t>
            </a:r>
            <a:r>
              <a:rPr lang="en-US" err="1"/>
              <a:t>Kiroku</a:t>
            </a:r>
            <a:r>
              <a:rPr lang="en-US"/>
              <a:t> </a:t>
            </a:r>
            <a:r>
              <a:rPr lang="en-US" err="1"/>
              <a:t>ni</a:t>
            </a:r>
            <a:r>
              <a:rPr lang="en-US"/>
              <a:t> </a:t>
            </a:r>
            <a:r>
              <a:rPr lang="en-US" err="1"/>
              <a:t>yoru</a:t>
            </a:r>
            <a:r>
              <a:rPr lang="en-US"/>
              <a:t> </a:t>
            </a:r>
            <a:r>
              <a:rPr lang="en-US" err="1"/>
              <a:t>rekka</a:t>
            </a:r>
            <a:r>
              <a:rPr lang="en-US"/>
              <a:t>   d. </a:t>
            </a:r>
            <a:r>
              <a:rPr lang="en-US" err="1"/>
              <a:t>denso</a:t>
            </a:r>
            <a:r>
              <a:rPr lang="en-US"/>
              <a:t> </a:t>
            </a:r>
            <a:r>
              <a:rPr lang="en-US" err="1"/>
              <a:t>ni</a:t>
            </a:r>
            <a:r>
              <a:rPr lang="en-US"/>
              <a:t> </a:t>
            </a:r>
            <a:r>
              <a:rPr lang="en-US" err="1"/>
              <a:t>yoru</a:t>
            </a:r>
            <a:r>
              <a:rPr lang="en-US"/>
              <a:t> </a:t>
            </a:r>
            <a:r>
              <a:rPr lang="en-US" err="1"/>
              <a:t>rekka</a:t>
            </a: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93</a:t>
            </a:fld>
            <a:endParaRPr lang="en-US"/>
          </a:p>
        </p:txBody>
      </p:sp>
    </p:spTree>
    <p:extLst>
      <p:ext uri="{BB962C8B-B14F-4D97-AF65-F5344CB8AC3E}">
        <p14:creationId xmlns:p14="http://schemas.microsoft.com/office/powerpoint/2010/main" val="303598609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en-US"/>
              <a:t>a. </a:t>
            </a:r>
            <a:r>
              <a:rPr lang="en-US" err="1"/>
              <a:t>Shuhasu</a:t>
            </a:r>
            <a:r>
              <a:rPr lang="en-US"/>
              <a:t> </a:t>
            </a:r>
            <a:r>
              <a:rPr lang="en-US" err="1"/>
              <a:t>spectoru</a:t>
            </a:r>
            <a:r>
              <a:rPr lang="en-US"/>
              <a:t> . , b. </a:t>
            </a:r>
            <a:r>
              <a:rPr lang="en-US" err="1"/>
              <a:t>furie</a:t>
            </a:r>
            <a:r>
              <a:rPr lang="en-US"/>
              <a:t> </a:t>
            </a:r>
            <a:r>
              <a:rPr lang="en-US" err="1"/>
              <a:t>kyusu</a:t>
            </a:r>
            <a:r>
              <a:rPr lang="en-US"/>
              <a:t> </a:t>
            </a:r>
            <a:r>
              <a:rPr lang="en-US" err="1"/>
              <a:t>tenkai</a:t>
            </a:r>
            <a:r>
              <a:rPr lang="en-US"/>
              <a:t> c. </a:t>
            </a:r>
            <a:r>
              <a:rPr lang="en-US" err="1"/>
              <a:t>furie</a:t>
            </a:r>
            <a:r>
              <a:rPr lang="en-US"/>
              <a:t> </a:t>
            </a:r>
            <a:r>
              <a:rPr lang="en-US" err="1"/>
              <a:t>henkan</a:t>
            </a:r>
            <a:r>
              <a:rPr lang="en-US"/>
              <a:t>   </a:t>
            </a:r>
            <a:r>
              <a:rPr lang="en-US" err="1"/>
              <a:t>maana</a:t>
            </a:r>
            <a:r>
              <a:rPr lang="en-US"/>
              <a:t> </a:t>
            </a:r>
            <a:r>
              <a:rPr lang="en-US" err="1"/>
              <a:t>ya</a:t>
            </a:r>
            <a:r>
              <a:rPr lang="en-US"/>
              <a:t> formula? </a:t>
            </a:r>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94</a:t>
            </a:fld>
            <a:endParaRPr lang="en-US"/>
          </a:p>
        </p:txBody>
      </p:sp>
    </p:spTree>
    <p:extLst>
      <p:ext uri="{BB962C8B-B14F-4D97-AF65-F5344CB8AC3E}">
        <p14:creationId xmlns:p14="http://schemas.microsoft.com/office/powerpoint/2010/main" val="3966330802"/>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95</a:t>
            </a:fld>
            <a:endParaRPr lang="en-US"/>
          </a:p>
        </p:txBody>
      </p:sp>
    </p:spTree>
    <p:extLst>
      <p:ext uri="{BB962C8B-B14F-4D97-AF65-F5344CB8AC3E}">
        <p14:creationId xmlns:p14="http://schemas.microsoft.com/office/powerpoint/2010/main" val="329161736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96</a:t>
            </a:fld>
            <a:endParaRPr lang="en-US"/>
          </a:p>
        </p:txBody>
      </p:sp>
    </p:spTree>
    <p:extLst>
      <p:ext uri="{BB962C8B-B14F-4D97-AF65-F5344CB8AC3E}">
        <p14:creationId xmlns:p14="http://schemas.microsoft.com/office/powerpoint/2010/main" val="2253341722"/>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pPr rtl="0"/>
            <a:r>
              <a:rPr lang="en-US"/>
              <a:t>- </a:t>
            </a:r>
            <a:r>
              <a:rPr lang="en-US" err="1">
                <a:solidFill>
                  <a:srgbClr val="5F6368"/>
                </a:solidFill>
                <a:effectLst/>
              </a:rPr>
              <a:t>Parusu</a:t>
            </a:r>
            <a:r>
              <a:rPr lang="en-US">
                <a:solidFill>
                  <a:srgbClr val="5F6368"/>
                </a:solidFill>
                <a:effectLst/>
              </a:rPr>
              <a:t> </a:t>
            </a:r>
            <a:r>
              <a:rPr lang="en-US" err="1">
                <a:solidFill>
                  <a:srgbClr val="5F6368"/>
                </a:solidFill>
                <a:effectLst/>
              </a:rPr>
              <a:t>fugōhenchō</a:t>
            </a:r>
            <a:r>
              <a:rPr lang="en-US">
                <a:solidFill>
                  <a:srgbClr val="5F6368"/>
                </a:solidFill>
                <a:effectLst/>
              </a:rPr>
              <a:t>  , sampling(</a:t>
            </a:r>
            <a:r>
              <a:rPr lang="en-US" b="0" i="0" err="1">
                <a:solidFill>
                  <a:srgbClr val="5F6368"/>
                </a:solidFill>
                <a:effectLst/>
                <a:highlight>
                  <a:srgbClr val="FFFFFF"/>
                </a:highlight>
                <a:latin typeface="Roboto" panose="02000000000000000000" pitchFamily="2" charset="0"/>
              </a:rPr>
              <a:t>Hyōhon</a:t>
            </a:r>
            <a:r>
              <a:rPr lang="en-US" b="0" i="0">
                <a:solidFill>
                  <a:srgbClr val="5F6368"/>
                </a:solidFill>
                <a:effectLst/>
                <a:highlight>
                  <a:srgbClr val="FFFFFF"/>
                </a:highlight>
                <a:latin typeface="Roboto" panose="02000000000000000000" pitchFamily="2" charset="0"/>
              </a:rPr>
              <a:t>-ka</a:t>
            </a:r>
            <a:r>
              <a:rPr lang="en-US">
                <a:solidFill>
                  <a:srgbClr val="5F6368"/>
                </a:solidFill>
                <a:effectLst/>
              </a:rPr>
              <a:t>)-&gt;</a:t>
            </a:r>
            <a:r>
              <a:rPr lang="en-US" err="1">
                <a:solidFill>
                  <a:srgbClr val="5F6368"/>
                </a:solidFill>
                <a:effectLst/>
              </a:rPr>
              <a:t>Shingō</a:t>
            </a:r>
            <a:r>
              <a:rPr lang="en-US">
                <a:solidFill>
                  <a:srgbClr val="5F6368"/>
                </a:solidFill>
                <a:effectLst/>
              </a:rPr>
              <a:t> no </a:t>
            </a:r>
            <a:r>
              <a:rPr lang="en-US" err="1">
                <a:solidFill>
                  <a:srgbClr val="5F6368"/>
                </a:solidFill>
                <a:effectLst/>
              </a:rPr>
              <a:t>jikan</a:t>
            </a:r>
            <a:r>
              <a:rPr lang="en-US">
                <a:solidFill>
                  <a:srgbClr val="5F6368"/>
                </a:solidFill>
                <a:effectLst/>
              </a:rPr>
              <a:t> </a:t>
            </a:r>
            <a:r>
              <a:rPr lang="en-US" err="1">
                <a:solidFill>
                  <a:srgbClr val="5F6368"/>
                </a:solidFill>
                <a:effectLst/>
              </a:rPr>
              <a:t>hōkō</a:t>
            </a:r>
            <a:r>
              <a:rPr lang="en-US">
                <a:solidFill>
                  <a:srgbClr val="5F6368"/>
                </a:solidFill>
                <a:effectLst/>
              </a:rPr>
              <a:t> no </a:t>
            </a:r>
            <a:r>
              <a:rPr lang="en-US" err="1">
                <a:solidFill>
                  <a:srgbClr val="5F6368"/>
                </a:solidFill>
                <a:effectLst/>
              </a:rPr>
              <a:t>risan</a:t>
            </a:r>
            <a:r>
              <a:rPr lang="en-US">
                <a:solidFill>
                  <a:srgbClr val="5F6368"/>
                </a:solidFill>
                <a:effectLst/>
              </a:rPr>
              <a:t>-ka</a:t>
            </a:r>
          </a:p>
          <a:p>
            <a:br>
              <a:rPr lang="en-US">
                <a:effectLst/>
              </a:rPr>
            </a:br>
            <a:r>
              <a:rPr lang="en-US">
                <a:solidFill>
                  <a:srgbClr val="5F6368"/>
                </a:solidFill>
                <a:effectLst/>
              </a:rPr>
              <a:t> </a:t>
            </a: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97</a:t>
            </a:fld>
            <a:endParaRPr lang="en-US"/>
          </a:p>
        </p:txBody>
      </p:sp>
    </p:spTree>
    <p:extLst>
      <p:ext uri="{BB962C8B-B14F-4D97-AF65-F5344CB8AC3E}">
        <p14:creationId xmlns:p14="http://schemas.microsoft.com/office/powerpoint/2010/main" val="222739632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98</a:t>
            </a:fld>
            <a:endParaRPr lang="en-US"/>
          </a:p>
        </p:txBody>
      </p:sp>
    </p:spTree>
    <p:extLst>
      <p:ext uri="{BB962C8B-B14F-4D97-AF65-F5344CB8AC3E}">
        <p14:creationId xmlns:p14="http://schemas.microsoft.com/office/powerpoint/2010/main" val="7134114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en-US"/>
              <a:t>Fs ga </a:t>
            </a:r>
            <a:r>
              <a:rPr lang="en-US" err="1"/>
              <a:t>chiisaisugitara</a:t>
            </a:r>
            <a:r>
              <a:rPr lang="en-US"/>
              <a:t> </a:t>
            </a:r>
            <a:r>
              <a:rPr lang="en-US" err="1"/>
              <a:t>orijinaruno</a:t>
            </a:r>
            <a:r>
              <a:rPr lang="en-US"/>
              <a:t> </a:t>
            </a:r>
            <a:r>
              <a:rPr lang="en-US" err="1"/>
              <a:t>shingo</a:t>
            </a:r>
            <a:r>
              <a:rPr lang="en-US"/>
              <a:t> </a:t>
            </a:r>
            <a:r>
              <a:rPr lang="en-US" err="1"/>
              <a:t>nakunachau</a:t>
            </a:r>
            <a:r>
              <a:rPr lang="en-US"/>
              <a:t>. </a:t>
            </a:r>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99</a:t>
            </a:fld>
            <a:endParaRPr lang="en-US"/>
          </a:p>
        </p:txBody>
      </p:sp>
    </p:spTree>
    <p:extLst>
      <p:ext uri="{BB962C8B-B14F-4D97-AF65-F5344CB8AC3E}">
        <p14:creationId xmlns:p14="http://schemas.microsoft.com/office/powerpoint/2010/main" val="186792067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100</a:t>
            </a:fld>
            <a:endParaRPr lang="en-US"/>
          </a:p>
        </p:txBody>
      </p:sp>
    </p:spTree>
    <p:extLst>
      <p:ext uri="{BB962C8B-B14F-4D97-AF65-F5344CB8AC3E}">
        <p14:creationId xmlns:p14="http://schemas.microsoft.com/office/powerpoint/2010/main" val="4253492483"/>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101</a:t>
            </a:fld>
            <a:endParaRPr lang="en-US"/>
          </a:p>
        </p:txBody>
      </p:sp>
    </p:spTree>
    <p:extLst>
      <p:ext uri="{BB962C8B-B14F-4D97-AF65-F5344CB8AC3E}">
        <p14:creationId xmlns:p14="http://schemas.microsoft.com/office/powerpoint/2010/main" val="179182623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pPr algn="l" rtl="0"/>
            <a:r>
              <a:rPr lang="en-US" b="0" i="0" err="1">
                <a:solidFill>
                  <a:srgbClr val="5F6368"/>
                </a:solidFill>
                <a:effectLst/>
                <a:highlight>
                  <a:srgbClr val="FFFFFF"/>
                </a:highlight>
                <a:latin typeface="Roboto" panose="02000000000000000000" pitchFamily="2" charset="0"/>
              </a:rPr>
              <a:t>Ryōshi</a:t>
            </a:r>
            <a:r>
              <a:rPr lang="en-US" b="0" i="0">
                <a:solidFill>
                  <a:srgbClr val="5F6368"/>
                </a:solidFill>
                <a:effectLst/>
                <a:highlight>
                  <a:srgbClr val="FFFFFF"/>
                </a:highlight>
                <a:latin typeface="Roboto" panose="02000000000000000000" pitchFamily="2" charset="0"/>
              </a:rPr>
              <a:t>-ka - quantization</a:t>
            </a:r>
          </a:p>
          <a:p>
            <a:br>
              <a:rPr lang="en-US" b="0" i="0">
                <a:effectLst/>
                <a:highlight>
                  <a:srgbClr val="FFFFFF"/>
                </a:highlight>
                <a:latin typeface="Google Sans"/>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102</a:t>
            </a:fld>
            <a:endParaRPr lang="en-US"/>
          </a:p>
        </p:txBody>
      </p:sp>
    </p:spTree>
    <p:extLst>
      <p:ext uri="{BB962C8B-B14F-4D97-AF65-F5344CB8AC3E}">
        <p14:creationId xmlns:p14="http://schemas.microsoft.com/office/powerpoint/2010/main" val="37134864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103</a:t>
            </a:fld>
            <a:endParaRPr lang="en-US"/>
          </a:p>
        </p:txBody>
      </p:sp>
    </p:spTree>
    <p:extLst>
      <p:ext uri="{BB962C8B-B14F-4D97-AF65-F5344CB8AC3E}">
        <p14:creationId xmlns:p14="http://schemas.microsoft.com/office/powerpoint/2010/main" val="3412072795"/>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r>
              <a:rPr lang="en-US" b="0" i="0" err="1">
                <a:solidFill>
                  <a:srgbClr val="5F6368"/>
                </a:solidFill>
                <a:effectLst/>
                <a:highlight>
                  <a:srgbClr val="FFFFFF"/>
                </a:highlight>
                <a:latin typeface="Roboto" panose="02000000000000000000" pitchFamily="2" charset="0"/>
              </a:rPr>
              <a:t>Ryōshikagosa</a:t>
            </a:r>
            <a:r>
              <a:rPr lang="en-US" b="0" i="0">
                <a:solidFill>
                  <a:srgbClr val="5F6368"/>
                </a:solidFill>
                <a:effectLst/>
                <a:highlight>
                  <a:srgbClr val="FFFFFF"/>
                </a:highlight>
                <a:latin typeface="Roboto" panose="02000000000000000000" pitchFamily="2" charset="0"/>
              </a:rPr>
              <a:t> - </a:t>
            </a: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104</a:t>
            </a:fld>
            <a:endParaRPr lang="en-US"/>
          </a:p>
        </p:txBody>
      </p:sp>
    </p:spTree>
    <p:extLst>
      <p:ext uri="{BB962C8B-B14F-4D97-AF65-F5344CB8AC3E}">
        <p14:creationId xmlns:p14="http://schemas.microsoft.com/office/powerpoint/2010/main" val="3309804474"/>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pPr rtl="0"/>
            <a:r>
              <a:rPr lang="en-US"/>
              <a:t>a. </a:t>
            </a:r>
            <a:r>
              <a:rPr lang="en-US" b="0" i="0" err="1">
                <a:solidFill>
                  <a:srgbClr val="5F6368"/>
                </a:solidFill>
                <a:effectLst/>
                <a:highlight>
                  <a:srgbClr val="FFFFFF"/>
                </a:highlight>
                <a:latin typeface="Roboto" panose="02000000000000000000" pitchFamily="2" charset="0"/>
              </a:rPr>
              <a:t>Senkei</a:t>
            </a:r>
            <a:r>
              <a:rPr lang="en-US" b="0" i="0">
                <a:solidFill>
                  <a:srgbClr val="5F6368"/>
                </a:solidFill>
                <a:effectLst/>
                <a:highlight>
                  <a:srgbClr val="FFFFFF"/>
                </a:highlight>
                <a:latin typeface="Roboto" panose="02000000000000000000" pitchFamily="2" charset="0"/>
              </a:rPr>
              <a:t> PCM   b. </a:t>
            </a:r>
            <a:r>
              <a:rPr lang="en-US" err="1">
                <a:solidFill>
                  <a:srgbClr val="5F6368"/>
                </a:solidFill>
                <a:effectLst/>
              </a:rPr>
              <a:t>Hisenkei</a:t>
            </a:r>
            <a:r>
              <a:rPr lang="en-US">
                <a:solidFill>
                  <a:srgbClr val="5F6368"/>
                </a:solidFill>
                <a:effectLst/>
              </a:rPr>
              <a:t> PCM</a:t>
            </a: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105</a:t>
            </a:fld>
            <a:endParaRPr lang="en-US"/>
          </a:p>
        </p:txBody>
      </p:sp>
    </p:spTree>
    <p:extLst>
      <p:ext uri="{BB962C8B-B14F-4D97-AF65-F5344CB8AC3E}">
        <p14:creationId xmlns:p14="http://schemas.microsoft.com/office/powerpoint/2010/main" val="225374492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8A46-60DF-CC9D-99AD-822F07DB5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E16-6DA1-8E44-6EE8-FD443C105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FF1E3-DB44-CFF1-1E81-FB8A7AC85143}"/>
              </a:ext>
            </a:extLst>
          </p:cNvPr>
          <p:cNvSpPr>
            <a:spLocks noGrp="1"/>
          </p:cNvSpPr>
          <p:nvPr>
            <p:ph type="body" idx="1"/>
          </p:nvPr>
        </p:nvSpPr>
        <p:spPr/>
        <p:txBody>
          <a:bodyPr/>
          <a:lstStyle/>
          <a:p>
            <a:pPr rtl="0"/>
            <a:r>
              <a:rPr lang="en-US"/>
              <a:t>c. </a:t>
            </a:r>
            <a:r>
              <a:rPr lang="en-US" err="1">
                <a:solidFill>
                  <a:srgbClr val="5F6368"/>
                </a:solidFill>
                <a:effectLst/>
              </a:rPr>
              <a:t>Sabun</a:t>
            </a:r>
            <a:r>
              <a:rPr lang="en-US">
                <a:solidFill>
                  <a:srgbClr val="5F6368"/>
                </a:solidFill>
                <a:effectLst/>
              </a:rPr>
              <a:t> PCM, </a:t>
            </a:r>
            <a:r>
              <a:rPr lang="en-US" err="1">
                <a:solidFill>
                  <a:srgbClr val="5F6368"/>
                </a:solidFill>
                <a:effectLst/>
              </a:rPr>
              <a:t>tekiō</a:t>
            </a:r>
            <a:r>
              <a:rPr lang="en-US">
                <a:solidFill>
                  <a:srgbClr val="5F6368"/>
                </a:solidFill>
                <a:effectLst/>
              </a:rPr>
              <a:t> </a:t>
            </a:r>
            <a:r>
              <a:rPr lang="en-US" err="1">
                <a:solidFill>
                  <a:srgbClr val="5F6368"/>
                </a:solidFill>
                <a:effectLst/>
              </a:rPr>
              <a:t>sabun</a:t>
            </a:r>
            <a:r>
              <a:rPr lang="en-US">
                <a:solidFill>
                  <a:srgbClr val="5F6368"/>
                </a:solidFill>
                <a:effectLst/>
              </a:rPr>
              <a:t> PCM  -&gt; </a:t>
            </a:r>
          </a:p>
          <a:p>
            <a:br>
              <a:rPr lang="en-US">
                <a:effectLst/>
              </a:rPr>
            </a:br>
            <a:endParaRPr lang="en-US"/>
          </a:p>
        </p:txBody>
      </p:sp>
      <p:sp>
        <p:nvSpPr>
          <p:cNvPr id="4" name="Slide Number Placeholder 3">
            <a:extLst>
              <a:ext uri="{FF2B5EF4-FFF2-40B4-BE49-F238E27FC236}">
                <a16:creationId xmlns:a16="http://schemas.microsoft.com/office/drawing/2014/main" id="{46F11FEA-A4AD-A2E4-BD3C-AA7B5B72B4E2}"/>
              </a:ext>
            </a:extLst>
          </p:cNvPr>
          <p:cNvSpPr>
            <a:spLocks noGrp="1"/>
          </p:cNvSpPr>
          <p:nvPr>
            <p:ph type="sldNum" sz="quarter" idx="10"/>
          </p:nvPr>
        </p:nvSpPr>
        <p:spPr/>
        <p:txBody>
          <a:bodyPr/>
          <a:lstStyle/>
          <a:p>
            <a:fld id="{27F9F59A-EB1B-4081-A057-2C8AE2F6E348}" type="slidenum">
              <a:rPr lang="en-US" smtClean="0"/>
              <a:t>106</a:t>
            </a:fld>
            <a:endParaRPr lang="en-US"/>
          </a:p>
        </p:txBody>
      </p:sp>
    </p:spTree>
    <p:extLst>
      <p:ext uri="{BB962C8B-B14F-4D97-AF65-F5344CB8AC3E}">
        <p14:creationId xmlns:p14="http://schemas.microsoft.com/office/powerpoint/2010/main" val="2821467429"/>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7F9F59A-EB1B-4081-A057-2C8AE2F6E348}" type="slidenum">
              <a:rPr lang="en-US" smtClean="0"/>
              <a:t>107</a:t>
            </a:fld>
            <a:endParaRPr lang="en-US"/>
          </a:p>
        </p:txBody>
      </p:sp>
    </p:spTree>
    <p:extLst>
      <p:ext uri="{BB962C8B-B14F-4D97-AF65-F5344CB8AC3E}">
        <p14:creationId xmlns:p14="http://schemas.microsoft.com/office/powerpoint/2010/main" val="2600983324"/>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pP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Fūrie</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henkan</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wa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shingō</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ya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nami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no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shūhasū</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seibun</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o kaiseki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suru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tame no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sūgaku-tekina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shuhōdesu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Kantan</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ni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setsumei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suru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to,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fūrie</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henkan</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wa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jikan</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ryōiki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jikan</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ni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taisuru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shingō</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no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henka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kara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shūhasū</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ryōiki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shingō</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no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shūhasū</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seibun</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ni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henkan</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suru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monodesu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a:t>
            </a:r>
            <a:endParaRPr lang="en-US" sz="1800">
              <a:latin typeface="Calibri" panose="020F0502020204030204" pitchFamily="34" charset="0"/>
              <a:ea typeface="游明朝" panose="02020400000000000000" pitchFamily="18" charset="-128"/>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27F9F59A-EB1B-4081-A057-2C8AE2F6E348}" type="slidenum">
              <a:rPr lang="en-US" smtClean="0"/>
              <a:t>108</a:t>
            </a:fld>
            <a:endParaRPr lang="en-US"/>
          </a:p>
        </p:txBody>
      </p:sp>
    </p:spTree>
    <p:extLst>
      <p:ext uri="{BB962C8B-B14F-4D97-AF65-F5344CB8AC3E}">
        <p14:creationId xmlns:p14="http://schemas.microsoft.com/office/powerpoint/2010/main" val="1349204777"/>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Shingō</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no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rikai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Mazu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fūrie</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henkan</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rikai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suru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tame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ni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wa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shingō</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no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gainen</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ga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hitsuyōdesu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Shingō</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wa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jikan</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no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keika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nitomonatte</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henka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suru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mono de,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tatoeba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onsei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ya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ongaku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shindō</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nado</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ga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arimasu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a:t>
            </a:r>
            <a:endParaRPr lang="en-US"/>
          </a:p>
        </p:txBody>
      </p:sp>
      <p:sp>
        <p:nvSpPr>
          <p:cNvPr id="4" name="Slide Number Placeholder 3"/>
          <p:cNvSpPr>
            <a:spLocks noGrp="1"/>
          </p:cNvSpPr>
          <p:nvPr>
            <p:ph type="sldNum" sz="quarter" idx="10"/>
          </p:nvPr>
        </p:nvSpPr>
        <p:spPr/>
        <p:txBody>
          <a:bodyPr/>
          <a:lstStyle/>
          <a:p>
            <a:fld id="{27F9F59A-EB1B-4081-A057-2C8AE2F6E348}" type="slidenum">
              <a:rPr lang="en-US" smtClean="0"/>
              <a:t>109</a:t>
            </a:fld>
            <a:endParaRPr lang="en-US"/>
          </a:p>
        </p:txBody>
      </p:sp>
    </p:spTree>
    <p:extLst>
      <p:ext uri="{BB962C8B-B14F-4D97-AF65-F5344CB8AC3E}">
        <p14:creationId xmlns:p14="http://schemas.microsoft.com/office/powerpoint/2010/main" val="1678961245"/>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Shingo no </a:t>
            </a:r>
            <a:r>
              <a:rPr lang="en-US" err="1"/>
              <a:t>shurui</a:t>
            </a:r>
            <a:r>
              <a:rPr lang="en-US"/>
              <a:t> </a:t>
            </a:r>
          </a:p>
          <a:p>
            <a:pPr algn="l" rtl="0"/>
            <a:r>
              <a:rPr lang="en-US" err="1"/>
              <a:t>Renzoku</a:t>
            </a:r>
            <a:r>
              <a:rPr lang="en-US"/>
              <a:t> </a:t>
            </a:r>
            <a:r>
              <a:rPr lang="en-US" err="1"/>
              <a:t>jikan</a:t>
            </a:r>
            <a:r>
              <a:rPr lang="en-US"/>
              <a:t> </a:t>
            </a:r>
            <a:r>
              <a:rPr lang="en-US" err="1"/>
              <a:t>shingo</a:t>
            </a:r>
            <a:r>
              <a:rPr lang="en-US"/>
              <a:t> - </a:t>
            </a:r>
            <a:r>
              <a:rPr lang="en-US" b="0" i="0" err="1">
                <a:solidFill>
                  <a:srgbClr val="5F6368"/>
                </a:solidFill>
                <a:effectLst/>
                <a:latin typeface="Roboto" panose="02000000000000000000" pitchFamily="2" charset="0"/>
              </a:rPr>
              <a:t>Renzoku-teki</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ni</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teigi</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sa</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reta</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jikan</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kansū</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anaroguōdio</a:t>
            </a:r>
            <a:r>
              <a:rPr lang="en-US" b="0" i="0">
                <a:solidFill>
                  <a:srgbClr val="5F6368"/>
                </a:solidFill>
                <a:effectLst/>
                <a:latin typeface="Roboto" panose="02000000000000000000" pitchFamily="2" charset="0"/>
              </a:rPr>
              <a:t> no rei</a:t>
            </a:r>
          </a:p>
          <a:p>
            <a:pPr defTabSz="907542">
              <a:defRPr/>
            </a:pPr>
            <a:r>
              <a:rPr lang="pt-BR" b="0" i="0">
                <a:solidFill>
                  <a:srgbClr val="5F6368"/>
                </a:solidFill>
                <a:effectLst/>
                <a:latin typeface="Roboto" panose="02000000000000000000" pitchFamily="2" charset="0"/>
              </a:rPr>
              <a:t>    </a:t>
            </a:r>
            <a:br>
              <a:rPr lang="en-US" b="0" i="0">
                <a:effectLst/>
                <a:latin typeface="Google Sans"/>
              </a:rPr>
            </a:br>
            <a:r>
              <a:rPr lang="pt-BR"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Disukurīto</a:t>
            </a:r>
            <a:r>
              <a:rPr lang="en-US" b="0" i="0">
                <a:solidFill>
                  <a:srgbClr val="5F6368"/>
                </a:solidFill>
                <a:effectLst/>
                <a:latin typeface="Roboto" panose="02000000000000000000" pitchFamily="2" charset="0"/>
              </a:rPr>
              <a:t> - </a:t>
            </a:r>
            <a:r>
              <a:rPr lang="en-US" b="0" i="0" err="1">
                <a:solidFill>
                  <a:srgbClr val="5F6368"/>
                </a:solidFill>
                <a:effectLst/>
                <a:latin typeface="Roboto" panose="02000000000000000000" pitchFamily="2" charset="0"/>
              </a:rPr>
              <a:t>jikan</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shingō</a:t>
            </a:r>
            <a:endParaRPr lang="en-US" b="0" i="0">
              <a:solidFill>
                <a:srgbClr val="5F6368"/>
              </a:solidFill>
              <a:effectLst/>
              <a:latin typeface="Roboto" panose="02000000000000000000" pitchFamily="2" charset="0"/>
            </a:endParaRPr>
          </a:p>
          <a:p>
            <a:pPr algn="l" rtl="0"/>
            <a:r>
              <a:rPr lang="pt-BR" b="0" i="0">
                <a:solidFill>
                  <a:srgbClr val="5F6368"/>
                </a:solidFill>
                <a:effectLst/>
                <a:latin typeface="Roboto" panose="02000000000000000000" pitchFamily="2" charset="0"/>
              </a:rPr>
              <a:t>Shingō no sanpuru wa tokutei no jiten no monodearu. Dejitaruōdio no rei</a:t>
            </a:r>
          </a:p>
          <a:p>
            <a:br>
              <a:rPr lang="pt-BR" b="0" i="0">
                <a:effectLst/>
                <a:latin typeface="Google Sans"/>
              </a:rPr>
            </a:br>
            <a:r>
              <a:rPr lang="en-US" b="0" i="0">
                <a:solidFill>
                  <a:srgbClr val="5F6368"/>
                </a:solidFill>
                <a:effectLst/>
                <a:latin typeface="Roboto" panose="02000000000000000000" pitchFamily="2" charset="0"/>
              </a:rPr>
              <a:t>  </a:t>
            </a:r>
          </a:p>
          <a:p>
            <a:br>
              <a:rPr lang="en-US" b="0" i="0">
                <a:effectLst/>
                <a:latin typeface="Google Sans"/>
              </a:rPr>
            </a:br>
            <a:endParaRPr lang="en-US"/>
          </a:p>
        </p:txBody>
      </p:sp>
      <p:sp>
        <p:nvSpPr>
          <p:cNvPr id="4" name="Slide Number Placeholder 3"/>
          <p:cNvSpPr>
            <a:spLocks noGrp="1"/>
          </p:cNvSpPr>
          <p:nvPr>
            <p:ph type="sldNum" sz="quarter" idx="10"/>
          </p:nvPr>
        </p:nvSpPr>
        <p:spPr/>
        <p:txBody>
          <a:bodyPr/>
          <a:lstStyle/>
          <a:p>
            <a:fld id="{27F9F59A-EB1B-4081-A057-2C8AE2F6E348}" type="slidenum">
              <a:rPr lang="en-US" smtClean="0"/>
              <a:t>110</a:t>
            </a:fld>
            <a:endParaRPr lang="en-US"/>
          </a:p>
        </p:txBody>
      </p:sp>
    </p:spTree>
    <p:extLst>
      <p:ext uri="{BB962C8B-B14F-4D97-AF65-F5344CB8AC3E}">
        <p14:creationId xmlns:p14="http://schemas.microsoft.com/office/powerpoint/2010/main" val="3379969802"/>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Shūki-tekina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nami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Fūrie</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henkan</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wa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shūki-tekina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nami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kōsei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yōso</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ni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bunkai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suru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shuhōdesu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Imēji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to shite,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kotonaru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shūhasū</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no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nami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ga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mazatta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ongaku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kangaete</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mimashou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a:t>
            </a:r>
            <a:endParaRPr lang="en-US"/>
          </a:p>
        </p:txBody>
      </p:sp>
      <p:sp>
        <p:nvSpPr>
          <p:cNvPr id="4" name="Slide Number Placeholder 3"/>
          <p:cNvSpPr>
            <a:spLocks noGrp="1"/>
          </p:cNvSpPr>
          <p:nvPr>
            <p:ph type="sldNum" sz="quarter" idx="10"/>
          </p:nvPr>
        </p:nvSpPr>
        <p:spPr/>
        <p:txBody>
          <a:bodyPr/>
          <a:lstStyle/>
          <a:p>
            <a:fld id="{27F9F59A-EB1B-4081-A057-2C8AE2F6E348}" type="slidenum">
              <a:rPr lang="en-US" smtClean="0"/>
              <a:t>111</a:t>
            </a:fld>
            <a:endParaRPr lang="en-US"/>
          </a:p>
        </p:txBody>
      </p:sp>
    </p:spTree>
    <p:extLst>
      <p:ext uri="{BB962C8B-B14F-4D97-AF65-F5344CB8AC3E}">
        <p14:creationId xmlns:p14="http://schemas.microsoft.com/office/powerpoint/2010/main" val="3608203088"/>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489"/>
              </a:lnSpc>
              <a:spcAft>
                <a:spcPts val="794"/>
              </a:spcAft>
            </a:pP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2. Nami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ni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wa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shūhasū</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to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shinpuku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**-ha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ni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wa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shūhasū</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to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shinpuku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ga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arimasu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Shūhasū</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wa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nami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ga 1-byōkan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ni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nankai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kurikaesa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reru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ka 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shimeshi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shinpuku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wa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nami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no taka-</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arawashimasu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a:t>
            </a:r>
            <a:endParaRPr lang="en-US" sz="1800">
              <a:latin typeface="Calibri" panose="020F0502020204030204" pitchFamily="34" charset="0"/>
              <a:ea typeface="游明朝" panose="02020400000000000000" pitchFamily="18" charset="-128"/>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27F9F59A-EB1B-4081-A057-2C8AE2F6E348}" type="slidenum">
              <a:rPr lang="en-US" smtClean="0"/>
              <a:t>112</a:t>
            </a:fld>
            <a:endParaRPr lang="en-US"/>
          </a:p>
        </p:txBody>
      </p:sp>
    </p:spTree>
    <p:extLst>
      <p:ext uri="{BB962C8B-B14F-4D97-AF65-F5344CB8AC3E}">
        <p14:creationId xmlns:p14="http://schemas.microsoft.com/office/powerpoint/2010/main" val="244436192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6886">
              <a:lnSpc>
                <a:spcPct val="107000"/>
              </a:lnSpc>
              <a:spcAft>
                <a:spcPts val="794"/>
              </a:spcAft>
            </a:pP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Shūhasū</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no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bunkai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Fūrie</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henkan</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wa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sono</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nami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ga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dono</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shūhasū</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de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kōsei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rete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iru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ka 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shimeshimasu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Tatoeba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aru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ongaku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ga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hikui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oto</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to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takai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oto</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de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kōsei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rete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iru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baai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fūrie</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henkan</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tsūjite</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sorezore</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no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shūhasū</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bunseki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dekimasu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a:t>
            </a:r>
            <a:endParaRPr lang="en-US" sz="1800">
              <a:latin typeface="Calibri" panose="020F0502020204030204" pitchFamily="34" charset="0"/>
              <a:ea typeface="游明朝" panose="02020400000000000000" pitchFamily="18" charset="-128"/>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27F9F59A-EB1B-4081-A057-2C8AE2F6E348}" type="slidenum">
              <a:rPr lang="en-US" smtClean="0"/>
              <a:t>113</a:t>
            </a:fld>
            <a:endParaRPr lang="en-US"/>
          </a:p>
        </p:txBody>
      </p:sp>
    </p:spTree>
    <p:extLst>
      <p:ext uri="{BB962C8B-B14F-4D97-AF65-F5344CB8AC3E}">
        <p14:creationId xmlns:p14="http://schemas.microsoft.com/office/powerpoint/2010/main" val="2399701639"/>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pP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Ōyō</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Fūrie</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henkan</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wa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onsei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shori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ya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gazō</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shori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tsūshin</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kōgaku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butsurigaku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nado</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ōku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no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bun'ya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de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ōyō</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rete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imasu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Tatoeba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onsei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dēta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shūhasū-goto</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ni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bunkai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shite,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ongaku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no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kōon</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ya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teion</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bunseki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suru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no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ni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tsukawa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remasu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a:t>
            </a:r>
            <a:endParaRPr lang="en-US" sz="1800">
              <a:latin typeface="Calibri" panose="020F0502020204030204" pitchFamily="34" charset="0"/>
              <a:ea typeface="游明朝" panose="02020400000000000000" pitchFamily="18" charset="-128"/>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27F9F59A-EB1B-4081-A057-2C8AE2F6E348}" type="slidenum">
              <a:rPr lang="en-US" smtClean="0"/>
              <a:t>114</a:t>
            </a:fld>
            <a:endParaRPr lang="en-US"/>
          </a:p>
        </p:txBody>
      </p:sp>
    </p:spTree>
    <p:extLst>
      <p:ext uri="{BB962C8B-B14F-4D97-AF65-F5344CB8AC3E}">
        <p14:creationId xmlns:p14="http://schemas.microsoft.com/office/powerpoint/2010/main" val="1709870778"/>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489"/>
              </a:lnSpc>
            </a:pP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Kantan'niieba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fūrie</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henkan</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wa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fukuzatsuna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nami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ya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shingō</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bunkai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shite, sore ga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dono</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yōna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shūhasū</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seibun</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de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dekite</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iru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ka 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rikai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suru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shuhōdesu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a:t>
            </a:r>
            <a:endParaRPr lang="en-US" sz="1800">
              <a:latin typeface="Calibri" panose="020F0502020204030204" pitchFamily="34" charset="0"/>
              <a:ea typeface="游明朝" panose="02020400000000000000" pitchFamily="18" charset="-128"/>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27F9F59A-EB1B-4081-A057-2C8AE2F6E348}" type="slidenum">
              <a:rPr lang="en-US" smtClean="0"/>
              <a:t>115</a:t>
            </a:fld>
            <a:endParaRPr lang="en-US"/>
          </a:p>
        </p:txBody>
      </p:sp>
    </p:spTree>
    <p:extLst>
      <p:ext uri="{BB962C8B-B14F-4D97-AF65-F5344CB8AC3E}">
        <p14:creationId xmlns:p14="http://schemas.microsoft.com/office/powerpoint/2010/main" val="3615597498"/>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US" b="0" i="0">
                <a:solidFill>
                  <a:srgbClr val="5F6368"/>
                </a:solidFill>
                <a:effectLst/>
                <a:latin typeface="Roboto" panose="02000000000000000000" pitchFamily="2" charset="0"/>
              </a:rPr>
              <a:t>IFFT - </a:t>
            </a:r>
            <a:r>
              <a:rPr lang="en-US" b="0" i="0" err="1">
                <a:solidFill>
                  <a:srgbClr val="5F6368"/>
                </a:solidFill>
                <a:effectLst/>
                <a:latin typeface="Roboto" panose="02000000000000000000" pitchFamily="2" charset="0"/>
              </a:rPr>
              <a:t>shingō</a:t>
            </a:r>
            <a:r>
              <a:rPr lang="en-US" b="0" i="0">
                <a:solidFill>
                  <a:srgbClr val="5F6368"/>
                </a:solidFill>
                <a:effectLst/>
                <a:latin typeface="Roboto" panose="02000000000000000000" pitchFamily="2" charset="0"/>
              </a:rPr>
              <a:t> o </a:t>
            </a:r>
            <a:r>
              <a:rPr lang="en-US" b="0" i="0" err="1">
                <a:solidFill>
                  <a:srgbClr val="5F6368"/>
                </a:solidFill>
                <a:effectLst/>
                <a:latin typeface="Roboto" panose="02000000000000000000" pitchFamily="2" charset="0"/>
              </a:rPr>
              <a:t>shūhasū</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ryōiki</a:t>
            </a:r>
            <a:r>
              <a:rPr lang="en-US" b="0" i="0">
                <a:solidFill>
                  <a:srgbClr val="5F6368"/>
                </a:solidFill>
                <a:effectLst/>
                <a:latin typeface="Roboto" panose="02000000000000000000" pitchFamily="2" charset="0"/>
              </a:rPr>
              <a:t> kara </a:t>
            </a:r>
            <a:r>
              <a:rPr lang="en-US" b="0" i="0" err="1">
                <a:solidFill>
                  <a:srgbClr val="5F6368"/>
                </a:solidFill>
                <a:effectLst/>
                <a:latin typeface="Roboto" panose="02000000000000000000" pitchFamily="2" charset="0"/>
              </a:rPr>
              <a:t>jikan</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ryōiki</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ni</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henkan</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suru</a:t>
            </a:r>
            <a:r>
              <a:rPr lang="en-US" b="0" i="0">
                <a:solidFill>
                  <a:srgbClr val="5F6368"/>
                </a:solidFill>
                <a:effectLst/>
                <a:latin typeface="Roboto" panose="02000000000000000000" pitchFamily="2" charset="0"/>
              </a:rPr>
              <a:t>.</a:t>
            </a:r>
          </a:p>
          <a:p>
            <a:pPr algn="l" rtl="0"/>
            <a:br>
              <a:rPr lang="en-US" b="0" i="0">
                <a:effectLst/>
                <a:latin typeface="Google Sans"/>
              </a:rPr>
            </a:br>
            <a:r>
              <a:rPr lang="en-US" b="0" i="0">
                <a:solidFill>
                  <a:srgbClr val="5F6368"/>
                </a:solidFill>
                <a:effectLst/>
                <a:latin typeface="Roboto" panose="02000000000000000000" pitchFamily="2" charset="0"/>
              </a:rPr>
              <a:t>IFFT - </a:t>
            </a:r>
            <a:r>
              <a:rPr lang="en-US" b="0" i="0" err="1">
                <a:solidFill>
                  <a:srgbClr val="5F6368"/>
                </a:solidFill>
                <a:effectLst/>
                <a:latin typeface="Roboto" panose="02000000000000000000" pitchFamily="2" charset="0"/>
              </a:rPr>
              <a:t>shingō</a:t>
            </a:r>
            <a:r>
              <a:rPr lang="en-US" b="0" i="0">
                <a:solidFill>
                  <a:srgbClr val="5F6368"/>
                </a:solidFill>
                <a:effectLst/>
                <a:latin typeface="Roboto" panose="02000000000000000000" pitchFamily="2" charset="0"/>
              </a:rPr>
              <a:t> o </a:t>
            </a:r>
            <a:r>
              <a:rPr lang="en-US" b="0" i="0" err="1">
                <a:solidFill>
                  <a:srgbClr val="5F6368"/>
                </a:solidFill>
                <a:effectLst/>
                <a:latin typeface="Roboto" panose="02000000000000000000" pitchFamily="2" charset="0"/>
              </a:rPr>
              <a:t>shūhasū</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ryōiki</a:t>
            </a:r>
            <a:r>
              <a:rPr lang="en-US" b="0" i="0">
                <a:solidFill>
                  <a:srgbClr val="5F6368"/>
                </a:solidFill>
                <a:effectLst/>
                <a:latin typeface="Roboto" panose="02000000000000000000" pitchFamily="2" charset="0"/>
              </a:rPr>
              <a:t> kara </a:t>
            </a:r>
            <a:r>
              <a:rPr lang="en-US" b="0" i="0" err="1">
                <a:solidFill>
                  <a:srgbClr val="5F6368"/>
                </a:solidFill>
                <a:effectLst/>
                <a:latin typeface="Roboto" panose="02000000000000000000" pitchFamily="2" charset="0"/>
              </a:rPr>
              <a:t>jikan</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ryōiki</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ni</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henkan</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suru</a:t>
            </a:r>
            <a:r>
              <a:rPr lang="en-US" b="0" i="0">
                <a:solidFill>
                  <a:srgbClr val="5F6368"/>
                </a:solidFill>
                <a:effectLst/>
                <a:latin typeface="Roboto" panose="02000000000000000000" pitchFamily="2" charset="0"/>
              </a:rPr>
              <a:t>.</a:t>
            </a:r>
          </a:p>
          <a:p>
            <a:pPr algn="l" rtl="0"/>
            <a:br>
              <a:rPr lang="en-US" b="0" i="0">
                <a:effectLst/>
                <a:latin typeface="Google Sans"/>
              </a:rPr>
            </a:br>
            <a:r>
              <a:rPr lang="en-US" b="0" i="0">
                <a:solidFill>
                  <a:srgbClr val="5F6368"/>
                </a:solidFill>
                <a:effectLst/>
                <a:latin typeface="Roboto" panose="02000000000000000000" pitchFamily="2" charset="0"/>
              </a:rPr>
              <a:t>IFFT - </a:t>
            </a:r>
            <a:r>
              <a:rPr lang="en-US" b="0" i="0" err="1">
                <a:solidFill>
                  <a:srgbClr val="5F6368"/>
                </a:solidFill>
                <a:effectLst/>
                <a:latin typeface="Roboto" panose="02000000000000000000" pitchFamily="2" charset="0"/>
              </a:rPr>
              <a:t>shingō</a:t>
            </a:r>
            <a:r>
              <a:rPr lang="en-US" b="0" i="0">
                <a:solidFill>
                  <a:srgbClr val="5F6368"/>
                </a:solidFill>
                <a:effectLst/>
                <a:latin typeface="Roboto" panose="02000000000000000000" pitchFamily="2" charset="0"/>
              </a:rPr>
              <a:t> o </a:t>
            </a:r>
            <a:r>
              <a:rPr lang="en-US" b="0" i="0" err="1">
                <a:solidFill>
                  <a:srgbClr val="5F6368"/>
                </a:solidFill>
                <a:effectLst/>
                <a:latin typeface="Roboto" panose="02000000000000000000" pitchFamily="2" charset="0"/>
              </a:rPr>
              <a:t>shūhasū</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ryōiki</a:t>
            </a:r>
            <a:r>
              <a:rPr lang="en-US" b="0" i="0">
                <a:solidFill>
                  <a:srgbClr val="5F6368"/>
                </a:solidFill>
                <a:effectLst/>
                <a:latin typeface="Roboto" panose="02000000000000000000" pitchFamily="2" charset="0"/>
              </a:rPr>
              <a:t> kara </a:t>
            </a:r>
            <a:r>
              <a:rPr lang="en-US" b="0" i="0" err="1">
                <a:solidFill>
                  <a:srgbClr val="5F6368"/>
                </a:solidFill>
                <a:effectLst/>
                <a:latin typeface="Roboto" panose="02000000000000000000" pitchFamily="2" charset="0"/>
              </a:rPr>
              <a:t>jikan</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ryōiki</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ni</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henkan</a:t>
            </a:r>
            <a:r>
              <a:rPr lang="en-US" b="0" i="0">
                <a:solidFill>
                  <a:srgbClr val="5F6368"/>
                </a:solidFill>
                <a:effectLst/>
                <a:latin typeface="Roboto" panose="02000000000000000000" pitchFamily="2" charset="0"/>
              </a:rPr>
              <a:t> </a:t>
            </a:r>
            <a:r>
              <a:rPr lang="en-US" b="0" i="0" err="1">
                <a:solidFill>
                  <a:srgbClr val="5F6368"/>
                </a:solidFill>
                <a:effectLst/>
                <a:latin typeface="Roboto" panose="02000000000000000000" pitchFamily="2" charset="0"/>
              </a:rPr>
              <a:t>suru</a:t>
            </a:r>
            <a:r>
              <a:rPr lang="en-US" b="0" i="0">
                <a:solidFill>
                  <a:srgbClr val="5F6368"/>
                </a:solidFill>
                <a:effectLst/>
                <a:latin typeface="Roboto" panose="02000000000000000000" pitchFamily="2" charset="0"/>
              </a:rPr>
              <a:t>.</a:t>
            </a:r>
          </a:p>
          <a:p>
            <a:br>
              <a:rPr lang="en-US" b="0" i="0">
                <a:effectLst/>
                <a:latin typeface="Google Sans"/>
              </a:rPr>
            </a:br>
            <a:endParaRPr lang="en-US"/>
          </a:p>
        </p:txBody>
      </p:sp>
      <p:sp>
        <p:nvSpPr>
          <p:cNvPr id="4" name="Slide Number Placeholder 3"/>
          <p:cNvSpPr>
            <a:spLocks noGrp="1"/>
          </p:cNvSpPr>
          <p:nvPr>
            <p:ph type="sldNum" sz="quarter" idx="10"/>
          </p:nvPr>
        </p:nvSpPr>
        <p:spPr/>
        <p:txBody>
          <a:bodyPr/>
          <a:lstStyle/>
          <a:p>
            <a:fld id="{27F9F59A-EB1B-4081-A057-2C8AE2F6E348}" type="slidenum">
              <a:rPr lang="en-US" smtClean="0"/>
              <a:t>116</a:t>
            </a:fld>
            <a:endParaRPr lang="en-US"/>
          </a:p>
        </p:txBody>
      </p:sp>
    </p:spTree>
    <p:extLst>
      <p:ext uri="{BB962C8B-B14F-4D97-AF65-F5344CB8AC3E}">
        <p14:creationId xmlns:p14="http://schemas.microsoft.com/office/powerpoint/2010/main" val="2401288925"/>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7F9F59A-EB1B-4081-A057-2C8AE2F6E348}" type="slidenum">
              <a:rPr lang="en-US" smtClean="0"/>
              <a:t>117</a:t>
            </a:fld>
            <a:endParaRPr lang="en-US"/>
          </a:p>
        </p:txBody>
      </p:sp>
    </p:spTree>
    <p:extLst>
      <p:ext uri="{BB962C8B-B14F-4D97-AF65-F5344CB8AC3E}">
        <p14:creationId xmlns:p14="http://schemas.microsoft.com/office/powerpoint/2010/main" val="2115045738"/>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pP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Ōyō</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Fūrie</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henkan</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wa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onsei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shori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ya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gazō</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shori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tsūshin</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kōgaku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butsurigaku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nado</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ōku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no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bun'ya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de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ōyō</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rete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imasu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Tatoeba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onsei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dēta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shūhasū-goto</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ni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bunkai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shite,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ongaku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no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kōon</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ya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teion</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bunseki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suru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no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ni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tsukawa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remasu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a:t>
            </a:r>
            <a:endParaRPr lang="en-US" sz="1800">
              <a:latin typeface="Calibri" panose="020F0502020204030204" pitchFamily="34" charset="0"/>
              <a:ea typeface="游明朝" panose="02020400000000000000" pitchFamily="18" charset="-128"/>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27F9F59A-EB1B-4081-A057-2C8AE2F6E348}" type="slidenum">
              <a:rPr lang="en-US" smtClean="0"/>
              <a:t>118</a:t>
            </a:fld>
            <a:endParaRPr lang="en-US"/>
          </a:p>
        </p:txBody>
      </p:sp>
    </p:spTree>
    <p:extLst>
      <p:ext uri="{BB962C8B-B14F-4D97-AF65-F5344CB8AC3E}">
        <p14:creationId xmlns:p14="http://schemas.microsoft.com/office/powerpoint/2010/main" val="81732253"/>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7F9F59A-EB1B-4081-A057-2C8AE2F6E348}" type="slidenum">
              <a:rPr lang="en-US" smtClean="0"/>
              <a:t>119</a:t>
            </a:fld>
            <a:endParaRPr lang="en-US"/>
          </a:p>
        </p:txBody>
      </p:sp>
    </p:spTree>
    <p:extLst>
      <p:ext uri="{BB962C8B-B14F-4D97-AF65-F5344CB8AC3E}">
        <p14:creationId xmlns:p14="http://schemas.microsoft.com/office/powerpoint/2010/main" val="2982253377"/>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pP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Fūrie</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henkan</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no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tsukaikata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  On no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bunseki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Oto no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shūhasū</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seibun</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shirabete</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sono</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Oto no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tokuchō</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tsukamu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koto</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ga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dekimasu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Gazō</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no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asshuku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Gazō</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no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shūhasū</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seibun</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sakujo</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shite,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gazō</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no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saizu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chīsaku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suru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koto</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ga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dekimasu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Shingō</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shori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Oto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ya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gazō</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nado</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no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shingō</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o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kakō</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suru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toki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ni</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tsukawa</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 </a:t>
            </a:r>
            <a:r>
              <a:rPr lang="en-US" sz="1800" b="1" err="1">
                <a:solidFill>
                  <a:srgbClr val="5F6368"/>
                </a:solidFill>
                <a:latin typeface="Roboto" panose="02000000000000000000" pitchFamily="2" charset="0"/>
                <a:ea typeface="Times New Roman" panose="02020603050405020304" pitchFamily="18" charset="0"/>
                <a:cs typeface="Times New Roman" panose="02020603050405020304" pitchFamily="18" charset="0"/>
              </a:rPr>
              <a:t>remasu</a:t>
            </a:r>
            <a:r>
              <a:rPr lang="en-US" sz="1800" b="1">
                <a:solidFill>
                  <a:srgbClr val="5F6368"/>
                </a:solidFill>
                <a:latin typeface="Roboto" panose="02000000000000000000" pitchFamily="2" charset="0"/>
                <a:ea typeface="Times New Roman" panose="02020603050405020304" pitchFamily="18" charset="0"/>
                <a:cs typeface="Times New Roman" panose="02020603050405020304" pitchFamily="18" charset="0"/>
              </a:rPr>
              <a:t>.</a:t>
            </a:r>
            <a:r>
              <a:rPr lang="en-US" sz="1800" b="1">
                <a:latin typeface="Calibri" panose="020F0502020204030204" pitchFamily="34" charset="0"/>
                <a:ea typeface="游明朝" panose="02020400000000000000" pitchFamily="18" charset="-128"/>
                <a:cs typeface="Times New Roman" panose="02020603050405020304" pitchFamily="18" charset="0"/>
              </a:rPr>
              <a:t>)</a:t>
            </a:r>
            <a:endParaRPr lang="en-US" sz="1800">
              <a:latin typeface="Calibri" panose="020F0502020204030204" pitchFamily="34" charset="0"/>
              <a:ea typeface="游明朝" panose="02020400000000000000" pitchFamily="18" charset="-128"/>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27F9F59A-EB1B-4081-A057-2C8AE2F6E348}" type="slidenum">
              <a:rPr lang="en-US" smtClean="0"/>
              <a:t>120</a:t>
            </a:fld>
            <a:endParaRPr lang="en-US"/>
          </a:p>
        </p:txBody>
      </p:sp>
    </p:spTree>
    <p:extLst>
      <p:ext uri="{BB962C8B-B14F-4D97-AF65-F5344CB8AC3E}">
        <p14:creationId xmlns:p14="http://schemas.microsoft.com/office/powerpoint/2010/main" val="402828506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7F9F59A-EB1B-4081-A057-2C8AE2F6E348}" type="slidenum">
              <a:rPr lang="en-US" smtClean="0"/>
              <a:t>121</a:t>
            </a:fld>
            <a:endParaRPr lang="en-US"/>
          </a:p>
        </p:txBody>
      </p:sp>
    </p:spTree>
    <p:extLst>
      <p:ext uri="{BB962C8B-B14F-4D97-AF65-F5344CB8AC3E}">
        <p14:creationId xmlns:p14="http://schemas.microsoft.com/office/powerpoint/2010/main" val="1414385396"/>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7F9F59A-EB1B-4081-A057-2C8AE2F6E348}" type="slidenum">
              <a:rPr lang="en-US" smtClean="0"/>
              <a:t>122</a:t>
            </a:fld>
            <a:endParaRPr lang="en-US"/>
          </a:p>
        </p:txBody>
      </p:sp>
    </p:spTree>
    <p:extLst>
      <p:ext uri="{BB962C8B-B14F-4D97-AF65-F5344CB8AC3E}">
        <p14:creationId xmlns:p14="http://schemas.microsoft.com/office/powerpoint/2010/main" val="69378760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7F9F59A-EB1B-4081-A057-2C8AE2F6E348}" type="slidenum">
              <a:rPr lang="en-US" smtClean="0"/>
              <a:t>123</a:t>
            </a:fld>
            <a:endParaRPr lang="en-US"/>
          </a:p>
        </p:txBody>
      </p:sp>
    </p:spTree>
    <p:extLst>
      <p:ext uri="{BB962C8B-B14F-4D97-AF65-F5344CB8AC3E}">
        <p14:creationId xmlns:p14="http://schemas.microsoft.com/office/powerpoint/2010/main" val="2998243300"/>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7F9F59A-EB1B-4081-A057-2C8AE2F6E348}" type="slidenum">
              <a:rPr lang="en-US" smtClean="0"/>
              <a:t>124</a:t>
            </a:fld>
            <a:endParaRPr lang="en-US"/>
          </a:p>
        </p:txBody>
      </p:sp>
    </p:spTree>
    <p:extLst>
      <p:ext uri="{BB962C8B-B14F-4D97-AF65-F5344CB8AC3E}">
        <p14:creationId xmlns:p14="http://schemas.microsoft.com/office/powerpoint/2010/main" val="124731520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7F9F59A-EB1B-4081-A057-2C8AE2F6E348}" type="slidenum">
              <a:rPr lang="en-US" smtClean="0"/>
              <a:t>125</a:t>
            </a:fld>
            <a:endParaRPr lang="en-US"/>
          </a:p>
        </p:txBody>
      </p:sp>
    </p:spTree>
    <p:extLst>
      <p:ext uri="{BB962C8B-B14F-4D97-AF65-F5344CB8AC3E}">
        <p14:creationId xmlns:p14="http://schemas.microsoft.com/office/powerpoint/2010/main" val="2994651245"/>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7F9F59A-EB1B-4081-A057-2C8AE2F6E348}" type="slidenum">
              <a:rPr lang="en-US" smtClean="0"/>
              <a:t>126</a:t>
            </a:fld>
            <a:endParaRPr lang="en-US"/>
          </a:p>
        </p:txBody>
      </p:sp>
    </p:spTree>
    <p:extLst>
      <p:ext uri="{BB962C8B-B14F-4D97-AF65-F5344CB8AC3E}">
        <p14:creationId xmlns:p14="http://schemas.microsoft.com/office/powerpoint/2010/main" val="51611952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7F9F59A-EB1B-4081-A057-2C8AE2F6E348}" type="slidenum">
              <a:rPr lang="en-US" smtClean="0"/>
              <a:t>127</a:t>
            </a:fld>
            <a:endParaRPr lang="en-US"/>
          </a:p>
        </p:txBody>
      </p:sp>
    </p:spTree>
    <p:extLst>
      <p:ext uri="{BB962C8B-B14F-4D97-AF65-F5344CB8AC3E}">
        <p14:creationId xmlns:p14="http://schemas.microsoft.com/office/powerpoint/2010/main" val="3817879494"/>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7F9F59A-EB1B-4081-A057-2C8AE2F6E348}" type="slidenum">
              <a:rPr lang="en-US" smtClean="0"/>
              <a:t>128</a:t>
            </a:fld>
            <a:endParaRPr lang="en-US"/>
          </a:p>
        </p:txBody>
      </p:sp>
    </p:spTree>
    <p:extLst>
      <p:ext uri="{BB962C8B-B14F-4D97-AF65-F5344CB8AC3E}">
        <p14:creationId xmlns:p14="http://schemas.microsoft.com/office/powerpoint/2010/main" val="250629457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7F9F59A-EB1B-4081-A057-2C8AE2F6E348}" type="slidenum">
              <a:rPr lang="en-US" smtClean="0"/>
              <a:t>129</a:t>
            </a:fld>
            <a:endParaRPr lang="en-US"/>
          </a:p>
        </p:txBody>
      </p:sp>
    </p:spTree>
    <p:extLst>
      <p:ext uri="{BB962C8B-B14F-4D97-AF65-F5344CB8AC3E}">
        <p14:creationId xmlns:p14="http://schemas.microsoft.com/office/powerpoint/2010/main" val="3690971013"/>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7F9F59A-EB1B-4081-A057-2C8AE2F6E348}" type="slidenum">
              <a:rPr lang="en-US" smtClean="0"/>
              <a:t>130</a:t>
            </a:fld>
            <a:endParaRPr lang="en-US"/>
          </a:p>
        </p:txBody>
      </p:sp>
    </p:spTree>
    <p:extLst>
      <p:ext uri="{BB962C8B-B14F-4D97-AF65-F5344CB8AC3E}">
        <p14:creationId xmlns:p14="http://schemas.microsoft.com/office/powerpoint/2010/main" val="1313671085"/>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7F9F59A-EB1B-4081-A057-2C8AE2F6E348}" type="slidenum">
              <a:rPr lang="en-US" smtClean="0"/>
              <a:t>131</a:t>
            </a:fld>
            <a:endParaRPr lang="en-US"/>
          </a:p>
        </p:txBody>
      </p:sp>
    </p:spTree>
    <p:extLst>
      <p:ext uri="{BB962C8B-B14F-4D97-AF65-F5344CB8AC3E}">
        <p14:creationId xmlns:p14="http://schemas.microsoft.com/office/powerpoint/2010/main" val="1191879545"/>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7F9F59A-EB1B-4081-A057-2C8AE2F6E348}" type="slidenum">
              <a:rPr lang="en-US" smtClean="0"/>
              <a:t>132</a:t>
            </a:fld>
            <a:endParaRPr lang="en-US"/>
          </a:p>
        </p:txBody>
      </p:sp>
    </p:spTree>
    <p:extLst>
      <p:ext uri="{BB962C8B-B14F-4D97-AF65-F5344CB8AC3E}">
        <p14:creationId xmlns:p14="http://schemas.microsoft.com/office/powerpoint/2010/main" val="976619549"/>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7F9F59A-EB1B-4081-A057-2C8AE2F6E348}" type="slidenum">
              <a:rPr lang="en-US" smtClean="0"/>
              <a:t>133</a:t>
            </a:fld>
            <a:endParaRPr lang="en-US"/>
          </a:p>
        </p:txBody>
      </p:sp>
    </p:spTree>
    <p:extLst>
      <p:ext uri="{BB962C8B-B14F-4D97-AF65-F5344CB8AC3E}">
        <p14:creationId xmlns:p14="http://schemas.microsoft.com/office/powerpoint/2010/main" val="976619549"/>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7F9F59A-EB1B-4081-A057-2C8AE2F6E348}" type="slidenum">
              <a:rPr lang="en-US" smtClean="0"/>
              <a:t>134</a:t>
            </a:fld>
            <a:endParaRPr lang="en-US"/>
          </a:p>
        </p:txBody>
      </p:sp>
    </p:spTree>
    <p:extLst>
      <p:ext uri="{BB962C8B-B14F-4D97-AF65-F5344CB8AC3E}">
        <p14:creationId xmlns:p14="http://schemas.microsoft.com/office/powerpoint/2010/main" val="559944525"/>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7F9F59A-EB1B-4081-A057-2C8AE2F6E348}" type="slidenum">
              <a:rPr lang="en-US" smtClean="0"/>
              <a:t>135</a:t>
            </a:fld>
            <a:endParaRPr lang="en-US"/>
          </a:p>
        </p:txBody>
      </p:sp>
    </p:spTree>
    <p:extLst>
      <p:ext uri="{BB962C8B-B14F-4D97-AF65-F5344CB8AC3E}">
        <p14:creationId xmlns:p14="http://schemas.microsoft.com/office/powerpoint/2010/main" val="1277880038"/>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7F9F59A-EB1B-4081-A057-2C8AE2F6E348}" type="slidenum">
              <a:rPr lang="en-US" smtClean="0"/>
              <a:t>136</a:t>
            </a:fld>
            <a:endParaRPr lang="en-US"/>
          </a:p>
        </p:txBody>
      </p:sp>
    </p:spTree>
    <p:extLst>
      <p:ext uri="{BB962C8B-B14F-4D97-AF65-F5344CB8AC3E}">
        <p14:creationId xmlns:p14="http://schemas.microsoft.com/office/powerpoint/2010/main" val="3056905056"/>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Ryu tagged this problem as a trending problem in today’s reviews   and proposed a method to identify spam reviews in a Chinese shopping site.</a:t>
            </a:r>
          </a:p>
        </p:txBody>
      </p:sp>
      <p:sp>
        <p:nvSpPr>
          <p:cNvPr id="4" name="Slide Number Placeholder 3"/>
          <p:cNvSpPr>
            <a:spLocks noGrp="1"/>
          </p:cNvSpPr>
          <p:nvPr>
            <p:ph type="sldNum" sz="quarter" idx="10"/>
          </p:nvPr>
        </p:nvSpPr>
        <p:spPr/>
        <p:txBody>
          <a:bodyPr/>
          <a:lstStyle/>
          <a:p>
            <a:fld id="{27F9F59A-EB1B-4081-A057-2C8AE2F6E348}" type="slidenum">
              <a:rPr lang="en-US" smtClean="0"/>
              <a:t>137</a:t>
            </a:fld>
            <a:endParaRPr lang="en-US"/>
          </a:p>
        </p:txBody>
      </p:sp>
    </p:spTree>
    <p:extLst>
      <p:ext uri="{BB962C8B-B14F-4D97-AF65-F5344CB8AC3E}">
        <p14:creationId xmlns:p14="http://schemas.microsoft.com/office/powerpoint/2010/main" val="7168739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BU Logo">
    <p:spTree>
      <p:nvGrpSpPr>
        <p:cNvPr id="1" name=""/>
        <p:cNvGrpSpPr/>
        <p:nvPr/>
      </p:nvGrpSpPr>
      <p:grpSpPr>
        <a:xfrm>
          <a:off x="0" y="0"/>
          <a:ext cx="0" cy="0"/>
          <a:chOff x="0" y="0"/>
          <a:chExt cx="0" cy="0"/>
        </a:xfrm>
      </p:grpSpPr>
      <p:pic>
        <p:nvPicPr>
          <p:cNvPr id="2" name="Picture 1" descr="SBU stack_2clr_cmyk.eps"/>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595033" y="2543175"/>
            <a:ext cx="7004051" cy="186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65876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BM Logo">
    <p:spTree>
      <p:nvGrpSpPr>
        <p:cNvPr id="1" name=""/>
        <p:cNvGrpSpPr/>
        <p:nvPr/>
      </p:nvGrpSpPr>
      <p:grpSpPr>
        <a:xfrm>
          <a:off x="0" y="0"/>
          <a:ext cx="0" cy="0"/>
          <a:chOff x="0" y="0"/>
          <a:chExt cx="0" cy="0"/>
        </a:xfrm>
      </p:grpSpPr>
      <p:pic>
        <p:nvPicPr>
          <p:cNvPr id="2" name="Picture 1" descr="SBM stack_2clr_pms1.eps"/>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599267" y="2552700"/>
            <a:ext cx="6993467"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8731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B Children's Logo">
    <p:spTree>
      <p:nvGrpSpPr>
        <p:cNvPr id="1" name=""/>
        <p:cNvGrpSpPr/>
        <p:nvPr/>
      </p:nvGrpSpPr>
      <p:grpSpPr>
        <a:xfrm>
          <a:off x="0" y="0"/>
          <a:ext cx="0" cy="0"/>
          <a:chOff x="0" y="0"/>
          <a:chExt cx="0" cy="0"/>
        </a:xfrm>
      </p:grpSpPr>
      <p:pic>
        <p:nvPicPr>
          <p:cNvPr id="4" name="Picture 3" descr="sb_childrens_horizstack_3c_CMYK_2.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041731" y="2235200"/>
            <a:ext cx="8101336" cy="2382384"/>
          </a:xfrm>
          <a:prstGeom prst="rect">
            <a:avLst/>
          </a:prstGeom>
        </p:spPr>
      </p:pic>
    </p:spTree>
    <p:extLst>
      <p:ext uri="{BB962C8B-B14F-4D97-AF65-F5344CB8AC3E}">
        <p14:creationId xmlns:p14="http://schemas.microsoft.com/office/powerpoint/2010/main" val="241628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BU Full Page Photo">
    <p:spTree>
      <p:nvGrpSpPr>
        <p:cNvPr id="1" name=""/>
        <p:cNvGrpSpPr/>
        <p:nvPr/>
      </p:nvGrpSpPr>
      <p:grpSpPr>
        <a:xfrm>
          <a:off x="0" y="0"/>
          <a:ext cx="0" cy="0"/>
          <a:chOff x="0" y="0"/>
          <a:chExt cx="0" cy="0"/>
        </a:xfrm>
      </p:grpSpPr>
      <p:cxnSp>
        <p:nvCxnSpPr>
          <p:cNvPr id="7" name="Straight Connector 6"/>
          <p:cNvCxnSpPr/>
          <p:nvPr userDrawn="1"/>
        </p:nvCxnSpPr>
        <p:spPr>
          <a:xfrm>
            <a:off x="0" y="1082675"/>
            <a:ext cx="12192000" cy="1588"/>
          </a:xfrm>
          <a:prstGeom prst="line">
            <a:avLst/>
          </a:prstGeom>
          <a:ln w="12700">
            <a:solidFill>
              <a:srgbClr val="B60225"/>
            </a:solidFill>
          </a:ln>
          <a:effectLst/>
        </p:spPr>
        <p:style>
          <a:lnRef idx="2">
            <a:schemeClr val="accent1"/>
          </a:lnRef>
          <a:fillRef idx="0">
            <a:schemeClr val="accent1"/>
          </a:fillRef>
          <a:effectRef idx="1">
            <a:schemeClr val="accent1"/>
          </a:effectRef>
          <a:fontRef idx="minor">
            <a:schemeClr val="tx1"/>
          </a:fontRef>
        </p:style>
      </p:cxnSp>
      <p:sp>
        <p:nvSpPr>
          <p:cNvPr id="5" name="Text Placeholder 13"/>
          <p:cNvSpPr>
            <a:spLocks noGrp="1"/>
          </p:cNvSpPr>
          <p:nvPr>
            <p:ph type="body" sz="quarter" idx="12"/>
          </p:nvPr>
        </p:nvSpPr>
        <p:spPr>
          <a:xfrm>
            <a:off x="6315027" y="464955"/>
            <a:ext cx="5267373" cy="381684"/>
          </a:xfrm>
          <a:prstGeom prst="rect">
            <a:avLst/>
          </a:prstGeom>
        </p:spPr>
        <p:txBody>
          <a:bodyPr rIns="0">
            <a:noAutofit/>
          </a:bodyPr>
          <a:lstStyle>
            <a:lvl1pPr algn="r">
              <a:buFontTx/>
              <a:buNone/>
              <a:defRPr sz="1500" cap="all">
                <a:solidFill>
                  <a:schemeClr val="tx1"/>
                </a:solidFill>
                <a:latin typeface="Helvetica"/>
                <a:cs typeface="Helvetica"/>
              </a:defRPr>
            </a:lvl1pPr>
          </a:lstStyle>
          <a:p>
            <a:pPr lvl="0"/>
            <a:r>
              <a:rPr lang="en-US"/>
              <a:t>Click to edit Master text styles</a:t>
            </a:r>
          </a:p>
        </p:txBody>
      </p:sp>
      <p:sp>
        <p:nvSpPr>
          <p:cNvPr id="6" name="Text Placeholder 12"/>
          <p:cNvSpPr>
            <a:spLocks noGrp="1"/>
          </p:cNvSpPr>
          <p:nvPr>
            <p:ph type="body" sz="quarter" idx="14"/>
          </p:nvPr>
        </p:nvSpPr>
        <p:spPr>
          <a:xfrm>
            <a:off x="0" y="6288062"/>
            <a:ext cx="12192000" cy="467416"/>
          </a:xfrm>
          <a:prstGeom prst="rect">
            <a:avLst/>
          </a:prstGeom>
        </p:spPr>
        <p:txBody>
          <a:bodyPr anchor="ctr"/>
          <a:lstStyle>
            <a:lvl1pPr algn="ctr">
              <a:buFontTx/>
              <a:buNone/>
              <a:defRPr sz="2000" baseline="0">
                <a:solidFill>
                  <a:srgbClr val="FFFFFF"/>
                </a:solidFill>
                <a:latin typeface="Helvetica"/>
                <a:cs typeface="Helvetica"/>
              </a:defRPr>
            </a:lvl1pPr>
          </a:lstStyle>
          <a:p>
            <a:pPr lvl="0"/>
            <a:r>
              <a:rPr lang="en-US"/>
              <a:t>Click to edit Master text styles</a:t>
            </a:r>
          </a:p>
        </p:txBody>
      </p:sp>
      <p:sp>
        <p:nvSpPr>
          <p:cNvPr id="9" name="Picture Placeholder 2"/>
          <p:cNvSpPr>
            <a:spLocks noGrp="1"/>
          </p:cNvSpPr>
          <p:nvPr>
            <p:ph type="pic" idx="1"/>
          </p:nvPr>
        </p:nvSpPr>
        <p:spPr>
          <a:xfrm>
            <a:off x="0" y="1091260"/>
            <a:ext cx="12192000" cy="5205623"/>
          </a:xfrm>
          <a:solidFill>
            <a:schemeClr val="bg1">
              <a:lumMod val="85000"/>
            </a:schemeClr>
          </a:solidFill>
        </p:spPr>
        <p:txBody>
          <a:bodyPr rtlCol="0">
            <a:normAutofit/>
          </a:bodyPr>
          <a:lstStyle>
            <a:lvl1pPr marL="0" indent="0">
              <a:buNone/>
              <a:defRPr sz="32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Tree>
    <p:extLst>
      <p:ext uri="{BB962C8B-B14F-4D97-AF65-F5344CB8AC3E}">
        <p14:creationId xmlns:p14="http://schemas.microsoft.com/office/powerpoint/2010/main" val="1520166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BU Title Slide">
    <p:spTree>
      <p:nvGrpSpPr>
        <p:cNvPr id="1" name=""/>
        <p:cNvGrpSpPr/>
        <p:nvPr/>
      </p:nvGrpSpPr>
      <p:grpSpPr>
        <a:xfrm>
          <a:off x="0" y="0"/>
          <a:ext cx="0" cy="0"/>
          <a:chOff x="0" y="0"/>
          <a:chExt cx="0" cy="0"/>
        </a:xfrm>
      </p:grpSpPr>
      <p:sp>
        <p:nvSpPr>
          <p:cNvPr id="7" name="Text Placeholder 12"/>
          <p:cNvSpPr>
            <a:spLocks noGrp="1"/>
          </p:cNvSpPr>
          <p:nvPr>
            <p:ph type="body" sz="quarter" idx="14"/>
          </p:nvPr>
        </p:nvSpPr>
        <p:spPr>
          <a:xfrm>
            <a:off x="0" y="6362700"/>
            <a:ext cx="12192000" cy="495300"/>
          </a:xfrm>
          <a:prstGeom prst="rect">
            <a:avLst/>
          </a:prstGeom>
        </p:spPr>
        <p:txBody>
          <a:bodyPr/>
          <a:lstStyle>
            <a:lvl1pPr algn="ctr">
              <a:buFontTx/>
              <a:buNone/>
              <a:defRPr sz="2000" baseline="0">
                <a:solidFill>
                  <a:srgbClr val="FFFFFF"/>
                </a:solidFill>
                <a:latin typeface="Helvetica"/>
                <a:cs typeface="Helvetica"/>
              </a:defRPr>
            </a:lvl1pPr>
          </a:lstStyle>
          <a:p>
            <a:pPr lvl="0"/>
            <a:r>
              <a:rPr lang="en-US"/>
              <a:t>Click to edit Master text styles</a:t>
            </a:r>
          </a:p>
        </p:txBody>
      </p:sp>
      <p:sp>
        <p:nvSpPr>
          <p:cNvPr id="6" name="Text Placeholder 7"/>
          <p:cNvSpPr>
            <a:spLocks noGrp="1"/>
          </p:cNvSpPr>
          <p:nvPr>
            <p:ph type="body" sz="quarter" idx="15"/>
          </p:nvPr>
        </p:nvSpPr>
        <p:spPr>
          <a:xfrm>
            <a:off x="609600" y="1066801"/>
            <a:ext cx="10972800" cy="5211917"/>
          </a:xfrm>
        </p:spPr>
        <p:txBody>
          <a:bodyPr tIns="0" rIns="0" bIns="0" anchor="ctr"/>
          <a:lstStyle>
            <a:lvl1pPr algn="ctr">
              <a:buFontTx/>
              <a:buNone/>
              <a:defRPr sz="4400">
                <a:solidFill>
                  <a:srgbClr val="B60225"/>
                </a:solidFill>
              </a:defRPr>
            </a:lvl1pPr>
            <a:lvl2pPr marL="228600" indent="-228600" algn="ctr">
              <a:buClr>
                <a:srgbClr val="C03137"/>
              </a:buClr>
              <a:buFontTx/>
              <a:buNone/>
              <a:defRPr sz="2400"/>
            </a:lvl2pPr>
            <a:lvl3pPr marL="458788" indent="-230188" algn="ctr">
              <a:buFontTx/>
              <a:buNone/>
              <a:defRPr/>
            </a:lvl3pPr>
            <a:lvl4pPr marL="458788" indent="-230188" algn="ctr">
              <a:buFontTx/>
              <a:buNone/>
              <a:defRPr/>
            </a:lvl4pPr>
            <a:lvl5pPr marL="458788" indent="-230188" algn="ctr">
              <a:buFontTx/>
              <a:buNone/>
              <a:defRPr/>
            </a:lvl5pPr>
          </a:lstStyle>
          <a:p>
            <a:pPr lvl="0"/>
            <a:r>
              <a:rPr lang="en-US"/>
              <a:t>Click to edit Master text styles</a:t>
            </a:r>
          </a:p>
          <a:p>
            <a:pPr lvl="1"/>
            <a:r>
              <a:rPr lang="en-US"/>
              <a:t>Second level</a:t>
            </a:r>
          </a:p>
        </p:txBody>
      </p:sp>
      <p:sp>
        <p:nvSpPr>
          <p:cNvPr id="8" name="Text Placeholder 13"/>
          <p:cNvSpPr>
            <a:spLocks noGrp="1"/>
          </p:cNvSpPr>
          <p:nvPr>
            <p:ph type="body" sz="quarter" idx="12"/>
          </p:nvPr>
        </p:nvSpPr>
        <p:spPr>
          <a:xfrm>
            <a:off x="6315027" y="464955"/>
            <a:ext cx="5267373" cy="381684"/>
          </a:xfrm>
          <a:prstGeom prst="rect">
            <a:avLst/>
          </a:prstGeom>
        </p:spPr>
        <p:txBody>
          <a:bodyPr rIns="0">
            <a:noAutofit/>
          </a:bodyPr>
          <a:lstStyle>
            <a:lvl1pPr algn="r">
              <a:buFontTx/>
              <a:buNone/>
              <a:defRPr sz="1500" cap="all">
                <a:solidFill>
                  <a:schemeClr val="tx1"/>
                </a:solidFill>
                <a:latin typeface="Helvetica"/>
                <a:cs typeface="Helvetica"/>
              </a:defRPr>
            </a:lvl1pPr>
          </a:lstStyle>
          <a:p>
            <a:pPr lvl="0"/>
            <a:r>
              <a:rPr lang="en-US"/>
              <a:t>Click to edit Master text styles</a:t>
            </a:r>
          </a:p>
        </p:txBody>
      </p:sp>
    </p:spTree>
    <p:extLst>
      <p:ext uri="{BB962C8B-B14F-4D97-AF65-F5344CB8AC3E}">
        <p14:creationId xmlns:p14="http://schemas.microsoft.com/office/powerpoint/2010/main" val="4276918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BU Centered Paragraph Text">
    <p:spTree>
      <p:nvGrpSpPr>
        <p:cNvPr id="1" name=""/>
        <p:cNvGrpSpPr/>
        <p:nvPr/>
      </p:nvGrpSpPr>
      <p:grpSpPr>
        <a:xfrm>
          <a:off x="0" y="0"/>
          <a:ext cx="0" cy="0"/>
          <a:chOff x="0" y="0"/>
          <a:chExt cx="0" cy="0"/>
        </a:xfrm>
      </p:grpSpPr>
      <p:sp>
        <p:nvSpPr>
          <p:cNvPr id="7" name="Text Placeholder 12"/>
          <p:cNvSpPr>
            <a:spLocks noGrp="1"/>
          </p:cNvSpPr>
          <p:nvPr>
            <p:ph type="body" sz="quarter" idx="14"/>
          </p:nvPr>
        </p:nvSpPr>
        <p:spPr>
          <a:xfrm>
            <a:off x="0" y="6362700"/>
            <a:ext cx="12192000" cy="495300"/>
          </a:xfrm>
          <a:prstGeom prst="rect">
            <a:avLst/>
          </a:prstGeom>
        </p:spPr>
        <p:txBody>
          <a:bodyPr/>
          <a:lstStyle>
            <a:lvl1pPr algn="ctr">
              <a:buFontTx/>
              <a:buNone/>
              <a:defRPr sz="2000" baseline="0">
                <a:solidFill>
                  <a:srgbClr val="FFFFFF"/>
                </a:solidFill>
                <a:latin typeface="Helvetica"/>
                <a:cs typeface="Helvetica"/>
              </a:defRPr>
            </a:lvl1pPr>
          </a:lstStyle>
          <a:p>
            <a:pPr lvl="0"/>
            <a:r>
              <a:rPr lang="en-US"/>
              <a:t>Click to edit Master text styles</a:t>
            </a:r>
          </a:p>
        </p:txBody>
      </p:sp>
      <p:sp>
        <p:nvSpPr>
          <p:cNvPr id="8" name="Text Placeholder 13"/>
          <p:cNvSpPr>
            <a:spLocks noGrp="1"/>
          </p:cNvSpPr>
          <p:nvPr>
            <p:ph type="body" sz="quarter" idx="12"/>
          </p:nvPr>
        </p:nvSpPr>
        <p:spPr>
          <a:xfrm>
            <a:off x="6315027" y="464955"/>
            <a:ext cx="5267373" cy="381684"/>
          </a:xfrm>
          <a:prstGeom prst="rect">
            <a:avLst/>
          </a:prstGeom>
        </p:spPr>
        <p:txBody>
          <a:bodyPr rIns="0">
            <a:noAutofit/>
          </a:bodyPr>
          <a:lstStyle>
            <a:lvl1pPr algn="r">
              <a:buFontTx/>
              <a:buNone/>
              <a:defRPr sz="1500" cap="all">
                <a:solidFill>
                  <a:schemeClr val="tx1"/>
                </a:solidFill>
                <a:latin typeface="Helvetica"/>
                <a:cs typeface="Helvetica"/>
              </a:defRPr>
            </a:lvl1pPr>
          </a:lstStyle>
          <a:p>
            <a:pPr lvl="0"/>
            <a:r>
              <a:rPr lang="en-US"/>
              <a:t>Click to edit Master text styles</a:t>
            </a:r>
          </a:p>
        </p:txBody>
      </p:sp>
      <p:sp>
        <p:nvSpPr>
          <p:cNvPr id="6" name="Text Placeholder 7"/>
          <p:cNvSpPr>
            <a:spLocks noGrp="1"/>
          </p:cNvSpPr>
          <p:nvPr>
            <p:ph type="body" sz="quarter" idx="15"/>
          </p:nvPr>
        </p:nvSpPr>
        <p:spPr>
          <a:xfrm>
            <a:off x="609600" y="1066801"/>
            <a:ext cx="10972800" cy="5207000"/>
          </a:xfrm>
        </p:spPr>
        <p:txBody>
          <a:bodyPr tIns="0" rIns="0" bIns="0" anchor="ctr"/>
          <a:lstStyle>
            <a:lvl1pPr algn="ctr">
              <a:buFontTx/>
              <a:buNone/>
              <a:defRPr>
                <a:solidFill>
                  <a:srgbClr val="B60225"/>
                </a:solidFill>
              </a:defRPr>
            </a:lvl1pPr>
            <a:lvl2pPr marL="228600" indent="-228600" algn="ctr">
              <a:buClr>
                <a:srgbClr val="C03137"/>
              </a:buClr>
              <a:buFontTx/>
              <a:buNone/>
              <a:defRPr sz="2400"/>
            </a:lvl2pPr>
            <a:lvl3pPr marL="458788" indent="-230188" algn="ctr">
              <a:buFontTx/>
              <a:buNone/>
              <a:defRPr/>
            </a:lvl3pPr>
            <a:lvl4pPr marL="458788" indent="-230188" algn="ctr">
              <a:buFontTx/>
              <a:buNone/>
              <a:defRPr/>
            </a:lvl4pPr>
            <a:lvl5pPr marL="458788" indent="-230188" algn="ctr">
              <a:buFontTx/>
              <a:buNone/>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4730209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BU Left Bulleted Text">
    <p:spTree>
      <p:nvGrpSpPr>
        <p:cNvPr id="1" name=""/>
        <p:cNvGrpSpPr/>
        <p:nvPr/>
      </p:nvGrpSpPr>
      <p:grpSpPr>
        <a:xfrm>
          <a:off x="0" y="0"/>
          <a:ext cx="0" cy="0"/>
          <a:chOff x="0" y="0"/>
          <a:chExt cx="0" cy="0"/>
        </a:xfrm>
      </p:grpSpPr>
      <p:sp>
        <p:nvSpPr>
          <p:cNvPr id="5" name="Text Placeholder 12"/>
          <p:cNvSpPr>
            <a:spLocks noGrp="1"/>
          </p:cNvSpPr>
          <p:nvPr>
            <p:ph type="body" sz="quarter" idx="14"/>
          </p:nvPr>
        </p:nvSpPr>
        <p:spPr>
          <a:xfrm>
            <a:off x="0" y="6362700"/>
            <a:ext cx="12192000" cy="495300"/>
          </a:xfrm>
          <a:prstGeom prst="rect">
            <a:avLst/>
          </a:prstGeom>
        </p:spPr>
        <p:txBody>
          <a:bodyPr/>
          <a:lstStyle>
            <a:lvl1pPr algn="ctr">
              <a:buFontTx/>
              <a:buNone/>
              <a:defRPr sz="2000" baseline="0">
                <a:solidFill>
                  <a:srgbClr val="FFFFFF"/>
                </a:solidFill>
                <a:latin typeface="Helvetica"/>
                <a:cs typeface="Helvetica"/>
              </a:defRPr>
            </a:lvl1pPr>
          </a:lstStyle>
          <a:p>
            <a:pPr lvl="0"/>
            <a:r>
              <a:rPr lang="en-US"/>
              <a:t>Click to edit Master text styles</a:t>
            </a:r>
          </a:p>
        </p:txBody>
      </p:sp>
      <p:sp>
        <p:nvSpPr>
          <p:cNvPr id="8" name="Text Placeholder 7"/>
          <p:cNvSpPr>
            <a:spLocks noGrp="1"/>
          </p:cNvSpPr>
          <p:nvPr>
            <p:ph type="body" sz="quarter" idx="15"/>
          </p:nvPr>
        </p:nvSpPr>
        <p:spPr>
          <a:xfrm>
            <a:off x="609600" y="1367658"/>
            <a:ext cx="10972800" cy="4804543"/>
          </a:xfrm>
        </p:spPr>
        <p:txBody>
          <a:bodyPr tIns="0" rIns="0" bIns="0"/>
          <a:lstStyle>
            <a:lvl1pPr>
              <a:buFontTx/>
              <a:buNone/>
              <a:defRPr>
                <a:solidFill>
                  <a:srgbClr val="B60225"/>
                </a:solidFill>
              </a:defRPr>
            </a:lvl1pPr>
            <a:lvl2pPr marL="228600" indent="-228600">
              <a:buClr>
                <a:srgbClr val="C03137"/>
              </a:buClr>
              <a:buFont typeface="Arial"/>
              <a:buChar char="•"/>
              <a:defRPr sz="2400"/>
            </a:lvl2pPr>
            <a:lvl3pPr marL="458788" indent="-230188">
              <a:defRPr/>
            </a:lvl3pPr>
            <a:lvl4pPr marL="458788" indent="-230188">
              <a:defRPr/>
            </a:lvl4pPr>
            <a:lvl5pPr marL="458788" indent="-2301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13"/>
          <p:cNvSpPr>
            <a:spLocks noGrp="1"/>
          </p:cNvSpPr>
          <p:nvPr>
            <p:ph type="body" sz="quarter" idx="12"/>
          </p:nvPr>
        </p:nvSpPr>
        <p:spPr>
          <a:xfrm>
            <a:off x="6315027" y="464955"/>
            <a:ext cx="5267373" cy="381684"/>
          </a:xfrm>
          <a:prstGeom prst="rect">
            <a:avLst/>
          </a:prstGeom>
        </p:spPr>
        <p:txBody>
          <a:bodyPr rIns="0">
            <a:noAutofit/>
          </a:bodyPr>
          <a:lstStyle>
            <a:lvl1pPr algn="r">
              <a:buFontTx/>
              <a:buNone/>
              <a:defRPr sz="1500" cap="all">
                <a:solidFill>
                  <a:schemeClr val="tx1"/>
                </a:solidFill>
                <a:latin typeface="Helvetica"/>
                <a:cs typeface="Helvetica"/>
              </a:defRPr>
            </a:lvl1pPr>
          </a:lstStyle>
          <a:p>
            <a:pPr lvl="0"/>
            <a:r>
              <a:rPr lang="en-US"/>
              <a:t>Click to edit Master text styles</a:t>
            </a:r>
          </a:p>
        </p:txBody>
      </p:sp>
    </p:spTree>
    <p:extLst>
      <p:ext uri="{BB962C8B-B14F-4D97-AF65-F5344CB8AC3E}">
        <p14:creationId xmlns:p14="http://schemas.microsoft.com/office/powerpoint/2010/main" val="796784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BU Bulleted Text 3 Photo">
    <p:spTree>
      <p:nvGrpSpPr>
        <p:cNvPr id="1" name=""/>
        <p:cNvGrpSpPr/>
        <p:nvPr/>
      </p:nvGrpSpPr>
      <p:grpSpPr>
        <a:xfrm>
          <a:off x="0" y="0"/>
          <a:ext cx="0" cy="0"/>
          <a:chOff x="0" y="0"/>
          <a:chExt cx="0" cy="0"/>
        </a:xfrm>
      </p:grpSpPr>
      <p:sp>
        <p:nvSpPr>
          <p:cNvPr id="4" name="Content Placeholder 2"/>
          <p:cNvSpPr>
            <a:spLocks noGrp="1"/>
          </p:cNvSpPr>
          <p:nvPr>
            <p:ph idx="12"/>
          </p:nvPr>
        </p:nvSpPr>
        <p:spPr>
          <a:xfrm>
            <a:off x="609599" y="1384048"/>
            <a:ext cx="7034288" cy="4788153"/>
          </a:xfrm>
        </p:spPr>
        <p:txBody>
          <a:bodyPr tIns="0"/>
          <a:lstStyle>
            <a:lvl1pPr marL="0" indent="0">
              <a:buNone/>
              <a:defRPr sz="2600">
                <a:solidFill>
                  <a:srgbClr val="B60225"/>
                </a:solidFill>
              </a:defRPr>
            </a:lvl1pPr>
            <a:lvl2pPr marL="228600" indent="-228600" algn="l">
              <a:buClr>
                <a:srgbClr val="B60225"/>
              </a:buClr>
              <a:buFont typeface="Arial"/>
              <a:buChar char="•"/>
              <a:defRPr sz="2200"/>
            </a:lvl2pPr>
          </a:lstStyle>
          <a:p>
            <a:pPr lvl="0"/>
            <a:r>
              <a:rPr lang="en-US"/>
              <a:t>Click to edit Master text styles</a:t>
            </a:r>
          </a:p>
          <a:p>
            <a:pPr lvl="1"/>
            <a:r>
              <a:rPr lang="en-US"/>
              <a:t>Second level</a:t>
            </a:r>
          </a:p>
        </p:txBody>
      </p:sp>
      <p:sp>
        <p:nvSpPr>
          <p:cNvPr id="8" name="Text Placeholder 12"/>
          <p:cNvSpPr>
            <a:spLocks noGrp="1"/>
          </p:cNvSpPr>
          <p:nvPr>
            <p:ph type="body" sz="quarter" idx="15"/>
          </p:nvPr>
        </p:nvSpPr>
        <p:spPr>
          <a:xfrm>
            <a:off x="0" y="6362700"/>
            <a:ext cx="12192000" cy="495300"/>
          </a:xfrm>
          <a:prstGeom prst="rect">
            <a:avLst/>
          </a:prstGeom>
        </p:spPr>
        <p:txBody>
          <a:bodyPr/>
          <a:lstStyle>
            <a:lvl1pPr algn="ctr">
              <a:buFontTx/>
              <a:buNone/>
              <a:defRPr sz="2000" baseline="0">
                <a:solidFill>
                  <a:srgbClr val="FFFFFF"/>
                </a:solidFill>
                <a:latin typeface="Helvetica"/>
                <a:cs typeface="Helvetica"/>
              </a:defRPr>
            </a:lvl1pPr>
          </a:lstStyle>
          <a:p>
            <a:pPr lvl="0"/>
            <a:r>
              <a:rPr lang="en-US"/>
              <a:t>Click to edit Master text styles</a:t>
            </a:r>
          </a:p>
        </p:txBody>
      </p:sp>
      <p:sp>
        <p:nvSpPr>
          <p:cNvPr id="11" name="Picture Placeholder 2"/>
          <p:cNvSpPr>
            <a:spLocks noGrp="1"/>
          </p:cNvSpPr>
          <p:nvPr>
            <p:ph type="pic" idx="17"/>
          </p:nvPr>
        </p:nvSpPr>
        <p:spPr>
          <a:xfrm>
            <a:off x="8116291" y="1094980"/>
            <a:ext cx="4075709" cy="1661390"/>
          </a:xfrm>
          <a:solidFill>
            <a:schemeClr val="bg1">
              <a:lumMod val="8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9" name="Text Placeholder 13"/>
          <p:cNvSpPr>
            <a:spLocks noGrp="1"/>
          </p:cNvSpPr>
          <p:nvPr>
            <p:ph type="body" sz="quarter" idx="20"/>
          </p:nvPr>
        </p:nvSpPr>
        <p:spPr>
          <a:xfrm>
            <a:off x="6315027" y="464955"/>
            <a:ext cx="5267373" cy="381684"/>
          </a:xfrm>
          <a:prstGeom prst="rect">
            <a:avLst/>
          </a:prstGeom>
        </p:spPr>
        <p:txBody>
          <a:bodyPr rIns="0">
            <a:noAutofit/>
          </a:bodyPr>
          <a:lstStyle>
            <a:lvl1pPr algn="r">
              <a:buFontTx/>
              <a:buNone/>
              <a:defRPr sz="1500" cap="all">
                <a:solidFill>
                  <a:schemeClr val="tx1"/>
                </a:solidFill>
                <a:latin typeface="Helvetica"/>
                <a:cs typeface="Helvetica"/>
              </a:defRPr>
            </a:lvl1pPr>
          </a:lstStyle>
          <a:p>
            <a:pPr lvl="0"/>
            <a:r>
              <a:rPr lang="en-US"/>
              <a:t>Click to edit Master text styles</a:t>
            </a:r>
          </a:p>
        </p:txBody>
      </p:sp>
      <p:sp>
        <p:nvSpPr>
          <p:cNvPr id="15" name="Picture Placeholder 2"/>
          <p:cNvSpPr>
            <a:spLocks noGrp="1"/>
          </p:cNvSpPr>
          <p:nvPr>
            <p:ph type="pic" idx="21"/>
          </p:nvPr>
        </p:nvSpPr>
        <p:spPr>
          <a:xfrm>
            <a:off x="8116291" y="4619039"/>
            <a:ext cx="4075709" cy="1655702"/>
          </a:xfrm>
          <a:solidFill>
            <a:schemeClr val="bg1">
              <a:lumMod val="8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16" name="Picture Placeholder 2"/>
          <p:cNvSpPr>
            <a:spLocks noGrp="1"/>
          </p:cNvSpPr>
          <p:nvPr>
            <p:ph type="pic" idx="22"/>
          </p:nvPr>
        </p:nvSpPr>
        <p:spPr>
          <a:xfrm>
            <a:off x="8116291" y="2850446"/>
            <a:ext cx="4075709" cy="1655702"/>
          </a:xfrm>
          <a:solidFill>
            <a:schemeClr val="bg1">
              <a:lumMod val="8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Tree>
    <p:extLst>
      <p:ext uri="{BB962C8B-B14F-4D97-AF65-F5344CB8AC3E}">
        <p14:creationId xmlns:p14="http://schemas.microsoft.com/office/powerpoint/2010/main" val="26574348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BU Bulleted Text 1 Photo">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6714862" y="1094981"/>
            <a:ext cx="5477137" cy="5173084"/>
          </a:xfrm>
          <a:solidFill>
            <a:schemeClr val="bg1">
              <a:lumMod val="8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8" name="Text Placeholder 12"/>
          <p:cNvSpPr>
            <a:spLocks noGrp="1"/>
          </p:cNvSpPr>
          <p:nvPr>
            <p:ph type="body" sz="quarter" idx="15"/>
          </p:nvPr>
        </p:nvSpPr>
        <p:spPr>
          <a:xfrm>
            <a:off x="0" y="6362700"/>
            <a:ext cx="12192000" cy="495300"/>
          </a:xfrm>
          <a:prstGeom prst="rect">
            <a:avLst/>
          </a:prstGeom>
        </p:spPr>
        <p:txBody>
          <a:bodyPr/>
          <a:lstStyle>
            <a:lvl1pPr algn="ctr">
              <a:buFontTx/>
              <a:buNone/>
              <a:defRPr sz="2000" baseline="0">
                <a:solidFill>
                  <a:srgbClr val="FFFFFF"/>
                </a:solidFill>
                <a:latin typeface="Helvetica"/>
                <a:cs typeface="Helvetica"/>
              </a:defRPr>
            </a:lvl1pPr>
          </a:lstStyle>
          <a:p>
            <a:pPr lvl="0"/>
            <a:r>
              <a:rPr lang="en-US"/>
              <a:t>Click to edit Master text styles</a:t>
            </a:r>
          </a:p>
        </p:txBody>
      </p:sp>
      <p:sp>
        <p:nvSpPr>
          <p:cNvPr id="7" name="Text Placeholder 13"/>
          <p:cNvSpPr>
            <a:spLocks noGrp="1"/>
          </p:cNvSpPr>
          <p:nvPr>
            <p:ph type="body" sz="quarter" idx="20"/>
          </p:nvPr>
        </p:nvSpPr>
        <p:spPr>
          <a:xfrm>
            <a:off x="6315027" y="464955"/>
            <a:ext cx="5267373" cy="381684"/>
          </a:xfrm>
          <a:prstGeom prst="rect">
            <a:avLst/>
          </a:prstGeom>
        </p:spPr>
        <p:txBody>
          <a:bodyPr rIns="0">
            <a:noAutofit/>
          </a:bodyPr>
          <a:lstStyle>
            <a:lvl1pPr algn="r">
              <a:buFontTx/>
              <a:buNone/>
              <a:defRPr sz="1500" cap="all">
                <a:solidFill>
                  <a:schemeClr val="tx1"/>
                </a:solidFill>
                <a:latin typeface="Helvetica"/>
                <a:cs typeface="Helvetica"/>
              </a:defRPr>
            </a:lvl1pPr>
          </a:lstStyle>
          <a:p>
            <a:pPr lvl="0"/>
            <a:r>
              <a:rPr lang="en-US"/>
              <a:t>Click to edit Master text styles</a:t>
            </a:r>
          </a:p>
        </p:txBody>
      </p:sp>
      <p:sp>
        <p:nvSpPr>
          <p:cNvPr id="10" name="Content Placeholder 2"/>
          <p:cNvSpPr>
            <a:spLocks noGrp="1"/>
          </p:cNvSpPr>
          <p:nvPr>
            <p:ph idx="12"/>
          </p:nvPr>
        </p:nvSpPr>
        <p:spPr>
          <a:xfrm>
            <a:off x="609600" y="1392240"/>
            <a:ext cx="5638801" cy="4805361"/>
          </a:xfrm>
        </p:spPr>
        <p:txBody>
          <a:bodyPr tIns="0"/>
          <a:lstStyle>
            <a:lvl1pPr marL="0" indent="0">
              <a:buNone/>
              <a:defRPr sz="2600">
                <a:solidFill>
                  <a:srgbClr val="B60225"/>
                </a:solidFill>
              </a:defRPr>
            </a:lvl1pPr>
            <a:lvl2pPr marL="228600" indent="-228600" algn="l">
              <a:buClr>
                <a:srgbClr val="B60225"/>
              </a:buClr>
              <a:buFont typeface="Arial"/>
              <a:buChar char="•"/>
              <a:defRPr sz="220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28916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BM Full Page Photo">
    <p:spTree>
      <p:nvGrpSpPr>
        <p:cNvPr id="1" name=""/>
        <p:cNvGrpSpPr/>
        <p:nvPr/>
      </p:nvGrpSpPr>
      <p:grpSpPr>
        <a:xfrm>
          <a:off x="0" y="0"/>
          <a:ext cx="0" cy="0"/>
          <a:chOff x="0" y="0"/>
          <a:chExt cx="0" cy="0"/>
        </a:xfrm>
      </p:grpSpPr>
      <p:cxnSp>
        <p:nvCxnSpPr>
          <p:cNvPr id="7" name="Straight Connector 6"/>
          <p:cNvCxnSpPr/>
          <p:nvPr userDrawn="1"/>
        </p:nvCxnSpPr>
        <p:spPr>
          <a:xfrm>
            <a:off x="0" y="1082675"/>
            <a:ext cx="12192000" cy="1588"/>
          </a:xfrm>
          <a:prstGeom prst="line">
            <a:avLst/>
          </a:prstGeom>
          <a:ln w="12700">
            <a:solidFill>
              <a:srgbClr val="B60225"/>
            </a:solidFill>
          </a:ln>
          <a:effectLst/>
        </p:spPr>
        <p:style>
          <a:lnRef idx="2">
            <a:schemeClr val="accent1"/>
          </a:lnRef>
          <a:fillRef idx="0">
            <a:schemeClr val="accent1"/>
          </a:fillRef>
          <a:effectRef idx="1">
            <a:schemeClr val="accent1"/>
          </a:effectRef>
          <a:fontRef idx="minor">
            <a:schemeClr val="tx1"/>
          </a:fontRef>
        </p:style>
      </p:cxnSp>
      <p:sp>
        <p:nvSpPr>
          <p:cNvPr id="5" name="Text Placeholder 13"/>
          <p:cNvSpPr>
            <a:spLocks noGrp="1"/>
          </p:cNvSpPr>
          <p:nvPr>
            <p:ph type="body" sz="quarter" idx="12"/>
          </p:nvPr>
        </p:nvSpPr>
        <p:spPr>
          <a:xfrm>
            <a:off x="6315027" y="464955"/>
            <a:ext cx="5267373" cy="381684"/>
          </a:xfrm>
          <a:prstGeom prst="rect">
            <a:avLst/>
          </a:prstGeom>
        </p:spPr>
        <p:txBody>
          <a:bodyPr rIns="0">
            <a:noAutofit/>
          </a:bodyPr>
          <a:lstStyle>
            <a:lvl1pPr algn="r">
              <a:buFontTx/>
              <a:buNone/>
              <a:defRPr sz="1500" cap="all">
                <a:solidFill>
                  <a:schemeClr val="tx1"/>
                </a:solidFill>
                <a:latin typeface="Helvetica"/>
                <a:cs typeface="Helvetica"/>
              </a:defRPr>
            </a:lvl1pPr>
          </a:lstStyle>
          <a:p>
            <a:pPr lvl="0"/>
            <a:r>
              <a:rPr lang="en-US"/>
              <a:t>Click to edit Master text styles</a:t>
            </a:r>
          </a:p>
        </p:txBody>
      </p:sp>
      <p:sp>
        <p:nvSpPr>
          <p:cNvPr id="6" name="Text Placeholder 12"/>
          <p:cNvSpPr>
            <a:spLocks noGrp="1"/>
          </p:cNvSpPr>
          <p:nvPr>
            <p:ph type="body" sz="quarter" idx="14"/>
          </p:nvPr>
        </p:nvSpPr>
        <p:spPr>
          <a:xfrm>
            <a:off x="0" y="6288062"/>
            <a:ext cx="12192000" cy="467416"/>
          </a:xfrm>
          <a:prstGeom prst="rect">
            <a:avLst/>
          </a:prstGeom>
        </p:spPr>
        <p:txBody>
          <a:bodyPr anchor="ctr"/>
          <a:lstStyle>
            <a:lvl1pPr algn="ctr">
              <a:buFontTx/>
              <a:buNone/>
              <a:defRPr sz="2000" baseline="0">
                <a:solidFill>
                  <a:srgbClr val="FFFFFF"/>
                </a:solidFill>
                <a:latin typeface="Helvetica"/>
                <a:cs typeface="Helvetica"/>
              </a:defRPr>
            </a:lvl1pPr>
          </a:lstStyle>
          <a:p>
            <a:pPr lvl="0"/>
            <a:r>
              <a:rPr lang="en-US"/>
              <a:t>Click to edit Master text styles</a:t>
            </a:r>
          </a:p>
        </p:txBody>
      </p:sp>
      <p:sp>
        <p:nvSpPr>
          <p:cNvPr id="8" name="Picture Placeholder 2"/>
          <p:cNvSpPr>
            <a:spLocks noGrp="1"/>
          </p:cNvSpPr>
          <p:nvPr>
            <p:ph type="pic" idx="1"/>
          </p:nvPr>
        </p:nvSpPr>
        <p:spPr>
          <a:xfrm>
            <a:off x="0" y="1091260"/>
            <a:ext cx="12192000" cy="5205623"/>
          </a:xfrm>
          <a:solidFill>
            <a:schemeClr val="bg1">
              <a:lumMod val="85000"/>
            </a:schemeClr>
          </a:solidFill>
        </p:spPr>
        <p:txBody>
          <a:bodyPr rtlCol="0">
            <a:normAutofit/>
          </a:bodyPr>
          <a:lstStyle>
            <a:lvl1pPr marL="0" indent="0">
              <a:buNone/>
              <a:defRPr sz="32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Tree>
    <p:extLst>
      <p:ext uri="{BB962C8B-B14F-4D97-AF65-F5344CB8AC3E}">
        <p14:creationId xmlns:p14="http://schemas.microsoft.com/office/powerpoint/2010/main" val="2965739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BM Title Slide">
    <p:spTree>
      <p:nvGrpSpPr>
        <p:cNvPr id="1" name=""/>
        <p:cNvGrpSpPr/>
        <p:nvPr/>
      </p:nvGrpSpPr>
      <p:grpSpPr>
        <a:xfrm>
          <a:off x="0" y="0"/>
          <a:ext cx="0" cy="0"/>
          <a:chOff x="0" y="0"/>
          <a:chExt cx="0" cy="0"/>
        </a:xfrm>
      </p:grpSpPr>
      <p:sp>
        <p:nvSpPr>
          <p:cNvPr id="7" name="Text Placeholder 12"/>
          <p:cNvSpPr>
            <a:spLocks noGrp="1"/>
          </p:cNvSpPr>
          <p:nvPr>
            <p:ph type="body" sz="quarter" idx="14"/>
          </p:nvPr>
        </p:nvSpPr>
        <p:spPr>
          <a:xfrm>
            <a:off x="0" y="6362700"/>
            <a:ext cx="12192000" cy="495300"/>
          </a:xfrm>
          <a:prstGeom prst="rect">
            <a:avLst/>
          </a:prstGeom>
        </p:spPr>
        <p:txBody>
          <a:bodyPr/>
          <a:lstStyle>
            <a:lvl1pPr algn="ctr">
              <a:buFontTx/>
              <a:buNone/>
              <a:defRPr sz="2000" baseline="0">
                <a:solidFill>
                  <a:srgbClr val="FFFFFF"/>
                </a:solidFill>
                <a:latin typeface="Helvetica"/>
                <a:cs typeface="Helvetica"/>
              </a:defRPr>
            </a:lvl1pPr>
          </a:lstStyle>
          <a:p>
            <a:pPr lvl="0"/>
            <a:r>
              <a:rPr lang="en-US"/>
              <a:t>Click to edit Master text styles</a:t>
            </a:r>
          </a:p>
        </p:txBody>
      </p:sp>
      <p:sp>
        <p:nvSpPr>
          <p:cNvPr id="5" name="Text Placeholder 7"/>
          <p:cNvSpPr>
            <a:spLocks noGrp="1"/>
          </p:cNvSpPr>
          <p:nvPr>
            <p:ph type="body" sz="quarter" idx="15"/>
          </p:nvPr>
        </p:nvSpPr>
        <p:spPr>
          <a:xfrm>
            <a:off x="609600" y="1079501"/>
            <a:ext cx="10972800" cy="5199217"/>
          </a:xfrm>
        </p:spPr>
        <p:txBody>
          <a:bodyPr tIns="0" rIns="0" bIns="0" anchor="ctr"/>
          <a:lstStyle>
            <a:lvl1pPr algn="ctr">
              <a:buFontTx/>
              <a:buNone/>
              <a:defRPr sz="4400">
                <a:solidFill>
                  <a:srgbClr val="B60225"/>
                </a:solidFill>
              </a:defRPr>
            </a:lvl1pPr>
            <a:lvl2pPr marL="228600" indent="-228600" algn="ctr">
              <a:buClr>
                <a:srgbClr val="C03137"/>
              </a:buClr>
              <a:buFontTx/>
              <a:buNone/>
              <a:defRPr sz="2400"/>
            </a:lvl2pPr>
            <a:lvl3pPr marL="458788" indent="-230188" algn="ctr">
              <a:buFontTx/>
              <a:buNone/>
              <a:defRPr/>
            </a:lvl3pPr>
            <a:lvl4pPr marL="458788" indent="-230188" algn="ctr">
              <a:buFontTx/>
              <a:buNone/>
              <a:defRPr/>
            </a:lvl4pPr>
            <a:lvl5pPr marL="458788" indent="-230188" algn="ctr">
              <a:buFontTx/>
              <a:buNone/>
              <a:defRPr/>
            </a:lvl5pPr>
          </a:lstStyle>
          <a:p>
            <a:pPr lvl="0"/>
            <a:r>
              <a:rPr lang="en-US"/>
              <a:t>Click to edit Master text styles</a:t>
            </a:r>
          </a:p>
          <a:p>
            <a:pPr lvl="1"/>
            <a:r>
              <a:rPr lang="en-US"/>
              <a:t>Second level</a:t>
            </a:r>
          </a:p>
        </p:txBody>
      </p:sp>
      <p:sp>
        <p:nvSpPr>
          <p:cNvPr id="8" name="Text Placeholder 13"/>
          <p:cNvSpPr>
            <a:spLocks noGrp="1"/>
          </p:cNvSpPr>
          <p:nvPr>
            <p:ph type="body" sz="quarter" idx="12"/>
          </p:nvPr>
        </p:nvSpPr>
        <p:spPr>
          <a:xfrm>
            <a:off x="6315027" y="464955"/>
            <a:ext cx="5267373" cy="381684"/>
          </a:xfrm>
          <a:prstGeom prst="rect">
            <a:avLst/>
          </a:prstGeom>
        </p:spPr>
        <p:txBody>
          <a:bodyPr rIns="0">
            <a:noAutofit/>
          </a:bodyPr>
          <a:lstStyle>
            <a:lvl1pPr algn="r">
              <a:buFontTx/>
              <a:buNone/>
              <a:defRPr sz="1500" cap="all">
                <a:solidFill>
                  <a:schemeClr val="tx1"/>
                </a:solidFill>
                <a:latin typeface="Helvetica"/>
                <a:cs typeface="Helvetica"/>
              </a:defRPr>
            </a:lvl1pPr>
          </a:lstStyle>
          <a:p>
            <a:pPr lvl="0"/>
            <a:r>
              <a:rPr lang="en-US"/>
              <a:t>Click to edit Master text styles</a:t>
            </a:r>
          </a:p>
        </p:txBody>
      </p:sp>
    </p:spTree>
    <p:extLst>
      <p:ext uri="{BB962C8B-B14F-4D97-AF65-F5344CB8AC3E}">
        <p14:creationId xmlns:p14="http://schemas.microsoft.com/office/powerpoint/2010/main" val="41133940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SBM Centered Paragraph Text">
    <p:spTree>
      <p:nvGrpSpPr>
        <p:cNvPr id="1" name=""/>
        <p:cNvGrpSpPr/>
        <p:nvPr/>
      </p:nvGrpSpPr>
      <p:grpSpPr>
        <a:xfrm>
          <a:off x="0" y="0"/>
          <a:ext cx="0" cy="0"/>
          <a:chOff x="0" y="0"/>
          <a:chExt cx="0" cy="0"/>
        </a:xfrm>
      </p:grpSpPr>
      <p:sp>
        <p:nvSpPr>
          <p:cNvPr id="7" name="Text Placeholder 12"/>
          <p:cNvSpPr>
            <a:spLocks noGrp="1"/>
          </p:cNvSpPr>
          <p:nvPr>
            <p:ph type="body" sz="quarter" idx="14"/>
          </p:nvPr>
        </p:nvSpPr>
        <p:spPr>
          <a:xfrm>
            <a:off x="0" y="6362700"/>
            <a:ext cx="12192000" cy="495300"/>
          </a:xfrm>
          <a:prstGeom prst="rect">
            <a:avLst/>
          </a:prstGeom>
        </p:spPr>
        <p:txBody>
          <a:bodyPr/>
          <a:lstStyle>
            <a:lvl1pPr algn="ctr">
              <a:buFontTx/>
              <a:buNone/>
              <a:defRPr sz="2000" baseline="0">
                <a:solidFill>
                  <a:srgbClr val="FFFFFF"/>
                </a:solidFill>
                <a:latin typeface="Helvetica"/>
                <a:cs typeface="Helvetica"/>
              </a:defRPr>
            </a:lvl1pPr>
          </a:lstStyle>
          <a:p>
            <a:pPr lvl="0"/>
            <a:r>
              <a:rPr lang="en-US"/>
              <a:t>Click to edit Master text styles</a:t>
            </a:r>
          </a:p>
        </p:txBody>
      </p:sp>
      <p:sp>
        <p:nvSpPr>
          <p:cNvPr id="8" name="Text Placeholder 13"/>
          <p:cNvSpPr>
            <a:spLocks noGrp="1"/>
          </p:cNvSpPr>
          <p:nvPr>
            <p:ph type="body" sz="quarter" idx="12"/>
          </p:nvPr>
        </p:nvSpPr>
        <p:spPr>
          <a:xfrm>
            <a:off x="6315027" y="464955"/>
            <a:ext cx="5267373" cy="381684"/>
          </a:xfrm>
          <a:prstGeom prst="rect">
            <a:avLst/>
          </a:prstGeom>
        </p:spPr>
        <p:txBody>
          <a:bodyPr rIns="0">
            <a:noAutofit/>
          </a:bodyPr>
          <a:lstStyle>
            <a:lvl1pPr algn="r">
              <a:buFontTx/>
              <a:buNone/>
              <a:defRPr sz="1500" cap="all">
                <a:solidFill>
                  <a:schemeClr val="tx1"/>
                </a:solidFill>
                <a:latin typeface="Helvetica"/>
                <a:cs typeface="Helvetica"/>
              </a:defRPr>
            </a:lvl1pPr>
          </a:lstStyle>
          <a:p>
            <a:pPr lvl="0"/>
            <a:r>
              <a:rPr lang="en-US"/>
              <a:t>Click to edit Master text styles</a:t>
            </a:r>
          </a:p>
        </p:txBody>
      </p:sp>
      <p:sp>
        <p:nvSpPr>
          <p:cNvPr id="6" name="Text Placeholder 7"/>
          <p:cNvSpPr>
            <a:spLocks noGrp="1"/>
          </p:cNvSpPr>
          <p:nvPr>
            <p:ph type="body" sz="quarter" idx="15"/>
          </p:nvPr>
        </p:nvSpPr>
        <p:spPr>
          <a:xfrm>
            <a:off x="609600" y="1092201"/>
            <a:ext cx="10972800" cy="5186519"/>
          </a:xfrm>
        </p:spPr>
        <p:txBody>
          <a:bodyPr tIns="0" rIns="0" bIns="0" anchor="ctr"/>
          <a:lstStyle>
            <a:lvl1pPr algn="ctr">
              <a:buFontTx/>
              <a:buNone/>
              <a:defRPr>
                <a:solidFill>
                  <a:srgbClr val="B60225"/>
                </a:solidFill>
              </a:defRPr>
            </a:lvl1pPr>
            <a:lvl2pPr marL="228600" indent="-228600" algn="ctr">
              <a:buClr>
                <a:srgbClr val="C03137"/>
              </a:buClr>
              <a:buFontTx/>
              <a:buNone/>
              <a:defRPr sz="2400"/>
            </a:lvl2pPr>
            <a:lvl3pPr marL="458788" indent="-230188" algn="ctr">
              <a:buFontTx/>
              <a:buNone/>
              <a:defRPr/>
            </a:lvl3pPr>
            <a:lvl4pPr marL="458788" indent="-230188" algn="ctr">
              <a:buFontTx/>
              <a:buNone/>
              <a:defRPr/>
            </a:lvl4pPr>
            <a:lvl5pPr marL="458788" indent="-230188" algn="ctr">
              <a:buFontTx/>
              <a:buNone/>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815530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BM Left Bulleted Text">
    <p:spTree>
      <p:nvGrpSpPr>
        <p:cNvPr id="1" name=""/>
        <p:cNvGrpSpPr/>
        <p:nvPr/>
      </p:nvGrpSpPr>
      <p:grpSpPr>
        <a:xfrm>
          <a:off x="0" y="0"/>
          <a:ext cx="0" cy="0"/>
          <a:chOff x="0" y="0"/>
          <a:chExt cx="0" cy="0"/>
        </a:xfrm>
      </p:grpSpPr>
      <p:sp>
        <p:nvSpPr>
          <p:cNvPr id="5" name="Text Placeholder 12"/>
          <p:cNvSpPr>
            <a:spLocks noGrp="1"/>
          </p:cNvSpPr>
          <p:nvPr>
            <p:ph type="body" sz="quarter" idx="14"/>
          </p:nvPr>
        </p:nvSpPr>
        <p:spPr>
          <a:xfrm>
            <a:off x="0" y="6362700"/>
            <a:ext cx="12192000" cy="495300"/>
          </a:xfrm>
          <a:prstGeom prst="rect">
            <a:avLst/>
          </a:prstGeom>
        </p:spPr>
        <p:txBody>
          <a:bodyPr/>
          <a:lstStyle>
            <a:lvl1pPr algn="ctr">
              <a:buFontTx/>
              <a:buNone/>
              <a:defRPr sz="2000" baseline="0">
                <a:solidFill>
                  <a:srgbClr val="FFFFFF"/>
                </a:solidFill>
                <a:latin typeface="Helvetica"/>
                <a:cs typeface="Helvetica"/>
              </a:defRPr>
            </a:lvl1pPr>
          </a:lstStyle>
          <a:p>
            <a:pPr lvl="0"/>
            <a:r>
              <a:rPr lang="en-US"/>
              <a:t>Click to edit Master text styles</a:t>
            </a:r>
          </a:p>
        </p:txBody>
      </p:sp>
      <p:sp>
        <p:nvSpPr>
          <p:cNvPr id="8" name="Text Placeholder 7"/>
          <p:cNvSpPr>
            <a:spLocks noGrp="1"/>
          </p:cNvSpPr>
          <p:nvPr>
            <p:ph type="body" sz="quarter" idx="15"/>
          </p:nvPr>
        </p:nvSpPr>
        <p:spPr>
          <a:xfrm>
            <a:off x="609600" y="1375852"/>
            <a:ext cx="10972800" cy="4796349"/>
          </a:xfrm>
        </p:spPr>
        <p:txBody>
          <a:bodyPr tIns="0" rIns="0" bIns="0"/>
          <a:lstStyle>
            <a:lvl1pPr>
              <a:buFontTx/>
              <a:buNone/>
              <a:defRPr>
                <a:solidFill>
                  <a:srgbClr val="B60225"/>
                </a:solidFill>
              </a:defRPr>
            </a:lvl1pPr>
            <a:lvl2pPr marL="228600" indent="-228600">
              <a:buClr>
                <a:srgbClr val="C03137"/>
              </a:buClr>
              <a:buFont typeface="Arial"/>
              <a:buChar char="•"/>
              <a:defRPr sz="2400"/>
            </a:lvl2pPr>
            <a:lvl3pPr marL="458788" indent="-230188">
              <a:defRPr/>
            </a:lvl3pPr>
            <a:lvl4pPr marL="458788" indent="-230188">
              <a:defRPr/>
            </a:lvl4pPr>
            <a:lvl5pPr marL="458788" indent="-2301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13"/>
          <p:cNvSpPr>
            <a:spLocks noGrp="1"/>
          </p:cNvSpPr>
          <p:nvPr>
            <p:ph type="body" sz="quarter" idx="12"/>
          </p:nvPr>
        </p:nvSpPr>
        <p:spPr>
          <a:xfrm>
            <a:off x="6315027" y="464955"/>
            <a:ext cx="5267373" cy="381684"/>
          </a:xfrm>
          <a:prstGeom prst="rect">
            <a:avLst/>
          </a:prstGeom>
        </p:spPr>
        <p:txBody>
          <a:bodyPr rIns="0">
            <a:noAutofit/>
          </a:bodyPr>
          <a:lstStyle>
            <a:lvl1pPr algn="r">
              <a:buFontTx/>
              <a:buNone/>
              <a:defRPr sz="1500" cap="all">
                <a:solidFill>
                  <a:schemeClr val="tx1"/>
                </a:solidFill>
                <a:latin typeface="Helvetica"/>
                <a:cs typeface="Helvetica"/>
              </a:defRPr>
            </a:lvl1pPr>
          </a:lstStyle>
          <a:p>
            <a:pPr lvl="0"/>
            <a:r>
              <a:rPr lang="en-US"/>
              <a:t>Click to edit Master text styles</a:t>
            </a:r>
          </a:p>
        </p:txBody>
      </p:sp>
    </p:spTree>
    <p:extLst>
      <p:ext uri="{BB962C8B-B14F-4D97-AF65-F5344CB8AC3E}">
        <p14:creationId xmlns:p14="http://schemas.microsoft.com/office/powerpoint/2010/main" val="37556216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SBM Bulleted Text 3 Photo">
    <p:spTree>
      <p:nvGrpSpPr>
        <p:cNvPr id="1" name=""/>
        <p:cNvGrpSpPr/>
        <p:nvPr/>
      </p:nvGrpSpPr>
      <p:grpSpPr>
        <a:xfrm>
          <a:off x="0" y="0"/>
          <a:ext cx="0" cy="0"/>
          <a:chOff x="0" y="0"/>
          <a:chExt cx="0" cy="0"/>
        </a:xfrm>
      </p:grpSpPr>
      <p:sp>
        <p:nvSpPr>
          <p:cNvPr id="4" name="Content Placeholder 2"/>
          <p:cNvSpPr>
            <a:spLocks noGrp="1"/>
          </p:cNvSpPr>
          <p:nvPr>
            <p:ph idx="12"/>
          </p:nvPr>
        </p:nvSpPr>
        <p:spPr>
          <a:xfrm>
            <a:off x="609599" y="1392239"/>
            <a:ext cx="7034288" cy="4741861"/>
          </a:xfrm>
        </p:spPr>
        <p:txBody>
          <a:bodyPr tIns="0"/>
          <a:lstStyle>
            <a:lvl1pPr marL="0" indent="0">
              <a:buNone/>
              <a:defRPr sz="2600">
                <a:solidFill>
                  <a:srgbClr val="B60225"/>
                </a:solidFill>
              </a:defRPr>
            </a:lvl1pPr>
            <a:lvl2pPr marL="228600" indent="-228600" algn="l">
              <a:buClr>
                <a:srgbClr val="B60225"/>
              </a:buClr>
              <a:buFont typeface="Arial"/>
              <a:buChar char="•"/>
              <a:defRPr sz="2200"/>
            </a:lvl2pPr>
          </a:lstStyle>
          <a:p>
            <a:pPr lvl="0"/>
            <a:r>
              <a:rPr lang="en-US"/>
              <a:t>Click to edit Master text styles</a:t>
            </a:r>
          </a:p>
          <a:p>
            <a:pPr lvl="1"/>
            <a:r>
              <a:rPr lang="en-US"/>
              <a:t>Second level</a:t>
            </a:r>
          </a:p>
        </p:txBody>
      </p:sp>
      <p:sp>
        <p:nvSpPr>
          <p:cNvPr id="8" name="Text Placeholder 12"/>
          <p:cNvSpPr>
            <a:spLocks noGrp="1"/>
          </p:cNvSpPr>
          <p:nvPr>
            <p:ph type="body" sz="quarter" idx="15"/>
          </p:nvPr>
        </p:nvSpPr>
        <p:spPr>
          <a:xfrm>
            <a:off x="0" y="6362700"/>
            <a:ext cx="12192000" cy="495300"/>
          </a:xfrm>
          <a:prstGeom prst="rect">
            <a:avLst/>
          </a:prstGeom>
        </p:spPr>
        <p:txBody>
          <a:bodyPr/>
          <a:lstStyle>
            <a:lvl1pPr algn="ctr">
              <a:buFontTx/>
              <a:buNone/>
              <a:defRPr sz="2000" baseline="0">
                <a:solidFill>
                  <a:srgbClr val="FFFFFF"/>
                </a:solidFill>
                <a:latin typeface="Helvetica"/>
                <a:cs typeface="Helvetica"/>
              </a:defRPr>
            </a:lvl1pPr>
          </a:lstStyle>
          <a:p>
            <a:pPr lvl="0"/>
            <a:r>
              <a:rPr lang="en-US"/>
              <a:t>Click to edit Master text styles</a:t>
            </a:r>
          </a:p>
        </p:txBody>
      </p:sp>
      <p:sp>
        <p:nvSpPr>
          <p:cNvPr id="11" name="Picture Placeholder 2"/>
          <p:cNvSpPr>
            <a:spLocks noGrp="1"/>
          </p:cNvSpPr>
          <p:nvPr>
            <p:ph type="pic" idx="17"/>
          </p:nvPr>
        </p:nvSpPr>
        <p:spPr>
          <a:xfrm>
            <a:off x="8116291" y="1094980"/>
            <a:ext cx="4075709" cy="1661390"/>
          </a:xfrm>
          <a:solidFill>
            <a:schemeClr val="bg1">
              <a:lumMod val="8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9" name="Text Placeholder 13"/>
          <p:cNvSpPr>
            <a:spLocks noGrp="1"/>
          </p:cNvSpPr>
          <p:nvPr>
            <p:ph type="body" sz="quarter" idx="20"/>
          </p:nvPr>
        </p:nvSpPr>
        <p:spPr>
          <a:xfrm>
            <a:off x="6315027" y="464955"/>
            <a:ext cx="5267373" cy="381684"/>
          </a:xfrm>
          <a:prstGeom prst="rect">
            <a:avLst/>
          </a:prstGeom>
        </p:spPr>
        <p:txBody>
          <a:bodyPr rIns="0">
            <a:noAutofit/>
          </a:bodyPr>
          <a:lstStyle>
            <a:lvl1pPr algn="r">
              <a:buFontTx/>
              <a:buNone/>
              <a:defRPr sz="1500" cap="all">
                <a:solidFill>
                  <a:schemeClr val="tx1"/>
                </a:solidFill>
                <a:latin typeface="Helvetica"/>
                <a:cs typeface="Helvetica"/>
              </a:defRPr>
            </a:lvl1pPr>
          </a:lstStyle>
          <a:p>
            <a:pPr lvl="0"/>
            <a:r>
              <a:rPr lang="en-US"/>
              <a:t>Click to edit Master text styles</a:t>
            </a:r>
          </a:p>
        </p:txBody>
      </p:sp>
      <p:sp>
        <p:nvSpPr>
          <p:cNvPr id="15" name="Picture Placeholder 2"/>
          <p:cNvSpPr>
            <a:spLocks noGrp="1"/>
          </p:cNvSpPr>
          <p:nvPr>
            <p:ph type="pic" idx="21"/>
          </p:nvPr>
        </p:nvSpPr>
        <p:spPr>
          <a:xfrm>
            <a:off x="8116291" y="4619039"/>
            <a:ext cx="4075709" cy="1655702"/>
          </a:xfrm>
          <a:solidFill>
            <a:schemeClr val="bg1">
              <a:lumMod val="8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16" name="Picture Placeholder 2"/>
          <p:cNvSpPr>
            <a:spLocks noGrp="1"/>
          </p:cNvSpPr>
          <p:nvPr>
            <p:ph type="pic" idx="22"/>
          </p:nvPr>
        </p:nvSpPr>
        <p:spPr>
          <a:xfrm>
            <a:off x="8116291" y="2850446"/>
            <a:ext cx="4075709" cy="1655702"/>
          </a:xfrm>
          <a:solidFill>
            <a:schemeClr val="bg1">
              <a:lumMod val="8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Tree>
    <p:extLst>
      <p:ext uri="{BB962C8B-B14F-4D97-AF65-F5344CB8AC3E}">
        <p14:creationId xmlns:p14="http://schemas.microsoft.com/office/powerpoint/2010/main" val="7718025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BM Bulleted Text 1 Photo">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6714862" y="1094981"/>
            <a:ext cx="5477137" cy="5173084"/>
          </a:xfrm>
          <a:solidFill>
            <a:schemeClr val="bg1">
              <a:lumMod val="8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8" name="Text Placeholder 12"/>
          <p:cNvSpPr>
            <a:spLocks noGrp="1"/>
          </p:cNvSpPr>
          <p:nvPr>
            <p:ph type="body" sz="quarter" idx="15"/>
          </p:nvPr>
        </p:nvSpPr>
        <p:spPr>
          <a:xfrm>
            <a:off x="0" y="6362700"/>
            <a:ext cx="12192000" cy="495300"/>
          </a:xfrm>
          <a:prstGeom prst="rect">
            <a:avLst/>
          </a:prstGeom>
        </p:spPr>
        <p:txBody>
          <a:bodyPr/>
          <a:lstStyle>
            <a:lvl1pPr algn="ctr">
              <a:buFontTx/>
              <a:buNone/>
              <a:defRPr sz="2000" baseline="0">
                <a:solidFill>
                  <a:srgbClr val="FFFFFF"/>
                </a:solidFill>
                <a:latin typeface="Helvetica"/>
                <a:cs typeface="Helvetica"/>
              </a:defRPr>
            </a:lvl1pPr>
          </a:lstStyle>
          <a:p>
            <a:pPr lvl="0"/>
            <a:r>
              <a:rPr lang="en-US"/>
              <a:t>Click to edit Master text styles</a:t>
            </a:r>
          </a:p>
        </p:txBody>
      </p:sp>
      <p:sp>
        <p:nvSpPr>
          <p:cNvPr id="7" name="Text Placeholder 13"/>
          <p:cNvSpPr>
            <a:spLocks noGrp="1"/>
          </p:cNvSpPr>
          <p:nvPr>
            <p:ph type="body" sz="quarter" idx="20"/>
          </p:nvPr>
        </p:nvSpPr>
        <p:spPr>
          <a:xfrm>
            <a:off x="6315027" y="464955"/>
            <a:ext cx="5267373" cy="381684"/>
          </a:xfrm>
          <a:prstGeom prst="rect">
            <a:avLst/>
          </a:prstGeom>
        </p:spPr>
        <p:txBody>
          <a:bodyPr rIns="0">
            <a:noAutofit/>
          </a:bodyPr>
          <a:lstStyle>
            <a:lvl1pPr algn="r">
              <a:buFontTx/>
              <a:buNone/>
              <a:defRPr sz="1500" cap="all">
                <a:solidFill>
                  <a:schemeClr val="tx1"/>
                </a:solidFill>
                <a:latin typeface="Helvetica"/>
                <a:cs typeface="Helvetica"/>
              </a:defRPr>
            </a:lvl1pPr>
          </a:lstStyle>
          <a:p>
            <a:pPr lvl="0"/>
            <a:r>
              <a:rPr lang="en-US"/>
              <a:t>Click to edit Master text styles</a:t>
            </a:r>
          </a:p>
        </p:txBody>
      </p:sp>
      <p:sp>
        <p:nvSpPr>
          <p:cNvPr id="10" name="Content Placeholder 2"/>
          <p:cNvSpPr>
            <a:spLocks noGrp="1"/>
          </p:cNvSpPr>
          <p:nvPr>
            <p:ph idx="12"/>
          </p:nvPr>
        </p:nvSpPr>
        <p:spPr>
          <a:xfrm>
            <a:off x="609599" y="1379892"/>
            <a:ext cx="5401735" cy="4792309"/>
          </a:xfrm>
        </p:spPr>
        <p:txBody>
          <a:bodyPr tIns="0"/>
          <a:lstStyle>
            <a:lvl1pPr marL="0" indent="0">
              <a:buNone/>
              <a:defRPr sz="2600">
                <a:solidFill>
                  <a:srgbClr val="B60225"/>
                </a:solidFill>
              </a:defRPr>
            </a:lvl1pPr>
            <a:lvl2pPr marL="228600" indent="-228600" algn="l">
              <a:buClr>
                <a:srgbClr val="B60225"/>
              </a:buClr>
              <a:buFont typeface="Arial"/>
              <a:buChar char="•"/>
              <a:defRPr sz="220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1166568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BC Full Page Photo">
    <p:spTree>
      <p:nvGrpSpPr>
        <p:cNvPr id="1" name=""/>
        <p:cNvGrpSpPr/>
        <p:nvPr/>
      </p:nvGrpSpPr>
      <p:grpSpPr>
        <a:xfrm>
          <a:off x="0" y="0"/>
          <a:ext cx="0" cy="0"/>
          <a:chOff x="0" y="0"/>
          <a:chExt cx="0" cy="0"/>
        </a:xfrm>
      </p:grpSpPr>
      <p:sp>
        <p:nvSpPr>
          <p:cNvPr id="6" name="Subtitle 2"/>
          <p:cNvSpPr>
            <a:spLocks noGrp="1"/>
          </p:cNvSpPr>
          <p:nvPr>
            <p:ph type="subTitle" idx="10"/>
          </p:nvPr>
        </p:nvSpPr>
        <p:spPr>
          <a:xfrm>
            <a:off x="464979" y="5959604"/>
            <a:ext cx="6325288" cy="528831"/>
          </a:xfrm>
          <a:prstGeom prst="rect">
            <a:avLst/>
          </a:prstGeom>
        </p:spPr>
        <p:txBody>
          <a:bodyPr/>
          <a:lstStyle>
            <a:lvl1pPr marL="0" indent="0" algn="l">
              <a:buNone/>
              <a:defRPr sz="2000">
                <a:solidFill>
                  <a:srgbClr val="FFFFFF"/>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Picture Placeholder 2"/>
          <p:cNvSpPr>
            <a:spLocks noGrp="1"/>
          </p:cNvSpPr>
          <p:nvPr>
            <p:ph type="pic" idx="1"/>
          </p:nvPr>
        </p:nvSpPr>
        <p:spPr>
          <a:xfrm>
            <a:off x="241300" y="195263"/>
            <a:ext cx="11690349" cy="5332780"/>
          </a:xfrm>
          <a:prstGeom prst="rect">
            <a:avLst/>
          </a:prstGeom>
          <a:solidFill>
            <a:schemeClr val="bg1">
              <a:lumMod val="8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Tree>
    <p:extLst>
      <p:ext uri="{BB962C8B-B14F-4D97-AF65-F5344CB8AC3E}">
        <p14:creationId xmlns:p14="http://schemas.microsoft.com/office/powerpoint/2010/main" val="35739496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BC Title Slide">
    <p:spTree>
      <p:nvGrpSpPr>
        <p:cNvPr id="1" name=""/>
        <p:cNvGrpSpPr/>
        <p:nvPr/>
      </p:nvGrpSpPr>
      <p:grpSpPr>
        <a:xfrm>
          <a:off x="0" y="0"/>
          <a:ext cx="0" cy="0"/>
          <a:chOff x="0" y="0"/>
          <a:chExt cx="0" cy="0"/>
        </a:xfrm>
      </p:grpSpPr>
      <p:sp>
        <p:nvSpPr>
          <p:cNvPr id="3" name="Subtitle 2"/>
          <p:cNvSpPr>
            <a:spLocks noGrp="1"/>
          </p:cNvSpPr>
          <p:nvPr>
            <p:ph type="subTitle" idx="10"/>
          </p:nvPr>
        </p:nvSpPr>
        <p:spPr>
          <a:xfrm>
            <a:off x="464979" y="5959604"/>
            <a:ext cx="6308355" cy="528831"/>
          </a:xfrm>
          <a:prstGeom prst="rect">
            <a:avLst/>
          </a:prstGeom>
        </p:spPr>
        <p:txBody>
          <a:bodyPr/>
          <a:lstStyle>
            <a:lvl1pPr marL="0" indent="0" algn="l">
              <a:buNone/>
              <a:defRPr sz="2000">
                <a:solidFill>
                  <a:srgbClr val="FFFFFF"/>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Text Placeholder 7"/>
          <p:cNvSpPr>
            <a:spLocks noGrp="1"/>
          </p:cNvSpPr>
          <p:nvPr>
            <p:ph type="body" sz="quarter" idx="15"/>
          </p:nvPr>
        </p:nvSpPr>
        <p:spPr>
          <a:xfrm>
            <a:off x="609600" y="165101"/>
            <a:ext cx="10972800" cy="5372099"/>
          </a:xfrm>
          <a:prstGeom prst="rect">
            <a:avLst/>
          </a:prstGeom>
        </p:spPr>
        <p:txBody>
          <a:bodyPr tIns="0" rIns="0" bIns="0" anchor="ctr"/>
          <a:lstStyle>
            <a:lvl1pPr algn="ctr">
              <a:buFontTx/>
              <a:buNone/>
              <a:defRPr sz="4400">
                <a:solidFill>
                  <a:srgbClr val="B60225"/>
                </a:solidFill>
              </a:defRPr>
            </a:lvl1pPr>
            <a:lvl2pPr marL="228600" indent="-228600" algn="ctr">
              <a:buClr>
                <a:srgbClr val="C03137"/>
              </a:buClr>
              <a:buFontTx/>
              <a:buNone/>
              <a:defRPr sz="2400"/>
            </a:lvl2pPr>
            <a:lvl3pPr marL="458788" indent="-230188" algn="ctr">
              <a:buFontTx/>
              <a:buNone/>
              <a:defRPr/>
            </a:lvl3pPr>
            <a:lvl4pPr marL="458788" indent="-230188" algn="ctr">
              <a:buFontTx/>
              <a:buNone/>
              <a:defRPr/>
            </a:lvl4pPr>
            <a:lvl5pPr marL="458788" indent="-230188" algn="ctr">
              <a:buFontTx/>
              <a:buNone/>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5944657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BC Centered Paragraph Text">
    <p:spTree>
      <p:nvGrpSpPr>
        <p:cNvPr id="1" name=""/>
        <p:cNvGrpSpPr/>
        <p:nvPr/>
      </p:nvGrpSpPr>
      <p:grpSpPr>
        <a:xfrm>
          <a:off x="0" y="0"/>
          <a:ext cx="0" cy="0"/>
          <a:chOff x="0" y="0"/>
          <a:chExt cx="0" cy="0"/>
        </a:xfrm>
      </p:grpSpPr>
      <p:sp>
        <p:nvSpPr>
          <p:cNvPr id="3" name="Subtitle 2"/>
          <p:cNvSpPr>
            <a:spLocks noGrp="1"/>
          </p:cNvSpPr>
          <p:nvPr>
            <p:ph type="subTitle" idx="10"/>
          </p:nvPr>
        </p:nvSpPr>
        <p:spPr>
          <a:xfrm>
            <a:off x="464979" y="5959604"/>
            <a:ext cx="6359155" cy="528831"/>
          </a:xfrm>
          <a:prstGeom prst="rect">
            <a:avLst/>
          </a:prstGeom>
        </p:spPr>
        <p:txBody>
          <a:bodyPr/>
          <a:lstStyle>
            <a:lvl1pPr marL="0" indent="0" algn="l">
              <a:buNone/>
              <a:defRPr sz="2000">
                <a:solidFill>
                  <a:srgbClr val="FFFFFF"/>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5" name="Text Placeholder 7"/>
          <p:cNvSpPr>
            <a:spLocks noGrp="1"/>
          </p:cNvSpPr>
          <p:nvPr>
            <p:ph type="body" sz="quarter" idx="15"/>
          </p:nvPr>
        </p:nvSpPr>
        <p:spPr>
          <a:xfrm>
            <a:off x="609600" y="139700"/>
            <a:ext cx="10972800" cy="5435601"/>
          </a:xfrm>
          <a:prstGeom prst="rect">
            <a:avLst/>
          </a:prstGeom>
        </p:spPr>
        <p:txBody>
          <a:bodyPr tIns="0" rIns="0" bIns="0" anchor="ctr"/>
          <a:lstStyle>
            <a:lvl1pPr algn="ctr">
              <a:buFontTx/>
              <a:buNone/>
              <a:defRPr>
                <a:solidFill>
                  <a:srgbClr val="B60225"/>
                </a:solidFill>
              </a:defRPr>
            </a:lvl1pPr>
            <a:lvl2pPr marL="228600" indent="-228600" algn="ctr">
              <a:buClr>
                <a:srgbClr val="C03137"/>
              </a:buClr>
              <a:buFontTx/>
              <a:buNone/>
              <a:defRPr sz="2400"/>
            </a:lvl2pPr>
            <a:lvl3pPr marL="458788" indent="-230188" algn="ctr">
              <a:buFontTx/>
              <a:buNone/>
              <a:defRPr/>
            </a:lvl3pPr>
            <a:lvl4pPr marL="458788" indent="-230188" algn="ctr">
              <a:buFontTx/>
              <a:buNone/>
              <a:defRPr/>
            </a:lvl4pPr>
            <a:lvl5pPr marL="458788" indent="-230188" algn="ctr">
              <a:buFontTx/>
              <a:buNone/>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7569632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BC Left Bulleted Text">
    <p:spTree>
      <p:nvGrpSpPr>
        <p:cNvPr id="1" name=""/>
        <p:cNvGrpSpPr/>
        <p:nvPr/>
      </p:nvGrpSpPr>
      <p:grpSpPr>
        <a:xfrm>
          <a:off x="0" y="0"/>
          <a:ext cx="0" cy="0"/>
          <a:chOff x="0" y="0"/>
          <a:chExt cx="0" cy="0"/>
        </a:xfrm>
      </p:grpSpPr>
      <p:sp>
        <p:nvSpPr>
          <p:cNvPr id="3" name="Subtitle 2"/>
          <p:cNvSpPr>
            <a:spLocks noGrp="1"/>
          </p:cNvSpPr>
          <p:nvPr>
            <p:ph type="subTitle" idx="10"/>
          </p:nvPr>
        </p:nvSpPr>
        <p:spPr>
          <a:xfrm>
            <a:off x="464979" y="5959604"/>
            <a:ext cx="6325288" cy="528831"/>
          </a:xfrm>
          <a:prstGeom prst="rect">
            <a:avLst/>
          </a:prstGeom>
        </p:spPr>
        <p:txBody>
          <a:bodyPr/>
          <a:lstStyle>
            <a:lvl1pPr marL="0" indent="0" algn="l">
              <a:buNone/>
              <a:defRPr sz="2000">
                <a:solidFill>
                  <a:srgbClr val="FFFFFF"/>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Text Placeholder 7"/>
          <p:cNvSpPr>
            <a:spLocks noGrp="1"/>
          </p:cNvSpPr>
          <p:nvPr>
            <p:ph type="body" sz="quarter" idx="15"/>
          </p:nvPr>
        </p:nvSpPr>
        <p:spPr>
          <a:xfrm>
            <a:off x="609600" y="1045652"/>
            <a:ext cx="10972800" cy="4516949"/>
          </a:xfrm>
          <a:prstGeom prst="rect">
            <a:avLst/>
          </a:prstGeom>
        </p:spPr>
        <p:txBody>
          <a:bodyPr lIns="0" tIns="0" rIns="0" bIns="0"/>
          <a:lstStyle>
            <a:lvl1pPr>
              <a:buFontTx/>
              <a:buNone/>
              <a:defRPr>
                <a:solidFill>
                  <a:srgbClr val="B60225"/>
                </a:solidFill>
              </a:defRPr>
            </a:lvl1pPr>
            <a:lvl2pPr marL="228600" indent="-228600">
              <a:buClr>
                <a:srgbClr val="C03137"/>
              </a:buClr>
              <a:buFont typeface="Arial"/>
              <a:buChar char="•"/>
              <a:defRPr sz="2400"/>
            </a:lvl2pPr>
            <a:lvl3pPr marL="458788" indent="-230188">
              <a:defRPr/>
            </a:lvl3pPr>
            <a:lvl4pPr marL="458788" indent="-230188">
              <a:defRPr/>
            </a:lvl4pPr>
            <a:lvl5pPr marL="458788" indent="-2301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015268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BC Bulleted Text 3 Photo">
    <p:spTree>
      <p:nvGrpSpPr>
        <p:cNvPr id="1" name=""/>
        <p:cNvGrpSpPr/>
        <p:nvPr/>
      </p:nvGrpSpPr>
      <p:grpSpPr>
        <a:xfrm>
          <a:off x="0" y="0"/>
          <a:ext cx="0" cy="0"/>
          <a:chOff x="0" y="0"/>
          <a:chExt cx="0" cy="0"/>
        </a:xfrm>
      </p:grpSpPr>
      <p:sp>
        <p:nvSpPr>
          <p:cNvPr id="11" name="Subtitle 2"/>
          <p:cNvSpPr>
            <a:spLocks noGrp="1"/>
          </p:cNvSpPr>
          <p:nvPr>
            <p:ph type="subTitle" idx="10"/>
          </p:nvPr>
        </p:nvSpPr>
        <p:spPr>
          <a:xfrm>
            <a:off x="464979" y="5949683"/>
            <a:ext cx="6325288" cy="528831"/>
          </a:xfrm>
          <a:prstGeom prst="rect">
            <a:avLst/>
          </a:prstGeom>
        </p:spPr>
        <p:txBody>
          <a:bodyPr/>
          <a:lstStyle>
            <a:lvl1pPr marL="0" indent="0" algn="l">
              <a:buNone/>
              <a:defRPr sz="2000">
                <a:solidFill>
                  <a:srgbClr val="FFFFFF"/>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7" name="Content Placeholder 2"/>
          <p:cNvSpPr>
            <a:spLocks noGrp="1"/>
          </p:cNvSpPr>
          <p:nvPr>
            <p:ph idx="12"/>
          </p:nvPr>
        </p:nvSpPr>
        <p:spPr>
          <a:xfrm>
            <a:off x="611717" y="642940"/>
            <a:ext cx="5941483" cy="4881561"/>
          </a:xfrm>
          <a:prstGeom prst="rect">
            <a:avLst/>
          </a:prstGeom>
        </p:spPr>
        <p:txBody>
          <a:bodyPr lIns="0" tIns="0"/>
          <a:lstStyle>
            <a:lvl1pPr marL="0" indent="0">
              <a:buNone/>
              <a:defRPr sz="2600">
                <a:solidFill>
                  <a:srgbClr val="B60225"/>
                </a:solidFill>
              </a:defRPr>
            </a:lvl1pPr>
            <a:lvl2pPr marL="228600" indent="-228600" algn="l">
              <a:buClr>
                <a:srgbClr val="B60225"/>
              </a:buClr>
              <a:buFont typeface="Arial"/>
              <a:buChar char="•"/>
              <a:defRPr sz="2200"/>
            </a:lvl2pPr>
          </a:lstStyle>
          <a:p>
            <a:pPr lvl="0"/>
            <a:r>
              <a:rPr lang="en-US"/>
              <a:t>Click to edit Master text styles</a:t>
            </a:r>
          </a:p>
          <a:p>
            <a:pPr lvl="1"/>
            <a:r>
              <a:rPr lang="en-US"/>
              <a:t>Second level</a:t>
            </a:r>
          </a:p>
        </p:txBody>
      </p:sp>
      <p:sp>
        <p:nvSpPr>
          <p:cNvPr id="9" name="Picture Placeholder 2"/>
          <p:cNvSpPr>
            <a:spLocks noGrp="1"/>
          </p:cNvSpPr>
          <p:nvPr>
            <p:ph type="pic" idx="21"/>
          </p:nvPr>
        </p:nvSpPr>
        <p:spPr>
          <a:xfrm>
            <a:off x="6993591" y="3822701"/>
            <a:ext cx="4910543" cy="1702741"/>
          </a:xfrm>
          <a:prstGeom prst="rect">
            <a:avLst/>
          </a:prstGeom>
          <a:solidFill>
            <a:schemeClr val="bg1">
              <a:lumMod val="8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16" name="Picture Placeholder 2"/>
          <p:cNvSpPr>
            <a:spLocks noGrp="1"/>
          </p:cNvSpPr>
          <p:nvPr>
            <p:ph type="pic" idx="22"/>
          </p:nvPr>
        </p:nvSpPr>
        <p:spPr>
          <a:xfrm>
            <a:off x="6993591" y="2019301"/>
            <a:ext cx="4910543" cy="1702741"/>
          </a:xfrm>
          <a:prstGeom prst="rect">
            <a:avLst/>
          </a:prstGeom>
          <a:solidFill>
            <a:schemeClr val="bg1">
              <a:lumMod val="8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17" name="Picture Placeholder 2"/>
          <p:cNvSpPr>
            <a:spLocks noGrp="1"/>
          </p:cNvSpPr>
          <p:nvPr>
            <p:ph type="pic" idx="23"/>
          </p:nvPr>
        </p:nvSpPr>
        <p:spPr>
          <a:xfrm>
            <a:off x="6993591" y="215901"/>
            <a:ext cx="4910543" cy="1702741"/>
          </a:xfrm>
          <a:prstGeom prst="rect">
            <a:avLst/>
          </a:prstGeom>
          <a:solidFill>
            <a:schemeClr val="bg1">
              <a:lumMod val="8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Tree>
    <p:extLst>
      <p:ext uri="{BB962C8B-B14F-4D97-AF65-F5344CB8AC3E}">
        <p14:creationId xmlns:p14="http://schemas.microsoft.com/office/powerpoint/2010/main" val="9413179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SBC Bulleted Text 1 Photo">
    <p:spTree>
      <p:nvGrpSpPr>
        <p:cNvPr id="1" name=""/>
        <p:cNvGrpSpPr/>
        <p:nvPr/>
      </p:nvGrpSpPr>
      <p:grpSpPr>
        <a:xfrm>
          <a:off x="0" y="0"/>
          <a:ext cx="0" cy="0"/>
          <a:chOff x="0" y="0"/>
          <a:chExt cx="0" cy="0"/>
        </a:xfrm>
      </p:grpSpPr>
      <p:sp>
        <p:nvSpPr>
          <p:cNvPr id="11" name="Subtitle 2"/>
          <p:cNvSpPr>
            <a:spLocks noGrp="1"/>
          </p:cNvSpPr>
          <p:nvPr>
            <p:ph type="subTitle" idx="10"/>
          </p:nvPr>
        </p:nvSpPr>
        <p:spPr>
          <a:xfrm>
            <a:off x="464979" y="5949683"/>
            <a:ext cx="6325288" cy="528831"/>
          </a:xfrm>
          <a:prstGeom prst="rect">
            <a:avLst/>
          </a:prstGeom>
        </p:spPr>
        <p:txBody>
          <a:bodyPr/>
          <a:lstStyle>
            <a:lvl1pPr marL="0" indent="0" algn="l">
              <a:buNone/>
              <a:defRPr sz="2000">
                <a:solidFill>
                  <a:srgbClr val="FFFFFF"/>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7" name="Content Placeholder 2"/>
          <p:cNvSpPr>
            <a:spLocks noGrp="1"/>
          </p:cNvSpPr>
          <p:nvPr>
            <p:ph idx="12"/>
          </p:nvPr>
        </p:nvSpPr>
        <p:spPr>
          <a:xfrm>
            <a:off x="611717" y="642940"/>
            <a:ext cx="5941483" cy="4841719"/>
          </a:xfrm>
          <a:prstGeom prst="rect">
            <a:avLst/>
          </a:prstGeom>
        </p:spPr>
        <p:txBody>
          <a:bodyPr lIns="0" tIns="0"/>
          <a:lstStyle>
            <a:lvl1pPr marL="0" indent="0">
              <a:buNone/>
              <a:defRPr sz="2600">
                <a:solidFill>
                  <a:srgbClr val="B60225"/>
                </a:solidFill>
              </a:defRPr>
            </a:lvl1pPr>
            <a:lvl2pPr marL="228600" indent="-228600" algn="l">
              <a:buClr>
                <a:srgbClr val="B60225"/>
              </a:buClr>
              <a:buFont typeface="Arial"/>
              <a:buChar char="•"/>
              <a:defRPr sz="2200"/>
            </a:lvl2pPr>
          </a:lstStyle>
          <a:p>
            <a:pPr lvl="0"/>
            <a:r>
              <a:rPr lang="en-US"/>
              <a:t>Click to edit Master text styles</a:t>
            </a:r>
          </a:p>
          <a:p>
            <a:pPr lvl="1"/>
            <a:r>
              <a:rPr lang="en-US"/>
              <a:t>Second level</a:t>
            </a:r>
          </a:p>
        </p:txBody>
      </p:sp>
      <p:sp>
        <p:nvSpPr>
          <p:cNvPr id="8" name="Picture Placeholder 1"/>
          <p:cNvSpPr>
            <a:spLocks noGrp="1"/>
          </p:cNvSpPr>
          <p:nvPr>
            <p:ph type="pic" idx="23"/>
          </p:nvPr>
        </p:nvSpPr>
        <p:spPr>
          <a:xfrm>
            <a:off x="6993467" y="215900"/>
            <a:ext cx="4910667" cy="5257800"/>
          </a:xfrm>
          <a:prstGeom prst="rect">
            <a:avLst/>
          </a:prstGeom>
          <a:solidFill>
            <a:srgbClr val="D9D9D9"/>
          </a:solidFill>
        </p:spPr>
      </p:sp>
    </p:spTree>
    <p:extLst>
      <p:ext uri="{BB962C8B-B14F-4D97-AF65-F5344CB8AC3E}">
        <p14:creationId xmlns:p14="http://schemas.microsoft.com/office/powerpoint/2010/main" val="294120575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slideLayout" Target="../slideLayouts/slideLayout6.xml"/><Relationship Id="rId7"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5" Type="http://schemas.openxmlformats.org/officeDocument/2006/relationships/slideLayout" Target="../slideLayouts/slideLayout8.xml"/><Relationship Id="rId4" Type="http://schemas.openxmlformats.org/officeDocument/2006/relationships/slideLayout" Target="../slideLayouts/slideLayout7.xml"/><Relationship Id="rId9" Type="http://schemas.openxmlformats.org/officeDocument/2006/relationships/image" Target="../media/image5.emf"/></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slideLayout" Target="../slideLayouts/slideLayout12.xml"/><Relationship Id="rId7" Type="http://schemas.openxmlformats.org/officeDocument/2006/relationships/theme" Target="../theme/theme3.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5" Type="http://schemas.openxmlformats.org/officeDocument/2006/relationships/slideLayout" Target="../slideLayouts/slideLayout14.xml"/><Relationship Id="rId4" Type="http://schemas.openxmlformats.org/officeDocument/2006/relationships/slideLayout" Target="../slideLayouts/slideLayout13.xml"/><Relationship Id="rId9" Type="http://schemas.openxmlformats.org/officeDocument/2006/relationships/image" Target="../media/image6.emf"/></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slideLayout" Target="../slideLayouts/slideLayout18.xml"/><Relationship Id="rId7" Type="http://schemas.openxmlformats.org/officeDocument/2006/relationships/theme" Target="../theme/theme4.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5" Type="http://schemas.openxmlformats.org/officeDocument/2006/relationships/slideLayout" Target="../slideLayouts/slideLayout20.xml"/><Relationship Id="rId4" Type="http://schemas.openxmlformats.org/officeDocument/2006/relationships/slideLayout" Target="../slideLayouts/slideLayout19.xml"/><Relationship Id="rId9" Type="http://schemas.openxmlformats.org/officeDocument/2006/relationships/image" Target="../media/image8.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4572" r:id="rId1"/>
    <p:sldLayoutId id="2147484573" r:id="rId2"/>
    <p:sldLayoutId id="2147484574" r:id="rId3"/>
  </p:sldLayoutIdLst>
  <p:txStyles>
    <p:titleStyle>
      <a:lvl1pPr algn="ctr" defTabSz="457200" rtl="0" eaLnBrk="1" fontAlgn="base" hangingPunct="1">
        <a:spcBef>
          <a:spcPct val="0"/>
        </a:spcBef>
        <a:spcAft>
          <a:spcPct val="0"/>
        </a:spcAft>
        <a:defRPr sz="4400" kern="1200">
          <a:solidFill>
            <a:schemeClr val="tx1"/>
          </a:solidFill>
          <a:latin typeface="+mj-lt"/>
          <a:ea typeface="ヒラギノ角ゴ Pro W3" charset="-128"/>
          <a:cs typeface="ヒラギノ角ゴ Pro W3" charset="-128"/>
        </a:defRPr>
      </a:lvl1pPr>
      <a:lvl2pPr algn="ctr" defTabSz="457200" rtl="0" eaLnBrk="1" fontAlgn="base" hangingPunct="1">
        <a:spcBef>
          <a:spcPct val="0"/>
        </a:spcBef>
        <a:spcAft>
          <a:spcPct val="0"/>
        </a:spcAft>
        <a:defRPr sz="4400">
          <a:solidFill>
            <a:schemeClr val="tx1"/>
          </a:solidFill>
          <a:latin typeface="Calibri" pitchFamily="-110" charset="0"/>
          <a:ea typeface="ヒラギノ角ゴ Pro W3" charset="-128"/>
          <a:cs typeface="ヒラギノ角ゴ Pro W3" charset="-128"/>
        </a:defRPr>
      </a:lvl2pPr>
      <a:lvl3pPr algn="ctr" defTabSz="457200" rtl="0" eaLnBrk="1" fontAlgn="base" hangingPunct="1">
        <a:spcBef>
          <a:spcPct val="0"/>
        </a:spcBef>
        <a:spcAft>
          <a:spcPct val="0"/>
        </a:spcAft>
        <a:defRPr sz="4400">
          <a:solidFill>
            <a:schemeClr val="tx1"/>
          </a:solidFill>
          <a:latin typeface="Calibri" pitchFamily="-110" charset="0"/>
          <a:ea typeface="ヒラギノ角ゴ Pro W3" charset="-128"/>
          <a:cs typeface="ヒラギノ角ゴ Pro W3" charset="-128"/>
        </a:defRPr>
      </a:lvl3pPr>
      <a:lvl4pPr algn="ctr" defTabSz="457200" rtl="0" eaLnBrk="1" fontAlgn="base" hangingPunct="1">
        <a:spcBef>
          <a:spcPct val="0"/>
        </a:spcBef>
        <a:spcAft>
          <a:spcPct val="0"/>
        </a:spcAft>
        <a:defRPr sz="4400">
          <a:solidFill>
            <a:schemeClr val="tx1"/>
          </a:solidFill>
          <a:latin typeface="Calibri" pitchFamily="-110" charset="0"/>
          <a:ea typeface="ヒラギノ角ゴ Pro W3" charset="-128"/>
          <a:cs typeface="ヒラギノ角ゴ Pro W3" charset="-128"/>
        </a:defRPr>
      </a:lvl4pPr>
      <a:lvl5pPr algn="ctr" defTabSz="457200" rtl="0" eaLnBrk="1" fontAlgn="base" hangingPunct="1">
        <a:spcBef>
          <a:spcPct val="0"/>
        </a:spcBef>
        <a:spcAft>
          <a:spcPct val="0"/>
        </a:spcAft>
        <a:defRPr sz="4400">
          <a:solidFill>
            <a:schemeClr val="tx1"/>
          </a:solidFill>
          <a:latin typeface="Calibri" pitchFamily="-110" charset="0"/>
          <a:ea typeface="ヒラギノ角ゴ Pro W3" charset="-128"/>
          <a:cs typeface="ヒラギノ角ゴ Pro W3" charset="-128"/>
        </a:defRPr>
      </a:lvl5pPr>
      <a:lvl6pPr marL="457200" algn="ctr" defTabSz="457200" rtl="0" eaLnBrk="1" fontAlgn="base" hangingPunct="1">
        <a:spcBef>
          <a:spcPct val="0"/>
        </a:spcBef>
        <a:spcAft>
          <a:spcPct val="0"/>
        </a:spcAft>
        <a:defRPr sz="4400">
          <a:solidFill>
            <a:schemeClr val="tx1"/>
          </a:solidFill>
          <a:latin typeface="Calibri" pitchFamily="-110" charset="0"/>
          <a:ea typeface="ヒラギノ角ゴ Pro W3" charset="-128"/>
          <a:cs typeface="ヒラギノ角ゴ Pro W3" charset="-128"/>
        </a:defRPr>
      </a:lvl6pPr>
      <a:lvl7pPr marL="914400" algn="ctr" defTabSz="457200" rtl="0" eaLnBrk="1" fontAlgn="base" hangingPunct="1">
        <a:spcBef>
          <a:spcPct val="0"/>
        </a:spcBef>
        <a:spcAft>
          <a:spcPct val="0"/>
        </a:spcAft>
        <a:defRPr sz="4400">
          <a:solidFill>
            <a:schemeClr val="tx1"/>
          </a:solidFill>
          <a:latin typeface="Calibri" pitchFamily="-110" charset="0"/>
          <a:ea typeface="ヒラギノ角ゴ Pro W3" charset="-128"/>
          <a:cs typeface="ヒラギノ角ゴ Pro W3" charset="-128"/>
        </a:defRPr>
      </a:lvl7pPr>
      <a:lvl8pPr marL="1371600" algn="ctr" defTabSz="457200" rtl="0" eaLnBrk="1" fontAlgn="base" hangingPunct="1">
        <a:spcBef>
          <a:spcPct val="0"/>
        </a:spcBef>
        <a:spcAft>
          <a:spcPct val="0"/>
        </a:spcAft>
        <a:defRPr sz="4400">
          <a:solidFill>
            <a:schemeClr val="tx1"/>
          </a:solidFill>
          <a:latin typeface="Calibri" pitchFamily="-110" charset="0"/>
          <a:ea typeface="ヒラギノ角ゴ Pro W3" charset="-128"/>
          <a:cs typeface="ヒラギノ角ゴ Pro W3" charset="-128"/>
        </a:defRPr>
      </a:lvl8pPr>
      <a:lvl9pPr marL="1828800" algn="ctr" defTabSz="457200" rtl="0" eaLnBrk="1" fontAlgn="base" hangingPunct="1">
        <a:spcBef>
          <a:spcPct val="0"/>
        </a:spcBef>
        <a:spcAft>
          <a:spcPct val="0"/>
        </a:spcAft>
        <a:defRPr sz="4400">
          <a:solidFill>
            <a:schemeClr val="tx1"/>
          </a:solidFill>
          <a:latin typeface="Calibri" pitchFamily="-110" charset="0"/>
          <a:ea typeface="ヒラギノ角ゴ Pro W3" charset="-128"/>
          <a:cs typeface="ヒラギノ角ゴ Pro W3"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ヒラギノ角ゴ Pro W3" charset="-128"/>
          <a:cs typeface="ヒラギノ角ゴ Pro W3" charset="-128"/>
        </a:defRPr>
      </a:lvl1pPr>
      <a:lvl2pPr marL="742950" indent="-285750" algn="l" defTabSz="457200" rtl="0" eaLnBrk="1" fontAlgn="base" hangingPunct="1">
        <a:spcBef>
          <a:spcPct val="20000"/>
        </a:spcBef>
        <a:spcAft>
          <a:spcPct val="0"/>
        </a:spcAft>
        <a:buFont typeface="Arial" charset="0"/>
        <a:buChar char="–"/>
        <a:defRPr sz="2800" kern="1200">
          <a:solidFill>
            <a:schemeClr val="tx1"/>
          </a:solidFill>
          <a:latin typeface="+mn-lt"/>
          <a:ea typeface="ヒラギノ角ゴ Pro W3"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ヒラギノ角ゴ Pro W3"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ヒラギノ角ゴ Pro W3"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ヒラギノ角ゴ Pro W3"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7" descr="PPTbackground_Red.jpg"/>
          <p:cNvPicPr>
            <a:picLocks noChangeAspect="1"/>
          </p:cNvPicPr>
          <p:nvPr/>
        </p:nvPicPr>
        <p:blipFill>
          <a:blip r:embed="rId8"/>
          <a:srcRect b="97814"/>
          <a:stretch>
            <a:fillRect/>
          </a:stretch>
        </p:blipFill>
        <p:spPr bwMode="auto">
          <a:xfrm flipH="1">
            <a:off x="0" y="1"/>
            <a:ext cx="12192000" cy="149225"/>
          </a:xfrm>
          <a:prstGeom prst="rect">
            <a:avLst/>
          </a:prstGeom>
          <a:noFill/>
          <a:ln w="9525">
            <a:noFill/>
            <a:miter lim="800000"/>
            <a:headEnd/>
            <a:tailEnd/>
          </a:ln>
          <a:effectLst>
            <a:outerShdw blurRad="136525" dist="38100" dir="2700000" algn="tl" rotWithShape="0">
              <a:srgbClr val="000000">
                <a:alpha val="43000"/>
              </a:srgbClr>
            </a:outerShdw>
          </a:effectLst>
        </p:spPr>
      </p:pic>
      <p:sp>
        <p:nvSpPr>
          <p:cNvPr id="5123" name="Text Placeholder 2"/>
          <p:cNvSpPr>
            <a:spLocks noGrp="1"/>
          </p:cNvSpPr>
          <p:nvPr>
            <p:ph type="body" idx="1"/>
          </p:nvPr>
        </p:nvSpPr>
        <p:spPr bwMode="auto">
          <a:xfrm>
            <a:off x="611717" y="1330326"/>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124" name="Picture 4" descr="SBU horz_2clr_cmyk.eps"/>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613833" y="295275"/>
            <a:ext cx="482600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6278564"/>
            <a:ext cx="12192000" cy="579437"/>
          </a:xfrm>
          <a:prstGeom prst="rect">
            <a:avLst/>
          </a:prstGeom>
          <a:solidFill>
            <a:srgbClr val="B60225"/>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6" name="Straight Connector 5"/>
          <p:cNvCxnSpPr/>
          <p:nvPr/>
        </p:nvCxnSpPr>
        <p:spPr>
          <a:xfrm>
            <a:off x="0" y="1082675"/>
            <a:ext cx="12192000" cy="1588"/>
          </a:xfrm>
          <a:prstGeom prst="line">
            <a:avLst/>
          </a:prstGeom>
          <a:ln w="12700">
            <a:solidFill>
              <a:srgbClr val="B60225"/>
            </a:solidFill>
          </a:ln>
          <a:effectLst/>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4575" r:id="rId1"/>
    <p:sldLayoutId id="2147484556" r:id="rId2"/>
    <p:sldLayoutId id="2147484557" r:id="rId3"/>
    <p:sldLayoutId id="2147484558" r:id="rId4"/>
    <p:sldLayoutId id="2147484559" r:id="rId5"/>
    <p:sldLayoutId id="2147484560" r:id="rId6"/>
  </p:sldLayoutIdLst>
  <p:txStyles>
    <p:titleStyle>
      <a:lvl1pPr algn="r" defTabSz="457200" rtl="0" eaLnBrk="0" fontAlgn="base" hangingPunct="0">
        <a:spcBef>
          <a:spcPct val="0"/>
        </a:spcBef>
        <a:spcAft>
          <a:spcPct val="0"/>
        </a:spcAft>
        <a:defRPr sz="5400" kern="1200" baseline="6000">
          <a:solidFill>
            <a:schemeClr val="bg1"/>
          </a:solidFill>
          <a:latin typeface="Helvetica"/>
          <a:ea typeface="ＭＳ Ｐゴシック" pitchFamily="-112" charset="-128"/>
          <a:cs typeface="Helvetica"/>
        </a:defRPr>
      </a:lvl1pPr>
      <a:lvl2pPr algn="r" defTabSz="457200" rtl="0" eaLnBrk="0" fontAlgn="base" hangingPunct="0">
        <a:spcBef>
          <a:spcPct val="0"/>
        </a:spcBef>
        <a:spcAft>
          <a:spcPct val="0"/>
        </a:spcAft>
        <a:defRPr sz="5400" baseline="6000">
          <a:solidFill>
            <a:schemeClr val="bg1"/>
          </a:solidFill>
          <a:latin typeface="Helvetica" pitchFamily="-112" charset="0"/>
          <a:ea typeface="ＭＳ Ｐゴシック" pitchFamily="-112" charset="-128"/>
        </a:defRPr>
      </a:lvl2pPr>
      <a:lvl3pPr algn="r" defTabSz="457200" rtl="0" eaLnBrk="0" fontAlgn="base" hangingPunct="0">
        <a:spcBef>
          <a:spcPct val="0"/>
        </a:spcBef>
        <a:spcAft>
          <a:spcPct val="0"/>
        </a:spcAft>
        <a:defRPr sz="5400" baseline="6000">
          <a:solidFill>
            <a:schemeClr val="bg1"/>
          </a:solidFill>
          <a:latin typeface="Helvetica" pitchFamily="-112" charset="0"/>
          <a:ea typeface="ＭＳ Ｐゴシック" pitchFamily="-112" charset="-128"/>
        </a:defRPr>
      </a:lvl3pPr>
      <a:lvl4pPr algn="r" defTabSz="457200" rtl="0" eaLnBrk="0" fontAlgn="base" hangingPunct="0">
        <a:spcBef>
          <a:spcPct val="0"/>
        </a:spcBef>
        <a:spcAft>
          <a:spcPct val="0"/>
        </a:spcAft>
        <a:defRPr sz="5400" baseline="6000">
          <a:solidFill>
            <a:schemeClr val="bg1"/>
          </a:solidFill>
          <a:latin typeface="Helvetica" pitchFamily="-112" charset="0"/>
          <a:ea typeface="ＭＳ Ｐゴシック" pitchFamily="-112" charset="-128"/>
        </a:defRPr>
      </a:lvl4pPr>
      <a:lvl5pPr algn="r" defTabSz="457200" rtl="0" eaLnBrk="0" fontAlgn="base" hangingPunct="0">
        <a:spcBef>
          <a:spcPct val="0"/>
        </a:spcBef>
        <a:spcAft>
          <a:spcPct val="0"/>
        </a:spcAft>
        <a:defRPr sz="5400" baseline="6000">
          <a:solidFill>
            <a:schemeClr val="bg1"/>
          </a:solidFill>
          <a:latin typeface="Helvetica" pitchFamily="-112" charset="0"/>
          <a:ea typeface="ＭＳ Ｐゴシック" pitchFamily="-112" charset="-128"/>
        </a:defRPr>
      </a:lvl5pPr>
      <a:lvl6pPr marL="457200" algn="r" defTabSz="457200" rtl="0" fontAlgn="base">
        <a:spcBef>
          <a:spcPct val="0"/>
        </a:spcBef>
        <a:spcAft>
          <a:spcPct val="0"/>
        </a:spcAft>
        <a:defRPr sz="5400" baseline="6000">
          <a:solidFill>
            <a:schemeClr val="bg1"/>
          </a:solidFill>
          <a:latin typeface="Helvetica" pitchFamily="-112" charset="0"/>
          <a:ea typeface="ＭＳ Ｐゴシック" pitchFamily="-112" charset="-128"/>
        </a:defRPr>
      </a:lvl6pPr>
      <a:lvl7pPr marL="914400" algn="r" defTabSz="457200" rtl="0" fontAlgn="base">
        <a:spcBef>
          <a:spcPct val="0"/>
        </a:spcBef>
        <a:spcAft>
          <a:spcPct val="0"/>
        </a:spcAft>
        <a:defRPr sz="5400" baseline="6000">
          <a:solidFill>
            <a:schemeClr val="bg1"/>
          </a:solidFill>
          <a:latin typeface="Helvetica" pitchFamily="-112" charset="0"/>
          <a:ea typeface="ＭＳ Ｐゴシック" pitchFamily="-112" charset="-128"/>
        </a:defRPr>
      </a:lvl7pPr>
      <a:lvl8pPr marL="1371600" algn="r" defTabSz="457200" rtl="0" fontAlgn="base">
        <a:spcBef>
          <a:spcPct val="0"/>
        </a:spcBef>
        <a:spcAft>
          <a:spcPct val="0"/>
        </a:spcAft>
        <a:defRPr sz="5400" baseline="6000">
          <a:solidFill>
            <a:schemeClr val="bg1"/>
          </a:solidFill>
          <a:latin typeface="Helvetica" pitchFamily="-112" charset="0"/>
          <a:ea typeface="ＭＳ Ｐゴシック" pitchFamily="-112" charset="-128"/>
        </a:defRPr>
      </a:lvl8pPr>
      <a:lvl9pPr marL="1828800" algn="r" defTabSz="457200" rtl="0" fontAlgn="base">
        <a:spcBef>
          <a:spcPct val="0"/>
        </a:spcBef>
        <a:spcAft>
          <a:spcPct val="0"/>
        </a:spcAft>
        <a:defRPr sz="5400" baseline="6000">
          <a:solidFill>
            <a:schemeClr val="bg1"/>
          </a:solidFill>
          <a:latin typeface="Helvetica" pitchFamily="-112" charset="0"/>
          <a:ea typeface="ＭＳ Ｐゴシック" pitchFamily="-112" charset="-128"/>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Helvetica"/>
          <a:ea typeface="ＭＳ Ｐゴシック" pitchFamily="-112" charset="-128"/>
          <a:cs typeface="Helvetica"/>
        </a:defRPr>
      </a:lvl1pPr>
      <a:lvl2pPr marL="742950" indent="-285750" algn="l" defTabSz="457200" rtl="0" eaLnBrk="0" fontAlgn="base" hangingPunct="0">
        <a:spcBef>
          <a:spcPct val="20000"/>
        </a:spcBef>
        <a:spcAft>
          <a:spcPct val="0"/>
        </a:spcAft>
        <a:buFont typeface="Lucida Grande" charset="0"/>
        <a:buChar char="–"/>
        <a:defRPr sz="2800" kern="1200">
          <a:solidFill>
            <a:schemeClr val="tx1"/>
          </a:solidFill>
          <a:latin typeface="Helvetica"/>
          <a:ea typeface="ＭＳ Ｐゴシック" pitchFamily="-112" charset="-128"/>
          <a:cs typeface="Helvetica"/>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Helvetica"/>
          <a:ea typeface="ＭＳ Ｐゴシック" pitchFamily="-112" charset="-128"/>
          <a:cs typeface="Helvetica"/>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Helvetica"/>
          <a:ea typeface="ＭＳ Ｐゴシック" pitchFamily="-112" charset="-128"/>
          <a:cs typeface="Helvetica"/>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Helvetica"/>
          <a:ea typeface="ＭＳ Ｐゴシック" pitchFamily="-112" charset="-128"/>
          <a:cs typeface="Helvetic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7" descr="PPTbackground_Red.jpg"/>
          <p:cNvPicPr>
            <a:picLocks noChangeAspect="1"/>
          </p:cNvPicPr>
          <p:nvPr/>
        </p:nvPicPr>
        <p:blipFill>
          <a:blip r:embed="rId8"/>
          <a:srcRect b="97814"/>
          <a:stretch>
            <a:fillRect/>
          </a:stretch>
        </p:blipFill>
        <p:spPr bwMode="auto">
          <a:xfrm flipH="1">
            <a:off x="0" y="1"/>
            <a:ext cx="12192000" cy="149225"/>
          </a:xfrm>
          <a:prstGeom prst="rect">
            <a:avLst/>
          </a:prstGeom>
          <a:noFill/>
          <a:ln w="9525">
            <a:noFill/>
            <a:miter lim="800000"/>
            <a:headEnd/>
            <a:tailEnd/>
          </a:ln>
          <a:effectLst>
            <a:outerShdw blurRad="136525" dist="38100" dir="2700000" algn="tl" rotWithShape="0">
              <a:srgbClr val="000000">
                <a:alpha val="43000"/>
              </a:srgbClr>
            </a:outerShdw>
          </a:effectLst>
        </p:spPr>
      </p:pic>
      <p:sp>
        <p:nvSpPr>
          <p:cNvPr id="7171" name="Text Placeholder 2"/>
          <p:cNvSpPr>
            <a:spLocks noGrp="1"/>
          </p:cNvSpPr>
          <p:nvPr>
            <p:ph type="body" idx="1"/>
          </p:nvPr>
        </p:nvSpPr>
        <p:spPr bwMode="auto">
          <a:xfrm>
            <a:off x="611717" y="1330326"/>
            <a:ext cx="10972800" cy="484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p:nvPr/>
        </p:nvSpPr>
        <p:spPr>
          <a:xfrm>
            <a:off x="0" y="6278564"/>
            <a:ext cx="12192000" cy="579437"/>
          </a:xfrm>
          <a:prstGeom prst="rect">
            <a:avLst/>
          </a:prstGeom>
          <a:solidFill>
            <a:srgbClr val="B60225"/>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6" name="Straight Connector 5"/>
          <p:cNvCxnSpPr/>
          <p:nvPr/>
        </p:nvCxnSpPr>
        <p:spPr>
          <a:xfrm>
            <a:off x="0" y="1082675"/>
            <a:ext cx="12192000" cy="1588"/>
          </a:xfrm>
          <a:prstGeom prst="line">
            <a:avLst/>
          </a:prstGeom>
          <a:ln w="12700">
            <a:solidFill>
              <a:srgbClr val="B60225"/>
            </a:solidFill>
          </a:ln>
          <a:effectLst/>
        </p:spPr>
        <p:style>
          <a:lnRef idx="2">
            <a:schemeClr val="accent1"/>
          </a:lnRef>
          <a:fillRef idx="0">
            <a:schemeClr val="accent1"/>
          </a:fillRef>
          <a:effectRef idx="1">
            <a:schemeClr val="accent1"/>
          </a:effectRef>
          <a:fontRef idx="minor">
            <a:schemeClr val="tx1"/>
          </a:fontRef>
        </p:style>
      </p:cxnSp>
      <p:pic>
        <p:nvPicPr>
          <p:cNvPr id="7174" name="Picture 7" descr="SBM horz_2clr_pms1.eps"/>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611717" y="298450"/>
            <a:ext cx="4605867"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576" r:id="rId1"/>
    <p:sldLayoutId id="2147484561" r:id="rId2"/>
    <p:sldLayoutId id="2147484562" r:id="rId3"/>
    <p:sldLayoutId id="2147484563" r:id="rId4"/>
    <p:sldLayoutId id="2147484564" r:id="rId5"/>
    <p:sldLayoutId id="2147484565" r:id="rId6"/>
  </p:sldLayoutIdLst>
  <p:txStyles>
    <p:titleStyle>
      <a:lvl1pPr algn="r" defTabSz="457200" rtl="0" eaLnBrk="0" fontAlgn="base" hangingPunct="0">
        <a:spcBef>
          <a:spcPct val="0"/>
        </a:spcBef>
        <a:spcAft>
          <a:spcPct val="0"/>
        </a:spcAft>
        <a:defRPr sz="5400" kern="1200" baseline="6000">
          <a:solidFill>
            <a:schemeClr val="bg1"/>
          </a:solidFill>
          <a:latin typeface="Helvetica"/>
          <a:ea typeface="ＭＳ Ｐゴシック" pitchFamily="-112" charset="-128"/>
          <a:cs typeface="Helvetica"/>
        </a:defRPr>
      </a:lvl1pPr>
      <a:lvl2pPr algn="r" defTabSz="457200" rtl="0" eaLnBrk="0" fontAlgn="base" hangingPunct="0">
        <a:spcBef>
          <a:spcPct val="0"/>
        </a:spcBef>
        <a:spcAft>
          <a:spcPct val="0"/>
        </a:spcAft>
        <a:defRPr sz="5400" baseline="6000">
          <a:solidFill>
            <a:schemeClr val="bg1"/>
          </a:solidFill>
          <a:latin typeface="Helvetica" pitchFamily="-112" charset="0"/>
          <a:ea typeface="ＭＳ Ｐゴシック" pitchFamily="-112" charset="-128"/>
        </a:defRPr>
      </a:lvl2pPr>
      <a:lvl3pPr algn="r" defTabSz="457200" rtl="0" eaLnBrk="0" fontAlgn="base" hangingPunct="0">
        <a:spcBef>
          <a:spcPct val="0"/>
        </a:spcBef>
        <a:spcAft>
          <a:spcPct val="0"/>
        </a:spcAft>
        <a:defRPr sz="5400" baseline="6000">
          <a:solidFill>
            <a:schemeClr val="bg1"/>
          </a:solidFill>
          <a:latin typeface="Helvetica" pitchFamily="-112" charset="0"/>
          <a:ea typeface="ＭＳ Ｐゴシック" pitchFamily="-112" charset="-128"/>
        </a:defRPr>
      </a:lvl3pPr>
      <a:lvl4pPr algn="r" defTabSz="457200" rtl="0" eaLnBrk="0" fontAlgn="base" hangingPunct="0">
        <a:spcBef>
          <a:spcPct val="0"/>
        </a:spcBef>
        <a:spcAft>
          <a:spcPct val="0"/>
        </a:spcAft>
        <a:defRPr sz="5400" baseline="6000">
          <a:solidFill>
            <a:schemeClr val="bg1"/>
          </a:solidFill>
          <a:latin typeface="Helvetica" pitchFamily="-112" charset="0"/>
          <a:ea typeface="ＭＳ Ｐゴシック" pitchFamily="-112" charset="-128"/>
        </a:defRPr>
      </a:lvl4pPr>
      <a:lvl5pPr algn="r" defTabSz="457200" rtl="0" eaLnBrk="0" fontAlgn="base" hangingPunct="0">
        <a:spcBef>
          <a:spcPct val="0"/>
        </a:spcBef>
        <a:spcAft>
          <a:spcPct val="0"/>
        </a:spcAft>
        <a:defRPr sz="5400" baseline="6000">
          <a:solidFill>
            <a:schemeClr val="bg1"/>
          </a:solidFill>
          <a:latin typeface="Helvetica" pitchFamily="-112" charset="0"/>
          <a:ea typeface="ＭＳ Ｐゴシック" pitchFamily="-112" charset="-128"/>
        </a:defRPr>
      </a:lvl5pPr>
      <a:lvl6pPr marL="457200" algn="r" defTabSz="457200" rtl="0" fontAlgn="base">
        <a:spcBef>
          <a:spcPct val="0"/>
        </a:spcBef>
        <a:spcAft>
          <a:spcPct val="0"/>
        </a:spcAft>
        <a:defRPr sz="5400" baseline="6000">
          <a:solidFill>
            <a:schemeClr val="bg1"/>
          </a:solidFill>
          <a:latin typeface="Helvetica" pitchFamily="-112" charset="0"/>
          <a:ea typeface="ＭＳ Ｐゴシック" pitchFamily="-112" charset="-128"/>
        </a:defRPr>
      </a:lvl6pPr>
      <a:lvl7pPr marL="914400" algn="r" defTabSz="457200" rtl="0" fontAlgn="base">
        <a:spcBef>
          <a:spcPct val="0"/>
        </a:spcBef>
        <a:spcAft>
          <a:spcPct val="0"/>
        </a:spcAft>
        <a:defRPr sz="5400" baseline="6000">
          <a:solidFill>
            <a:schemeClr val="bg1"/>
          </a:solidFill>
          <a:latin typeface="Helvetica" pitchFamily="-112" charset="0"/>
          <a:ea typeface="ＭＳ Ｐゴシック" pitchFamily="-112" charset="-128"/>
        </a:defRPr>
      </a:lvl7pPr>
      <a:lvl8pPr marL="1371600" algn="r" defTabSz="457200" rtl="0" fontAlgn="base">
        <a:spcBef>
          <a:spcPct val="0"/>
        </a:spcBef>
        <a:spcAft>
          <a:spcPct val="0"/>
        </a:spcAft>
        <a:defRPr sz="5400" baseline="6000">
          <a:solidFill>
            <a:schemeClr val="bg1"/>
          </a:solidFill>
          <a:latin typeface="Helvetica" pitchFamily="-112" charset="0"/>
          <a:ea typeface="ＭＳ Ｐゴシック" pitchFamily="-112" charset="-128"/>
        </a:defRPr>
      </a:lvl8pPr>
      <a:lvl9pPr marL="1828800" algn="r" defTabSz="457200" rtl="0" fontAlgn="base">
        <a:spcBef>
          <a:spcPct val="0"/>
        </a:spcBef>
        <a:spcAft>
          <a:spcPct val="0"/>
        </a:spcAft>
        <a:defRPr sz="5400" baseline="6000">
          <a:solidFill>
            <a:schemeClr val="bg1"/>
          </a:solidFill>
          <a:latin typeface="Helvetica" pitchFamily="-112" charset="0"/>
          <a:ea typeface="ＭＳ Ｐゴシック" pitchFamily="-112" charset="-128"/>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Helvetica"/>
          <a:ea typeface="ＭＳ Ｐゴシック" pitchFamily="-112" charset="-128"/>
          <a:cs typeface="Helvetica"/>
        </a:defRPr>
      </a:lvl1pPr>
      <a:lvl2pPr marL="742950" indent="-285750" algn="l" defTabSz="457200" rtl="0" eaLnBrk="0" fontAlgn="base" hangingPunct="0">
        <a:spcBef>
          <a:spcPct val="20000"/>
        </a:spcBef>
        <a:spcAft>
          <a:spcPct val="0"/>
        </a:spcAft>
        <a:buFont typeface="Lucida Grande" charset="0"/>
        <a:buChar char="–"/>
        <a:defRPr sz="2800" kern="1200">
          <a:solidFill>
            <a:schemeClr val="tx1"/>
          </a:solidFill>
          <a:latin typeface="Helvetica"/>
          <a:ea typeface="ＭＳ Ｐゴシック" pitchFamily="-112" charset="-128"/>
          <a:cs typeface="Helvetica"/>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Helvetica"/>
          <a:ea typeface="ＭＳ Ｐゴシック" pitchFamily="-112" charset="-128"/>
          <a:cs typeface="Helvetica"/>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Helvetica"/>
          <a:ea typeface="ＭＳ Ｐゴシック" pitchFamily="-112" charset="-128"/>
          <a:cs typeface="Helvetica"/>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Helvetica"/>
          <a:ea typeface="ＭＳ Ｐゴシック" pitchFamily="-112" charset="-128"/>
          <a:cs typeface="Helvetic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9218" name="Picture 4" descr="SolidFooterArt_CH.jpg"/>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220134" y="5692775"/>
            <a:ext cx="11732684"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9" name="Picture 5" descr="sb_childrens_horiz_3c_Cnotag.eps"/>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7332134" y="5876926"/>
            <a:ext cx="4296833"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566" r:id="rId1"/>
    <p:sldLayoutId id="2147484567" r:id="rId2"/>
    <p:sldLayoutId id="2147484568" r:id="rId3"/>
    <p:sldLayoutId id="2147484569" r:id="rId4"/>
    <p:sldLayoutId id="2147484570" r:id="rId5"/>
    <p:sldLayoutId id="2147484577" r:id="rId6"/>
  </p:sldLayoutIdLst>
  <p:txStyles>
    <p:titleStyle>
      <a:lvl1pPr algn="r" defTabSz="457200" rtl="0" eaLnBrk="0" fontAlgn="base" hangingPunct="0">
        <a:spcBef>
          <a:spcPct val="0"/>
        </a:spcBef>
        <a:spcAft>
          <a:spcPct val="0"/>
        </a:spcAft>
        <a:defRPr sz="5400" kern="1200" baseline="6000">
          <a:solidFill>
            <a:schemeClr val="bg1"/>
          </a:solidFill>
          <a:latin typeface="Helvetica"/>
          <a:ea typeface="ＭＳ Ｐゴシック" pitchFamily="-112" charset="-128"/>
          <a:cs typeface="Helvetica"/>
        </a:defRPr>
      </a:lvl1pPr>
      <a:lvl2pPr algn="r" defTabSz="457200" rtl="0" eaLnBrk="0" fontAlgn="base" hangingPunct="0">
        <a:spcBef>
          <a:spcPct val="0"/>
        </a:spcBef>
        <a:spcAft>
          <a:spcPct val="0"/>
        </a:spcAft>
        <a:defRPr sz="5400" baseline="6000">
          <a:solidFill>
            <a:schemeClr val="bg1"/>
          </a:solidFill>
          <a:latin typeface="Helvetica" pitchFamily="-112" charset="0"/>
          <a:ea typeface="ＭＳ Ｐゴシック" pitchFamily="-112" charset="-128"/>
        </a:defRPr>
      </a:lvl2pPr>
      <a:lvl3pPr algn="r" defTabSz="457200" rtl="0" eaLnBrk="0" fontAlgn="base" hangingPunct="0">
        <a:spcBef>
          <a:spcPct val="0"/>
        </a:spcBef>
        <a:spcAft>
          <a:spcPct val="0"/>
        </a:spcAft>
        <a:defRPr sz="5400" baseline="6000">
          <a:solidFill>
            <a:schemeClr val="bg1"/>
          </a:solidFill>
          <a:latin typeface="Helvetica" pitchFamily="-112" charset="0"/>
          <a:ea typeface="ＭＳ Ｐゴシック" pitchFamily="-112" charset="-128"/>
        </a:defRPr>
      </a:lvl3pPr>
      <a:lvl4pPr algn="r" defTabSz="457200" rtl="0" eaLnBrk="0" fontAlgn="base" hangingPunct="0">
        <a:spcBef>
          <a:spcPct val="0"/>
        </a:spcBef>
        <a:spcAft>
          <a:spcPct val="0"/>
        </a:spcAft>
        <a:defRPr sz="5400" baseline="6000">
          <a:solidFill>
            <a:schemeClr val="bg1"/>
          </a:solidFill>
          <a:latin typeface="Helvetica" pitchFamily="-112" charset="0"/>
          <a:ea typeface="ＭＳ Ｐゴシック" pitchFamily="-112" charset="-128"/>
        </a:defRPr>
      </a:lvl4pPr>
      <a:lvl5pPr algn="r" defTabSz="457200" rtl="0" eaLnBrk="0" fontAlgn="base" hangingPunct="0">
        <a:spcBef>
          <a:spcPct val="0"/>
        </a:spcBef>
        <a:spcAft>
          <a:spcPct val="0"/>
        </a:spcAft>
        <a:defRPr sz="5400" baseline="6000">
          <a:solidFill>
            <a:schemeClr val="bg1"/>
          </a:solidFill>
          <a:latin typeface="Helvetica" pitchFamily="-112" charset="0"/>
          <a:ea typeface="ＭＳ Ｐゴシック" pitchFamily="-112" charset="-128"/>
        </a:defRPr>
      </a:lvl5pPr>
      <a:lvl6pPr marL="457200" algn="r" defTabSz="457200" rtl="0" fontAlgn="base">
        <a:spcBef>
          <a:spcPct val="0"/>
        </a:spcBef>
        <a:spcAft>
          <a:spcPct val="0"/>
        </a:spcAft>
        <a:defRPr sz="5400" baseline="6000">
          <a:solidFill>
            <a:schemeClr val="bg1"/>
          </a:solidFill>
          <a:latin typeface="Helvetica" pitchFamily="-112" charset="0"/>
          <a:ea typeface="ＭＳ Ｐゴシック" pitchFamily="-112" charset="-128"/>
        </a:defRPr>
      </a:lvl6pPr>
      <a:lvl7pPr marL="914400" algn="r" defTabSz="457200" rtl="0" fontAlgn="base">
        <a:spcBef>
          <a:spcPct val="0"/>
        </a:spcBef>
        <a:spcAft>
          <a:spcPct val="0"/>
        </a:spcAft>
        <a:defRPr sz="5400" baseline="6000">
          <a:solidFill>
            <a:schemeClr val="bg1"/>
          </a:solidFill>
          <a:latin typeface="Helvetica" pitchFamily="-112" charset="0"/>
          <a:ea typeface="ＭＳ Ｐゴシック" pitchFamily="-112" charset="-128"/>
        </a:defRPr>
      </a:lvl7pPr>
      <a:lvl8pPr marL="1371600" algn="r" defTabSz="457200" rtl="0" fontAlgn="base">
        <a:spcBef>
          <a:spcPct val="0"/>
        </a:spcBef>
        <a:spcAft>
          <a:spcPct val="0"/>
        </a:spcAft>
        <a:defRPr sz="5400" baseline="6000">
          <a:solidFill>
            <a:schemeClr val="bg1"/>
          </a:solidFill>
          <a:latin typeface="Helvetica" pitchFamily="-112" charset="0"/>
          <a:ea typeface="ＭＳ Ｐゴシック" pitchFamily="-112" charset="-128"/>
        </a:defRPr>
      </a:lvl8pPr>
      <a:lvl9pPr marL="1828800" algn="r" defTabSz="457200" rtl="0" fontAlgn="base">
        <a:spcBef>
          <a:spcPct val="0"/>
        </a:spcBef>
        <a:spcAft>
          <a:spcPct val="0"/>
        </a:spcAft>
        <a:defRPr sz="5400" baseline="6000">
          <a:solidFill>
            <a:schemeClr val="bg1"/>
          </a:solidFill>
          <a:latin typeface="Helvetica" pitchFamily="-112" charset="0"/>
          <a:ea typeface="ＭＳ Ｐゴシック" pitchFamily="-112" charset="-128"/>
        </a:defRPr>
      </a:lvl9pPr>
    </p:titleStyle>
    <p:bodyStyle>
      <a:lvl1pPr marL="342900" indent="-342900" algn="l" defTabSz="457200" rtl="0" eaLnBrk="0" fontAlgn="base" hangingPunct="0">
        <a:spcBef>
          <a:spcPct val="20000"/>
        </a:spcBef>
        <a:spcAft>
          <a:spcPct val="0"/>
        </a:spcAft>
        <a:defRPr sz="3200" kern="1200">
          <a:solidFill>
            <a:srgbClr val="C03137"/>
          </a:solidFill>
          <a:latin typeface="Helvetica"/>
          <a:ea typeface="ＭＳ Ｐゴシック" pitchFamily="-112" charset="-128"/>
          <a:cs typeface="Helvetica"/>
        </a:defRPr>
      </a:lvl1pPr>
      <a:lvl2pPr marL="107950" indent="-107950" algn="l" defTabSz="576263" rtl="0" eaLnBrk="0" fontAlgn="base" hangingPunct="0">
        <a:spcBef>
          <a:spcPct val="20000"/>
        </a:spcBef>
        <a:spcAft>
          <a:spcPct val="0"/>
        </a:spcAft>
        <a:defRPr sz="2800" kern="1200">
          <a:solidFill>
            <a:schemeClr val="tx1"/>
          </a:solidFill>
          <a:latin typeface="Helvetica"/>
          <a:ea typeface="ＭＳ Ｐゴシック" pitchFamily="-112" charset="-128"/>
          <a:cs typeface="Helvetica"/>
        </a:defRPr>
      </a:lvl2pPr>
      <a:lvl3pPr marL="515938" indent="-228600" algn="l" defTabSz="457200" rtl="0" eaLnBrk="0" fontAlgn="base" hangingPunct="0">
        <a:spcBef>
          <a:spcPct val="20000"/>
        </a:spcBef>
        <a:spcAft>
          <a:spcPct val="0"/>
        </a:spcAft>
        <a:buClr>
          <a:srgbClr val="C03137"/>
        </a:buClr>
        <a:buFont typeface="Arial" charset="0"/>
        <a:buChar char="•"/>
        <a:defRPr sz="2400" kern="1200">
          <a:solidFill>
            <a:schemeClr val="tx1"/>
          </a:solidFill>
          <a:latin typeface="Helvetica"/>
          <a:ea typeface="ＭＳ Ｐゴシック" pitchFamily="-112" charset="-128"/>
          <a:cs typeface="Helvetica"/>
        </a:defRPr>
      </a:lvl3pPr>
      <a:lvl4pPr marL="1373188" indent="-231775" algn="l" defTabSz="457200" rtl="0" eaLnBrk="0" fontAlgn="base" hangingPunct="0">
        <a:spcBef>
          <a:spcPct val="20000"/>
        </a:spcBef>
        <a:spcAft>
          <a:spcPct val="0"/>
        </a:spcAft>
        <a:defRPr sz="2000" kern="1200">
          <a:solidFill>
            <a:schemeClr val="tx1"/>
          </a:solidFill>
          <a:latin typeface="Helvetica"/>
          <a:ea typeface="ＭＳ Ｐゴシック" pitchFamily="-112" charset="-128"/>
          <a:cs typeface="Helvetica"/>
        </a:defRPr>
      </a:lvl4pPr>
      <a:lvl5pPr marL="747713" indent="-231775" algn="l" defTabSz="457200" rtl="0" eaLnBrk="0" fontAlgn="base" hangingPunct="0">
        <a:spcBef>
          <a:spcPct val="20000"/>
        </a:spcBef>
        <a:spcAft>
          <a:spcPct val="0"/>
        </a:spcAft>
        <a:buClr>
          <a:srgbClr val="C03137"/>
        </a:buClr>
        <a:buFont typeface="Arial" charset="0"/>
        <a:buChar char="»"/>
        <a:defRPr sz="2000" kern="1200">
          <a:solidFill>
            <a:schemeClr val="tx1"/>
          </a:solidFill>
          <a:latin typeface="Helvetica"/>
          <a:ea typeface="ＭＳ Ｐゴシック" pitchFamily="-112" charset="-128"/>
          <a:cs typeface="Helvetic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6.jpeg"/><Relationship Id="rId5" Type="http://schemas.openxmlformats.org/officeDocument/2006/relationships/image" Target="../media/image15.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20.png"/><Relationship Id="rId5" Type="http://schemas.openxmlformats.org/officeDocument/2006/relationships/image" Target="../media/image18.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21.png"/><Relationship Id="rId5" Type="http://schemas.openxmlformats.org/officeDocument/2006/relationships/image" Target="../media/image18.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25.jpeg"/><Relationship Id="rId5" Type="http://schemas.openxmlformats.org/officeDocument/2006/relationships/image" Target="../media/image24.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6.xml"/><Relationship Id="rId5" Type="http://schemas.openxmlformats.org/officeDocument/2006/relationships/image" Target="../media/image26.jpe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27.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9.png"/><Relationship Id="rId7"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10.png"/><Relationship Id="rId9"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6.xml"/><Relationship Id="rId5" Type="http://schemas.openxmlformats.org/officeDocument/2006/relationships/image" Target="../media/image33.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6.xml"/><Relationship Id="rId5" Type="http://schemas.openxmlformats.org/officeDocument/2006/relationships/image" Target="../media/image34.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6.xml"/><Relationship Id="rId5" Type="http://schemas.openxmlformats.org/officeDocument/2006/relationships/image" Target="../media/image35.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6.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6.xml"/><Relationship Id="rId5" Type="http://schemas.openxmlformats.org/officeDocument/2006/relationships/image" Target="../media/image38.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6.xml"/><Relationship Id="rId5" Type="http://schemas.openxmlformats.org/officeDocument/2006/relationships/image" Target="../media/image39.png"/><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6.xml"/><Relationship Id="rId5" Type="http://schemas.openxmlformats.org/officeDocument/2006/relationships/image" Target="../media/image40.png"/><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6.xml"/><Relationship Id="rId5" Type="http://schemas.openxmlformats.org/officeDocument/2006/relationships/image" Target="../media/image41.png"/><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44.png"/><Relationship Id="rId2" Type="http://schemas.openxmlformats.org/officeDocument/2006/relationships/notesSlide" Target="../notesSlides/notesSlide28.xml"/><Relationship Id="rId1" Type="http://schemas.openxmlformats.org/officeDocument/2006/relationships/slideLayout" Target="../slideLayouts/slideLayout6.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6.xml"/><Relationship Id="rId5" Type="http://schemas.openxmlformats.org/officeDocument/2006/relationships/image" Target="../media/image45.png"/><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6.xml"/><Relationship Id="rId5" Type="http://schemas.openxmlformats.org/officeDocument/2006/relationships/image" Target="../media/image46.jpeg"/><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3.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6.xml"/><Relationship Id="rId6" Type="http://schemas.openxmlformats.org/officeDocument/2006/relationships/image" Target="../media/image46.jpeg"/><Relationship Id="rId5" Type="http://schemas.openxmlformats.org/officeDocument/2006/relationships/image" Target="../media/image44.png"/><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6.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10.png"/></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6.xml"/><Relationship Id="rId1" Type="http://schemas.openxmlformats.org/officeDocument/2006/relationships/slideLayout" Target="../slideLayouts/slideLayout6.xml"/><Relationship Id="rId6" Type="http://schemas.openxmlformats.org/officeDocument/2006/relationships/image" Target="../media/image50.png"/><Relationship Id="rId5" Type="http://schemas.openxmlformats.org/officeDocument/2006/relationships/customXml" Target="../ink/ink1.xml"/><Relationship Id="rId4" Type="http://schemas.openxmlformats.org/officeDocument/2006/relationships/image" Target="../media/image49.png"/></Relationships>
</file>

<file path=ppt/slides/_rels/slide37.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54.png"/><Relationship Id="rId18" Type="http://schemas.openxmlformats.org/officeDocument/2006/relationships/image" Target="../media/image50.png"/><Relationship Id="rId3" Type="http://schemas.openxmlformats.org/officeDocument/2006/relationships/image" Target="../media/image9.png"/><Relationship Id="rId7" Type="http://schemas.openxmlformats.org/officeDocument/2006/relationships/customXml" Target="../ink/ink3.xml"/><Relationship Id="rId12" Type="http://schemas.openxmlformats.org/officeDocument/2006/relationships/customXml" Target="../ink/ink7.xml"/><Relationship Id="rId17" Type="http://schemas.openxmlformats.org/officeDocument/2006/relationships/customXml" Target="../ink/ink11.xml"/><Relationship Id="rId2" Type="http://schemas.openxmlformats.org/officeDocument/2006/relationships/notesSlide" Target="../notesSlides/notesSlide37.xml"/><Relationship Id="rId16" Type="http://schemas.openxmlformats.org/officeDocument/2006/relationships/customXml" Target="../ink/ink10.xml"/><Relationship Id="rId20" Type="http://schemas.openxmlformats.org/officeDocument/2006/relationships/customXml" Target="../ink/ink13.xml"/><Relationship Id="rId1" Type="http://schemas.openxmlformats.org/officeDocument/2006/relationships/slideLayout" Target="../slideLayouts/slideLayout6.xml"/><Relationship Id="rId6" Type="http://schemas.openxmlformats.org/officeDocument/2006/relationships/image" Target="../media/image52.png"/><Relationship Id="rId11" Type="http://schemas.openxmlformats.org/officeDocument/2006/relationships/customXml" Target="../ink/ink6.xml"/><Relationship Id="rId5" Type="http://schemas.openxmlformats.org/officeDocument/2006/relationships/customXml" Target="../ink/ink2.xml"/><Relationship Id="rId15" Type="http://schemas.openxmlformats.org/officeDocument/2006/relationships/customXml" Target="../ink/ink9.xml"/><Relationship Id="rId10" Type="http://schemas.openxmlformats.org/officeDocument/2006/relationships/customXml" Target="../ink/ink5.xml"/><Relationship Id="rId19" Type="http://schemas.openxmlformats.org/officeDocument/2006/relationships/customXml" Target="../ink/ink12.xml"/><Relationship Id="rId4" Type="http://schemas.openxmlformats.org/officeDocument/2006/relationships/image" Target="../media/image51.png"/><Relationship Id="rId9" Type="http://schemas.openxmlformats.org/officeDocument/2006/relationships/customXml" Target="../ink/ink4.xml"/><Relationship Id="rId14" Type="http://schemas.openxmlformats.org/officeDocument/2006/relationships/customXml" Target="../ink/ink8.xm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8.xml"/><Relationship Id="rId1" Type="http://schemas.openxmlformats.org/officeDocument/2006/relationships/slideLayout" Target="../slideLayouts/slideLayout6.xml"/><Relationship Id="rId4" Type="http://schemas.openxmlformats.org/officeDocument/2006/relationships/image" Target="../media/image55.png"/></Relationships>
</file>

<file path=ppt/slides/_rels/slide3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9.xml"/><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9.png"/></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0.xml"/><Relationship Id="rId1" Type="http://schemas.openxmlformats.org/officeDocument/2006/relationships/slideLayout" Target="../slideLayouts/slideLayout6.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10.png"/></Relationships>
</file>

<file path=ppt/slides/_rels/slide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1.xml"/><Relationship Id="rId1" Type="http://schemas.openxmlformats.org/officeDocument/2006/relationships/slideLayout" Target="../slideLayouts/slideLayout6.xml"/><Relationship Id="rId5" Type="http://schemas.openxmlformats.org/officeDocument/2006/relationships/image" Target="../media/image59.png"/><Relationship Id="rId4" Type="http://schemas.openxmlformats.org/officeDocument/2006/relationships/image" Target="../media/image10.png"/></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2.xml"/><Relationship Id="rId1" Type="http://schemas.openxmlformats.org/officeDocument/2006/relationships/slideLayout" Target="../slideLayouts/slideLayout6.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10.png"/></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3.xml"/><Relationship Id="rId1" Type="http://schemas.openxmlformats.org/officeDocument/2006/relationships/slideLayout" Target="../slideLayouts/slideLayout6.xml"/><Relationship Id="rId5" Type="http://schemas.openxmlformats.org/officeDocument/2006/relationships/image" Target="../media/image62.png"/><Relationship Id="rId4" Type="http://schemas.openxmlformats.org/officeDocument/2006/relationships/image" Target="../media/image10.png"/></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4.xml"/><Relationship Id="rId1" Type="http://schemas.openxmlformats.org/officeDocument/2006/relationships/slideLayout" Target="../slideLayouts/slideLayout6.xml"/><Relationship Id="rId6" Type="http://schemas.openxmlformats.org/officeDocument/2006/relationships/image" Target="../media/image44.png"/><Relationship Id="rId5" Type="http://schemas.openxmlformats.org/officeDocument/2006/relationships/image" Target="../media/image62.png"/><Relationship Id="rId4" Type="http://schemas.openxmlformats.org/officeDocument/2006/relationships/image" Target="../media/image10.png"/></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5.xml"/><Relationship Id="rId1" Type="http://schemas.openxmlformats.org/officeDocument/2006/relationships/slideLayout" Target="../slideLayouts/slideLayout6.xml"/><Relationship Id="rId5" Type="http://schemas.openxmlformats.org/officeDocument/2006/relationships/image" Target="../media/image62.png"/><Relationship Id="rId4" Type="http://schemas.openxmlformats.org/officeDocument/2006/relationships/image" Target="../media/image10.png"/></Relationships>
</file>

<file path=ppt/slides/_rels/slide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6.xml"/><Relationship Id="rId1" Type="http://schemas.openxmlformats.org/officeDocument/2006/relationships/slideLayout" Target="../slideLayouts/slideLayout6.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10.png"/></Relationships>
</file>

<file path=ppt/slides/_rels/slide4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7.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66.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9.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5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0.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5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1.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5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2.xml"/><Relationship Id="rId1" Type="http://schemas.openxmlformats.org/officeDocument/2006/relationships/slideLayout" Target="../slideLayouts/slideLayout6.xml"/><Relationship Id="rId5" Type="http://schemas.openxmlformats.org/officeDocument/2006/relationships/image" Target="../media/image67.png"/><Relationship Id="rId4" Type="http://schemas.openxmlformats.org/officeDocument/2006/relationships/image" Target="../media/image10.png"/></Relationships>
</file>

<file path=ppt/slides/_rels/slide5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3.xml"/><Relationship Id="rId1" Type="http://schemas.openxmlformats.org/officeDocument/2006/relationships/slideLayout" Target="../slideLayouts/slideLayout6.xml"/><Relationship Id="rId5" Type="http://schemas.openxmlformats.org/officeDocument/2006/relationships/image" Target="../media/image67.png"/><Relationship Id="rId4" Type="http://schemas.openxmlformats.org/officeDocument/2006/relationships/image" Target="../media/image10.png"/></Relationships>
</file>

<file path=ppt/slides/_rels/slide5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4.xml"/><Relationship Id="rId1" Type="http://schemas.openxmlformats.org/officeDocument/2006/relationships/slideLayout" Target="../slideLayouts/slideLayout6.xml"/><Relationship Id="rId6" Type="http://schemas.openxmlformats.org/officeDocument/2006/relationships/image" Target="../media/image69.png"/><Relationship Id="rId5" Type="http://schemas.openxmlformats.org/officeDocument/2006/relationships/image" Target="../media/image10.png"/><Relationship Id="rId4" Type="http://schemas.openxmlformats.org/officeDocument/2006/relationships/image" Target="../media/image9.png"/></Relationships>
</file>

<file path=ppt/slides/_rels/slide5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5.xml"/><Relationship Id="rId1" Type="http://schemas.openxmlformats.org/officeDocument/2006/relationships/slideLayout" Target="../slideLayouts/slideLayout6.xml"/><Relationship Id="rId5" Type="http://schemas.openxmlformats.org/officeDocument/2006/relationships/image" Target="../media/image70.png"/><Relationship Id="rId4" Type="http://schemas.openxmlformats.org/officeDocument/2006/relationships/image" Target="../media/image10.png"/></Relationships>
</file>

<file path=ppt/slides/_rels/slide5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6.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5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7.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5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8.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5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9.xml"/><Relationship Id="rId1" Type="http://schemas.openxmlformats.org/officeDocument/2006/relationships/slideLayout" Target="../slideLayouts/slideLayout6.xml"/><Relationship Id="rId5" Type="http://schemas.openxmlformats.org/officeDocument/2006/relationships/image" Target="../media/image71.png"/><Relationship Id="rId4" Type="http://schemas.openxmlformats.org/officeDocument/2006/relationships/image" Target="../media/image10.png"/></Relationships>
</file>

<file path=ppt/slides/_rels/slide6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0.xml"/><Relationship Id="rId1" Type="http://schemas.openxmlformats.org/officeDocument/2006/relationships/slideLayout" Target="../slideLayouts/slideLayout6.xml"/><Relationship Id="rId5" Type="http://schemas.openxmlformats.org/officeDocument/2006/relationships/image" Target="../media/image43.png"/><Relationship Id="rId4" Type="http://schemas.openxmlformats.org/officeDocument/2006/relationships/image" Target="../media/image10.png"/></Relationships>
</file>

<file path=ppt/slides/_rels/slide61.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hyperlink" Target="https://en.wikipedia.org/wiki/Euler's_formula" TargetMode="External"/><Relationship Id="rId7" Type="http://schemas.openxmlformats.org/officeDocument/2006/relationships/image" Target="../media/image73.png"/><Relationship Id="rId2" Type="http://schemas.openxmlformats.org/officeDocument/2006/relationships/notesSlide" Target="../notesSlides/notesSlide61.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72.png"/></Relationships>
</file>

<file path=ppt/slides/_rels/slide6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2.xml"/><Relationship Id="rId1" Type="http://schemas.openxmlformats.org/officeDocument/2006/relationships/slideLayout" Target="../slideLayouts/slideLayout6.xml"/><Relationship Id="rId5" Type="http://schemas.openxmlformats.org/officeDocument/2006/relationships/image" Target="../media/image75.png"/><Relationship Id="rId4" Type="http://schemas.openxmlformats.org/officeDocument/2006/relationships/image" Target="../media/image10.png"/></Relationships>
</file>

<file path=ppt/slides/_rels/slide6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63.xml"/><Relationship Id="rId1" Type="http://schemas.openxmlformats.org/officeDocument/2006/relationships/slideLayout" Target="../slideLayouts/slideLayout6.xml"/><Relationship Id="rId6" Type="http://schemas.openxmlformats.org/officeDocument/2006/relationships/image" Target="../media/image75.png"/><Relationship Id="rId5" Type="http://schemas.openxmlformats.org/officeDocument/2006/relationships/image" Target="../media/image10.png"/><Relationship Id="rId4" Type="http://schemas.openxmlformats.org/officeDocument/2006/relationships/image" Target="../media/image9.png"/></Relationships>
</file>

<file path=ppt/slides/_rels/slide6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4.xml"/><Relationship Id="rId1" Type="http://schemas.openxmlformats.org/officeDocument/2006/relationships/slideLayout" Target="../slideLayouts/slideLayout6.xml"/><Relationship Id="rId5" Type="http://schemas.openxmlformats.org/officeDocument/2006/relationships/image" Target="../media/image77.png"/><Relationship Id="rId4" Type="http://schemas.openxmlformats.org/officeDocument/2006/relationships/image" Target="../media/image10.png"/></Relationships>
</file>

<file path=ppt/slides/_rels/slide6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5.xml"/><Relationship Id="rId1" Type="http://schemas.openxmlformats.org/officeDocument/2006/relationships/slideLayout" Target="../slideLayouts/slideLayout6.xml"/><Relationship Id="rId5" Type="http://schemas.openxmlformats.org/officeDocument/2006/relationships/image" Target="../media/image77.png"/><Relationship Id="rId4" Type="http://schemas.openxmlformats.org/officeDocument/2006/relationships/image" Target="../media/image10.png"/></Relationships>
</file>

<file path=ppt/slides/_rels/slide6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6.xml"/><Relationship Id="rId1" Type="http://schemas.openxmlformats.org/officeDocument/2006/relationships/slideLayout" Target="../slideLayouts/slideLayout6.xml"/><Relationship Id="rId5" Type="http://schemas.openxmlformats.org/officeDocument/2006/relationships/image" Target="../media/image78.png"/><Relationship Id="rId4" Type="http://schemas.openxmlformats.org/officeDocument/2006/relationships/image" Target="../media/image10.png"/></Relationships>
</file>

<file path=ppt/slides/_rels/slide6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7.xml"/><Relationship Id="rId1" Type="http://schemas.openxmlformats.org/officeDocument/2006/relationships/slideLayout" Target="../slideLayouts/slideLayout6.xml"/><Relationship Id="rId5" Type="http://schemas.openxmlformats.org/officeDocument/2006/relationships/image" Target="../media/image79.png"/><Relationship Id="rId4" Type="http://schemas.openxmlformats.org/officeDocument/2006/relationships/image" Target="../media/image10.png"/></Relationships>
</file>

<file path=ppt/slides/_rels/slide68.xml.rels><?xml version="1.0" encoding="UTF-8" standalone="yes"?>
<Relationships xmlns="http://schemas.openxmlformats.org/package/2006/relationships"><Relationship Id="rId3" Type="http://schemas.openxmlformats.org/officeDocument/2006/relationships/image" Target="../media/image80.png"/><Relationship Id="rId7" Type="http://schemas.openxmlformats.org/officeDocument/2006/relationships/image" Target="../media/image82.png"/><Relationship Id="rId2" Type="http://schemas.openxmlformats.org/officeDocument/2006/relationships/notesSlide" Target="../notesSlides/notesSlide68.xml"/><Relationship Id="rId1" Type="http://schemas.openxmlformats.org/officeDocument/2006/relationships/slideLayout" Target="../slideLayouts/slideLayout6.xml"/><Relationship Id="rId6" Type="http://schemas.openxmlformats.org/officeDocument/2006/relationships/image" Target="../media/image81.png"/><Relationship Id="rId5" Type="http://schemas.openxmlformats.org/officeDocument/2006/relationships/image" Target="../media/image10.png"/><Relationship Id="rId4" Type="http://schemas.openxmlformats.org/officeDocument/2006/relationships/image" Target="../media/image9.png"/></Relationships>
</file>

<file path=ppt/slides/_rels/slide6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69.xml"/><Relationship Id="rId1" Type="http://schemas.openxmlformats.org/officeDocument/2006/relationships/slideLayout" Target="../slideLayouts/slideLayout6.xml"/><Relationship Id="rId6" Type="http://schemas.openxmlformats.org/officeDocument/2006/relationships/image" Target="../media/image84.png"/><Relationship Id="rId5" Type="http://schemas.openxmlformats.org/officeDocument/2006/relationships/image" Target="../media/image10.png"/><Relationship Id="rId4" Type="http://schemas.openxmlformats.org/officeDocument/2006/relationships/image" Target="../media/image9.png"/></Relationships>
</file>

<file path=ppt/slides/_rels/slide70.xml.rels><?xml version="1.0" encoding="UTF-8" standalone="yes"?>
<Relationships xmlns="http://schemas.openxmlformats.org/package/2006/relationships"><Relationship Id="rId3" Type="http://schemas.openxmlformats.org/officeDocument/2006/relationships/image" Target="../media/image85.png"/><Relationship Id="rId7" Type="http://schemas.openxmlformats.org/officeDocument/2006/relationships/image" Target="../media/image87.png"/><Relationship Id="rId2" Type="http://schemas.openxmlformats.org/officeDocument/2006/relationships/notesSlide" Target="../notesSlides/notesSlide70.xml"/><Relationship Id="rId1" Type="http://schemas.openxmlformats.org/officeDocument/2006/relationships/slideLayout" Target="../slideLayouts/slideLayout6.xml"/><Relationship Id="rId6" Type="http://schemas.openxmlformats.org/officeDocument/2006/relationships/image" Target="../media/image86.png"/><Relationship Id="rId5" Type="http://schemas.openxmlformats.org/officeDocument/2006/relationships/image" Target="../media/image10.png"/><Relationship Id="rId4" Type="http://schemas.openxmlformats.org/officeDocument/2006/relationships/image" Target="../media/image9.png"/></Relationships>
</file>

<file path=ppt/slides/_rels/slide7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90.png"/><Relationship Id="rId2" Type="http://schemas.openxmlformats.org/officeDocument/2006/relationships/notesSlide" Target="../notesSlides/notesSlide71.xml"/><Relationship Id="rId1" Type="http://schemas.openxmlformats.org/officeDocument/2006/relationships/slideLayout" Target="../slideLayouts/slideLayout6.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10.png"/></Relationships>
</file>

<file path=ppt/slides/_rels/slide7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2.xml"/><Relationship Id="rId1" Type="http://schemas.openxmlformats.org/officeDocument/2006/relationships/slideLayout" Target="../slideLayouts/slideLayout6.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10.png"/></Relationships>
</file>

<file path=ppt/slides/_rels/slide7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3.xml"/><Relationship Id="rId1" Type="http://schemas.openxmlformats.org/officeDocument/2006/relationships/slideLayout" Target="../slideLayouts/slideLayout6.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10.png"/></Relationships>
</file>

<file path=ppt/slides/_rels/slide7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4.xml"/><Relationship Id="rId1" Type="http://schemas.openxmlformats.org/officeDocument/2006/relationships/slideLayout" Target="../slideLayouts/slideLayout6.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10.png"/></Relationships>
</file>

<file path=ppt/slides/_rels/slide7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5.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7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6.xml"/><Relationship Id="rId1" Type="http://schemas.openxmlformats.org/officeDocument/2006/relationships/slideLayout" Target="../slideLayouts/slideLayout6.xml"/><Relationship Id="rId5" Type="http://schemas.openxmlformats.org/officeDocument/2006/relationships/image" Target="../media/image96.emf"/><Relationship Id="rId4" Type="http://schemas.openxmlformats.org/officeDocument/2006/relationships/image" Target="../media/image10.png"/></Relationships>
</file>

<file path=ppt/slides/_rels/slide7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7.xml"/><Relationship Id="rId1" Type="http://schemas.openxmlformats.org/officeDocument/2006/relationships/slideLayout" Target="../slideLayouts/slideLayout6.xml"/><Relationship Id="rId5" Type="http://schemas.openxmlformats.org/officeDocument/2006/relationships/image" Target="../media/image97.emf"/><Relationship Id="rId4" Type="http://schemas.openxmlformats.org/officeDocument/2006/relationships/image" Target="../media/image10.png"/></Relationships>
</file>

<file path=ppt/slides/_rels/slide7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8.xml"/><Relationship Id="rId1" Type="http://schemas.openxmlformats.org/officeDocument/2006/relationships/slideLayout" Target="../slideLayouts/slideLayout6.xml"/><Relationship Id="rId5" Type="http://schemas.openxmlformats.org/officeDocument/2006/relationships/image" Target="../media/image98.emf"/><Relationship Id="rId4" Type="http://schemas.openxmlformats.org/officeDocument/2006/relationships/image" Target="../media/image10.png"/></Relationships>
</file>

<file path=ppt/slides/_rels/slide7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9.xml"/><Relationship Id="rId1" Type="http://schemas.openxmlformats.org/officeDocument/2006/relationships/slideLayout" Target="../slideLayouts/slideLayout6.xml"/><Relationship Id="rId5" Type="http://schemas.openxmlformats.org/officeDocument/2006/relationships/image" Target="../media/image99.emf"/><Relationship Id="rId4" Type="http://schemas.openxmlformats.org/officeDocument/2006/relationships/image" Target="../media/image10.png"/></Relationships>
</file>

<file path=ppt/slides/_rels/slide80.xml.rels><?xml version="1.0" encoding="UTF-8" standalone="yes"?>
<Relationships xmlns="http://schemas.openxmlformats.org/package/2006/relationships"><Relationship Id="rId3" Type="http://schemas.openxmlformats.org/officeDocument/2006/relationships/hyperlink" Target="https://www.kushiro-ct.ac.jp/yanagawa/sp-2023/src/pcm/" TargetMode="External"/><Relationship Id="rId7" Type="http://schemas.openxmlformats.org/officeDocument/2006/relationships/image" Target="../media/image100.emf"/><Relationship Id="rId2" Type="http://schemas.openxmlformats.org/officeDocument/2006/relationships/notesSlide" Target="../notesSlides/notesSlide80.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hyperlink" Target="https://www.kushiro-ct.ac.jp/yanagawa/sp-2023/src/pcm.tgz" TargetMode="External"/></Relationships>
</file>

<file path=ppt/slides/_rels/slide8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1.xml"/><Relationship Id="rId1" Type="http://schemas.openxmlformats.org/officeDocument/2006/relationships/slideLayout" Target="../slideLayouts/slideLayout6.xml"/><Relationship Id="rId6" Type="http://schemas.openxmlformats.org/officeDocument/2006/relationships/image" Target="../media/image102.emf"/><Relationship Id="rId5" Type="http://schemas.openxmlformats.org/officeDocument/2006/relationships/image" Target="../media/image101.emf"/><Relationship Id="rId4" Type="http://schemas.openxmlformats.org/officeDocument/2006/relationships/image" Target="../media/image10.png"/></Relationships>
</file>

<file path=ppt/slides/_rels/slide8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2.xml"/><Relationship Id="rId1" Type="http://schemas.openxmlformats.org/officeDocument/2006/relationships/slideLayout" Target="../slideLayouts/slideLayout6.xml"/><Relationship Id="rId6" Type="http://schemas.openxmlformats.org/officeDocument/2006/relationships/image" Target="../media/image104.emf"/><Relationship Id="rId5" Type="http://schemas.openxmlformats.org/officeDocument/2006/relationships/image" Target="../media/image103.emf"/><Relationship Id="rId4" Type="http://schemas.openxmlformats.org/officeDocument/2006/relationships/image" Target="../media/image10.png"/></Relationships>
</file>

<file path=ppt/slides/_rels/slide8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3.xml"/><Relationship Id="rId1" Type="http://schemas.openxmlformats.org/officeDocument/2006/relationships/slideLayout" Target="../slideLayouts/slideLayout6.xml"/><Relationship Id="rId5" Type="http://schemas.openxmlformats.org/officeDocument/2006/relationships/image" Target="../media/image105.emf"/><Relationship Id="rId4" Type="http://schemas.openxmlformats.org/officeDocument/2006/relationships/image" Target="../media/image10.png"/></Relationships>
</file>

<file path=ppt/slides/_rels/slide8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4.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8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5.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8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6.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8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7.xml"/><Relationship Id="rId1" Type="http://schemas.openxmlformats.org/officeDocument/2006/relationships/slideLayout" Target="../slideLayouts/slideLayout6.xml"/><Relationship Id="rId5" Type="http://schemas.openxmlformats.org/officeDocument/2006/relationships/image" Target="../media/image106.emf"/><Relationship Id="rId4" Type="http://schemas.openxmlformats.org/officeDocument/2006/relationships/image" Target="../media/image10.png"/></Relationships>
</file>

<file path=ppt/slides/_rels/slide8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8.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8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9.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9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0.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9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1.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92.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92.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9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3.xml"/><Relationship Id="rId1" Type="http://schemas.openxmlformats.org/officeDocument/2006/relationships/slideLayout" Target="../slideLayouts/slideLayout6.xml"/><Relationship Id="rId5" Type="http://schemas.openxmlformats.org/officeDocument/2006/relationships/image" Target="../media/image108.png"/><Relationship Id="rId4" Type="http://schemas.openxmlformats.org/officeDocument/2006/relationships/image" Target="../media/image10.png"/></Relationships>
</file>

<file path=ppt/slides/_rels/slide94.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94.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9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5.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9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6.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97.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97.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98.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98.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99.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99.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100.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00.xml"/><Relationship Id="rId1" Type="http://schemas.openxmlformats.org/officeDocument/2006/relationships/slideLayout" Target="../slideLayouts/slideLayout6.xml"/><Relationship Id="rId6" Type="http://schemas.openxmlformats.org/officeDocument/2006/relationships/image" Target="../media/image114.png"/><Relationship Id="rId5" Type="http://schemas.openxmlformats.org/officeDocument/2006/relationships/image" Target="../media/image10.png"/><Relationship Id="rId4" Type="http://schemas.openxmlformats.org/officeDocument/2006/relationships/image" Target="../media/image9.png"/></Relationships>
</file>

<file path=ppt/slides/_rels/slide101.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01.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102.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102.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10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3.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0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4.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0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5.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0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6.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0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7.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0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8.xml"/><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09.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10.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10.xml"/><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107.png"/></Relationships>
</file>

<file path=ppt/slides/_rels/slide111.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111.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12.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12.xml"/><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122.png"/><Relationship Id="rId4" Type="http://schemas.openxmlformats.org/officeDocument/2006/relationships/image" Target="../media/image121.png"/></Relationships>
</file>

<file path=ppt/slides/_rels/slide113.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113.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4.xml"/><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5.xml"/><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116.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17.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117.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8.xml"/><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9.xml"/><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0.xml"/><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1.xml"/><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8" Type="http://schemas.openxmlformats.org/officeDocument/2006/relationships/hyperlink" Target="https://en.wikipedia.org/wiki/Sampling_(signal_processing)#cite_note-1" TargetMode="External"/><Relationship Id="rId3" Type="http://schemas.openxmlformats.org/officeDocument/2006/relationships/hyperlink" Target="https://en.wikipedia.org/wiki/Continuous-time_signal" TargetMode="External"/><Relationship Id="rId7" Type="http://schemas.openxmlformats.org/officeDocument/2006/relationships/hyperlink" Target="https://en.wikipedia.org/wiki/Sampling_(statistics)" TargetMode="External"/><Relationship Id="rId2" Type="http://schemas.openxmlformats.org/officeDocument/2006/relationships/notesSlide" Target="../notesSlides/notesSlide122.xml"/><Relationship Id="rId1" Type="http://schemas.openxmlformats.org/officeDocument/2006/relationships/slideLayout" Target="../slideLayouts/slideLayout6.xml"/><Relationship Id="rId6" Type="http://schemas.openxmlformats.org/officeDocument/2006/relationships/hyperlink" Target="https://en.wikipedia.org/wiki/Signal" TargetMode="External"/><Relationship Id="rId5" Type="http://schemas.openxmlformats.org/officeDocument/2006/relationships/hyperlink" Target="https://en.wikipedia.org/wiki/Sound_wave" TargetMode="External"/><Relationship Id="rId4" Type="http://schemas.openxmlformats.org/officeDocument/2006/relationships/hyperlink" Target="https://en.wikipedia.org/wiki/Discrete-time_signal" TargetMode="External"/><Relationship Id="rId9" Type="http://schemas.openxmlformats.org/officeDocument/2006/relationships/image" Target="../media/image9.png"/></Relationships>
</file>

<file path=ppt/slides/_rels/slide12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hyperlink" Target="https://en.wikipedia.org/wiki/Digital_signal_processing" TargetMode="External"/><Relationship Id="rId7" Type="http://schemas.openxmlformats.org/officeDocument/2006/relationships/hyperlink" Target="https://en.wikipedia.org/wiki/Analog-to-digital_converter" TargetMode="External"/><Relationship Id="rId2" Type="http://schemas.openxmlformats.org/officeDocument/2006/relationships/notesSlide" Target="../notesSlides/notesSlide123.xml"/><Relationship Id="rId1" Type="http://schemas.openxmlformats.org/officeDocument/2006/relationships/slideLayout" Target="../slideLayouts/slideLayout6.xml"/><Relationship Id="rId6" Type="http://schemas.openxmlformats.org/officeDocument/2006/relationships/hyperlink" Target="https://en.wikipedia.org/wiki/Truncation" TargetMode="External"/><Relationship Id="rId5" Type="http://schemas.openxmlformats.org/officeDocument/2006/relationships/hyperlink" Target="https://en.wikipedia.org/wiki/Rounding" TargetMode="External"/><Relationship Id="rId4" Type="http://schemas.openxmlformats.org/officeDocument/2006/relationships/hyperlink" Target="https://en.wikipedia.org/wiki/Cardinality" TargetMode="External"/></Relationships>
</file>

<file path=ppt/slides/_rels/slide1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4.xml"/><Relationship Id="rId1" Type="http://schemas.openxmlformats.org/officeDocument/2006/relationships/slideLayout" Target="../slideLayouts/slideLayout6.xml"/></Relationships>
</file>

<file path=ppt/slides/_rels/slide125.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25.xml"/><Relationship Id="rId1" Type="http://schemas.openxmlformats.org/officeDocument/2006/relationships/slideLayout" Target="../slideLayouts/slideLayout6.xml"/><Relationship Id="rId6" Type="http://schemas.openxmlformats.org/officeDocument/2006/relationships/image" Target="../media/image129.png"/><Relationship Id="rId5" Type="http://schemas.openxmlformats.org/officeDocument/2006/relationships/image" Target="../media/image128.png"/><Relationship Id="rId4" Type="http://schemas.openxmlformats.org/officeDocument/2006/relationships/image" Target="../media/image127.jpeg"/></Relationships>
</file>

<file path=ppt/slides/_rels/slide126.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26.xml"/><Relationship Id="rId1" Type="http://schemas.openxmlformats.org/officeDocument/2006/relationships/slideLayout" Target="../slideLayouts/slideLayout6.xml"/><Relationship Id="rId6" Type="http://schemas.openxmlformats.org/officeDocument/2006/relationships/image" Target="../media/image119.png"/><Relationship Id="rId5" Type="http://schemas.openxmlformats.org/officeDocument/2006/relationships/image" Target="../media/image128.png"/><Relationship Id="rId4" Type="http://schemas.openxmlformats.org/officeDocument/2006/relationships/image" Target="../media/image127.jpeg"/></Relationships>
</file>

<file path=ppt/slides/_rels/slide127.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27.xml"/><Relationship Id="rId1" Type="http://schemas.openxmlformats.org/officeDocument/2006/relationships/slideLayout" Target="../slideLayouts/slideLayout6.xml"/><Relationship Id="rId6" Type="http://schemas.openxmlformats.org/officeDocument/2006/relationships/image" Target="../media/image130.png"/><Relationship Id="rId5" Type="http://schemas.openxmlformats.org/officeDocument/2006/relationships/image" Target="../media/image128.png"/><Relationship Id="rId4" Type="http://schemas.openxmlformats.org/officeDocument/2006/relationships/image" Target="../media/image127.jpeg"/></Relationships>
</file>

<file path=ppt/slides/_rels/slide128.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28.xml"/><Relationship Id="rId1" Type="http://schemas.openxmlformats.org/officeDocument/2006/relationships/slideLayout" Target="../slideLayouts/slideLayout6.xml"/><Relationship Id="rId6" Type="http://schemas.openxmlformats.org/officeDocument/2006/relationships/image" Target="../media/image131.png"/><Relationship Id="rId5" Type="http://schemas.openxmlformats.org/officeDocument/2006/relationships/image" Target="../media/image128.png"/><Relationship Id="rId4" Type="http://schemas.openxmlformats.org/officeDocument/2006/relationships/image" Target="../media/image127.jpeg"/></Relationships>
</file>

<file path=ppt/slides/_rels/slide129.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29.xml"/><Relationship Id="rId1" Type="http://schemas.openxmlformats.org/officeDocument/2006/relationships/slideLayout" Target="../slideLayouts/slideLayout6.xml"/><Relationship Id="rId6" Type="http://schemas.openxmlformats.org/officeDocument/2006/relationships/image" Target="../media/image132.png"/><Relationship Id="rId5" Type="http://schemas.openxmlformats.org/officeDocument/2006/relationships/image" Target="../media/image128.png"/><Relationship Id="rId4" Type="http://schemas.openxmlformats.org/officeDocument/2006/relationships/image" Target="../media/image127.jpeg"/></Relationships>
</file>

<file path=ppt/slides/_rels/slide130.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30.xml"/><Relationship Id="rId1" Type="http://schemas.openxmlformats.org/officeDocument/2006/relationships/slideLayout" Target="../slideLayouts/slideLayout6.xml"/><Relationship Id="rId5" Type="http://schemas.openxmlformats.org/officeDocument/2006/relationships/image" Target="../media/image128.png"/><Relationship Id="rId4" Type="http://schemas.openxmlformats.org/officeDocument/2006/relationships/image" Target="../media/image127.jpeg"/></Relationships>
</file>

<file path=ppt/slides/_rels/slide131.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31.xml"/><Relationship Id="rId1" Type="http://schemas.openxmlformats.org/officeDocument/2006/relationships/slideLayout" Target="../slideLayouts/slideLayout6.xml"/><Relationship Id="rId6" Type="http://schemas.openxmlformats.org/officeDocument/2006/relationships/image" Target="../media/image133.png"/><Relationship Id="rId5" Type="http://schemas.openxmlformats.org/officeDocument/2006/relationships/image" Target="../media/image128.png"/><Relationship Id="rId4" Type="http://schemas.openxmlformats.org/officeDocument/2006/relationships/image" Target="../media/image127.jpeg"/></Relationships>
</file>

<file path=ppt/slides/_rels/slide132.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32.xml"/><Relationship Id="rId1" Type="http://schemas.openxmlformats.org/officeDocument/2006/relationships/slideLayout" Target="../slideLayouts/slideLayout6.xml"/><Relationship Id="rId5" Type="http://schemas.openxmlformats.org/officeDocument/2006/relationships/image" Target="../media/image128.png"/><Relationship Id="rId4" Type="http://schemas.openxmlformats.org/officeDocument/2006/relationships/image" Target="../media/image127.jpeg"/></Relationships>
</file>

<file path=ppt/slides/_rels/slide133.xml.rels><?xml version="1.0" encoding="UTF-8" standalone="yes"?>
<Relationships xmlns="http://schemas.openxmlformats.org/package/2006/relationships"><Relationship Id="rId8" Type="http://schemas.openxmlformats.org/officeDocument/2006/relationships/image" Target="../media/image135.png"/><Relationship Id="rId3" Type="http://schemas.openxmlformats.org/officeDocument/2006/relationships/image" Target="../media/image126.jpeg"/><Relationship Id="rId7" Type="http://schemas.openxmlformats.org/officeDocument/2006/relationships/image" Target="../media/image134.emf"/><Relationship Id="rId2" Type="http://schemas.openxmlformats.org/officeDocument/2006/relationships/notesSlide" Target="../notesSlides/notesSlide133.xml"/><Relationship Id="rId1" Type="http://schemas.openxmlformats.org/officeDocument/2006/relationships/slideLayout" Target="../slideLayouts/slideLayout6.xml"/><Relationship Id="rId6" Type="http://schemas.openxmlformats.org/officeDocument/2006/relationships/package" Target="../embeddings/Microsoft_Excel_Worksheet_EE8DF5A2.xlsx"/><Relationship Id="rId5" Type="http://schemas.openxmlformats.org/officeDocument/2006/relationships/image" Target="../media/image128.png"/><Relationship Id="rId4" Type="http://schemas.openxmlformats.org/officeDocument/2006/relationships/image" Target="../media/image127.jpeg"/></Relationships>
</file>

<file path=ppt/slides/_rels/slide134.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34.xml"/><Relationship Id="rId1" Type="http://schemas.openxmlformats.org/officeDocument/2006/relationships/slideLayout" Target="../slideLayouts/slideLayout6.xml"/><Relationship Id="rId5" Type="http://schemas.openxmlformats.org/officeDocument/2006/relationships/image" Target="../media/image128.png"/><Relationship Id="rId4" Type="http://schemas.openxmlformats.org/officeDocument/2006/relationships/image" Target="../media/image127.jpeg"/></Relationships>
</file>

<file path=ppt/slides/_rels/slide135.xml.rels><?xml version="1.0" encoding="UTF-8" standalone="yes"?>
<Relationships xmlns="http://schemas.openxmlformats.org/package/2006/relationships"><Relationship Id="rId3" Type="http://schemas.openxmlformats.org/officeDocument/2006/relationships/image" Target="../media/image126.jpeg"/><Relationship Id="rId7" Type="http://schemas.openxmlformats.org/officeDocument/2006/relationships/image" Target="../media/image137.png"/><Relationship Id="rId2" Type="http://schemas.openxmlformats.org/officeDocument/2006/relationships/notesSlide" Target="../notesSlides/notesSlide135.xml"/><Relationship Id="rId1" Type="http://schemas.openxmlformats.org/officeDocument/2006/relationships/slideLayout" Target="../slideLayouts/slideLayout6.xml"/><Relationship Id="rId6" Type="http://schemas.openxmlformats.org/officeDocument/2006/relationships/image" Target="../media/image136.png"/><Relationship Id="rId5" Type="http://schemas.openxmlformats.org/officeDocument/2006/relationships/image" Target="../media/image128.png"/><Relationship Id="rId4" Type="http://schemas.openxmlformats.org/officeDocument/2006/relationships/image" Target="../media/image127.jpeg"/></Relationships>
</file>

<file path=ppt/slides/_rels/slide136.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36.xml"/><Relationship Id="rId1" Type="http://schemas.openxmlformats.org/officeDocument/2006/relationships/slideLayout" Target="../slideLayouts/slideLayout6.xml"/><Relationship Id="rId5" Type="http://schemas.openxmlformats.org/officeDocument/2006/relationships/image" Target="../media/image128.png"/><Relationship Id="rId4" Type="http://schemas.openxmlformats.org/officeDocument/2006/relationships/image" Target="../media/image127.jpeg"/></Relationships>
</file>

<file path=ppt/slides/_rels/slide137.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37.xml"/><Relationship Id="rId1" Type="http://schemas.openxmlformats.org/officeDocument/2006/relationships/slideLayout" Target="../slideLayouts/slideLayout6.xml"/><Relationship Id="rId5" Type="http://schemas.openxmlformats.org/officeDocument/2006/relationships/image" Target="../media/image128.png"/><Relationship Id="rId4" Type="http://schemas.openxmlformats.org/officeDocument/2006/relationships/image" Target="../media/image12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1780580"/>
            <a:ext cx="12192000" cy="3046988"/>
          </a:xfrm>
          <a:prstGeom prst="rect">
            <a:avLst/>
          </a:prstGeom>
          <a:noFill/>
        </p:spPr>
        <p:txBody>
          <a:bodyPr wrap="square" rtlCol="0">
            <a:spAutoFit/>
          </a:bodyPr>
          <a:lstStyle/>
          <a:p>
            <a:r>
              <a:rPr lang="en-US" sz="2000" b="1">
                <a:solidFill>
                  <a:srgbClr val="B60225"/>
                </a:solidFill>
              </a:rPr>
              <a:t>     </a:t>
            </a:r>
          </a:p>
          <a:p>
            <a:endParaRPr lang="en-US" sz="2000" b="1">
              <a:solidFill>
                <a:srgbClr val="B60225"/>
              </a:solidFill>
            </a:endParaRPr>
          </a:p>
          <a:p>
            <a:endParaRPr lang="en-US" sz="2000" b="1">
              <a:solidFill>
                <a:srgbClr val="B60225"/>
              </a:solidFill>
            </a:endParaRPr>
          </a:p>
          <a:p>
            <a:endParaRPr lang="en-US" sz="2000" b="1">
              <a:solidFill>
                <a:srgbClr val="B60225"/>
              </a:solidFill>
            </a:endParaRPr>
          </a:p>
          <a:p>
            <a:r>
              <a:rPr lang="en-US" sz="2000" b="1">
                <a:solidFill>
                  <a:srgbClr val="FF0000"/>
                </a:solidFill>
              </a:rPr>
              <a:t>  </a:t>
            </a:r>
            <a:r>
              <a:rPr lang="en-US" sz="2800">
                <a:solidFill>
                  <a:srgbClr val="FF0000"/>
                </a:solidFill>
              </a:rPr>
              <a:t>                                              </a:t>
            </a:r>
            <a:r>
              <a:rPr lang="en-US" b="1"/>
              <a:t>        Digital Filter 2</a:t>
            </a:r>
          </a:p>
          <a:p>
            <a:r>
              <a:rPr lang="ja-JP" altLang="en-US" sz="2800" b="1"/>
              <a:t>　　　　　　　　　　　　　              ディジタルフィルタ </a:t>
            </a:r>
            <a:r>
              <a:rPr lang="en-US" altLang="ja-JP" sz="2800" b="1"/>
              <a:t>2</a:t>
            </a:r>
            <a:endParaRPr lang="ja-JP" altLang="en-US" sz="2800" b="1"/>
          </a:p>
          <a:p>
            <a:endParaRPr lang="en-US" sz="2800" b="1">
              <a:solidFill>
                <a:srgbClr val="FF0000"/>
              </a:solidFill>
            </a:endParaRPr>
          </a:p>
          <a:p>
            <a:r>
              <a:rPr lang="ja-JP" altLang="en-US" sz="2800" b="1">
                <a:solidFill>
                  <a:srgbClr val="FF0000"/>
                </a:solidFill>
              </a:rPr>
              <a:t>　</a:t>
            </a:r>
            <a:endParaRPr lang="en-US" sz="1400" b="1"/>
          </a:p>
        </p:txBody>
      </p:sp>
      <p:sp>
        <p:nvSpPr>
          <p:cNvPr id="6" name="TextBox 5"/>
          <p:cNvSpPr txBox="1"/>
          <p:nvPr/>
        </p:nvSpPr>
        <p:spPr>
          <a:xfrm>
            <a:off x="4318782" y="2884497"/>
            <a:ext cx="7873218" cy="400110"/>
          </a:xfrm>
          <a:prstGeom prst="rect">
            <a:avLst/>
          </a:prstGeom>
          <a:noFill/>
        </p:spPr>
        <p:txBody>
          <a:bodyPr wrap="square" rtlCol="0">
            <a:spAutoFit/>
          </a:bodyPr>
          <a:lstStyle/>
          <a:p>
            <a:r>
              <a:rPr lang="en-US"/>
              <a:t>			</a:t>
            </a:r>
            <a:endParaRPr lang="en-US" sz="2000"/>
          </a:p>
        </p:txBody>
      </p:sp>
      <p:sp>
        <p:nvSpPr>
          <p:cNvPr id="7" name="TextBox 6"/>
          <p:cNvSpPr txBox="1"/>
          <p:nvPr/>
        </p:nvSpPr>
        <p:spPr>
          <a:xfrm>
            <a:off x="4630366" y="5164053"/>
            <a:ext cx="7561634" cy="1846659"/>
          </a:xfrm>
          <a:prstGeom prst="rect">
            <a:avLst/>
          </a:prstGeom>
          <a:noFill/>
        </p:spPr>
        <p:txBody>
          <a:bodyPr wrap="square" rtlCol="0">
            <a:spAutoFit/>
          </a:bodyPr>
          <a:lstStyle/>
          <a:p>
            <a:pPr algn="r"/>
            <a:r>
              <a:rPr lang="en-US" sz="2000" b="1">
                <a:solidFill>
                  <a:srgbClr val="0099FF"/>
                </a:solidFill>
              </a:rPr>
              <a:t>  </a:t>
            </a:r>
            <a:r>
              <a:rPr lang="en-US" sz="1200" b="1"/>
              <a:t>SILAA, Victor Alex</a:t>
            </a:r>
          </a:p>
          <a:p>
            <a:pPr algn="r"/>
            <a:r>
              <a:rPr lang="zh-TW" altLang="en-US" sz="1200" b="1"/>
              <a:t>釧路工業高等専門学校</a:t>
            </a:r>
            <a:endParaRPr lang="en-US" sz="1200" b="1"/>
          </a:p>
          <a:p>
            <a:pPr algn="r"/>
            <a:r>
              <a:rPr lang="zh-TW" altLang="en-US" sz="1200" b="1"/>
              <a:t>創造工学科</a:t>
            </a:r>
            <a:r>
              <a:rPr lang="en-US" altLang="zh-TW" sz="1200" b="1"/>
              <a:t>(</a:t>
            </a:r>
            <a:r>
              <a:rPr lang="zh-TW" altLang="en-US" sz="1200" b="1"/>
              <a:t>情報分野</a:t>
            </a:r>
            <a:r>
              <a:rPr lang="en-US" altLang="zh-TW" sz="1200" b="1"/>
              <a:t>)</a:t>
            </a:r>
          </a:p>
          <a:p>
            <a:pPr algn="r"/>
            <a:r>
              <a:rPr lang="en-US" altLang="ja-JP" sz="1200" b="1"/>
              <a:t>silaa@kushiro.kosen-ac.jp</a:t>
            </a:r>
          </a:p>
          <a:p>
            <a:pPr algn="r"/>
            <a:endParaRPr lang="en-US" altLang="ja-JP" sz="1200" b="1">
              <a:solidFill>
                <a:srgbClr val="0099FF"/>
              </a:solidFill>
            </a:endParaRPr>
          </a:p>
          <a:p>
            <a:pPr algn="r"/>
            <a:endParaRPr lang="en-US" sz="1200" b="1">
              <a:solidFill>
                <a:srgbClr val="0099FF"/>
              </a:solidFill>
            </a:endParaRPr>
          </a:p>
          <a:p>
            <a:pPr algn="r"/>
            <a:endParaRPr lang="en-US" sz="1400" b="1">
              <a:solidFill>
                <a:srgbClr val="FF0000"/>
              </a:solidFill>
            </a:endParaRPr>
          </a:p>
          <a:p>
            <a:pPr latinLnBrk="1"/>
            <a:endParaRPr lang="en-US" sz="2000"/>
          </a:p>
        </p:txBody>
      </p:sp>
      <p:sp>
        <p:nvSpPr>
          <p:cNvPr id="13" name="Text Placeholder 12"/>
          <p:cNvSpPr>
            <a:spLocks noGrp="1"/>
          </p:cNvSpPr>
          <p:nvPr>
            <p:ph type="body" sz="quarter" idx="12"/>
          </p:nvPr>
        </p:nvSpPr>
        <p:spPr>
          <a:xfrm>
            <a:off x="6654018" y="476327"/>
            <a:ext cx="5537982" cy="377949"/>
          </a:xfrm>
          <a:noFill/>
          <a:ln>
            <a:solidFill>
              <a:schemeClr val="accent1"/>
            </a:solidFill>
          </a:ln>
        </p:spPr>
        <p:txBody>
          <a:bodyPr/>
          <a:lstStyle/>
          <a:p>
            <a:r>
              <a:rPr lang="en-US" b="1"/>
              <a:t>29/06/2026</a:t>
            </a:r>
            <a:r>
              <a:rPr lang="en-US" b="1">
                <a:solidFill>
                  <a:schemeClr val="accent1"/>
                </a:solidFill>
              </a:rPr>
              <a:t>        </a:t>
            </a:r>
            <a:r>
              <a:rPr lang="en-US" b="1">
                <a:solidFill>
                  <a:srgbClr val="FF0000"/>
                </a:solidFill>
              </a:rPr>
              <a:t>         </a:t>
            </a:r>
          </a:p>
        </p:txBody>
      </p:sp>
      <p:cxnSp>
        <p:nvCxnSpPr>
          <p:cNvPr id="17" name="Straight Connector 16"/>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20"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r>
              <a:rPr lang="en-US" sz="1100" b="1">
                <a:solidFill>
                  <a:schemeClr val="bg1"/>
                </a:solidFill>
              </a:rPr>
              <a:t>    </a:t>
            </a:r>
          </a:p>
          <a:p>
            <a:endParaRPr lang="en-US">
              <a:solidFill>
                <a:schemeClr val="bg1"/>
              </a:solidFill>
            </a:endParaRPr>
          </a:p>
        </p:txBody>
      </p:sp>
      <p:cxnSp>
        <p:nvCxnSpPr>
          <p:cNvPr id="21" name="Straight Connector 20"/>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2" name="Straight Connector 21"/>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0" name="図 9"/>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2" name="図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Tree>
    <p:extLst>
      <p:ext uri="{BB962C8B-B14F-4D97-AF65-F5344CB8AC3E}">
        <p14:creationId xmlns:p14="http://schemas.microsoft.com/office/powerpoint/2010/main" val="2884837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3177793"/>
          </a:xfrm>
          <a:prstGeom prst="rect">
            <a:avLst/>
          </a:prstGeom>
          <a:noFill/>
        </p:spPr>
        <p:txBody>
          <a:bodyPr wrap="square" rtlCol="0">
            <a:spAutoFit/>
          </a:bodyPr>
          <a:lstStyle/>
          <a:p>
            <a:pPr algn="just"/>
            <a:endParaRPr lang="en-US" sz="1200"/>
          </a:p>
          <a:p>
            <a:r>
              <a:rPr lang="en-US" altLang="ja-JP" sz="3600"/>
              <a:t>FIR </a:t>
            </a:r>
            <a:r>
              <a:rPr lang="ja-JP" altLang="en-US" sz="3600"/>
              <a:t>フィルタに加えて，</a:t>
            </a:r>
            <a:r>
              <a:rPr lang="en-US" altLang="ja-JP" sz="3600"/>
              <a:t>IIR </a:t>
            </a:r>
            <a:r>
              <a:rPr lang="ja-JP" altLang="en-US" sz="3600"/>
              <a:t>フィルタについても理解しよう</a:t>
            </a:r>
            <a:endParaRPr lang="en-US" altLang="ja-JP" sz="3600"/>
          </a:p>
          <a:p>
            <a:r>
              <a:rPr lang="en-US" altLang="ja-JP" sz="1000"/>
              <a:t>In addition to FIR filters, we will also learn about IIR filters</a:t>
            </a:r>
            <a:r>
              <a:rPr lang="en-US" altLang="ja-JP" sz="1000">
                <a:solidFill>
                  <a:srgbClr val="000000"/>
                </a:solidFill>
                <a:latin typeface="Arial" panose="020B0604020202020204" pitchFamily="34" charset="0"/>
              </a:rPr>
              <a:t>.</a:t>
            </a:r>
          </a:p>
          <a:p>
            <a:endParaRPr lang="ja-JP" altLang="en-US" sz="3600">
              <a:solidFill>
                <a:srgbClr val="000000"/>
              </a:solidFill>
              <a:latin typeface="Arial" panose="020B0604020202020204" pitchFamily="34" charset="0"/>
            </a:endParaRPr>
          </a:p>
          <a:p>
            <a:r>
              <a:rPr lang="ja-JP" altLang="en-US" sz="3600">
                <a:solidFill>
                  <a:srgbClr val="000000"/>
                </a:solidFill>
                <a:latin typeface="Arial" panose="020B0604020202020204" pitchFamily="34" charset="0"/>
              </a:rPr>
              <a:t>教科書の該当範囲：第</a:t>
            </a:r>
            <a:r>
              <a:rPr lang="en-US" altLang="ja-JP" sz="3600">
                <a:solidFill>
                  <a:srgbClr val="000000"/>
                </a:solidFill>
                <a:latin typeface="Arial" panose="020B0604020202020204" pitchFamily="34" charset="0"/>
              </a:rPr>
              <a:t>6</a:t>
            </a:r>
            <a:r>
              <a:rPr lang="ja-JP" altLang="en-US" sz="3600">
                <a:solidFill>
                  <a:srgbClr val="000000"/>
                </a:solidFill>
                <a:latin typeface="Arial" panose="020B0604020202020204" pitchFamily="34" charset="0"/>
              </a:rPr>
              <a:t>章．</a:t>
            </a:r>
            <a:endParaRPr lang="ja-JP" altLang="en-US" sz="3600" b="0" i="0">
              <a:solidFill>
                <a:srgbClr val="000000"/>
              </a:solidFill>
              <a:effectLst/>
              <a:latin typeface="Arial" panose="020B0604020202020204" pitchFamily="34" charset="0"/>
            </a:endParaRPr>
          </a:p>
          <a:p>
            <a:r>
              <a:rPr lang="en-US" altLang="ja-JP" sz="1050"/>
              <a:t>Textbook Coverage: Chapter 6</a:t>
            </a:r>
          </a:p>
          <a:p>
            <a:endParaRPr lang="en-US" altLang="ja-JP" sz="1200"/>
          </a:p>
          <a:p>
            <a:endParaRPr lang="en-US" altLang="ja-JP" sz="1200"/>
          </a:p>
          <a:p>
            <a:endParaRPr lang="en-US" altLang="ja-JP" sz="1200"/>
          </a:p>
          <a:p>
            <a:pPr algn="just"/>
            <a:endParaRPr lang="en-US" sz="1200" b="1">
              <a:latin typeface="Calibri" panose="020F0502020204030204" pitchFamily="34" charset="0"/>
              <a:ea typeface="游明朝" panose="02020400000000000000" pitchFamily="18" charset="-128"/>
              <a:cs typeface="Times New Roman" panose="02020603050405020304" pitchFamily="18" charset="0"/>
            </a:endParaRPr>
          </a:p>
          <a:p>
            <a:pPr algn="just"/>
            <a:endParaRPr lang="en-US" sz="1200" b="1">
              <a:latin typeface="Calibri" panose="020F0502020204030204" pitchFamily="34" charset="0"/>
              <a:ea typeface="游明朝" panose="02020400000000000000" pitchFamily="18" charset="-128"/>
              <a:cs typeface="Times New Roman" panose="02020603050405020304" pitchFamily="18"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4072546" y="252943"/>
            <a:ext cx="4773270"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altLang="en-US" sz="3200" b="1">
                <a:solidFill>
                  <a:schemeClr val="tx1"/>
                </a:solidFill>
              </a:rPr>
              <a:t>目的</a:t>
            </a:r>
            <a:r>
              <a:rPr lang="en-US" altLang="ja-JP" sz="1100" b="1">
                <a:solidFill>
                  <a:schemeClr val="tx1"/>
                </a:solidFill>
              </a:rPr>
              <a:t>Objectives</a:t>
            </a:r>
            <a:r>
              <a:rPr lang="ja-JP" altLang="en-US" sz="3200" b="1">
                <a:solidFill>
                  <a:srgbClr val="FF0000"/>
                </a:solidFill>
              </a:rPr>
              <a:t> </a:t>
            </a:r>
            <a:endParaRPr lang="en-US" sz="3200">
              <a:solidFill>
                <a:srgbClr val="FF0000"/>
              </a:solidFill>
            </a:endParaRPr>
          </a:p>
        </p:txBody>
      </p:sp>
    </p:spTree>
    <p:extLst>
      <p:ext uri="{BB962C8B-B14F-4D97-AF65-F5344CB8AC3E}">
        <p14:creationId xmlns:p14="http://schemas.microsoft.com/office/powerpoint/2010/main" val="912520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278094"/>
          </a:xfrm>
          <a:prstGeom prst="rect">
            <a:avLst/>
          </a:prstGeom>
          <a:noFill/>
        </p:spPr>
        <p:txBody>
          <a:bodyPr wrap="square" rtlCol="0">
            <a:spAutoFit/>
          </a:bodyPr>
          <a:lstStyle/>
          <a:p>
            <a:r>
              <a:rPr lang="ja-JP" altLang="en-US" sz="3200"/>
              <a:t>前回の有限インパルス応答 </a:t>
            </a:r>
            <a:r>
              <a:rPr lang="en-US" altLang="ja-JP" sz="3200"/>
              <a:t>"finite impulse response" </a:t>
            </a:r>
            <a:r>
              <a:rPr lang="ja-JP" altLang="en-US" sz="3200"/>
              <a:t>（</a:t>
            </a:r>
            <a:r>
              <a:rPr lang="en-US" altLang="ja-JP" sz="3200"/>
              <a:t>FIR</a:t>
            </a:r>
            <a:r>
              <a:rPr lang="ja-JP" altLang="en-US" sz="3200"/>
              <a:t>）フィルタについて振り返り． そして，補足も少々</a:t>
            </a:r>
            <a:endParaRPr lang="en-US" altLang="ja-JP" sz="3200"/>
          </a:p>
          <a:p>
            <a:r>
              <a:rPr lang="en-US" altLang="ja-JP" sz="1050"/>
              <a:t>A look back at finite impulse response (FIR) filters from the last lesson, with a few additions</a:t>
            </a:r>
          </a:p>
          <a:p>
            <a:endParaRPr lang="en-US" altLang="ja-JP" sz="1200"/>
          </a:p>
          <a:p>
            <a:endParaRPr lang="en-US" altLang="ja-JP" sz="1200"/>
          </a:p>
          <a:p>
            <a:endParaRPr lang="en-US" altLang="ja-JP" sz="1200"/>
          </a:p>
          <a:p>
            <a:r>
              <a:rPr lang="en-US" altLang="ja-JP" sz="800"/>
              <a:t>  Time response</a:t>
            </a:r>
          </a:p>
          <a:p>
            <a:r>
              <a:rPr lang="ja-JP" altLang="en-US" sz="2800">
                <a:latin typeface="+mn-ea"/>
                <a:ea typeface="+mn-ea"/>
              </a:rPr>
              <a:t>時間応答 </a:t>
            </a:r>
            <a:r>
              <a:rPr lang="en-US" altLang="ja-JP" sz="2800">
                <a:latin typeface="+mn-ea"/>
                <a:ea typeface="+mn-ea"/>
              </a:rPr>
              <a:t>:</a:t>
            </a:r>
          </a:p>
          <a:p>
            <a:endParaRPr lang="en-US" altLang="ja-JP" sz="800">
              <a:solidFill>
                <a:srgbClr val="000000"/>
              </a:solidFill>
              <a:highlight>
                <a:srgbClr val="FFF8DC"/>
              </a:highlight>
              <a:latin typeface="Arial" panose="020B0604020202020204" pitchFamily="34" charset="0"/>
            </a:endParaRPr>
          </a:p>
          <a:p>
            <a:endParaRPr lang="en-US" altLang="ja-JP" sz="800" b="0" i="0">
              <a:solidFill>
                <a:srgbClr val="000000"/>
              </a:solidFill>
              <a:effectLst/>
              <a:highlight>
                <a:srgbClr val="FFF8DC"/>
              </a:highlight>
              <a:latin typeface="Arial" panose="020B0604020202020204" pitchFamily="34" charset="0"/>
            </a:endParaRPr>
          </a:p>
          <a:p>
            <a:r>
              <a:rPr lang="ja-JP" altLang="en-US" sz="2000" b="0" i="0">
                <a:solidFill>
                  <a:srgbClr val="000000"/>
                </a:solidFill>
                <a:effectLst/>
                <a:latin typeface="Arial" panose="020B0604020202020204" pitchFamily="34" charset="0"/>
              </a:rPr>
              <a:t>右辺は，畳み込み </a:t>
            </a:r>
            <a:r>
              <a:rPr lang="en-US" altLang="ja-JP" sz="2000" b="0" i="0">
                <a:solidFill>
                  <a:srgbClr val="000000"/>
                </a:solidFill>
                <a:effectLst/>
                <a:latin typeface="Arial" panose="020B0604020202020204" pitchFamily="34" charset="0"/>
              </a:rPr>
              <a:t>“</a:t>
            </a:r>
            <a:r>
              <a:rPr lang="en-US" altLang="ja-JP" sz="2000" b="1" i="0">
                <a:solidFill>
                  <a:srgbClr val="000000"/>
                </a:solidFill>
                <a:effectLst/>
                <a:latin typeface="Arial" panose="020B0604020202020204" pitchFamily="34" charset="0"/>
              </a:rPr>
              <a:t>convolution</a:t>
            </a:r>
            <a:r>
              <a:rPr lang="en-US" altLang="ja-JP" sz="2000" b="0" i="0">
                <a:solidFill>
                  <a:srgbClr val="000000"/>
                </a:solidFill>
                <a:effectLst/>
                <a:latin typeface="Arial" panose="020B0604020202020204" pitchFamily="34" charset="0"/>
              </a:rPr>
              <a:t>”</a:t>
            </a:r>
            <a:r>
              <a:rPr lang="ja-JP" altLang="en-US" sz="2000" b="0" i="0">
                <a:solidFill>
                  <a:srgbClr val="000000"/>
                </a:solidFill>
                <a:effectLst/>
                <a:latin typeface="Arial" panose="020B0604020202020204" pitchFamily="34" charset="0"/>
              </a:rPr>
              <a:t>　　　　　　　　　                     </a:t>
            </a:r>
            <a:r>
              <a:rPr lang="en-US" altLang="ja-JP" sz="900" i="0">
                <a:solidFill>
                  <a:srgbClr val="000000"/>
                </a:solidFill>
                <a:effectLst/>
                <a:latin typeface="Arial" panose="020B0604020202020204" pitchFamily="34" charset="0"/>
              </a:rPr>
              <a:t>the right  hand side is the convolution</a:t>
            </a:r>
            <a:endParaRPr lang="en-US" altLang="ja-JP" sz="900">
              <a:effectLst/>
              <a:latin typeface="+mn-ea"/>
              <a:ea typeface="+mn-ea"/>
            </a:endParaRPr>
          </a:p>
          <a:p>
            <a:pPr lvl="0"/>
            <a:r>
              <a:rPr lang="en-US" altLang="ja-JP"/>
              <a:t>𝑥</a:t>
            </a:r>
            <a:r>
              <a:rPr lang="en-US" altLang="ja-JP" baseline="-25000"/>
              <a:t>𝑛</a:t>
            </a:r>
            <a:r>
              <a:rPr lang="ja-JP" altLang="ja-JP" err="1"/>
              <a:t>，</a:t>
            </a:r>
            <a:r>
              <a:rPr lang="en-US" altLang="ja-JP"/>
              <a:t>𝑦</a:t>
            </a:r>
            <a:r>
              <a:rPr lang="en-US" altLang="ja-JP" baseline="-25000"/>
              <a:t>𝑛</a:t>
            </a:r>
            <a:r>
              <a:rPr lang="ja-JP" altLang="ja-JP"/>
              <a:t>：入力・出力の離散信号の第</a:t>
            </a:r>
            <a:r>
              <a:rPr lang="en-US" altLang="ja-JP"/>
              <a:t> 𝑛 </a:t>
            </a:r>
            <a:r>
              <a:rPr lang="ja-JP" altLang="ja-JP"/>
              <a:t>標本値，</a:t>
            </a:r>
            <a:r>
              <a:rPr lang="en-US" altLang="ja-JP"/>
              <a:t> 𝑛=0,1,2,⋯,𝑁−1         </a:t>
            </a:r>
            <a:r>
              <a:rPr lang="en-US" altLang="ja-JP" sz="900"/>
              <a:t>nth sample value of input/output discrete signal</a:t>
            </a:r>
            <a:endParaRPr lang="ja-JP" altLang="ja-JP" sz="900"/>
          </a:p>
          <a:p>
            <a:pPr lvl="0"/>
            <a:r>
              <a:rPr lang="en-US" altLang="ja-JP"/>
              <a:t>𝑁</a:t>
            </a:r>
            <a:r>
              <a:rPr lang="ja-JP" altLang="ja-JP"/>
              <a:t>：標本数</a:t>
            </a:r>
            <a:r>
              <a:rPr lang="en-US" altLang="ja-JP"/>
              <a:t> "</a:t>
            </a:r>
            <a:r>
              <a:rPr lang="en-US" altLang="ja-JP" b="1"/>
              <a:t>number of samples</a:t>
            </a:r>
            <a:r>
              <a:rPr lang="en-US" altLang="ja-JP"/>
              <a:t>"</a:t>
            </a:r>
            <a:r>
              <a:rPr lang="ja-JP" altLang="ja-JP"/>
              <a:t>，標本値の個数</a:t>
            </a:r>
            <a:r>
              <a:rPr lang="en-US" altLang="ja-JP"/>
              <a:t>                            </a:t>
            </a:r>
            <a:r>
              <a:rPr lang="en-US" altLang="ja-JP" sz="900"/>
              <a:t>N: number of samples, number of sample values</a:t>
            </a:r>
            <a:endParaRPr lang="ja-JP" altLang="ja-JP" sz="900"/>
          </a:p>
          <a:p>
            <a:pPr lvl="0"/>
            <a:r>
              <a:rPr lang="en-US" altLang="ja-JP"/>
              <a:t>𝑏</a:t>
            </a:r>
            <a:r>
              <a:rPr lang="en-US" altLang="ja-JP" baseline="-25000"/>
              <a:t>𝑚</a:t>
            </a:r>
            <a:r>
              <a:rPr lang="ja-JP" altLang="ja-JP"/>
              <a:t>：第</a:t>
            </a:r>
            <a:r>
              <a:rPr lang="en-US" altLang="ja-JP"/>
              <a:t> 𝑚 </a:t>
            </a:r>
            <a:r>
              <a:rPr lang="ja-JP" altLang="ja-JP"/>
              <a:t>フィルタ係数</a:t>
            </a:r>
            <a:r>
              <a:rPr lang="en-US" altLang="ja-JP"/>
              <a:t> "</a:t>
            </a:r>
            <a:r>
              <a:rPr lang="en-US" altLang="ja-JP" b="1"/>
              <a:t>filter coefficient</a:t>
            </a:r>
            <a:r>
              <a:rPr lang="en-US" altLang="ja-JP"/>
              <a:t>"</a:t>
            </a:r>
            <a:r>
              <a:rPr lang="ja-JP" altLang="ja-JP" err="1"/>
              <a:t>，</a:t>
            </a:r>
            <a:r>
              <a:rPr lang="en-US" altLang="ja-JP"/>
              <a:t> 𝑚=0,1,2,⋯,𝐽−1             </a:t>
            </a:r>
            <a:r>
              <a:rPr lang="en-US" altLang="ja-JP" sz="900"/>
              <a:t>𝑏</a:t>
            </a:r>
            <a:r>
              <a:rPr lang="en-US" altLang="ja-JP" sz="900" baseline="-25000"/>
              <a:t>𝑚</a:t>
            </a:r>
            <a:r>
              <a:rPr lang="en-US" altLang="ja-JP" sz="900"/>
              <a:t>   filter coefficient</a:t>
            </a:r>
          </a:p>
          <a:p>
            <a:pPr lvl="0"/>
            <a:r>
              <a:rPr lang="en-US" altLang="ja-JP"/>
              <a:t>𝐽</a:t>
            </a:r>
            <a:r>
              <a:rPr lang="ja-JP" altLang="ja-JP"/>
              <a:t>：タップ数</a:t>
            </a:r>
            <a:r>
              <a:rPr lang="en-US" altLang="ja-JP"/>
              <a:t> "</a:t>
            </a:r>
            <a:r>
              <a:rPr lang="en-US" altLang="ja-JP" b="1"/>
              <a:t>number of taps</a:t>
            </a:r>
            <a:r>
              <a:rPr lang="en-US" altLang="ja-JP"/>
              <a:t>"</a:t>
            </a:r>
            <a:r>
              <a:rPr lang="ja-JP" altLang="ja-JP"/>
              <a:t>，フィルタ係数の個数</a:t>
            </a:r>
            <a:r>
              <a:rPr lang="en-US" altLang="ja-JP"/>
              <a:t>                          </a:t>
            </a:r>
            <a:r>
              <a:rPr lang="ja-JP" altLang="en-US" sz="900"/>
              <a:t>𝐽</a:t>
            </a:r>
            <a:r>
              <a:rPr lang="en-US" altLang="ja-JP" sz="900"/>
              <a:t>: Number of taps, number of filter coefficients</a:t>
            </a:r>
            <a:endParaRPr lang="ja-JP" altLang="ja-JP" sz="900"/>
          </a:p>
          <a:p>
            <a:endParaRPr lang="en-US" altLang="ja-JP" sz="1200">
              <a:effectLst/>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3275216" y="252943"/>
            <a:ext cx="6384174"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a:solidFill>
                  <a:schemeClr val="tx1"/>
                </a:solidFill>
              </a:rPr>
              <a:t>FIR </a:t>
            </a:r>
            <a:r>
              <a:rPr lang="ja-JP" altLang="en-US" sz="3200">
                <a:solidFill>
                  <a:schemeClr val="tx1"/>
                </a:solidFill>
              </a:rPr>
              <a:t>フィルタの基本の総括</a:t>
            </a:r>
            <a:r>
              <a:rPr lang="en-US" altLang="ja-JP" sz="1100" b="1">
                <a:solidFill>
                  <a:schemeClr val="tx1"/>
                </a:solidFill>
              </a:rPr>
              <a:t>A basic review of FIR Filters </a:t>
            </a:r>
            <a:r>
              <a:rPr lang="ja-JP" altLang="en-US" sz="3200" b="1">
                <a:solidFill>
                  <a:srgbClr val="FF0000"/>
                </a:solidFill>
              </a:rPr>
              <a:t> </a:t>
            </a:r>
            <a:endParaRPr lang="en-US" sz="3200">
              <a:solidFill>
                <a:srgbClr val="FF0000"/>
              </a:solidFill>
            </a:endParaRPr>
          </a:p>
        </p:txBody>
      </p:sp>
      <p:pic>
        <p:nvPicPr>
          <p:cNvPr id="13" name="図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17221" y="3810593"/>
            <a:ext cx="2263834" cy="865584"/>
          </a:xfrm>
          <a:prstGeom prst="rect">
            <a:avLst/>
          </a:prstGeom>
        </p:spPr>
      </p:pic>
    </p:spTree>
    <p:extLst>
      <p:ext uri="{BB962C8B-B14F-4D97-AF65-F5344CB8AC3E}">
        <p14:creationId xmlns:p14="http://schemas.microsoft.com/office/powerpoint/2010/main" val="4202521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3974037"/>
          </a:xfrm>
          <a:prstGeom prst="rect">
            <a:avLst/>
          </a:prstGeom>
          <a:noFill/>
        </p:spPr>
        <p:txBody>
          <a:bodyPr wrap="square" rtlCol="0">
            <a:spAutoFit/>
          </a:bodyPr>
          <a:lstStyle/>
          <a:p>
            <a:r>
              <a:rPr lang="ja-JP" altLang="en-US" sz="2800">
                <a:latin typeface="+mn-ea"/>
                <a:ea typeface="+mn-ea"/>
              </a:rPr>
              <a:t>時間応答 </a:t>
            </a:r>
            <a:r>
              <a:rPr lang="en-US" altLang="ja-JP" sz="2800">
                <a:latin typeface="+mn-ea"/>
                <a:ea typeface="+mn-ea"/>
              </a:rPr>
              <a:t>:</a:t>
            </a:r>
          </a:p>
          <a:p>
            <a:r>
              <a:rPr lang="en-US" altLang="ja-JP" sz="1050" b="1">
                <a:effectLst/>
              </a:rPr>
              <a:t>Time Response</a:t>
            </a:r>
          </a:p>
          <a:p>
            <a:endParaRPr lang="en-US" altLang="ja-JP" sz="1200"/>
          </a:p>
          <a:p>
            <a:endParaRPr lang="en-US" altLang="ja-JP" sz="1200">
              <a:effectLst/>
            </a:endParaRPr>
          </a:p>
          <a:p>
            <a:pPr lvl="0">
              <a:lnSpc>
                <a:spcPct val="107000"/>
              </a:lnSpc>
              <a:spcAft>
                <a:spcPts val="600"/>
              </a:spcAft>
              <a:buSzPts val="1000"/>
              <a:tabLst>
                <a:tab pos="457200" algn="l"/>
              </a:tabLst>
            </a:pPr>
            <a:r>
              <a:rPr lang="ja-JP" altLang="ja-JP" sz="2400" kern="0">
                <a:solidFill>
                  <a:srgbClr val="000000"/>
                </a:solidFill>
                <a:effectLst/>
                <a:latin typeface="Arial" panose="020B0604020202020204" pitchFamily="34" charset="0"/>
                <a:ea typeface="ＭＳ Ｐゴシック" panose="020B0600070205080204" pitchFamily="50" charset="-128"/>
                <a:cs typeface="ＭＳ Ｐゴシック" panose="020B0600070205080204" pitchFamily="50" charset="-128"/>
              </a:rPr>
              <a:t>タップ数が有限個なので，インパルス応答も有限長</a:t>
            </a:r>
            <a:r>
              <a:rPr lang="en-US" altLang="ja-JP" sz="2400" kern="0">
                <a:solidFill>
                  <a:srgbClr val="000000"/>
                </a:solidFill>
                <a:effectLst/>
                <a:latin typeface="Arial" panose="020B0604020202020204" pitchFamily="34" charset="0"/>
                <a:ea typeface="ＭＳ Ｐゴシック" panose="020B0600070205080204" pitchFamily="50" charset="-128"/>
                <a:cs typeface="ＭＳ Ｐゴシック" panose="020B0600070205080204" pitchFamily="50" charset="-128"/>
              </a:rPr>
              <a:t> </a:t>
            </a:r>
          </a:p>
          <a:p>
            <a:pPr lvl="0">
              <a:lnSpc>
                <a:spcPct val="107000"/>
              </a:lnSpc>
              <a:spcAft>
                <a:spcPts val="600"/>
              </a:spcAft>
              <a:buSzPts val="1000"/>
              <a:tabLst>
                <a:tab pos="457200" algn="l"/>
              </a:tabLst>
            </a:pPr>
            <a:r>
              <a:rPr lang="en-US" altLang="ja-JP" sz="1050" b="0" i="0">
                <a:solidFill>
                  <a:srgbClr val="3C4043"/>
                </a:solidFill>
                <a:effectLst/>
                <a:latin typeface="Arial" panose="020B0604020202020204" pitchFamily="34" charset="0"/>
                <a:cs typeface="Arial" panose="020B0604020202020204" pitchFamily="34" charset="0"/>
              </a:rPr>
              <a:t>Since the number of taps is finite, the impulse response is also finite</a:t>
            </a:r>
            <a:endParaRPr lang="en-US" altLang="ja-JP" sz="1050" kern="100">
              <a:latin typeface="Arial" panose="020B0604020202020204" pitchFamily="34" charset="0"/>
              <a:ea typeface="游明朝" panose="02020400000000000000" pitchFamily="18" charset="-128"/>
              <a:cs typeface="Arial" panose="020B0604020202020204" pitchFamily="34" charset="0"/>
            </a:endParaRPr>
          </a:p>
          <a:p>
            <a:pPr lvl="0">
              <a:lnSpc>
                <a:spcPct val="107000"/>
              </a:lnSpc>
              <a:spcAft>
                <a:spcPts val="600"/>
              </a:spcAft>
              <a:buSzPts val="1000"/>
              <a:tabLst>
                <a:tab pos="457200" algn="l"/>
              </a:tabLst>
            </a:pPr>
            <a:r>
              <a:rPr lang="ja-JP" altLang="ja-JP" sz="2400" kern="0">
                <a:solidFill>
                  <a:srgbClr val="000000"/>
                </a:solidFill>
                <a:effectLst/>
                <a:latin typeface="Arial" panose="020B0604020202020204" pitchFamily="34" charset="0"/>
                <a:ea typeface="ＭＳ Ｐゴシック" panose="020B0600070205080204" pitchFamily="50" charset="-128"/>
                <a:cs typeface="ＭＳ Ｐゴシック" panose="020B0600070205080204" pitchFamily="50" charset="-128"/>
              </a:rPr>
              <a:t>なお，残響長（タップ数</a:t>
            </a:r>
            <a:r>
              <a:rPr lang="en-US" altLang="ja-JP" sz="2400" kern="0">
                <a:solidFill>
                  <a:srgbClr val="000000"/>
                </a:solidFill>
                <a:effectLst/>
                <a:latin typeface="Arial" panose="020B0604020202020204" pitchFamily="34" charset="0"/>
                <a:ea typeface="ＭＳ Ｐゴシック" panose="020B0600070205080204" pitchFamily="50" charset="-128"/>
                <a:cs typeface="ＭＳ Ｐゴシック" panose="020B0600070205080204" pitchFamily="50" charset="-128"/>
              </a:rPr>
              <a:t>−</a:t>
            </a:r>
            <a:r>
              <a:rPr lang="ja-JP" altLang="ja-JP" sz="2400" kern="0">
                <a:solidFill>
                  <a:srgbClr val="000000"/>
                </a:solidFill>
                <a:effectLst/>
                <a:latin typeface="Arial" panose="020B0604020202020204" pitchFamily="34" charset="0"/>
                <a:ea typeface="ＭＳ Ｐゴシック" panose="020B0600070205080204" pitchFamily="50" charset="-128"/>
                <a:cs typeface="ＭＳ Ｐゴシック" panose="020B0600070205080204" pitchFamily="50" charset="-128"/>
              </a:rPr>
              <a:t>１）だけ，出力信号の標本数が増えますよ</a:t>
            </a:r>
            <a:endParaRPr lang="en-US" altLang="ja-JP" sz="2400" kern="0">
              <a:solidFill>
                <a:srgbClr val="000000"/>
              </a:solidFill>
              <a:effectLst/>
              <a:latin typeface="Arial" panose="020B0604020202020204" pitchFamily="34" charset="0"/>
              <a:ea typeface="ＭＳ Ｐゴシック" panose="020B0600070205080204" pitchFamily="50" charset="-128"/>
              <a:cs typeface="ＭＳ Ｐゴシック" panose="020B0600070205080204" pitchFamily="50" charset="-128"/>
            </a:endParaRPr>
          </a:p>
          <a:p>
            <a:pPr lvl="0">
              <a:lnSpc>
                <a:spcPct val="107000"/>
              </a:lnSpc>
              <a:spcAft>
                <a:spcPts val="600"/>
              </a:spcAft>
              <a:buSzPts val="1000"/>
              <a:tabLst>
                <a:tab pos="457200" algn="l"/>
              </a:tabLst>
            </a:pPr>
            <a:r>
              <a:rPr lang="en-US" altLang="ja-JP" sz="1050" b="0" i="0">
                <a:solidFill>
                  <a:srgbClr val="3C4043"/>
                </a:solidFill>
                <a:effectLst/>
                <a:latin typeface="Arial" panose="020B0604020202020204" pitchFamily="34" charset="0"/>
                <a:cs typeface="Arial" panose="020B0604020202020204" pitchFamily="34" charset="0"/>
              </a:rPr>
              <a:t>Note that the number of samples in the output signal increases by the reverberation length (number of taps - 1)</a:t>
            </a:r>
            <a:endParaRPr lang="ja-JP" altLang="ja-JP" sz="1050" kern="100">
              <a:effectLst/>
              <a:latin typeface="Arial" panose="020B0604020202020204" pitchFamily="34" charset="0"/>
              <a:ea typeface="游明朝" panose="02020400000000000000" pitchFamily="18" charset="-128"/>
              <a:cs typeface="Arial" panose="020B0604020202020204" pitchFamily="34" charset="0"/>
            </a:endParaRPr>
          </a:p>
          <a:p>
            <a:pPr>
              <a:lnSpc>
                <a:spcPct val="107000"/>
              </a:lnSpc>
              <a:spcAft>
                <a:spcPts val="600"/>
              </a:spcAft>
            </a:pPr>
            <a:r>
              <a:rPr lang="ja-JP" altLang="ja-JP" sz="2400" kern="0">
                <a:solidFill>
                  <a:srgbClr val="000000"/>
                </a:solidFill>
                <a:effectLst/>
                <a:latin typeface="Arial" panose="020B0604020202020204" pitchFamily="34" charset="0"/>
                <a:ea typeface="ＭＳ Ｐゴシック" panose="020B0600070205080204" pitchFamily="50" charset="-128"/>
                <a:cs typeface="ＭＳ Ｐゴシック" panose="020B0600070205080204" pitchFamily="50" charset="-128"/>
              </a:rPr>
              <a:t>時間応答</a:t>
            </a:r>
            <a:r>
              <a:rPr lang="en-US" altLang="ja-JP" sz="2400" kern="0">
                <a:solidFill>
                  <a:srgbClr val="000000"/>
                </a:solidFill>
                <a:effectLst/>
                <a:latin typeface="Arial" panose="020B0604020202020204" pitchFamily="34" charset="0"/>
                <a:ea typeface="ＭＳ Ｐゴシック" panose="020B0600070205080204" pitchFamily="50" charset="-128"/>
                <a:cs typeface="ＭＳ Ｐゴシック" panose="020B0600070205080204" pitchFamily="50" charset="-128"/>
              </a:rPr>
              <a:t> </a:t>
            </a:r>
            <a:r>
              <a:rPr lang="en-US" altLang="ja-JP" sz="2400" kern="0">
                <a:solidFill>
                  <a:srgbClr val="000000"/>
                </a:solidFill>
                <a:effectLst/>
                <a:latin typeface="Cambria Math" panose="02040503050406030204" pitchFamily="18" charset="0"/>
                <a:ea typeface="ＭＳ Ｐゴシック" panose="020B0600070205080204" pitchFamily="50" charset="-128"/>
                <a:cs typeface="Cambria Math" panose="02040503050406030204" pitchFamily="18" charset="0"/>
              </a:rPr>
              <a:t>𝑥</a:t>
            </a:r>
            <a:r>
              <a:rPr lang="en-US" altLang="ja-JP" sz="2400" kern="0" baseline="-25000">
                <a:solidFill>
                  <a:srgbClr val="000000"/>
                </a:solidFill>
                <a:effectLst/>
                <a:latin typeface="Cambria Math" panose="02040503050406030204" pitchFamily="18" charset="0"/>
                <a:ea typeface="ＭＳ Ｐゴシック" panose="020B0600070205080204" pitchFamily="50" charset="-128"/>
                <a:cs typeface="Cambria Math" panose="02040503050406030204" pitchFamily="18" charset="0"/>
              </a:rPr>
              <a:t>𝑛</a:t>
            </a:r>
            <a:r>
              <a:rPr lang="en-US" altLang="ja-JP" sz="2400" kern="0">
                <a:solidFill>
                  <a:srgbClr val="000000"/>
                </a:solidFill>
                <a:effectLst/>
                <a:latin typeface="Arial" panose="020B0604020202020204" pitchFamily="34" charset="0"/>
                <a:ea typeface="ＭＳ Ｐゴシック" panose="020B0600070205080204" pitchFamily="50" charset="-128"/>
                <a:cs typeface="ＭＳ Ｐゴシック" panose="020B0600070205080204" pitchFamily="50" charset="-128"/>
              </a:rPr>
              <a:t>→</a:t>
            </a:r>
            <a:r>
              <a:rPr lang="en-US" altLang="ja-JP" sz="2400" kern="0">
                <a:solidFill>
                  <a:srgbClr val="000000"/>
                </a:solidFill>
                <a:effectLst/>
                <a:latin typeface="Cambria Math" panose="02040503050406030204" pitchFamily="18" charset="0"/>
                <a:ea typeface="ＭＳ Ｐゴシック" panose="020B0600070205080204" pitchFamily="50" charset="-128"/>
                <a:cs typeface="Cambria Math" panose="02040503050406030204" pitchFamily="18" charset="0"/>
              </a:rPr>
              <a:t>𝑦</a:t>
            </a:r>
            <a:r>
              <a:rPr lang="en-US" altLang="ja-JP" sz="2400" kern="0" baseline="-25000">
                <a:solidFill>
                  <a:srgbClr val="000000"/>
                </a:solidFill>
                <a:effectLst/>
                <a:latin typeface="Cambria Math" panose="02040503050406030204" pitchFamily="18" charset="0"/>
                <a:ea typeface="ＭＳ Ｐゴシック" panose="020B0600070205080204" pitchFamily="50" charset="-128"/>
                <a:cs typeface="Cambria Math" panose="02040503050406030204" pitchFamily="18" charset="0"/>
              </a:rPr>
              <a:t>𝑛</a:t>
            </a:r>
            <a:r>
              <a:rPr lang="en-US" altLang="ja-JP" sz="2400" kern="0">
                <a:solidFill>
                  <a:srgbClr val="000000"/>
                </a:solidFill>
                <a:effectLst/>
                <a:latin typeface="Arial" panose="020B0604020202020204" pitchFamily="34" charset="0"/>
                <a:ea typeface="ＭＳ Ｐゴシック" panose="020B0600070205080204" pitchFamily="50" charset="-128"/>
                <a:cs typeface="ＭＳ Ｐゴシック" panose="020B0600070205080204" pitchFamily="50" charset="-128"/>
              </a:rPr>
              <a:t> </a:t>
            </a:r>
            <a:r>
              <a:rPr lang="ja-JP" altLang="ja-JP" sz="2400" kern="0">
                <a:solidFill>
                  <a:srgbClr val="000000"/>
                </a:solidFill>
                <a:effectLst/>
                <a:latin typeface="Arial" panose="020B0604020202020204" pitchFamily="34" charset="0"/>
                <a:ea typeface="ＭＳ Ｐゴシック" panose="020B0600070205080204" pitchFamily="50" charset="-128"/>
                <a:cs typeface="ＭＳ Ｐゴシック" panose="020B0600070205080204" pitchFamily="50" charset="-128"/>
              </a:rPr>
              <a:t>を求めたいだけなら，以上で完了</a:t>
            </a:r>
            <a:endParaRPr lang="en-US" altLang="ja-JP" sz="2400" kern="0">
              <a:solidFill>
                <a:srgbClr val="000000"/>
              </a:solidFill>
              <a:effectLst/>
              <a:latin typeface="Arial" panose="020B0604020202020204" pitchFamily="34" charset="0"/>
              <a:ea typeface="ＭＳ Ｐゴシック" panose="020B0600070205080204" pitchFamily="50" charset="-128"/>
              <a:cs typeface="ＭＳ Ｐゴシック" panose="020B0600070205080204" pitchFamily="50" charset="-128"/>
            </a:endParaRPr>
          </a:p>
          <a:p>
            <a:pPr>
              <a:lnSpc>
                <a:spcPct val="107000"/>
              </a:lnSpc>
              <a:spcAft>
                <a:spcPts val="600"/>
              </a:spcAft>
            </a:pPr>
            <a:r>
              <a:rPr lang="en-US" altLang="ja-JP" sz="1050" b="0" i="0">
                <a:solidFill>
                  <a:srgbClr val="3C4043"/>
                </a:solidFill>
                <a:effectLst/>
                <a:latin typeface="Arial" panose="020B0604020202020204" pitchFamily="34" charset="0"/>
                <a:cs typeface="Arial" panose="020B0604020202020204" pitchFamily="34" charset="0"/>
              </a:rPr>
              <a:t>If you just want to find the time response </a:t>
            </a:r>
            <a:r>
              <a:rPr lang="en-US" altLang="ja-JP" sz="105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rPr>
              <a:t>𝑥</a:t>
            </a:r>
            <a:r>
              <a:rPr lang="en-US" altLang="ja-JP" sz="1050" kern="0" baseline="-2500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rPr>
              <a:t>𝑛</a:t>
            </a:r>
            <a:r>
              <a:rPr lang="en-US" altLang="ja-JP" sz="105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rPr>
              <a:t>→𝑦</a:t>
            </a:r>
            <a:r>
              <a:rPr lang="en-US" altLang="ja-JP" sz="1050" kern="0" baseline="-2500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rPr>
              <a:t>𝑛</a:t>
            </a:r>
            <a:r>
              <a:rPr lang="en-US" altLang="ja-JP" sz="105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rPr>
              <a:t> </a:t>
            </a:r>
            <a:r>
              <a:rPr lang="en-US" altLang="ja-JP" sz="1050" b="0" i="0">
                <a:solidFill>
                  <a:srgbClr val="3C4043"/>
                </a:solidFill>
                <a:effectLst/>
                <a:latin typeface="Arial" panose="020B0604020202020204" pitchFamily="34" charset="0"/>
                <a:cs typeface="Arial" panose="020B0604020202020204" pitchFamily="34" charset="0"/>
              </a:rPr>
              <a:t>, this is all you need to do</a:t>
            </a:r>
            <a:endParaRPr lang="ja-JP" altLang="ja-JP" sz="1050" kern="100">
              <a:effectLst/>
              <a:latin typeface="Arial" panose="020B0604020202020204" pitchFamily="34" charset="0"/>
              <a:ea typeface="游明朝" panose="02020400000000000000" pitchFamily="18" charset="-128"/>
              <a:cs typeface="Arial" panose="020B0604020202020204" pitchFamily="34" charset="0"/>
            </a:endParaRPr>
          </a:p>
          <a:p>
            <a:pPr>
              <a:lnSpc>
                <a:spcPct val="107000"/>
              </a:lnSpc>
              <a:spcAft>
                <a:spcPts val="600"/>
              </a:spcAft>
            </a:pPr>
            <a:r>
              <a:rPr lang="ja-JP" altLang="ja-JP" sz="2400" kern="0">
                <a:solidFill>
                  <a:srgbClr val="000000"/>
                </a:solidFill>
                <a:effectLst/>
                <a:latin typeface="Arial" panose="020B0604020202020204" pitchFamily="34" charset="0"/>
                <a:ea typeface="ＭＳ Ｐゴシック" panose="020B0600070205080204" pitchFamily="50" charset="-128"/>
                <a:cs typeface="ＭＳ Ｐゴシック" panose="020B0600070205080204" pitchFamily="50" charset="-128"/>
              </a:rPr>
              <a:t>周波数特性を調べたい</a:t>
            </a:r>
            <a:r>
              <a:rPr lang="en-US" altLang="ja-JP" sz="2400" kern="0">
                <a:solidFill>
                  <a:srgbClr val="000000"/>
                </a:solidFill>
                <a:effectLst/>
                <a:latin typeface="Arial" panose="020B0604020202020204" pitchFamily="34" charset="0"/>
                <a:ea typeface="ＭＳ Ｐゴシック" panose="020B0600070205080204" pitchFamily="50" charset="-128"/>
                <a:cs typeface="ＭＳ Ｐゴシック" panose="020B0600070205080204" pitchFamily="50" charset="-128"/>
              </a:rPr>
              <a:t> or </a:t>
            </a:r>
            <a:r>
              <a:rPr lang="ja-JP" altLang="ja-JP" sz="2400" kern="0">
                <a:solidFill>
                  <a:srgbClr val="000000"/>
                </a:solidFill>
                <a:effectLst/>
                <a:latin typeface="Arial" panose="020B0604020202020204" pitchFamily="34" charset="0"/>
                <a:ea typeface="ＭＳ Ｐゴシック" panose="020B0600070205080204" pitchFamily="50" charset="-128"/>
                <a:cs typeface="ＭＳ Ｐゴシック" panose="020B0600070205080204" pitchFamily="50" charset="-128"/>
              </a:rPr>
              <a:t>定めたい場合，</a:t>
            </a:r>
            <a:r>
              <a:rPr lang="ja-JP" altLang="en-US" sz="2400" kern="0">
                <a:solidFill>
                  <a:srgbClr val="000000"/>
                </a:solidFill>
                <a:latin typeface="Arial" panose="020B0604020202020204" pitchFamily="34" charset="0"/>
                <a:ea typeface="ＭＳ Ｐゴシック" panose="020B0600070205080204" pitchFamily="50" charset="-128"/>
                <a:cs typeface="ＭＳ Ｐゴシック" panose="020B0600070205080204" pitchFamily="50" charset="-128"/>
              </a:rPr>
              <a:t>次</a:t>
            </a:r>
            <a:r>
              <a:rPr lang="ja-JP" altLang="ja-JP" sz="2400" kern="0">
                <a:solidFill>
                  <a:srgbClr val="000000"/>
                </a:solidFill>
                <a:effectLst/>
                <a:latin typeface="Arial" panose="020B0604020202020204" pitchFamily="34" charset="0"/>
                <a:ea typeface="ＭＳ Ｐゴシック" panose="020B0600070205080204" pitchFamily="50" charset="-128"/>
                <a:cs typeface="ＭＳ Ｐゴシック" panose="020B0600070205080204" pitchFamily="50" charset="-128"/>
              </a:rPr>
              <a:t>続く</a:t>
            </a:r>
            <a:endParaRPr lang="ja-JP" altLang="ja-JP" sz="2400" kern="100">
              <a:effectLst/>
              <a:latin typeface="游明朝" panose="02020400000000000000" pitchFamily="18" charset="-128"/>
              <a:ea typeface="游明朝" panose="02020400000000000000" pitchFamily="18" charset="-128"/>
              <a:cs typeface="Times New Roman" panose="02020603050405020304" pitchFamily="18" charset="0"/>
            </a:endParaRPr>
          </a:p>
          <a:p>
            <a:r>
              <a:rPr lang="en-US" altLang="ja-JP" sz="1050" b="0" i="0">
                <a:solidFill>
                  <a:srgbClr val="3C4043"/>
                </a:solidFill>
                <a:effectLst/>
                <a:latin typeface="Arial" panose="020B0604020202020204" pitchFamily="34" charset="0"/>
                <a:cs typeface="Arial" panose="020B0604020202020204" pitchFamily="34" charset="0"/>
              </a:rPr>
              <a:t>If you want to find or define the frequency characteristics, continue to the next page</a:t>
            </a:r>
            <a:endParaRPr lang="en-US" altLang="ja-JP" sz="1050">
              <a:effectLst/>
              <a:latin typeface="Arial" panose="020B0604020202020204" pitchFamily="34" charset="0"/>
              <a:cs typeface="Arial" panose="020B0604020202020204" pitchFamily="34"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3275216" y="252943"/>
            <a:ext cx="6384174"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a:solidFill>
                  <a:schemeClr val="tx1"/>
                </a:solidFill>
              </a:rPr>
              <a:t>FIR </a:t>
            </a:r>
            <a:r>
              <a:rPr lang="ja-JP" altLang="en-US" sz="3200">
                <a:solidFill>
                  <a:schemeClr val="tx1"/>
                </a:solidFill>
              </a:rPr>
              <a:t>フィルタの基本の総括</a:t>
            </a:r>
            <a:r>
              <a:rPr lang="en-US" altLang="ja-JP" sz="1100" b="1">
                <a:solidFill>
                  <a:schemeClr val="tx1"/>
                </a:solidFill>
              </a:rPr>
              <a:t>A basic review of FIR Filters </a:t>
            </a:r>
            <a:r>
              <a:rPr lang="ja-JP" altLang="en-US" sz="3200" b="1">
                <a:solidFill>
                  <a:srgbClr val="FF0000"/>
                </a:solidFill>
              </a:rPr>
              <a:t> </a:t>
            </a:r>
            <a:endParaRPr lang="en-US" sz="3200">
              <a:solidFill>
                <a:srgbClr val="FF0000"/>
              </a:solidFill>
            </a:endParaRPr>
          </a:p>
        </p:txBody>
      </p:sp>
      <p:pic>
        <p:nvPicPr>
          <p:cNvPr id="13" name="図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48443" y="1922066"/>
            <a:ext cx="2263834" cy="865584"/>
          </a:xfrm>
          <a:prstGeom prst="rect">
            <a:avLst/>
          </a:prstGeom>
        </p:spPr>
      </p:pic>
    </p:spTree>
    <p:extLst>
      <p:ext uri="{BB962C8B-B14F-4D97-AF65-F5344CB8AC3E}">
        <p14:creationId xmlns:p14="http://schemas.microsoft.com/office/powerpoint/2010/main" val="4015617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054956"/>
          </a:xfrm>
          <a:prstGeom prst="rect">
            <a:avLst/>
          </a:prstGeom>
          <a:noFill/>
        </p:spPr>
        <p:txBody>
          <a:bodyPr wrap="square" rtlCol="0">
            <a:spAutoFit/>
          </a:bodyPr>
          <a:lstStyle/>
          <a:p>
            <a:r>
              <a:rPr lang="ja-JP" altLang="en-US" sz="2800" b="0" i="0">
                <a:solidFill>
                  <a:srgbClr val="000000"/>
                </a:solidFill>
                <a:effectLst/>
                <a:latin typeface="Arial" panose="020B0604020202020204" pitchFamily="34" charset="0"/>
              </a:rPr>
              <a:t>周波数応答</a:t>
            </a:r>
            <a:r>
              <a:rPr lang="en-US" altLang="ja-JP" sz="2800">
                <a:latin typeface="+mn-ea"/>
                <a:ea typeface="+mn-ea"/>
              </a:rPr>
              <a:t>:</a:t>
            </a:r>
          </a:p>
          <a:p>
            <a:r>
              <a:rPr lang="en-US" altLang="ja-JP" sz="1050" b="1">
                <a:effectLst/>
              </a:rPr>
              <a:t>Frequency Response</a:t>
            </a:r>
          </a:p>
          <a:p>
            <a:pPr algn="l"/>
            <a:endParaRPr lang="en-US" altLang="ja-JP" sz="1200"/>
          </a:p>
          <a:p>
            <a:pPr algn="l"/>
            <a:r>
              <a:rPr lang="en-US" altLang="ja-JP" sz="2800" b="0" i="0">
                <a:solidFill>
                  <a:srgbClr val="000000"/>
                </a:solidFill>
                <a:effectLst/>
                <a:latin typeface="Arial" panose="020B0604020202020204" pitchFamily="34" charset="0"/>
              </a:rPr>
              <a:t>Z </a:t>
            </a:r>
            <a:r>
              <a:rPr lang="ja-JP" altLang="en-US" sz="2800" b="0" i="0">
                <a:solidFill>
                  <a:srgbClr val="000000"/>
                </a:solidFill>
                <a:effectLst/>
                <a:latin typeface="Arial" panose="020B0604020202020204" pitchFamily="34" charset="0"/>
              </a:rPr>
              <a:t>変換：𝑌</a:t>
            </a:r>
            <a:r>
              <a:rPr lang="en-US" altLang="ja-JP" sz="2800" b="0" i="0">
                <a:solidFill>
                  <a:srgbClr val="000000"/>
                </a:solidFill>
                <a:effectLst/>
                <a:latin typeface="Arial" panose="020B0604020202020204" pitchFamily="34" charset="0"/>
              </a:rPr>
              <a:t>(</a:t>
            </a:r>
            <a:r>
              <a:rPr lang="ja-JP" altLang="en-US" sz="2800" b="0" i="0">
                <a:solidFill>
                  <a:srgbClr val="000000"/>
                </a:solidFill>
                <a:effectLst/>
                <a:latin typeface="Arial" panose="020B0604020202020204" pitchFamily="34" charset="0"/>
              </a:rPr>
              <a:t>𝑧</a:t>
            </a:r>
            <a:r>
              <a:rPr lang="en-US" altLang="ja-JP" sz="2800" b="0" i="0">
                <a:solidFill>
                  <a:srgbClr val="000000"/>
                </a:solidFill>
                <a:effectLst/>
                <a:latin typeface="Arial" panose="020B0604020202020204" pitchFamily="34" charset="0"/>
              </a:rPr>
              <a:t>)=</a:t>
            </a:r>
            <a:r>
              <a:rPr lang="ja-JP" altLang="en-US" sz="2800" b="0" i="0">
                <a:solidFill>
                  <a:srgbClr val="000000"/>
                </a:solidFill>
                <a:effectLst/>
                <a:latin typeface="Arial" panose="020B0604020202020204" pitchFamily="34" charset="0"/>
              </a:rPr>
              <a:t>𝐻</a:t>
            </a:r>
            <a:r>
              <a:rPr lang="en-US" altLang="ja-JP" sz="2800" b="0" i="0">
                <a:solidFill>
                  <a:srgbClr val="000000"/>
                </a:solidFill>
                <a:effectLst/>
                <a:latin typeface="Arial" panose="020B0604020202020204" pitchFamily="34" charset="0"/>
              </a:rPr>
              <a:t>(</a:t>
            </a:r>
            <a:r>
              <a:rPr lang="ja-JP" altLang="en-US" sz="2800" b="0" i="0">
                <a:solidFill>
                  <a:srgbClr val="000000"/>
                </a:solidFill>
                <a:effectLst/>
                <a:latin typeface="Arial" panose="020B0604020202020204" pitchFamily="34" charset="0"/>
              </a:rPr>
              <a:t>𝑧</a:t>
            </a:r>
            <a:r>
              <a:rPr lang="en-US" altLang="ja-JP" sz="2800" b="0" i="0">
                <a:solidFill>
                  <a:srgbClr val="000000"/>
                </a:solidFill>
                <a:effectLst/>
                <a:latin typeface="Arial" panose="020B0604020202020204" pitchFamily="34" charset="0"/>
              </a:rPr>
              <a:t>)</a:t>
            </a:r>
            <a:r>
              <a:rPr lang="ja-JP" altLang="en-US" sz="2800" b="0" i="0">
                <a:solidFill>
                  <a:srgbClr val="000000"/>
                </a:solidFill>
                <a:effectLst/>
                <a:latin typeface="Arial" panose="020B0604020202020204" pitchFamily="34" charset="0"/>
              </a:rPr>
              <a:t>𝑋</a:t>
            </a:r>
            <a:r>
              <a:rPr lang="en-US" altLang="ja-JP" sz="2800" b="0" i="0">
                <a:solidFill>
                  <a:srgbClr val="000000"/>
                </a:solidFill>
                <a:effectLst/>
                <a:latin typeface="Arial" panose="020B0604020202020204" pitchFamily="34" charset="0"/>
              </a:rPr>
              <a:t>(</a:t>
            </a:r>
            <a:r>
              <a:rPr lang="ja-JP" altLang="en-US" sz="2800" b="0" i="0">
                <a:solidFill>
                  <a:srgbClr val="000000"/>
                </a:solidFill>
                <a:effectLst/>
                <a:latin typeface="Arial" panose="020B0604020202020204" pitchFamily="34" charset="0"/>
              </a:rPr>
              <a:t>𝑧</a:t>
            </a:r>
            <a:r>
              <a:rPr lang="en-US" altLang="ja-JP" sz="2800" b="0" i="0">
                <a:solidFill>
                  <a:srgbClr val="000000"/>
                </a:solidFill>
                <a:effectLst/>
                <a:latin typeface="Arial" panose="020B0604020202020204" pitchFamily="34" charset="0"/>
              </a:rPr>
              <a:t>)</a:t>
            </a:r>
          </a:p>
          <a:p>
            <a:pPr algn="l"/>
            <a:r>
              <a:rPr lang="en-US" altLang="ja-JP" sz="1050" b="1">
                <a:solidFill>
                  <a:srgbClr val="000000"/>
                </a:solidFill>
                <a:latin typeface="Arial" panose="020B0604020202020204" pitchFamily="34" charset="0"/>
              </a:rPr>
              <a:t>Z transform</a:t>
            </a:r>
          </a:p>
          <a:p>
            <a:pPr algn="l"/>
            <a:endParaRPr lang="en-US" altLang="ja-JP" sz="1050" b="1" i="0">
              <a:solidFill>
                <a:srgbClr val="000000"/>
              </a:solidFill>
              <a:effectLst/>
              <a:latin typeface="Arial" panose="020B0604020202020204" pitchFamily="34" charset="0"/>
            </a:endParaRPr>
          </a:p>
          <a:p>
            <a:pPr algn="l"/>
            <a:r>
              <a:rPr lang="en-US" altLang="ja-JP" sz="2400" b="0" i="0">
                <a:solidFill>
                  <a:srgbClr val="000000"/>
                </a:solidFill>
                <a:effectLst/>
                <a:latin typeface="Arial" panose="020B0604020202020204" pitchFamily="34" charset="0"/>
                <a:sym typeface="Wingdings" panose="05000000000000000000" pitchFamily="2" charset="2"/>
              </a:rPr>
              <a:t> </a:t>
            </a:r>
            <a:r>
              <a:rPr lang="ja-JP" altLang="en-US" sz="2400" b="0" i="0">
                <a:solidFill>
                  <a:srgbClr val="000000"/>
                </a:solidFill>
                <a:effectLst/>
                <a:latin typeface="Arial" panose="020B0604020202020204" pitchFamily="34" charset="0"/>
              </a:rPr>
              <a:t>畳み込みの </a:t>
            </a:r>
            <a:r>
              <a:rPr lang="en-US" altLang="ja-JP" sz="2400" b="0" i="0">
                <a:solidFill>
                  <a:srgbClr val="000000"/>
                </a:solidFill>
                <a:effectLst/>
                <a:latin typeface="Arial" panose="020B0604020202020204" pitchFamily="34" charset="0"/>
              </a:rPr>
              <a:t>Z </a:t>
            </a:r>
            <a:r>
              <a:rPr lang="ja-JP" altLang="en-US" sz="2400" b="0" i="0">
                <a:solidFill>
                  <a:srgbClr val="000000"/>
                </a:solidFill>
                <a:effectLst/>
                <a:latin typeface="Arial" panose="020B0604020202020204" pitchFamily="34" charset="0"/>
              </a:rPr>
              <a:t>変換は，</a:t>
            </a:r>
            <a:r>
              <a:rPr lang="en-US" altLang="ja-JP" sz="2400" b="0" i="0">
                <a:solidFill>
                  <a:srgbClr val="000000"/>
                </a:solidFill>
                <a:effectLst/>
                <a:latin typeface="Arial" panose="020B0604020202020204" pitchFamily="34" charset="0"/>
              </a:rPr>
              <a:t>Z </a:t>
            </a:r>
            <a:r>
              <a:rPr lang="ja-JP" altLang="en-US" sz="2400" b="0" i="0">
                <a:solidFill>
                  <a:srgbClr val="000000"/>
                </a:solidFill>
                <a:effectLst/>
                <a:latin typeface="Arial" panose="020B0604020202020204" pitchFamily="34" charset="0"/>
              </a:rPr>
              <a:t>変換の積</a:t>
            </a:r>
            <a:endParaRPr lang="en-US" altLang="ja-JP" sz="2400" b="0" i="0">
              <a:solidFill>
                <a:srgbClr val="000000"/>
              </a:solidFill>
              <a:effectLst/>
              <a:latin typeface="Arial" panose="020B0604020202020204" pitchFamily="34" charset="0"/>
            </a:endParaRPr>
          </a:p>
          <a:p>
            <a:pPr algn="l"/>
            <a:r>
              <a:rPr lang="en-US" altLang="ja-JP" sz="1200">
                <a:solidFill>
                  <a:srgbClr val="000000"/>
                </a:solidFill>
                <a:latin typeface="Arial" panose="020B0604020202020204" pitchFamily="34" charset="0"/>
                <a:cs typeface="Arial" panose="020B0604020202020204" pitchFamily="34" charset="0"/>
              </a:rPr>
              <a:t>            </a:t>
            </a:r>
            <a:r>
              <a:rPr lang="en-US" altLang="ja-JP" sz="1050">
                <a:solidFill>
                  <a:srgbClr val="000000"/>
                </a:solidFill>
                <a:latin typeface="Arial" panose="020B0604020202020204" pitchFamily="34" charset="0"/>
                <a:cs typeface="Arial" panose="020B0604020202020204" pitchFamily="34" charset="0"/>
              </a:rPr>
              <a:t>The Z-transform of convolution is the product of Z-transforms</a:t>
            </a:r>
            <a:endParaRPr lang="ja-JP" altLang="en-US" sz="1050" b="0" i="0">
              <a:solidFill>
                <a:srgbClr val="000000"/>
              </a:solidFill>
              <a:effectLst/>
              <a:latin typeface="Arial" panose="020B0604020202020204" pitchFamily="34" charset="0"/>
              <a:cs typeface="Arial" panose="020B0604020202020204" pitchFamily="34" charset="0"/>
            </a:endParaRPr>
          </a:p>
          <a:p>
            <a:pPr algn="l"/>
            <a:endParaRPr lang="en-US" altLang="ja-JP" sz="2800" b="0" i="0">
              <a:solidFill>
                <a:srgbClr val="000000"/>
              </a:solidFill>
              <a:effectLst/>
              <a:latin typeface="Arial" panose="020B0604020202020204" pitchFamily="34" charset="0"/>
            </a:endParaRPr>
          </a:p>
          <a:p>
            <a:pPr algn="l"/>
            <a:r>
              <a:rPr lang="ja-JP" altLang="en-US" sz="2800" b="0" i="0">
                <a:solidFill>
                  <a:srgbClr val="000000"/>
                </a:solidFill>
                <a:effectLst/>
                <a:latin typeface="Arial" panose="020B0604020202020204" pitchFamily="34" charset="0"/>
              </a:rPr>
              <a:t>伝達関数（𝑧 領域）</a:t>
            </a:r>
            <a:r>
              <a:rPr lang="en-US" altLang="ja-JP" sz="2800" b="0" i="0">
                <a:solidFill>
                  <a:srgbClr val="000000"/>
                </a:solidFill>
                <a:effectLst/>
                <a:latin typeface="Arial" panose="020B0604020202020204" pitchFamily="34" charset="0"/>
              </a:rPr>
              <a:t>: </a:t>
            </a:r>
          </a:p>
          <a:p>
            <a:pPr algn="l"/>
            <a:r>
              <a:rPr lang="en-US" altLang="ja-JP" sz="1050">
                <a:solidFill>
                  <a:srgbClr val="000000"/>
                </a:solidFill>
                <a:latin typeface="Arial" panose="020B0604020202020204" pitchFamily="34" charset="0"/>
              </a:rPr>
              <a:t>Transfer function (z domain)</a:t>
            </a:r>
          </a:p>
          <a:p>
            <a:pPr algn="l"/>
            <a:endParaRPr lang="en-US" altLang="ja-JP" sz="1200">
              <a:solidFill>
                <a:srgbClr val="000000"/>
              </a:solidFill>
              <a:effectLst/>
              <a:latin typeface="Arial" panose="020B0604020202020204" pitchFamily="34" charset="0"/>
            </a:endParaRPr>
          </a:p>
          <a:p>
            <a:pPr algn="l"/>
            <a:endParaRPr lang="en-US" altLang="ja-JP" sz="1200">
              <a:effectLst/>
            </a:endParaRPr>
          </a:p>
          <a:p>
            <a:pPr algn="l"/>
            <a:r>
              <a:rPr lang="en-US" altLang="ja-JP" sz="1800">
                <a:effectLst/>
                <a:latin typeface="Cambria Math" panose="02040503050406030204" pitchFamily="18" charset="0"/>
                <a:ea typeface="游明朝" panose="02020400000000000000" pitchFamily="18" charset="-128"/>
                <a:cs typeface="Cambria Math" panose="02040503050406030204" pitchFamily="18" charset="0"/>
              </a:rPr>
              <a:t>𝑧</a:t>
            </a:r>
            <a:r>
              <a:rPr lang="en-US" altLang="ja-JP" sz="1800" baseline="30000">
                <a:effectLst/>
                <a:latin typeface="游明朝" panose="02020400000000000000" pitchFamily="18" charset="-128"/>
                <a:cs typeface="Times New Roman" panose="02020603050405020304" pitchFamily="18" charset="0"/>
              </a:rPr>
              <a:t>−</a:t>
            </a:r>
            <a:r>
              <a:rPr lang="en-US" altLang="ja-JP" sz="1800" baseline="30000">
                <a:effectLst/>
                <a:latin typeface="Cambria Math" panose="02040503050406030204" pitchFamily="18" charset="0"/>
                <a:ea typeface="游明朝" panose="02020400000000000000" pitchFamily="18" charset="-128"/>
                <a:cs typeface="Cambria Math" panose="02040503050406030204" pitchFamily="18" charset="0"/>
              </a:rPr>
              <a:t>𝑚</a:t>
            </a:r>
            <a:r>
              <a:rPr lang="ja-JP" altLang="ja-JP" sz="1800">
                <a:solidFill>
                  <a:srgbClr val="000000"/>
                </a:solidFill>
                <a:effectLst/>
                <a:latin typeface="Arial" panose="020B0604020202020204" pitchFamily="34" charset="0"/>
                <a:ea typeface="游明朝" panose="02020400000000000000" pitchFamily="18" charset="-128"/>
                <a:cs typeface="Arial" panose="020B0604020202020204" pitchFamily="34" charset="0"/>
              </a:rPr>
              <a:t>：標本</a:t>
            </a:r>
            <a:r>
              <a:rPr lang="en-US" altLang="ja-JP" sz="1800">
                <a:solidFill>
                  <a:srgbClr val="000000"/>
                </a:solidFill>
                <a:effectLst/>
                <a:latin typeface="Arial" panose="020B0604020202020204" pitchFamily="34" charset="0"/>
                <a:ea typeface="游明朝" panose="02020400000000000000" pitchFamily="18" charset="-128"/>
              </a:rPr>
              <a:t> </a:t>
            </a:r>
            <a:r>
              <a:rPr lang="en-US" altLang="ja-JP" sz="1800">
                <a:effectLst/>
                <a:latin typeface="Cambria Math" panose="02040503050406030204" pitchFamily="18" charset="0"/>
                <a:ea typeface="游明朝" panose="02020400000000000000" pitchFamily="18" charset="-128"/>
                <a:cs typeface="Cambria Math" panose="02040503050406030204" pitchFamily="18" charset="0"/>
              </a:rPr>
              <a:t>𝑚</a:t>
            </a:r>
            <a:r>
              <a:rPr lang="en-US" altLang="ja-JP" sz="1800">
                <a:solidFill>
                  <a:srgbClr val="000000"/>
                </a:solidFill>
                <a:effectLst/>
                <a:latin typeface="Arial" panose="020B0604020202020204" pitchFamily="34" charset="0"/>
                <a:ea typeface="游明朝" panose="02020400000000000000" pitchFamily="18" charset="-128"/>
              </a:rPr>
              <a:t> </a:t>
            </a:r>
            <a:r>
              <a:rPr lang="ja-JP" altLang="ja-JP" sz="1800">
                <a:solidFill>
                  <a:srgbClr val="000000"/>
                </a:solidFill>
                <a:effectLst/>
                <a:latin typeface="Arial" panose="020B0604020202020204" pitchFamily="34" charset="0"/>
                <a:ea typeface="游明朝" panose="02020400000000000000" pitchFamily="18" charset="-128"/>
                <a:cs typeface="Arial" panose="020B0604020202020204" pitchFamily="34" charset="0"/>
              </a:rPr>
              <a:t>個分の遅延</a:t>
            </a:r>
            <a:r>
              <a:rPr lang="en-US" altLang="ja-JP" sz="1800">
                <a:solidFill>
                  <a:srgbClr val="000000"/>
                </a:solidFill>
                <a:effectLst/>
                <a:latin typeface="Arial" panose="020B0604020202020204" pitchFamily="34" charset="0"/>
                <a:ea typeface="游明朝" panose="02020400000000000000" pitchFamily="18" charset="-128"/>
              </a:rPr>
              <a:t> "delay“</a:t>
            </a:r>
            <a:endParaRPr lang="en-US" altLang="ja-JP" sz="1200">
              <a:solidFill>
                <a:srgbClr val="000000"/>
              </a:solidFill>
              <a:latin typeface="Arial" panose="020B0604020202020204" pitchFamily="34" charset="0"/>
              <a:ea typeface="游明朝" panose="02020400000000000000" pitchFamily="18" charset="-128"/>
            </a:endParaRPr>
          </a:p>
          <a:p>
            <a:pPr algn="l"/>
            <a:r>
              <a:rPr lang="en-US" altLang="ja-JP" sz="1200">
                <a:solidFill>
                  <a:srgbClr val="000000"/>
                </a:solidFill>
                <a:effectLst/>
                <a:latin typeface="Arial" panose="020B0604020202020204" pitchFamily="34" charset="0"/>
                <a:ea typeface="游明朝" panose="02020400000000000000" pitchFamily="18" charset="-128"/>
              </a:rPr>
              <a:t>           </a:t>
            </a:r>
            <a:r>
              <a:rPr lang="en-US" altLang="ja-JP" sz="1050">
                <a:solidFill>
                  <a:srgbClr val="000000"/>
                </a:solidFill>
                <a:effectLst/>
                <a:latin typeface="Arial" panose="020B0604020202020204" pitchFamily="34" charset="0"/>
                <a:ea typeface="游明朝" panose="02020400000000000000" pitchFamily="18" charset="-128"/>
              </a:rPr>
              <a:t> Delay for m samples</a:t>
            </a:r>
            <a:endParaRPr lang="en-US" altLang="ja-JP" sz="1050">
              <a:effectLst/>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3275216" y="252943"/>
            <a:ext cx="6384174"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a:solidFill>
                  <a:schemeClr val="tx1"/>
                </a:solidFill>
              </a:rPr>
              <a:t>FIR </a:t>
            </a:r>
            <a:r>
              <a:rPr lang="ja-JP" altLang="en-US" sz="3200">
                <a:solidFill>
                  <a:schemeClr val="tx1"/>
                </a:solidFill>
              </a:rPr>
              <a:t>フィルタの基本の総括</a:t>
            </a:r>
            <a:r>
              <a:rPr lang="en-US" altLang="ja-JP" sz="1100" b="1">
                <a:solidFill>
                  <a:schemeClr val="tx1"/>
                </a:solidFill>
              </a:rPr>
              <a:t>A basic review of FIR Filters </a:t>
            </a:r>
            <a:r>
              <a:rPr lang="ja-JP" altLang="en-US" sz="3200" b="1">
                <a:solidFill>
                  <a:srgbClr val="FF0000"/>
                </a:solidFill>
              </a:rPr>
              <a:t> </a:t>
            </a:r>
            <a:endParaRPr lang="en-US" sz="3200">
              <a:solidFill>
                <a:srgbClr val="FF0000"/>
              </a:solidFill>
            </a:endParaRPr>
          </a:p>
        </p:txBody>
      </p:sp>
      <p:pic>
        <p:nvPicPr>
          <p:cNvPr id="6" name="図 5" descr="グラフィカル ユーザー インターフェイス&#10;&#10;中程度の精度で自動的に生成された説明">
            <a:extLst>
              <a:ext uri="{FF2B5EF4-FFF2-40B4-BE49-F238E27FC236}">
                <a16:creationId xmlns:a16="http://schemas.microsoft.com/office/drawing/2014/main" id="{A341C68C-DD90-A5AD-5531-AD15B803D27B}"/>
              </a:ext>
            </a:extLst>
          </p:cNvPr>
          <p:cNvPicPr>
            <a:picLocks noChangeAspect="1"/>
          </p:cNvPicPr>
          <p:nvPr/>
        </p:nvPicPr>
        <p:blipFill>
          <a:blip r:embed="rId5"/>
          <a:stretch>
            <a:fillRect/>
          </a:stretch>
        </p:blipFill>
        <p:spPr>
          <a:xfrm>
            <a:off x="3706065" y="4556452"/>
            <a:ext cx="1609950" cy="514422"/>
          </a:xfrm>
          <a:prstGeom prst="rect">
            <a:avLst/>
          </a:prstGeom>
        </p:spPr>
      </p:pic>
      <p:pic>
        <p:nvPicPr>
          <p:cNvPr id="8" name="図 7" descr="ダイアグラム が含まれている画像&#10;&#10;自動的に生成された説明">
            <a:extLst>
              <a:ext uri="{FF2B5EF4-FFF2-40B4-BE49-F238E27FC236}">
                <a16:creationId xmlns:a16="http://schemas.microsoft.com/office/drawing/2014/main" id="{A22FD6DC-1951-B38A-FB0D-6318F9DB147A}"/>
              </a:ext>
            </a:extLst>
          </p:cNvPr>
          <p:cNvPicPr>
            <a:picLocks noChangeAspect="1"/>
          </p:cNvPicPr>
          <p:nvPr/>
        </p:nvPicPr>
        <p:blipFill>
          <a:blip r:embed="rId6"/>
          <a:stretch>
            <a:fillRect/>
          </a:stretch>
        </p:blipFill>
        <p:spPr>
          <a:xfrm>
            <a:off x="4109314" y="5409438"/>
            <a:ext cx="2562583" cy="657317"/>
          </a:xfrm>
          <a:prstGeom prst="rect">
            <a:avLst/>
          </a:prstGeom>
        </p:spPr>
      </p:pic>
      <p:pic>
        <p:nvPicPr>
          <p:cNvPr id="3" name="図 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671897" y="1277507"/>
            <a:ext cx="5450362" cy="4677737"/>
          </a:xfrm>
          <a:prstGeom prst="rect">
            <a:avLst/>
          </a:prstGeom>
        </p:spPr>
      </p:pic>
    </p:spTree>
    <p:extLst>
      <p:ext uri="{BB962C8B-B14F-4D97-AF65-F5344CB8AC3E}">
        <p14:creationId xmlns:p14="http://schemas.microsoft.com/office/powerpoint/2010/main" val="816382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3939540"/>
          </a:xfrm>
          <a:prstGeom prst="rect">
            <a:avLst/>
          </a:prstGeom>
          <a:noFill/>
        </p:spPr>
        <p:txBody>
          <a:bodyPr wrap="square" rtlCol="0">
            <a:spAutoFit/>
          </a:bodyPr>
          <a:lstStyle/>
          <a:p>
            <a:r>
              <a:rPr lang="ja-JP" altLang="en-US" sz="2800" b="0" i="0">
                <a:solidFill>
                  <a:srgbClr val="000000"/>
                </a:solidFill>
                <a:effectLst/>
                <a:latin typeface="Arial" panose="020B0604020202020204" pitchFamily="34" charset="0"/>
              </a:rPr>
              <a:t>ブロック図</a:t>
            </a:r>
            <a:r>
              <a:rPr lang="en-US" altLang="ja-JP" sz="2800">
                <a:latin typeface="+mn-ea"/>
                <a:ea typeface="+mn-ea"/>
              </a:rPr>
              <a:t>:</a:t>
            </a:r>
          </a:p>
          <a:p>
            <a:r>
              <a:rPr lang="en-US" altLang="ja-JP" sz="1050"/>
              <a:t>Block Diagram</a:t>
            </a:r>
          </a:p>
          <a:p>
            <a:endParaRPr lang="en-US" altLang="ja-JP" sz="1200">
              <a:effectLst/>
            </a:endParaRPr>
          </a:p>
          <a:p>
            <a:r>
              <a:rPr lang="en-US" altLang="ja-JP" sz="1200"/>
              <a:t>      </a:t>
            </a:r>
          </a:p>
          <a:p>
            <a:endParaRPr lang="en-US" altLang="ja-JP" sz="1200">
              <a:sym typeface="Wingdings" panose="05000000000000000000" pitchFamily="2" charset="2"/>
            </a:endParaRPr>
          </a:p>
          <a:p>
            <a:r>
              <a:rPr lang="en-US" altLang="ja-JP" sz="1200">
                <a:sym typeface="Wingdings" panose="05000000000000000000" pitchFamily="2" charset="2"/>
              </a:rPr>
              <a:t></a:t>
            </a:r>
            <a:r>
              <a:rPr lang="ja-JP" altLang="en-US" sz="2000">
                <a:sym typeface="Wingdings" panose="05000000000000000000" pitchFamily="2" charset="2"/>
              </a:rPr>
              <a:t>教科書 </a:t>
            </a:r>
            <a:r>
              <a:rPr lang="en-US" altLang="ja-JP" sz="2000">
                <a:sym typeface="Wingdings" panose="05000000000000000000" pitchFamily="2" charset="2"/>
              </a:rPr>
              <a:t>p.108 </a:t>
            </a:r>
            <a:r>
              <a:rPr lang="ja-JP" altLang="en-US" sz="2000">
                <a:sym typeface="Wingdings" panose="05000000000000000000" pitchFamily="2" charset="2"/>
              </a:rPr>
              <a:t>図</a:t>
            </a:r>
            <a:r>
              <a:rPr lang="en-US" altLang="ja-JP" sz="2000">
                <a:sym typeface="Wingdings" panose="05000000000000000000" pitchFamily="2" charset="2"/>
              </a:rPr>
              <a:t>6.5</a:t>
            </a:r>
            <a:r>
              <a:rPr lang="ja-JP" altLang="en-US" sz="2000">
                <a:sym typeface="Wingdings" panose="05000000000000000000" pitchFamily="2" charset="2"/>
              </a:rPr>
              <a:t>，等を参照</a:t>
            </a:r>
            <a:endParaRPr lang="en-US" altLang="ja-JP" sz="2000">
              <a:effectLst/>
            </a:endParaRPr>
          </a:p>
          <a:p>
            <a:pPr algn="l"/>
            <a:r>
              <a:rPr lang="en-US" altLang="ja-JP" sz="1200"/>
              <a:t>          </a:t>
            </a:r>
            <a:r>
              <a:rPr lang="en-US" altLang="ja-JP" sz="1050"/>
              <a:t>see textbook page 108 figure 6.5 </a:t>
            </a:r>
            <a:r>
              <a:rPr lang="en-US" altLang="ja-JP" sz="1050" err="1"/>
              <a:t>etc</a:t>
            </a:r>
            <a:endParaRPr lang="en-US" altLang="ja-JP" sz="1050"/>
          </a:p>
          <a:p>
            <a:pPr algn="l"/>
            <a:endParaRPr lang="en-US" altLang="ja-JP" sz="1200"/>
          </a:p>
          <a:p>
            <a:pPr algn="l"/>
            <a:endParaRPr lang="en-US" altLang="ja-JP" sz="1200"/>
          </a:p>
          <a:p>
            <a:pPr algn="l"/>
            <a:endParaRPr lang="en-US" altLang="ja-JP" sz="2800"/>
          </a:p>
          <a:p>
            <a:pPr algn="l"/>
            <a:r>
              <a:rPr lang="zh-TW" altLang="en-US" sz="2800" b="0" i="0">
                <a:solidFill>
                  <a:srgbClr val="000000"/>
                </a:solidFill>
                <a:effectLst/>
                <a:latin typeface="Arial" panose="020B0604020202020204" pitchFamily="34" charset="0"/>
              </a:rPr>
              <a:t>伝達関数（周波数領域）</a:t>
            </a:r>
            <a:r>
              <a:rPr lang="en-US" altLang="zh-TW" sz="2800" b="0" i="0">
                <a:solidFill>
                  <a:srgbClr val="000000"/>
                </a:solidFill>
                <a:effectLst/>
                <a:latin typeface="Arial" panose="020B0604020202020204" pitchFamily="34" charset="0"/>
              </a:rPr>
              <a:t>: </a:t>
            </a:r>
          </a:p>
          <a:p>
            <a:pPr algn="l"/>
            <a:r>
              <a:rPr lang="en-US" altLang="zh-TW" sz="1050">
                <a:solidFill>
                  <a:srgbClr val="000000"/>
                </a:solidFill>
                <a:latin typeface="Arial" panose="020B0604020202020204" pitchFamily="34" charset="0"/>
              </a:rPr>
              <a:t>Transfer Function(Frequency domain)</a:t>
            </a:r>
          </a:p>
          <a:p>
            <a:pPr algn="l"/>
            <a:endParaRPr lang="en-US" altLang="zh-TW" sz="1050">
              <a:solidFill>
                <a:srgbClr val="000000"/>
              </a:solidFill>
              <a:latin typeface="Arial" panose="020B0604020202020204" pitchFamily="34" charset="0"/>
            </a:endParaRPr>
          </a:p>
          <a:p>
            <a:pPr algn="l"/>
            <a:endParaRPr lang="en-US" altLang="zh-TW" sz="1050">
              <a:solidFill>
                <a:srgbClr val="000000"/>
              </a:solidFill>
              <a:latin typeface="Arial" panose="020B0604020202020204" pitchFamily="34" charset="0"/>
            </a:endParaRPr>
          </a:p>
          <a:p>
            <a:pPr marL="342900" indent="-342900" algn="l">
              <a:buFont typeface="Wingdings" panose="05000000000000000000" pitchFamily="2" charset="2"/>
              <a:buChar char="à"/>
            </a:pPr>
            <a:r>
              <a:rPr lang="ja-JP" altLang="en-US" sz="2000" b="0" i="0">
                <a:solidFill>
                  <a:srgbClr val="000000"/>
                </a:solidFill>
                <a:effectLst/>
                <a:latin typeface="Arial" panose="020B0604020202020204" pitchFamily="34" charset="0"/>
              </a:rPr>
              <a:t>これは，</a:t>
            </a:r>
            <a:r>
              <a:rPr lang="ja-JP" altLang="en-US" sz="2000"/>
              <a:t>𝑧</a:t>
            </a:r>
            <a:r>
              <a:rPr lang="ja-JP" altLang="en-US" sz="2000" b="0" i="0">
                <a:solidFill>
                  <a:srgbClr val="000000"/>
                </a:solidFill>
                <a:effectLst/>
                <a:latin typeface="Arial" panose="020B0604020202020204" pitchFamily="34" charset="0"/>
              </a:rPr>
              <a:t> と </a:t>
            </a:r>
            <a:r>
              <a:rPr lang="ja-JP" altLang="en-US" sz="2000"/>
              <a:t>𝐻</a:t>
            </a:r>
            <a:r>
              <a:rPr lang="en-US" altLang="ja-JP" sz="2000"/>
              <a:t>(</a:t>
            </a:r>
            <a:r>
              <a:rPr lang="ja-JP" altLang="en-US" sz="2000"/>
              <a:t>𝑧</a:t>
            </a:r>
            <a:r>
              <a:rPr lang="en-US" altLang="ja-JP" sz="2000"/>
              <a:t>)</a:t>
            </a:r>
            <a:r>
              <a:rPr lang="ja-JP" altLang="en-US" sz="2000" b="0" i="0">
                <a:solidFill>
                  <a:srgbClr val="000000"/>
                </a:solidFill>
                <a:effectLst/>
                <a:latin typeface="Arial" panose="020B0604020202020204" pitchFamily="34" charset="0"/>
              </a:rPr>
              <a:t> の数式から直接的に導出される</a:t>
            </a:r>
            <a:endParaRPr lang="en-US" altLang="ja-JP" sz="2000" b="0" i="0">
              <a:solidFill>
                <a:srgbClr val="000000"/>
              </a:solidFill>
              <a:effectLst/>
              <a:latin typeface="Arial" panose="020B0604020202020204" pitchFamily="34" charset="0"/>
            </a:endParaRPr>
          </a:p>
          <a:p>
            <a:pPr algn="l"/>
            <a:r>
              <a:rPr lang="en-US" altLang="ja-JP" sz="1200" b="0" i="0">
                <a:solidFill>
                  <a:srgbClr val="3C4043"/>
                </a:solidFill>
                <a:effectLst/>
                <a:latin typeface="Arial" panose="020B0604020202020204" pitchFamily="34" charset="0"/>
                <a:cs typeface="Arial" panose="020B0604020202020204" pitchFamily="34" charset="0"/>
              </a:rPr>
              <a:t>         </a:t>
            </a:r>
            <a:r>
              <a:rPr lang="en-US" altLang="ja-JP" sz="1050" b="0" i="0">
                <a:solidFill>
                  <a:srgbClr val="3C4043"/>
                </a:solidFill>
                <a:effectLst/>
                <a:latin typeface="Arial" panose="020B0604020202020204" pitchFamily="34" charset="0"/>
                <a:cs typeface="Arial" panose="020B0604020202020204" pitchFamily="34" charset="0"/>
              </a:rPr>
              <a:t>This can be derived directly from the formula for </a:t>
            </a:r>
            <a:r>
              <a:rPr lang="ja-JP" altLang="en-US" sz="1050" b="0" i="0">
                <a:solidFill>
                  <a:srgbClr val="3C4043"/>
                </a:solidFill>
                <a:effectLst/>
                <a:latin typeface="Arial" panose="020B0604020202020204" pitchFamily="34" charset="0"/>
                <a:cs typeface="Arial" panose="020B0604020202020204" pitchFamily="34" charset="0"/>
              </a:rPr>
              <a:t>𝑧 </a:t>
            </a:r>
            <a:r>
              <a:rPr lang="en-US" altLang="ja-JP" sz="1050" b="0" i="0">
                <a:solidFill>
                  <a:srgbClr val="3C4043"/>
                </a:solidFill>
                <a:effectLst/>
                <a:latin typeface="Arial" panose="020B0604020202020204" pitchFamily="34" charset="0"/>
                <a:cs typeface="Arial" panose="020B0604020202020204" pitchFamily="34" charset="0"/>
              </a:rPr>
              <a:t>and </a:t>
            </a:r>
            <a:r>
              <a:rPr lang="ja-JP" altLang="en-US" sz="1050" b="0" i="0">
                <a:solidFill>
                  <a:srgbClr val="3C4043"/>
                </a:solidFill>
                <a:effectLst/>
                <a:latin typeface="Arial" panose="020B0604020202020204" pitchFamily="34" charset="0"/>
                <a:cs typeface="Arial" panose="020B0604020202020204" pitchFamily="34" charset="0"/>
              </a:rPr>
              <a:t>𝐻</a:t>
            </a:r>
            <a:r>
              <a:rPr lang="en-US" altLang="ja-JP" sz="1050" b="0" i="0">
                <a:solidFill>
                  <a:srgbClr val="3C4043"/>
                </a:solidFill>
                <a:effectLst/>
                <a:latin typeface="Arial" panose="020B0604020202020204" pitchFamily="34" charset="0"/>
                <a:cs typeface="Arial" panose="020B0604020202020204" pitchFamily="34" charset="0"/>
              </a:rPr>
              <a:t>(</a:t>
            </a:r>
            <a:r>
              <a:rPr lang="ja-JP" altLang="en-US" sz="1050" b="0" i="0">
                <a:solidFill>
                  <a:srgbClr val="3C4043"/>
                </a:solidFill>
                <a:effectLst/>
                <a:latin typeface="Arial" panose="020B0604020202020204" pitchFamily="34" charset="0"/>
                <a:cs typeface="Arial" panose="020B0604020202020204" pitchFamily="34" charset="0"/>
              </a:rPr>
              <a:t>𝑧</a:t>
            </a:r>
            <a:r>
              <a:rPr lang="en-US" altLang="ja-JP" sz="1050" b="0" i="0">
                <a:solidFill>
                  <a:srgbClr val="3C4043"/>
                </a:solidFill>
                <a:effectLst/>
                <a:latin typeface="Arial" panose="020B0604020202020204" pitchFamily="34" charset="0"/>
                <a:cs typeface="Arial" panose="020B0604020202020204" pitchFamily="34" charset="0"/>
              </a:rPr>
              <a:t>)</a:t>
            </a:r>
            <a:endParaRPr lang="en-US" altLang="ja-JP" sz="1050">
              <a:latin typeface="Arial" panose="020B0604020202020204" pitchFamily="34" charset="0"/>
              <a:cs typeface="Arial" panose="020B0604020202020204" pitchFamily="34"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3275216" y="252943"/>
            <a:ext cx="6384174"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a:solidFill>
                  <a:schemeClr val="tx1"/>
                </a:solidFill>
              </a:rPr>
              <a:t>FIR </a:t>
            </a:r>
            <a:r>
              <a:rPr lang="ja-JP" altLang="en-US" sz="3200">
                <a:solidFill>
                  <a:schemeClr val="tx1"/>
                </a:solidFill>
              </a:rPr>
              <a:t>フィルタの基本の総括</a:t>
            </a:r>
            <a:r>
              <a:rPr lang="en-US" altLang="ja-JP" sz="1100" b="1">
                <a:solidFill>
                  <a:schemeClr val="tx1"/>
                </a:solidFill>
              </a:rPr>
              <a:t>A basic review of FIR Filters </a:t>
            </a:r>
            <a:r>
              <a:rPr lang="ja-JP" altLang="en-US" sz="3200" b="1">
                <a:solidFill>
                  <a:srgbClr val="FF0000"/>
                </a:solidFill>
              </a:rPr>
              <a:t> </a:t>
            </a:r>
            <a:endParaRPr lang="en-US" sz="3200">
              <a:solidFill>
                <a:srgbClr val="FF0000"/>
              </a:solidFill>
            </a:endParaRPr>
          </a:p>
        </p:txBody>
      </p:sp>
      <p:pic>
        <p:nvPicPr>
          <p:cNvPr id="7" name="図 6" descr="ダイアグラム が含まれている画像&#10;&#10;自動的に生成された説明">
            <a:extLst>
              <a:ext uri="{FF2B5EF4-FFF2-40B4-BE49-F238E27FC236}">
                <a16:creationId xmlns:a16="http://schemas.microsoft.com/office/drawing/2014/main" id="{AB030735-E799-08AF-A95A-CD3D6833C017}"/>
              </a:ext>
            </a:extLst>
          </p:cNvPr>
          <p:cNvPicPr>
            <a:picLocks noChangeAspect="1"/>
          </p:cNvPicPr>
          <p:nvPr/>
        </p:nvPicPr>
        <p:blipFill>
          <a:blip r:embed="rId5"/>
          <a:stretch>
            <a:fillRect/>
          </a:stretch>
        </p:blipFill>
        <p:spPr>
          <a:xfrm>
            <a:off x="4037048" y="4055946"/>
            <a:ext cx="3169859" cy="698256"/>
          </a:xfrm>
          <a:prstGeom prst="rect">
            <a:avLst/>
          </a:prstGeom>
        </p:spPr>
      </p:pic>
      <p:pic>
        <p:nvPicPr>
          <p:cNvPr id="6" name="図 5" descr="ダイアグラム&#10;&#10;AI 生成コンテンツは誤りを含む可能性があります。">
            <a:extLst>
              <a:ext uri="{FF2B5EF4-FFF2-40B4-BE49-F238E27FC236}">
                <a16:creationId xmlns:a16="http://schemas.microsoft.com/office/drawing/2014/main" id="{ABBD8CAF-3B18-1EA5-EC0F-C32A7B2E6979}"/>
              </a:ext>
            </a:extLst>
          </p:cNvPr>
          <p:cNvPicPr>
            <a:picLocks noChangeAspect="1"/>
          </p:cNvPicPr>
          <p:nvPr/>
        </p:nvPicPr>
        <p:blipFill>
          <a:blip r:embed="rId6"/>
          <a:stretch>
            <a:fillRect/>
          </a:stretch>
        </p:blipFill>
        <p:spPr>
          <a:xfrm>
            <a:off x="3606340" y="1051829"/>
            <a:ext cx="8515457" cy="2432987"/>
          </a:xfrm>
          <a:prstGeom prst="rect">
            <a:avLst/>
          </a:prstGeom>
        </p:spPr>
      </p:pic>
    </p:spTree>
    <p:extLst>
      <p:ext uri="{BB962C8B-B14F-4D97-AF65-F5344CB8AC3E}">
        <p14:creationId xmlns:p14="http://schemas.microsoft.com/office/powerpoint/2010/main" val="21171055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231928"/>
          </a:xfrm>
          <a:prstGeom prst="rect">
            <a:avLst/>
          </a:prstGeom>
          <a:noFill/>
        </p:spPr>
        <p:txBody>
          <a:bodyPr wrap="square" rtlCol="0">
            <a:spAutoFit/>
          </a:bodyPr>
          <a:lstStyle/>
          <a:p>
            <a:pPr lvl="0">
              <a:lnSpc>
                <a:spcPct val="107000"/>
              </a:lnSpc>
              <a:spcBef>
                <a:spcPts val="450"/>
              </a:spcBef>
              <a:spcAft>
                <a:spcPts val="450"/>
              </a:spcAft>
              <a:buSzPts val="1000"/>
              <a:tabLst>
                <a:tab pos="457200" algn="l"/>
              </a:tabLst>
            </a:pPr>
            <a:r>
              <a:rPr lang="en-US" altLang="ja-JP" sz="135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rPr>
              <a:t>  </a:t>
            </a:r>
            <a:r>
              <a:rPr lang="ja-JP" altLang="ja-JP" sz="2800" kern="0">
                <a:solidFill>
                  <a:srgbClr val="000000"/>
                </a:solidFill>
                <a:effectLst/>
                <a:latin typeface="+mn-ea"/>
                <a:ea typeface="+mn-ea"/>
                <a:cs typeface="Arial" panose="020B0604020202020204" pitchFamily="34" charset="0"/>
              </a:rPr>
              <a:t>スペクトル：　</a:t>
            </a:r>
            <a:r>
              <a:rPr lang="en-US" altLang="ja-JP" sz="2800" kern="0">
                <a:solidFill>
                  <a:srgbClr val="000000"/>
                </a:solidFill>
                <a:effectLst/>
                <a:latin typeface="+mn-ea"/>
                <a:ea typeface="+mn-ea"/>
                <a:cs typeface="Cambria Math" panose="02040503050406030204" pitchFamily="18" charset="0"/>
              </a:rPr>
              <a:t>𝑌𝑘</a:t>
            </a:r>
            <a:r>
              <a:rPr lang="ja-JP" altLang="ja-JP" sz="2800" kern="0">
                <a:solidFill>
                  <a:srgbClr val="000000"/>
                </a:solidFill>
                <a:effectLst/>
                <a:latin typeface="+mn-ea"/>
                <a:ea typeface="+mn-ea"/>
                <a:cs typeface="Cambria Math" panose="02040503050406030204" pitchFamily="18" charset="0"/>
              </a:rPr>
              <a:t>　</a:t>
            </a:r>
            <a:r>
              <a:rPr lang="en-US" altLang="ja-JP" sz="2800" kern="0">
                <a:solidFill>
                  <a:srgbClr val="000000"/>
                </a:solidFill>
                <a:effectLst/>
                <a:latin typeface="+mn-ea"/>
                <a:ea typeface="+mn-ea"/>
                <a:cs typeface="Times New Roman" panose="02020603050405020304" pitchFamily="18" charset="0"/>
              </a:rPr>
              <a:t>=</a:t>
            </a:r>
            <a:r>
              <a:rPr lang="ja-JP" altLang="ja-JP" sz="2800" kern="0">
                <a:solidFill>
                  <a:srgbClr val="000000"/>
                </a:solidFill>
                <a:effectLst/>
                <a:latin typeface="+mn-ea"/>
                <a:ea typeface="+mn-ea"/>
                <a:cs typeface="Arial" panose="020B0604020202020204" pitchFamily="34" charset="0"/>
              </a:rPr>
              <a:t>　</a:t>
            </a:r>
            <a:r>
              <a:rPr lang="en-US" altLang="ja-JP" sz="2800" kern="0">
                <a:solidFill>
                  <a:srgbClr val="000000"/>
                </a:solidFill>
                <a:effectLst/>
                <a:latin typeface="+mn-ea"/>
                <a:ea typeface="+mn-ea"/>
                <a:cs typeface="Cambria Math" panose="02040503050406030204" pitchFamily="18" charset="0"/>
              </a:rPr>
              <a:t>𝐻</a:t>
            </a:r>
            <a:r>
              <a:rPr lang="en-US" altLang="ja-JP" sz="2800" kern="0" baseline="-25000">
                <a:solidFill>
                  <a:srgbClr val="000000"/>
                </a:solidFill>
                <a:effectLst/>
                <a:latin typeface="+mn-ea"/>
                <a:ea typeface="+mn-ea"/>
                <a:cs typeface="Cambria Math" panose="02040503050406030204" pitchFamily="18" charset="0"/>
              </a:rPr>
              <a:t>𝑘</a:t>
            </a:r>
            <a:r>
              <a:rPr lang="en-US" altLang="ja-JP" sz="2800" kern="0">
                <a:solidFill>
                  <a:srgbClr val="000000"/>
                </a:solidFill>
                <a:effectLst/>
                <a:latin typeface="+mn-ea"/>
                <a:ea typeface="+mn-ea"/>
                <a:cs typeface="Cambria Math" panose="02040503050406030204" pitchFamily="18" charset="0"/>
              </a:rPr>
              <a:t>𝑋</a:t>
            </a:r>
            <a:r>
              <a:rPr lang="en-US" altLang="ja-JP" sz="2800" kern="0" baseline="-25000">
                <a:solidFill>
                  <a:srgbClr val="000000"/>
                </a:solidFill>
                <a:effectLst/>
                <a:latin typeface="+mn-ea"/>
                <a:ea typeface="+mn-ea"/>
                <a:cs typeface="Cambria Math" panose="02040503050406030204" pitchFamily="18" charset="0"/>
              </a:rPr>
              <a:t>𝑘</a:t>
            </a:r>
            <a:endParaRPr lang="en-US" altLang="ja-JP" sz="2800" kern="100" baseline="-25000">
              <a:solidFill>
                <a:srgbClr val="000000"/>
              </a:solidFill>
              <a:latin typeface="+mn-ea"/>
              <a:ea typeface="+mn-ea"/>
              <a:cs typeface="Times New Roman" panose="02020603050405020304" pitchFamily="18" charset="0"/>
            </a:endParaRPr>
          </a:p>
          <a:p>
            <a:pPr lvl="0">
              <a:lnSpc>
                <a:spcPct val="107000"/>
              </a:lnSpc>
              <a:spcBef>
                <a:spcPts val="450"/>
              </a:spcBef>
              <a:spcAft>
                <a:spcPts val="450"/>
              </a:spcAft>
              <a:buSzPts val="1000"/>
              <a:tabLst>
                <a:tab pos="457200" algn="l"/>
              </a:tabLst>
            </a:pPr>
            <a:r>
              <a:rPr lang="en-US" altLang="ja-JP" sz="2800" kern="100" baseline="-25000">
                <a:solidFill>
                  <a:srgbClr val="000000"/>
                </a:solidFill>
                <a:effectLst/>
                <a:latin typeface="+mn-ea"/>
                <a:ea typeface="+mn-ea"/>
                <a:cs typeface="Times New Roman" panose="02020603050405020304" pitchFamily="18" charset="0"/>
                <a:sym typeface="Wingdings" panose="05000000000000000000" pitchFamily="2" charset="2"/>
              </a:rPr>
              <a:t>   </a:t>
            </a:r>
            <a:r>
              <a:rPr lang="en-US" altLang="ja-JP" sz="2000" kern="0">
                <a:solidFill>
                  <a:srgbClr val="000000"/>
                </a:solidFill>
                <a:effectLst/>
                <a:latin typeface="Cambria Math" panose="02040503050406030204" pitchFamily="18" charset="0"/>
                <a:ea typeface="ＭＳ Ｐゴシック" panose="020B0600070205080204" pitchFamily="50" charset="-128"/>
                <a:cs typeface="Cambria Math" panose="02040503050406030204" pitchFamily="18" charset="0"/>
                <a:sym typeface="Wingdings" panose="05000000000000000000" pitchFamily="2" charset="2"/>
              </a:rPr>
              <a:t>  </a:t>
            </a:r>
            <a:r>
              <a:rPr lang="en-US" altLang="ja-JP" sz="2000" kern="0">
                <a:solidFill>
                  <a:srgbClr val="000000"/>
                </a:solidFill>
                <a:effectLst/>
                <a:latin typeface="Cambria Math" panose="02040503050406030204" pitchFamily="18" charset="0"/>
                <a:ea typeface="ＭＳ Ｐゴシック" panose="020B0600070205080204" pitchFamily="50" charset="-128"/>
                <a:cs typeface="Cambria Math" panose="02040503050406030204" pitchFamily="18" charset="0"/>
              </a:rPr>
              <a:t>𝑋</a:t>
            </a:r>
            <a:r>
              <a:rPr lang="en-US" altLang="ja-JP" sz="2000" kern="0" baseline="-25000">
                <a:solidFill>
                  <a:srgbClr val="000000"/>
                </a:solidFill>
                <a:effectLst/>
                <a:latin typeface="Cambria Math" panose="02040503050406030204" pitchFamily="18" charset="0"/>
                <a:ea typeface="ＭＳ Ｐゴシック" panose="020B0600070205080204" pitchFamily="50" charset="-128"/>
                <a:cs typeface="Cambria Math" panose="02040503050406030204" pitchFamily="18" charset="0"/>
              </a:rPr>
              <a:t>𝑘</a:t>
            </a:r>
            <a:r>
              <a:rPr lang="ja-JP" altLang="ja-JP" sz="200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rPr>
              <a:t>，</a:t>
            </a:r>
            <a:r>
              <a:rPr lang="en-US" altLang="ja-JP" sz="2000" kern="0">
                <a:solidFill>
                  <a:srgbClr val="000000"/>
                </a:solidFill>
                <a:effectLst/>
                <a:latin typeface="Cambria Math" panose="02040503050406030204" pitchFamily="18" charset="0"/>
                <a:ea typeface="ＭＳ Ｐゴシック" panose="020B0600070205080204" pitchFamily="50" charset="-128"/>
                <a:cs typeface="Cambria Math" panose="02040503050406030204" pitchFamily="18" charset="0"/>
              </a:rPr>
              <a:t>𝑌</a:t>
            </a:r>
            <a:r>
              <a:rPr lang="en-US" altLang="ja-JP" sz="2000" kern="0" baseline="-25000">
                <a:solidFill>
                  <a:srgbClr val="000000"/>
                </a:solidFill>
                <a:effectLst/>
                <a:latin typeface="Cambria Math" panose="02040503050406030204" pitchFamily="18" charset="0"/>
                <a:ea typeface="ＭＳ Ｐゴシック" panose="020B0600070205080204" pitchFamily="50" charset="-128"/>
                <a:cs typeface="Cambria Math" panose="02040503050406030204" pitchFamily="18" charset="0"/>
              </a:rPr>
              <a:t>𝑘</a:t>
            </a:r>
            <a:r>
              <a:rPr lang="ja-JP" altLang="ja-JP" sz="200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rPr>
              <a:t>：入力・出力の離散スペクトルの第</a:t>
            </a:r>
            <a:r>
              <a:rPr lang="en-US" altLang="ja-JP" sz="2000" kern="0">
                <a:solidFill>
                  <a:srgbClr val="000000"/>
                </a:solidFill>
                <a:effectLst/>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sz="2000" kern="0">
                <a:solidFill>
                  <a:srgbClr val="000000"/>
                </a:solidFill>
                <a:effectLst/>
                <a:latin typeface="Cambria Math" panose="02040503050406030204" pitchFamily="18" charset="0"/>
                <a:ea typeface="ＭＳ Ｐゴシック" panose="020B0600070205080204" pitchFamily="50" charset="-128"/>
                <a:cs typeface="Cambria Math" panose="02040503050406030204" pitchFamily="18" charset="0"/>
              </a:rPr>
              <a:t>𝑘</a:t>
            </a:r>
            <a:r>
              <a:rPr lang="en-US" altLang="ja-JP" sz="2000" kern="0">
                <a:solidFill>
                  <a:srgbClr val="000000"/>
                </a:solidFill>
                <a:effectLst/>
                <a:latin typeface="Arial" panose="020B0604020202020204" pitchFamily="34" charset="0"/>
                <a:ea typeface="ＭＳ Ｐゴシック" panose="020B0600070205080204" pitchFamily="50" charset="-128"/>
                <a:cs typeface="Times New Roman" panose="02020603050405020304" pitchFamily="18" charset="0"/>
              </a:rPr>
              <a:t> </a:t>
            </a:r>
            <a:r>
              <a:rPr lang="ja-JP" altLang="ja-JP" sz="200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rPr>
              <a:t>高調波成分，</a:t>
            </a:r>
            <a:r>
              <a:rPr lang="en-US" altLang="ja-JP" sz="2000" kern="0">
                <a:solidFill>
                  <a:srgbClr val="000000"/>
                </a:solidFill>
                <a:effectLst/>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sz="2000" kern="0">
                <a:solidFill>
                  <a:srgbClr val="000000"/>
                </a:solidFill>
                <a:effectLst/>
                <a:latin typeface="Cambria Math" panose="02040503050406030204" pitchFamily="18" charset="0"/>
                <a:ea typeface="ＭＳ Ｐゴシック" panose="020B0600070205080204" pitchFamily="50" charset="-128"/>
                <a:cs typeface="Cambria Math" panose="02040503050406030204" pitchFamily="18" charset="0"/>
              </a:rPr>
              <a:t>𝑘</a:t>
            </a:r>
            <a:r>
              <a:rPr lang="en-US" altLang="ja-JP" sz="2000" kern="0">
                <a:solidFill>
                  <a:srgbClr val="000000"/>
                </a:solidFill>
                <a:effectLst/>
                <a:latin typeface="Arial" panose="020B0604020202020204" pitchFamily="34" charset="0"/>
                <a:ea typeface="ＭＳ Ｐゴシック" panose="020B0600070205080204" pitchFamily="50" charset="-128"/>
                <a:cs typeface="Times New Roman" panose="02020603050405020304" pitchFamily="18" charset="0"/>
              </a:rPr>
              <a:t>=0,1,2,</a:t>
            </a:r>
            <a:r>
              <a:rPr lang="en-US" altLang="ja-JP" sz="2000" kern="0">
                <a:solidFill>
                  <a:srgbClr val="000000"/>
                </a:solidFill>
                <a:effectLst/>
                <a:latin typeface="Cambria Math" panose="02040503050406030204" pitchFamily="18" charset="0"/>
                <a:ea typeface="ＭＳ Ｐゴシック" panose="020B0600070205080204" pitchFamily="50" charset="-128"/>
                <a:cs typeface="Cambria Math" panose="02040503050406030204" pitchFamily="18" charset="0"/>
              </a:rPr>
              <a:t>⋯</a:t>
            </a:r>
            <a:r>
              <a:rPr lang="en-US" altLang="ja-JP" sz="2000" kern="0">
                <a:solidFill>
                  <a:srgbClr val="000000"/>
                </a:solidFill>
                <a:effectLst/>
                <a:latin typeface="Arial" panose="020B0604020202020204" pitchFamily="34" charset="0"/>
                <a:ea typeface="ＭＳ Ｐゴシック" panose="020B0600070205080204" pitchFamily="50" charset="-128"/>
                <a:cs typeface="Times New Roman" panose="02020603050405020304" pitchFamily="18" charset="0"/>
              </a:rPr>
              <a:t>,</a:t>
            </a:r>
            <a:r>
              <a:rPr lang="en-US" altLang="ja-JP" sz="2000" kern="0">
                <a:solidFill>
                  <a:srgbClr val="000000"/>
                </a:solidFill>
                <a:effectLst/>
                <a:latin typeface="Cambria Math" panose="02040503050406030204" pitchFamily="18" charset="0"/>
                <a:ea typeface="ＭＳ Ｐゴシック" panose="020B0600070205080204" pitchFamily="50" charset="-128"/>
                <a:cs typeface="Cambria Math" panose="02040503050406030204" pitchFamily="18" charset="0"/>
              </a:rPr>
              <a:t>𝑁</a:t>
            </a:r>
            <a:r>
              <a:rPr lang="en-US" altLang="ja-JP" sz="2000" kern="0">
                <a:solidFill>
                  <a:srgbClr val="000000"/>
                </a:solidFill>
                <a:effectLst/>
                <a:latin typeface="Arial" panose="020B0604020202020204" pitchFamily="34" charset="0"/>
                <a:ea typeface="ＭＳ Ｐゴシック" panose="020B0600070205080204" pitchFamily="50" charset="-128"/>
                <a:cs typeface="Times New Roman" panose="02020603050405020304" pitchFamily="18" charset="0"/>
              </a:rPr>
              <a:t>−1</a:t>
            </a:r>
            <a:endParaRPr lang="en-US" altLang="ja-JP" sz="2000" kern="100">
              <a:solidFill>
                <a:srgbClr val="000000"/>
              </a:solidFill>
              <a:latin typeface="游明朝" panose="02020400000000000000" pitchFamily="18" charset="-128"/>
              <a:ea typeface="游明朝" panose="02020400000000000000" pitchFamily="18" charset="-128"/>
              <a:cs typeface="Times New Roman" panose="02020603050405020304" pitchFamily="18" charset="0"/>
            </a:endParaRPr>
          </a:p>
          <a:p>
            <a:pPr lvl="0">
              <a:lnSpc>
                <a:spcPct val="107000"/>
              </a:lnSpc>
              <a:spcBef>
                <a:spcPts val="450"/>
              </a:spcBef>
              <a:spcAft>
                <a:spcPts val="450"/>
              </a:spcAft>
              <a:buSzPts val="1000"/>
              <a:tabLst>
                <a:tab pos="457200" algn="l"/>
              </a:tabLst>
            </a:pPr>
            <a:r>
              <a:rPr lang="en-US" altLang="ja-JP" sz="105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rPr>
              <a:t>                the kth harmonic components of a discrete spectrum of the input and output</a:t>
            </a:r>
          </a:p>
          <a:p>
            <a:pPr>
              <a:lnSpc>
                <a:spcPct val="107000"/>
              </a:lnSpc>
              <a:spcBef>
                <a:spcPts val="450"/>
              </a:spcBef>
              <a:spcAft>
                <a:spcPts val="450"/>
              </a:spcAft>
              <a:buSzPts val="1000"/>
              <a:tabLst>
                <a:tab pos="457200" algn="l"/>
              </a:tabLst>
            </a:pPr>
            <a:endParaRPr lang="en-US" altLang="ja-JP" sz="280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endParaRPr>
          </a:p>
          <a:p>
            <a:pPr>
              <a:lnSpc>
                <a:spcPct val="107000"/>
              </a:lnSpc>
              <a:spcBef>
                <a:spcPts val="450"/>
              </a:spcBef>
              <a:spcAft>
                <a:spcPts val="450"/>
              </a:spcAft>
              <a:buSzPts val="1000"/>
              <a:tabLst>
                <a:tab pos="457200" algn="l"/>
              </a:tabLst>
            </a:pPr>
            <a:r>
              <a:rPr lang="ja-JP" altLang="ja-JP" sz="280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rPr>
              <a:t>単純な伝達関数の導出例：</a:t>
            </a:r>
            <a:r>
              <a:rPr lang="en-US" altLang="ja-JP" sz="280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rPr>
              <a:t>          </a:t>
            </a:r>
            <a:r>
              <a:rPr lang="en-US" altLang="ja-JP" sz="2800" kern="0">
                <a:solidFill>
                  <a:srgbClr val="000000"/>
                </a:solidFill>
                <a:latin typeface="Cambria Math" panose="02040503050406030204" pitchFamily="18" charset="0"/>
                <a:ea typeface="ＭＳ Ｐゴシック" panose="020B0600070205080204" pitchFamily="50" charset="-128"/>
                <a:cs typeface="Cambria Math" panose="02040503050406030204" pitchFamily="18" charset="0"/>
              </a:rPr>
              <a:t>𝑦</a:t>
            </a:r>
            <a:r>
              <a:rPr lang="en-US" altLang="ja-JP" sz="2800" kern="0" baseline="-25000">
                <a:solidFill>
                  <a:srgbClr val="000000"/>
                </a:solidFill>
                <a:latin typeface="Cambria Math" panose="02040503050406030204" pitchFamily="18" charset="0"/>
                <a:ea typeface="ＭＳ Ｐゴシック" panose="020B0600070205080204" pitchFamily="50" charset="-128"/>
                <a:cs typeface="Cambria Math" panose="02040503050406030204" pitchFamily="18" charset="0"/>
              </a:rPr>
              <a:t>𝑛 </a:t>
            </a:r>
            <a:r>
              <a:rPr lang="en-US" altLang="ja-JP" sz="2800" kern="0">
                <a:solidFill>
                  <a:srgbClr val="000000"/>
                </a:solidFill>
                <a:latin typeface="Arial" panose="020B0604020202020204" pitchFamily="34" charset="0"/>
                <a:ea typeface="ＭＳ Ｐゴシック" panose="020B0600070205080204" pitchFamily="50" charset="-128"/>
              </a:rPr>
              <a:t>= (</a:t>
            </a:r>
            <a:r>
              <a:rPr lang="en-US" altLang="ja-JP" sz="2800" kern="0">
                <a:solidFill>
                  <a:srgbClr val="000000"/>
                </a:solidFill>
                <a:latin typeface="Cambria Math" panose="02040503050406030204" pitchFamily="18" charset="0"/>
                <a:ea typeface="ＭＳ Ｐゴシック" panose="020B0600070205080204" pitchFamily="50" charset="-128"/>
                <a:cs typeface="Cambria Math" panose="02040503050406030204" pitchFamily="18" charset="0"/>
              </a:rPr>
              <a:t>𝑥</a:t>
            </a:r>
            <a:r>
              <a:rPr lang="en-US" altLang="ja-JP" sz="2800" kern="0" baseline="-25000">
                <a:solidFill>
                  <a:srgbClr val="000000"/>
                </a:solidFill>
                <a:latin typeface="Cambria Math" panose="02040503050406030204" pitchFamily="18" charset="0"/>
                <a:ea typeface="ＭＳ Ｐゴシック" panose="020B0600070205080204" pitchFamily="50" charset="-128"/>
                <a:cs typeface="Cambria Math" panose="02040503050406030204" pitchFamily="18" charset="0"/>
              </a:rPr>
              <a:t>𝑛</a:t>
            </a:r>
            <a:r>
              <a:rPr lang="en-US" altLang="ja-JP" sz="2800" kern="0">
                <a:solidFill>
                  <a:srgbClr val="000000"/>
                </a:solidFill>
                <a:latin typeface="Arial" panose="020B0604020202020204" pitchFamily="34" charset="0"/>
                <a:ea typeface="ＭＳ Ｐゴシック" panose="020B0600070205080204" pitchFamily="50" charset="-128"/>
              </a:rPr>
              <a:t>+</a:t>
            </a:r>
            <a:r>
              <a:rPr lang="en-US" altLang="ja-JP" sz="2800" kern="0">
                <a:solidFill>
                  <a:srgbClr val="000000"/>
                </a:solidFill>
                <a:latin typeface="Cambria Math" panose="02040503050406030204" pitchFamily="18" charset="0"/>
                <a:ea typeface="ＭＳ Ｐゴシック" panose="020B0600070205080204" pitchFamily="50" charset="-128"/>
                <a:cs typeface="Cambria Math" panose="02040503050406030204" pitchFamily="18" charset="0"/>
              </a:rPr>
              <a:t>𝑥</a:t>
            </a:r>
            <a:r>
              <a:rPr lang="en-US" altLang="ja-JP" sz="2800" kern="0" baseline="-25000">
                <a:solidFill>
                  <a:srgbClr val="000000"/>
                </a:solidFill>
                <a:latin typeface="Cambria Math" panose="02040503050406030204" pitchFamily="18" charset="0"/>
                <a:ea typeface="ＭＳ Ｐゴシック" panose="020B0600070205080204" pitchFamily="50" charset="-128"/>
                <a:cs typeface="Cambria Math" panose="02040503050406030204" pitchFamily="18" charset="0"/>
              </a:rPr>
              <a:t>𝑛</a:t>
            </a:r>
            <a:r>
              <a:rPr lang="en-US" altLang="ja-JP" sz="2800" kern="0" baseline="-25000">
                <a:solidFill>
                  <a:srgbClr val="000000"/>
                </a:solidFill>
                <a:latin typeface="Arial" panose="020B0604020202020204" pitchFamily="34" charset="0"/>
                <a:ea typeface="ＭＳ Ｐゴシック" panose="020B0600070205080204" pitchFamily="50" charset="-128"/>
              </a:rPr>
              <a:t>−</a:t>
            </a:r>
            <a:r>
              <a:rPr lang="en-US" altLang="ja-JP" sz="2800" kern="0" baseline="-25000">
                <a:solidFill>
                  <a:srgbClr val="000000"/>
                </a:solidFill>
                <a:latin typeface="Cambria Math" panose="02040503050406030204" pitchFamily="18" charset="0"/>
                <a:ea typeface="ＭＳ Ｐゴシック" panose="020B0600070205080204" pitchFamily="50" charset="-128"/>
                <a:cs typeface="Cambria Math" panose="02040503050406030204" pitchFamily="18" charset="0"/>
              </a:rPr>
              <a:t>𝑑</a:t>
            </a:r>
            <a:r>
              <a:rPr lang="en-US" altLang="ja-JP" sz="2800" kern="0">
                <a:solidFill>
                  <a:srgbClr val="000000"/>
                </a:solidFill>
                <a:latin typeface="Arial" panose="020B0604020202020204" pitchFamily="34" charset="0"/>
                <a:ea typeface="ＭＳ Ｐゴシック" panose="020B0600070205080204" pitchFamily="50" charset="-128"/>
              </a:rPr>
              <a:t>) / 2</a:t>
            </a:r>
            <a:endParaRPr lang="en-US" altLang="ja-JP" sz="280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endParaRPr>
          </a:p>
          <a:p>
            <a:pPr lvl="0">
              <a:lnSpc>
                <a:spcPct val="107000"/>
              </a:lnSpc>
              <a:spcBef>
                <a:spcPts val="450"/>
              </a:spcBef>
              <a:spcAft>
                <a:spcPts val="450"/>
              </a:spcAft>
              <a:buSzPts val="1000"/>
              <a:tabLst>
                <a:tab pos="457200" algn="l"/>
              </a:tabLst>
            </a:pPr>
            <a:r>
              <a:rPr lang="en-US" altLang="ja-JP" sz="105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rPr>
              <a:t>Example of derivation of a simple transfer function</a:t>
            </a:r>
          </a:p>
          <a:p>
            <a:pPr lvl="0">
              <a:lnSpc>
                <a:spcPct val="107000"/>
              </a:lnSpc>
              <a:spcBef>
                <a:spcPts val="450"/>
              </a:spcBef>
              <a:spcAft>
                <a:spcPts val="450"/>
              </a:spcAft>
              <a:buSzPts val="1000"/>
              <a:tabLst>
                <a:tab pos="457200" algn="l"/>
              </a:tabLst>
            </a:pPr>
            <a:endParaRPr lang="en-US" altLang="ja-JP" sz="1050" kern="0">
              <a:solidFill>
                <a:srgbClr val="000000"/>
              </a:solidFill>
              <a:latin typeface="Arial" panose="020B0604020202020204" pitchFamily="34" charset="0"/>
              <a:ea typeface="ＭＳ Ｐゴシック" panose="020B0600070205080204" pitchFamily="50" charset="-128"/>
              <a:cs typeface="Arial" panose="020B0604020202020204" pitchFamily="34" charset="0"/>
            </a:endParaRPr>
          </a:p>
          <a:p>
            <a:pPr lvl="0">
              <a:lnSpc>
                <a:spcPct val="107000"/>
              </a:lnSpc>
              <a:spcBef>
                <a:spcPts val="450"/>
              </a:spcBef>
              <a:spcAft>
                <a:spcPts val="450"/>
              </a:spcAft>
              <a:buSzPts val="1000"/>
              <a:tabLst>
                <a:tab pos="457200" algn="l"/>
              </a:tabLst>
            </a:pPr>
            <a:endParaRPr lang="en-US" altLang="ja-JP" sz="105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endParaRPr>
          </a:p>
          <a:p>
            <a:pPr lvl="0">
              <a:lnSpc>
                <a:spcPct val="107000"/>
              </a:lnSpc>
              <a:spcBef>
                <a:spcPts val="450"/>
              </a:spcBef>
              <a:spcAft>
                <a:spcPts val="450"/>
              </a:spcAft>
              <a:buSzPts val="1000"/>
              <a:tabLst>
                <a:tab pos="457200" algn="l"/>
              </a:tabLst>
            </a:pPr>
            <a:r>
              <a:rPr lang="ja-JP" altLang="ja-JP" sz="280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rPr>
              <a:t>前回の例では，遅延時間</a:t>
            </a:r>
            <a:r>
              <a:rPr lang="en-US" altLang="ja-JP" sz="2800" kern="0">
                <a:solidFill>
                  <a:srgbClr val="000000"/>
                </a:solidFill>
                <a:effectLst/>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sz="2800" kern="0">
                <a:solidFill>
                  <a:srgbClr val="000000"/>
                </a:solidFill>
                <a:effectLst/>
                <a:latin typeface="Cambria Math" panose="02040503050406030204" pitchFamily="18" charset="0"/>
                <a:ea typeface="ＭＳ Ｐゴシック" panose="020B0600070205080204" pitchFamily="50" charset="-128"/>
                <a:cs typeface="Cambria Math" panose="02040503050406030204" pitchFamily="18" charset="0"/>
              </a:rPr>
              <a:t>𝑑</a:t>
            </a:r>
            <a:r>
              <a:rPr lang="en-US" altLang="ja-JP" sz="2800" kern="0">
                <a:solidFill>
                  <a:srgbClr val="000000"/>
                </a:solidFill>
                <a:effectLst/>
                <a:latin typeface="Arial" panose="020B0604020202020204" pitchFamily="34" charset="0"/>
                <a:ea typeface="ＭＳ Ｐゴシック" panose="020B0600070205080204" pitchFamily="50" charset="-128"/>
                <a:cs typeface="Times New Roman" panose="02020603050405020304" pitchFamily="18" charset="0"/>
              </a:rPr>
              <a:t>=1 </a:t>
            </a:r>
            <a:r>
              <a:rPr lang="ja-JP" altLang="ja-JP" sz="280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rPr>
              <a:t>でした．今回は，その一般化</a:t>
            </a:r>
            <a:endParaRPr lang="ja-JP" altLang="ja-JP" sz="2800" kern="100">
              <a:effectLst/>
              <a:latin typeface="游明朝" panose="02020400000000000000" pitchFamily="18" charset="-128"/>
              <a:ea typeface="游明朝" panose="02020400000000000000" pitchFamily="18" charset="-128"/>
              <a:cs typeface="Times New Roman" panose="02020603050405020304" pitchFamily="18" charset="0"/>
            </a:endParaRPr>
          </a:p>
          <a:p>
            <a:r>
              <a:rPr lang="en-US" altLang="ja-JP" sz="1050" b="0" i="0">
                <a:solidFill>
                  <a:srgbClr val="3C4043"/>
                </a:solidFill>
                <a:effectLst/>
                <a:latin typeface="Arial" panose="020B0604020202020204" pitchFamily="34" charset="0"/>
                <a:cs typeface="Arial" panose="020B0604020202020204" pitchFamily="34" charset="0"/>
              </a:rPr>
              <a:t>In the previous example, the delay time </a:t>
            </a:r>
            <a:r>
              <a:rPr lang="ja-JP" altLang="en-US" sz="1050" b="0" i="0">
                <a:solidFill>
                  <a:srgbClr val="3C4043"/>
                </a:solidFill>
                <a:effectLst/>
                <a:latin typeface="Arial" panose="020B0604020202020204" pitchFamily="34" charset="0"/>
                <a:cs typeface="Arial" panose="020B0604020202020204" pitchFamily="34" charset="0"/>
              </a:rPr>
              <a:t>𝑑</a:t>
            </a:r>
            <a:r>
              <a:rPr lang="en-US" altLang="ja-JP" sz="1050" b="0" i="0">
                <a:solidFill>
                  <a:srgbClr val="3C4043"/>
                </a:solidFill>
                <a:effectLst/>
                <a:latin typeface="Arial" panose="020B0604020202020204" pitchFamily="34" charset="0"/>
                <a:cs typeface="Arial" panose="020B0604020202020204" pitchFamily="34" charset="0"/>
              </a:rPr>
              <a:t>=1. This time, we generalize it as</a:t>
            </a:r>
            <a:endParaRPr lang="en-US" altLang="ja-JP" sz="1050">
              <a:latin typeface="Arial" panose="020B0604020202020204" pitchFamily="34" charset="0"/>
              <a:cs typeface="Arial" panose="020B0604020202020204" pitchFamily="34"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3275216" y="252943"/>
            <a:ext cx="6384174"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a:solidFill>
                  <a:schemeClr val="tx1"/>
                </a:solidFill>
              </a:rPr>
              <a:t>FIR </a:t>
            </a:r>
            <a:r>
              <a:rPr lang="ja-JP" altLang="en-US" sz="3200">
                <a:solidFill>
                  <a:schemeClr val="tx1"/>
                </a:solidFill>
              </a:rPr>
              <a:t>フィルタの基本の総括</a:t>
            </a:r>
            <a:r>
              <a:rPr lang="en-US" altLang="ja-JP" sz="1100" b="1">
                <a:solidFill>
                  <a:schemeClr val="tx1"/>
                </a:solidFill>
              </a:rPr>
              <a:t>A basic review of FIR Filters </a:t>
            </a:r>
            <a:r>
              <a:rPr lang="ja-JP" altLang="en-US" sz="3200" b="1">
                <a:solidFill>
                  <a:srgbClr val="FF0000"/>
                </a:solidFill>
              </a:rPr>
              <a:t> </a:t>
            </a:r>
            <a:endParaRPr lang="en-US" sz="3200">
              <a:solidFill>
                <a:srgbClr val="FF0000"/>
              </a:solidFill>
            </a:endParaRPr>
          </a:p>
        </p:txBody>
      </p:sp>
      <p:pic>
        <p:nvPicPr>
          <p:cNvPr id="6" name="図 5" descr="ダイアグラム&#10;&#10;中程度の精度で自動的に生成された説明">
            <a:extLst>
              <a:ext uri="{FF2B5EF4-FFF2-40B4-BE49-F238E27FC236}">
                <a16:creationId xmlns:a16="http://schemas.microsoft.com/office/drawing/2014/main" id="{847BFE06-941D-A440-BC71-5AAE43C593C7}"/>
              </a:ext>
            </a:extLst>
          </p:cNvPr>
          <p:cNvPicPr>
            <a:picLocks noChangeAspect="1"/>
          </p:cNvPicPr>
          <p:nvPr/>
        </p:nvPicPr>
        <p:blipFill>
          <a:blip r:embed="rId5"/>
          <a:stretch>
            <a:fillRect/>
          </a:stretch>
        </p:blipFill>
        <p:spPr>
          <a:xfrm>
            <a:off x="8905416" y="2316101"/>
            <a:ext cx="3286584" cy="2743583"/>
          </a:xfrm>
          <a:prstGeom prst="rect">
            <a:avLst/>
          </a:prstGeom>
        </p:spPr>
      </p:pic>
    </p:spTree>
    <p:extLst>
      <p:ext uri="{BB962C8B-B14F-4D97-AF65-F5344CB8AC3E}">
        <p14:creationId xmlns:p14="http://schemas.microsoft.com/office/powerpoint/2010/main" val="3258853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131900"/>
          </a:xfrm>
          <a:prstGeom prst="rect">
            <a:avLst/>
          </a:prstGeom>
          <a:noFill/>
        </p:spPr>
        <p:txBody>
          <a:bodyPr wrap="square" rtlCol="0">
            <a:spAutoFit/>
          </a:bodyPr>
          <a:lstStyle/>
          <a:p>
            <a:pPr lvl="1" algn="l"/>
            <a:r>
              <a:rPr lang="ja-JP" altLang="en-US" sz="2400" b="0" i="0">
                <a:solidFill>
                  <a:srgbClr val="000000"/>
                </a:solidFill>
                <a:effectLst/>
                <a:latin typeface="Arial" panose="020B0604020202020204" pitchFamily="34" charset="0"/>
              </a:rPr>
              <a:t>様々な 𝑑 値に対して，図示してみましょう </a:t>
            </a:r>
            <a:endParaRPr lang="en-US" altLang="ja-JP" sz="2400">
              <a:solidFill>
                <a:srgbClr val="000000"/>
              </a:solidFill>
              <a:latin typeface="Arial" panose="020B0604020202020204" pitchFamily="34" charset="0"/>
            </a:endParaRPr>
          </a:p>
          <a:p>
            <a:pPr lvl="1" algn="l"/>
            <a:r>
              <a:rPr lang="en-US" altLang="ja-JP" sz="2400">
                <a:solidFill>
                  <a:srgbClr val="000000"/>
                </a:solidFill>
                <a:latin typeface="Arial" panose="020B0604020202020204" pitchFamily="34" charset="0"/>
              </a:rPr>
              <a:t> </a:t>
            </a:r>
            <a:r>
              <a:rPr lang="en-US" altLang="ja-JP" sz="1050">
                <a:solidFill>
                  <a:srgbClr val="000000"/>
                </a:solidFill>
                <a:latin typeface="Arial" panose="020B0604020202020204" pitchFamily="34" charset="0"/>
              </a:rPr>
              <a:t>Let’s illustrate this for various d values</a:t>
            </a:r>
          </a:p>
          <a:p>
            <a:pPr lvl="1" algn="l"/>
            <a:endParaRPr lang="en-US" altLang="ja-JP" sz="1050">
              <a:solidFill>
                <a:srgbClr val="000000"/>
              </a:solidFill>
              <a:latin typeface="Arial" panose="020B0604020202020204" pitchFamily="34" charset="0"/>
            </a:endParaRPr>
          </a:p>
          <a:p>
            <a:pPr lvl="1"/>
            <a:r>
              <a:rPr lang="ja-JP" altLang="en-US" sz="3600">
                <a:solidFill>
                  <a:srgbClr val="000000"/>
                </a:solidFill>
                <a:latin typeface="Arial" panose="020B0604020202020204" pitchFamily="34" charset="0"/>
              </a:rPr>
              <a:t>                             𝑑</a:t>
            </a:r>
            <a:r>
              <a:rPr lang="en-US" altLang="ja-JP" sz="3600">
                <a:solidFill>
                  <a:srgbClr val="000000"/>
                </a:solidFill>
                <a:latin typeface="Arial" panose="020B0604020202020204" pitchFamily="34" charset="0"/>
              </a:rPr>
              <a:t>=1 → </a:t>
            </a:r>
          </a:p>
          <a:p>
            <a:r>
              <a:rPr lang="en-US" altLang="ja-JP">
                <a:sym typeface="Wingdings" panose="05000000000000000000" pitchFamily="2" charset="2"/>
              </a:rPr>
              <a:t> </a:t>
            </a:r>
          </a:p>
          <a:p>
            <a:r>
              <a:rPr lang="en-US" altLang="ja-JP">
                <a:sym typeface="Wingdings" panose="05000000000000000000" pitchFamily="2" charset="2"/>
              </a:rPr>
              <a:t>       </a:t>
            </a:r>
            <a:r>
              <a:rPr lang="en-US" altLang="ja-JP"/>
              <a:t>At ω = 0 → cos⁡(0)  =  1 →  gain = 1</a:t>
            </a:r>
            <a:endParaRPr lang="ja-JP" altLang="ja-JP"/>
          </a:p>
          <a:p>
            <a:r>
              <a:rPr lang="en-US" altLang="ja-JP">
                <a:sym typeface="Wingdings" panose="05000000000000000000" pitchFamily="2" charset="2"/>
              </a:rPr>
              <a:t>      </a:t>
            </a:r>
            <a:r>
              <a:rPr lang="en-US" altLang="ja-JP"/>
              <a:t> At ω = π → cos⁡(π) = −1 → gain = 0</a:t>
            </a:r>
            <a:endParaRPr lang="ja-JP" altLang="ja-JP"/>
          </a:p>
          <a:p>
            <a:pPr lvl="1"/>
            <a:endParaRPr lang="en-US" altLang="ja-JP" sz="3600">
              <a:solidFill>
                <a:srgbClr val="000000"/>
              </a:solidFill>
              <a:latin typeface="Arial" panose="020B0604020202020204" pitchFamily="34" charset="0"/>
            </a:endParaRPr>
          </a:p>
          <a:p>
            <a:pPr lvl="1"/>
            <a:r>
              <a:rPr lang="ja-JP" altLang="en-US" sz="3600">
                <a:solidFill>
                  <a:srgbClr val="000000"/>
                </a:solidFill>
                <a:latin typeface="Arial" panose="020B0604020202020204" pitchFamily="34" charset="0"/>
              </a:rPr>
              <a:t>低域通過フィルタ（</a:t>
            </a:r>
            <a:r>
              <a:rPr lang="en-US" altLang="ja-JP" sz="3600">
                <a:solidFill>
                  <a:srgbClr val="000000"/>
                </a:solidFill>
                <a:latin typeface="Arial" panose="020B0604020202020204" pitchFamily="34" charset="0"/>
              </a:rPr>
              <a:t>LPF</a:t>
            </a:r>
            <a:r>
              <a:rPr lang="ja-JP" altLang="en-US" sz="3600">
                <a:solidFill>
                  <a:srgbClr val="000000"/>
                </a:solidFill>
                <a:latin typeface="Arial" panose="020B0604020202020204" pitchFamily="34" charset="0"/>
              </a:rPr>
              <a:t>）</a:t>
            </a:r>
            <a:endParaRPr lang="en-US" altLang="ja-JP" sz="3600">
              <a:solidFill>
                <a:srgbClr val="000000"/>
              </a:solidFill>
              <a:latin typeface="Arial" panose="020B0604020202020204" pitchFamily="34" charset="0"/>
            </a:endParaRPr>
          </a:p>
          <a:p>
            <a:pPr lvl="1"/>
            <a:r>
              <a:rPr lang="en-US" altLang="ja-JP" sz="1050">
                <a:solidFill>
                  <a:srgbClr val="000000"/>
                </a:solidFill>
                <a:latin typeface="Arial" panose="020B0604020202020204" pitchFamily="34" charset="0"/>
              </a:rPr>
              <a:t>   D= 1 </a:t>
            </a:r>
            <a:r>
              <a:rPr lang="en-US" altLang="ja-JP" sz="1050">
                <a:solidFill>
                  <a:srgbClr val="000000"/>
                </a:solidFill>
                <a:latin typeface="Arial" panose="020B0604020202020204" pitchFamily="34" charset="0"/>
                <a:sym typeface="Wingdings" panose="05000000000000000000" pitchFamily="2" charset="2"/>
              </a:rPr>
              <a:t> Low pass filter LPF</a:t>
            </a:r>
          </a:p>
          <a:p>
            <a:pPr lvl="1" algn="l"/>
            <a:endParaRPr lang="en-US" altLang="ja-JP" sz="1050">
              <a:solidFill>
                <a:srgbClr val="000000"/>
              </a:solidFill>
              <a:latin typeface="Arial" panose="020B0604020202020204" pitchFamily="34" charset="0"/>
            </a:endParaRPr>
          </a:p>
          <a:p>
            <a:pPr lvl="1"/>
            <a:endParaRPr lang="en-US" altLang="ja-JP" sz="1050">
              <a:solidFill>
                <a:srgbClr val="000000"/>
              </a:solidFill>
              <a:latin typeface="Arial" panose="020B0604020202020204" pitchFamily="34" charset="0"/>
            </a:endParaRPr>
          </a:p>
          <a:p>
            <a:pPr lvl="1"/>
            <a:r>
              <a:rPr lang="en-US" altLang="ja-JP" sz="1050" b="1">
                <a:solidFill>
                  <a:srgbClr val="000000"/>
                </a:solidFill>
                <a:latin typeface="Arial" panose="020B0604020202020204" pitchFamily="34" charset="0"/>
              </a:rPr>
              <a:t>Low pass filter behavior </a:t>
            </a:r>
            <a:r>
              <a:rPr lang="en-US" altLang="ja-JP" sz="1050" b="1">
                <a:solidFill>
                  <a:srgbClr val="000000"/>
                </a:solidFill>
                <a:latin typeface="Arial" panose="020B0604020202020204" pitchFamily="34" charset="0"/>
                <a:sym typeface="Wingdings" panose="05000000000000000000" pitchFamily="2" charset="2"/>
              </a:rPr>
              <a:t> blocks high frequencies </a:t>
            </a:r>
            <a:r>
              <a:rPr lang="en-US" altLang="ja-JP" sz="1050" b="1"/>
              <a:t>⁡(π) , passes low</a:t>
            </a:r>
            <a:endParaRPr lang="en-US" altLang="ja-JP" sz="1050" b="1">
              <a:solidFill>
                <a:srgbClr val="000000"/>
              </a:solidFill>
              <a:latin typeface="Arial" panose="020B0604020202020204" pitchFamily="34"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3275216" y="252943"/>
            <a:ext cx="6384174"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a:solidFill>
                  <a:schemeClr val="tx1"/>
                </a:solidFill>
              </a:rPr>
              <a:t>FIR </a:t>
            </a:r>
            <a:r>
              <a:rPr lang="ja-JP" altLang="en-US" sz="3200">
                <a:solidFill>
                  <a:schemeClr val="tx1"/>
                </a:solidFill>
              </a:rPr>
              <a:t>フィルタの基本の総括</a:t>
            </a:r>
            <a:r>
              <a:rPr lang="en-US" altLang="ja-JP" sz="1100" b="1">
                <a:solidFill>
                  <a:schemeClr val="tx1"/>
                </a:solidFill>
              </a:rPr>
              <a:t>A basic review of FIR Filters </a:t>
            </a:r>
            <a:r>
              <a:rPr lang="ja-JP" altLang="en-US" sz="3200" b="1">
                <a:solidFill>
                  <a:srgbClr val="FF0000"/>
                </a:solidFill>
              </a:rPr>
              <a:t> </a:t>
            </a:r>
            <a:endParaRPr lang="en-US" sz="3200">
              <a:solidFill>
                <a:srgbClr val="FF0000"/>
              </a:solidFill>
            </a:endParaRPr>
          </a:p>
        </p:txBody>
      </p:sp>
      <p:pic>
        <p:nvPicPr>
          <p:cNvPr id="7" name="図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92981" y="1121839"/>
            <a:ext cx="4873219" cy="1382375"/>
          </a:xfrm>
          <a:prstGeom prst="rect">
            <a:avLst/>
          </a:prstGeom>
        </p:spPr>
      </p:pic>
      <p:cxnSp>
        <p:nvCxnSpPr>
          <p:cNvPr id="13" name="直線矢印コネクタ 12"/>
          <p:cNvCxnSpPr/>
          <p:nvPr/>
        </p:nvCxnSpPr>
        <p:spPr>
          <a:xfrm>
            <a:off x="8370916" y="2180938"/>
            <a:ext cx="16626" cy="40653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15" name="図 1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89818" y="2753838"/>
            <a:ext cx="4976382" cy="1236271"/>
          </a:xfrm>
          <a:prstGeom prst="rect">
            <a:avLst/>
          </a:prstGeom>
        </p:spPr>
      </p:pic>
    </p:spTree>
    <p:extLst>
      <p:ext uri="{BB962C8B-B14F-4D97-AF65-F5344CB8AC3E}">
        <p14:creationId xmlns:p14="http://schemas.microsoft.com/office/powerpoint/2010/main" val="6799812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131900"/>
          </a:xfrm>
          <a:prstGeom prst="rect">
            <a:avLst/>
          </a:prstGeom>
          <a:noFill/>
        </p:spPr>
        <p:txBody>
          <a:bodyPr wrap="square" rtlCol="0">
            <a:spAutoFit/>
          </a:bodyPr>
          <a:lstStyle/>
          <a:p>
            <a:pPr lvl="1" algn="l"/>
            <a:r>
              <a:rPr lang="ja-JP" altLang="en-US" sz="2400" b="0" i="0">
                <a:solidFill>
                  <a:srgbClr val="000000"/>
                </a:solidFill>
                <a:effectLst/>
                <a:latin typeface="Arial" panose="020B0604020202020204" pitchFamily="34" charset="0"/>
              </a:rPr>
              <a:t>様々な 𝑑 値に対して，図示してみましょう </a:t>
            </a:r>
            <a:endParaRPr lang="en-US" altLang="ja-JP" sz="2400">
              <a:solidFill>
                <a:srgbClr val="000000"/>
              </a:solidFill>
              <a:latin typeface="Arial" panose="020B0604020202020204" pitchFamily="34" charset="0"/>
            </a:endParaRPr>
          </a:p>
          <a:p>
            <a:pPr lvl="1" algn="l"/>
            <a:r>
              <a:rPr lang="en-US" altLang="ja-JP" sz="2400">
                <a:solidFill>
                  <a:srgbClr val="000000"/>
                </a:solidFill>
                <a:latin typeface="Arial" panose="020B0604020202020204" pitchFamily="34" charset="0"/>
              </a:rPr>
              <a:t> </a:t>
            </a:r>
            <a:r>
              <a:rPr lang="en-US" altLang="ja-JP" sz="1050">
                <a:solidFill>
                  <a:srgbClr val="000000"/>
                </a:solidFill>
                <a:latin typeface="Arial" panose="020B0604020202020204" pitchFamily="34" charset="0"/>
              </a:rPr>
              <a:t>Let’s illustrate this for various d values</a:t>
            </a:r>
          </a:p>
          <a:p>
            <a:pPr lvl="1" algn="l"/>
            <a:endParaRPr lang="en-US" altLang="ja-JP" sz="1050">
              <a:solidFill>
                <a:srgbClr val="000000"/>
              </a:solidFill>
              <a:latin typeface="Arial" panose="020B0604020202020204" pitchFamily="34" charset="0"/>
            </a:endParaRPr>
          </a:p>
          <a:p>
            <a:pPr lvl="1"/>
            <a:endParaRPr lang="en-US" altLang="ja-JP" sz="3600">
              <a:solidFill>
                <a:srgbClr val="000000"/>
              </a:solidFill>
              <a:latin typeface="Arial" panose="020B0604020202020204" pitchFamily="34" charset="0"/>
            </a:endParaRPr>
          </a:p>
          <a:p>
            <a:pPr lvl="1"/>
            <a:r>
              <a:rPr lang="ja-JP" altLang="en-US" sz="3600">
                <a:solidFill>
                  <a:srgbClr val="000000"/>
                </a:solidFill>
                <a:latin typeface="Arial" panose="020B0604020202020204" pitchFamily="34" charset="0"/>
              </a:rPr>
              <a:t>                                𝑑</a:t>
            </a:r>
            <a:r>
              <a:rPr lang="en-US" altLang="ja-JP" sz="3600">
                <a:solidFill>
                  <a:srgbClr val="000000"/>
                </a:solidFill>
                <a:latin typeface="Arial" panose="020B0604020202020204" pitchFamily="34" charset="0"/>
              </a:rPr>
              <a:t>=2 → </a:t>
            </a:r>
          </a:p>
          <a:p>
            <a:r>
              <a:rPr lang="en-US" altLang="ja-JP">
                <a:sym typeface="Wingdings" panose="05000000000000000000" pitchFamily="2" charset="2"/>
              </a:rPr>
              <a:t>      Zeros appear at</a:t>
            </a:r>
            <a:r>
              <a:rPr lang="en-US" altLang="ja-JP"/>
              <a:t>  ω = π/2 , 3 π/2 </a:t>
            </a:r>
            <a:endParaRPr lang="ja-JP" altLang="ja-JP"/>
          </a:p>
          <a:p>
            <a:pPr lvl="1"/>
            <a:endParaRPr lang="en-US" altLang="ja-JP" sz="3600">
              <a:solidFill>
                <a:srgbClr val="000000"/>
              </a:solidFill>
              <a:latin typeface="Arial" panose="020B0604020202020204" pitchFamily="34" charset="0"/>
            </a:endParaRPr>
          </a:p>
          <a:p>
            <a:pPr lvl="1"/>
            <a:r>
              <a:rPr lang="ja-JP" altLang="en-US" sz="3600">
                <a:solidFill>
                  <a:srgbClr val="000000"/>
                </a:solidFill>
                <a:latin typeface="Arial" panose="020B0604020202020204" pitchFamily="34" charset="0"/>
              </a:rPr>
              <a:t>帯域阻止フィルタ（</a:t>
            </a:r>
            <a:r>
              <a:rPr lang="en-US" altLang="ja-JP" sz="3600">
                <a:solidFill>
                  <a:srgbClr val="000000"/>
                </a:solidFill>
                <a:latin typeface="Arial" panose="020B0604020202020204" pitchFamily="34" charset="0"/>
              </a:rPr>
              <a:t>BEF</a:t>
            </a:r>
            <a:r>
              <a:rPr lang="ja-JP" altLang="en-US" sz="3600">
                <a:solidFill>
                  <a:srgbClr val="000000"/>
                </a:solidFill>
                <a:latin typeface="Arial" panose="020B0604020202020204" pitchFamily="34" charset="0"/>
              </a:rPr>
              <a:t>）</a:t>
            </a:r>
          </a:p>
          <a:p>
            <a:pPr lvl="1"/>
            <a:r>
              <a:rPr lang="en-US" altLang="ja-JP" sz="1050">
                <a:solidFill>
                  <a:srgbClr val="000000"/>
                </a:solidFill>
                <a:latin typeface="Arial" panose="020B0604020202020204" pitchFamily="34" charset="0"/>
              </a:rPr>
              <a:t>   D= 2 </a:t>
            </a:r>
            <a:r>
              <a:rPr lang="en-US" altLang="ja-JP" sz="1050">
                <a:solidFill>
                  <a:srgbClr val="000000"/>
                </a:solidFill>
                <a:latin typeface="Arial" panose="020B0604020202020204" pitchFamily="34" charset="0"/>
                <a:sym typeface="Wingdings" panose="05000000000000000000" pitchFamily="2" charset="2"/>
              </a:rPr>
              <a:t> Band Stop Filter   (BEF)</a:t>
            </a:r>
          </a:p>
          <a:p>
            <a:pPr lvl="1" algn="l"/>
            <a:endParaRPr lang="en-US" altLang="ja-JP" sz="1050">
              <a:solidFill>
                <a:srgbClr val="000000"/>
              </a:solidFill>
              <a:latin typeface="Arial" panose="020B0604020202020204" pitchFamily="34" charset="0"/>
            </a:endParaRPr>
          </a:p>
          <a:p>
            <a:pPr lvl="1"/>
            <a:endParaRPr lang="en-US" altLang="ja-JP" sz="1050">
              <a:solidFill>
                <a:srgbClr val="000000"/>
              </a:solidFill>
              <a:latin typeface="Arial" panose="020B0604020202020204" pitchFamily="34" charset="0"/>
            </a:endParaRPr>
          </a:p>
          <a:p>
            <a:pPr lvl="1"/>
            <a:r>
              <a:rPr lang="en-US" altLang="ja-JP" sz="1050" b="1">
                <a:solidFill>
                  <a:srgbClr val="000000"/>
                </a:solidFill>
                <a:latin typeface="Arial" panose="020B0604020202020204" pitchFamily="34" charset="0"/>
              </a:rPr>
              <a:t>Band Stop filter behavior </a:t>
            </a:r>
            <a:r>
              <a:rPr lang="en-US" altLang="ja-JP" sz="1050" b="1">
                <a:solidFill>
                  <a:srgbClr val="000000"/>
                </a:solidFill>
                <a:latin typeface="Arial" panose="020B0604020202020204" pitchFamily="34" charset="0"/>
                <a:sym typeface="Wingdings" panose="05000000000000000000" pitchFamily="2" charset="2"/>
              </a:rPr>
              <a:t> Useful for removing  mid frequencies</a:t>
            </a:r>
            <a:endParaRPr lang="en-US" altLang="ja-JP" sz="1050" b="1">
              <a:solidFill>
                <a:srgbClr val="000000"/>
              </a:solidFill>
              <a:latin typeface="Arial" panose="020B0604020202020204" pitchFamily="34"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3275216" y="252943"/>
            <a:ext cx="6384174"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a:solidFill>
                  <a:schemeClr val="tx1"/>
                </a:solidFill>
              </a:rPr>
              <a:t>FIR </a:t>
            </a:r>
            <a:r>
              <a:rPr lang="ja-JP" altLang="en-US" sz="3200">
                <a:solidFill>
                  <a:schemeClr val="tx1"/>
                </a:solidFill>
              </a:rPr>
              <a:t>フィルタの基本の総括</a:t>
            </a:r>
            <a:r>
              <a:rPr lang="en-US" altLang="ja-JP" sz="1100" b="1">
                <a:solidFill>
                  <a:schemeClr val="tx1"/>
                </a:solidFill>
              </a:rPr>
              <a:t>A basic review of FIR Filters </a:t>
            </a:r>
            <a:r>
              <a:rPr lang="ja-JP" altLang="en-US" sz="3200" b="1">
                <a:solidFill>
                  <a:srgbClr val="FF0000"/>
                </a:solidFill>
              </a:rPr>
              <a:t> </a:t>
            </a:r>
            <a:endParaRPr lang="en-US" sz="3200">
              <a:solidFill>
                <a:srgbClr val="FF0000"/>
              </a:solidFill>
            </a:endParaRPr>
          </a:p>
        </p:txBody>
      </p:sp>
      <p:pic>
        <p:nvPicPr>
          <p:cNvPr id="7" name="図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92981" y="1121839"/>
            <a:ext cx="4873219" cy="1382375"/>
          </a:xfrm>
          <a:prstGeom prst="rect">
            <a:avLst/>
          </a:prstGeom>
        </p:spPr>
      </p:pic>
      <p:cxnSp>
        <p:nvCxnSpPr>
          <p:cNvPr id="13" name="直線矢印コネクタ 12"/>
          <p:cNvCxnSpPr/>
          <p:nvPr/>
        </p:nvCxnSpPr>
        <p:spPr>
          <a:xfrm>
            <a:off x="8370916" y="2180938"/>
            <a:ext cx="16626" cy="40653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3" name="図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41854" y="2800207"/>
            <a:ext cx="4167844" cy="1326742"/>
          </a:xfrm>
          <a:prstGeom prst="rect">
            <a:avLst/>
          </a:prstGeom>
        </p:spPr>
      </p:pic>
    </p:spTree>
    <p:extLst>
      <p:ext uri="{BB962C8B-B14F-4D97-AF65-F5344CB8AC3E}">
        <p14:creationId xmlns:p14="http://schemas.microsoft.com/office/powerpoint/2010/main" val="2561191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3854901"/>
          </a:xfrm>
          <a:prstGeom prst="rect">
            <a:avLst/>
          </a:prstGeom>
          <a:noFill/>
        </p:spPr>
        <p:txBody>
          <a:bodyPr wrap="square" rtlCol="0">
            <a:spAutoFit/>
          </a:bodyPr>
          <a:lstStyle/>
          <a:p>
            <a:pPr lvl="1" algn="l"/>
            <a:r>
              <a:rPr lang="ja-JP" altLang="en-US" sz="2400" b="0" i="0">
                <a:solidFill>
                  <a:srgbClr val="000000"/>
                </a:solidFill>
                <a:effectLst/>
                <a:latin typeface="Arial" panose="020B0604020202020204" pitchFamily="34" charset="0"/>
              </a:rPr>
              <a:t>様々な 𝑑 値に対して，図示してみましょう </a:t>
            </a:r>
            <a:endParaRPr lang="en-US" altLang="ja-JP" sz="2400">
              <a:solidFill>
                <a:srgbClr val="000000"/>
              </a:solidFill>
              <a:latin typeface="Arial" panose="020B0604020202020204" pitchFamily="34" charset="0"/>
            </a:endParaRPr>
          </a:p>
          <a:p>
            <a:pPr lvl="1" algn="l"/>
            <a:r>
              <a:rPr lang="en-US" altLang="ja-JP" sz="2400">
                <a:solidFill>
                  <a:srgbClr val="000000"/>
                </a:solidFill>
                <a:latin typeface="Arial" panose="020B0604020202020204" pitchFamily="34" charset="0"/>
              </a:rPr>
              <a:t> </a:t>
            </a:r>
            <a:r>
              <a:rPr lang="en-US" altLang="ja-JP" sz="1050">
                <a:solidFill>
                  <a:srgbClr val="000000"/>
                </a:solidFill>
                <a:latin typeface="Arial" panose="020B0604020202020204" pitchFamily="34" charset="0"/>
              </a:rPr>
              <a:t>Let’s illustrate this for various d values</a:t>
            </a:r>
          </a:p>
          <a:p>
            <a:pPr lvl="1" algn="l"/>
            <a:endParaRPr lang="en-US" altLang="ja-JP" sz="1050">
              <a:solidFill>
                <a:srgbClr val="000000"/>
              </a:solidFill>
              <a:latin typeface="Arial" panose="020B0604020202020204" pitchFamily="34" charset="0"/>
            </a:endParaRPr>
          </a:p>
          <a:p>
            <a:pPr lvl="1"/>
            <a:r>
              <a:rPr lang="ja-JP" altLang="en-US" sz="3600">
                <a:solidFill>
                  <a:srgbClr val="000000"/>
                </a:solidFill>
                <a:latin typeface="Arial" panose="020B0604020202020204" pitchFamily="34" charset="0"/>
              </a:rPr>
              <a:t>                                   𝑑</a:t>
            </a:r>
            <a:r>
              <a:rPr lang="en-US" altLang="ja-JP" sz="3600">
                <a:solidFill>
                  <a:srgbClr val="000000"/>
                </a:solidFill>
                <a:latin typeface="Arial" panose="020B0604020202020204" pitchFamily="34" charset="0"/>
              </a:rPr>
              <a:t>=3 → </a:t>
            </a:r>
          </a:p>
          <a:p>
            <a:r>
              <a:rPr lang="en-US" altLang="ja-JP">
                <a:sym typeface="Wingdings" panose="05000000000000000000" pitchFamily="2" charset="2"/>
              </a:rPr>
              <a:t>  </a:t>
            </a:r>
          </a:p>
          <a:p>
            <a:r>
              <a:rPr lang="en-US" altLang="ja-JP">
                <a:sym typeface="Wingdings" panose="05000000000000000000" pitchFamily="2" charset="2"/>
              </a:rPr>
              <a:t>    Zeros  at</a:t>
            </a:r>
            <a:r>
              <a:rPr lang="en-US" altLang="ja-JP"/>
              <a:t>  ω = π/3, π , 5 π/3 </a:t>
            </a:r>
            <a:endParaRPr lang="ja-JP" altLang="ja-JP"/>
          </a:p>
          <a:p>
            <a:pPr lvl="1"/>
            <a:endParaRPr lang="en-US" altLang="ja-JP" sz="3600">
              <a:solidFill>
                <a:srgbClr val="000000"/>
              </a:solidFill>
              <a:latin typeface="Arial" panose="020B0604020202020204" pitchFamily="34" charset="0"/>
            </a:endParaRPr>
          </a:p>
          <a:p>
            <a:pPr lvl="1"/>
            <a:r>
              <a:rPr lang="ja-JP" altLang="en-US" sz="3600">
                <a:solidFill>
                  <a:srgbClr val="000000"/>
                </a:solidFill>
                <a:latin typeface="Arial" panose="020B0604020202020204" pitchFamily="34" charset="0"/>
              </a:rPr>
              <a:t>阻止帯域２個の </a:t>
            </a:r>
            <a:r>
              <a:rPr lang="en-US" altLang="ja-JP" sz="3600">
                <a:solidFill>
                  <a:srgbClr val="000000"/>
                </a:solidFill>
                <a:latin typeface="Arial" panose="020B0604020202020204" pitchFamily="34" charset="0"/>
              </a:rPr>
              <a:t>BEF</a:t>
            </a:r>
          </a:p>
          <a:p>
            <a:pPr lvl="1"/>
            <a:r>
              <a:rPr lang="en-US" altLang="ja-JP" sz="1050">
                <a:solidFill>
                  <a:srgbClr val="000000"/>
                </a:solidFill>
                <a:latin typeface="Arial" panose="020B0604020202020204" pitchFamily="34" charset="0"/>
              </a:rPr>
              <a:t>   D= 3 </a:t>
            </a:r>
            <a:r>
              <a:rPr lang="en-US" altLang="ja-JP" sz="1050">
                <a:solidFill>
                  <a:srgbClr val="000000"/>
                </a:solidFill>
                <a:latin typeface="Arial" panose="020B0604020202020204" pitchFamily="34" charset="0"/>
                <a:sym typeface="Wingdings" panose="05000000000000000000" pitchFamily="2" charset="2"/>
              </a:rPr>
              <a:t> BEF with two stopbands</a:t>
            </a:r>
            <a:endParaRPr lang="en-US" altLang="ja-JP" sz="1050">
              <a:solidFill>
                <a:srgbClr val="000000"/>
              </a:solidFill>
              <a:latin typeface="Arial" panose="020B0604020202020204" pitchFamily="34" charset="0"/>
            </a:endParaRPr>
          </a:p>
          <a:p>
            <a:pPr lvl="1" algn="l"/>
            <a:endParaRPr lang="en-US" altLang="ja-JP" sz="1050">
              <a:solidFill>
                <a:srgbClr val="000000"/>
              </a:solidFill>
              <a:latin typeface="Arial" panose="020B0604020202020204" pitchFamily="34" charset="0"/>
            </a:endParaRPr>
          </a:p>
          <a:p>
            <a:pPr lvl="1"/>
            <a:endParaRPr lang="en-US" altLang="ja-JP" sz="1050">
              <a:solidFill>
                <a:srgbClr val="000000"/>
              </a:solidFill>
              <a:latin typeface="Arial" panose="020B0604020202020204" pitchFamily="34" charset="0"/>
            </a:endParaRPr>
          </a:p>
          <a:p>
            <a:pPr lvl="1"/>
            <a:r>
              <a:rPr lang="en-US" altLang="ja-JP" sz="1050" b="1">
                <a:solidFill>
                  <a:srgbClr val="000000"/>
                </a:solidFill>
                <a:latin typeface="Arial" panose="020B0604020202020204" pitchFamily="34" charset="0"/>
                <a:sym typeface="Wingdings" panose="05000000000000000000" pitchFamily="2" charset="2"/>
              </a:rPr>
              <a:t> BEF with two stopbands   </a:t>
            </a:r>
            <a:r>
              <a:rPr lang="en-US" altLang="ja-JP" sz="1050" b="1"/>
              <a:t>suppresses 3 harmonics</a:t>
            </a:r>
            <a:endParaRPr lang="en-US" altLang="ja-JP" sz="1050" b="1">
              <a:solidFill>
                <a:srgbClr val="000000"/>
              </a:solidFill>
              <a:latin typeface="Arial" panose="020B0604020202020204" pitchFamily="34"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3275216" y="252943"/>
            <a:ext cx="6384174"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a:solidFill>
                  <a:schemeClr val="tx1"/>
                </a:solidFill>
              </a:rPr>
              <a:t>FIR </a:t>
            </a:r>
            <a:r>
              <a:rPr lang="ja-JP" altLang="en-US" sz="3200">
                <a:solidFill>
                  <a:schemeClr val="tx1"/>
                </a:solidFill>
              </a:rPr>
              <a:t>フィルタの基本の総括</a:t>
            </a:r>
            <a:r>
              <a:rPr lang="en-US" altLang="ja-JP" sz="1100" b="1">
                <a:solidFill>
                  <a:schemeClr val="tx1"/>
                </a:solidFill>
              </a:rPr>
              <a:t>A basic review of FIR Filters </a:t>
            </a:r>
            <a:r>
              <a:rPr lang="ja-JP" altLang="en-US" sz="3200" b="1">
                <a:solidFill>
                  <a:srgbClr val="FF0000"/>
                </a:solidFill>
              </a:rPr>
              <a:t> </a:t>
            </a:r>
            <a:endParaRPr lang="en-US" sz="3200">
              <a:solidFill>
                <a:srgbClr val="FF0000"/>
              </a:solidFill>
            </a:endParaRPr>
          </a:p>
        </p:txBody>
      </p:sp>
      <p:pic>
        <p:nvPicPr>
          <p:cNvPr id="7" name="図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92981" y="1121839"/>
            <a:ext cx="4873219" cy="1382375"/>
          </a:xfrm>
          <a:prstGeom prst="rect">
            <a:avLst/>
          </a:prstGeom>
        </p:spPr>
      </p:pic>
      <p:cxnSp>
        <p:nvCxnSpPr>
          <p:cNvPr id="13" name="直線矢印コネクタ 12"/>
          <p:cNvCxnSpPr/>
          <p:nvPr/>
        </p:nvCxnSpPr>
        <p:spPr>
          <a:xfrm>
            <a:off x="8370916" y="2180938"/>
            <a:ext cx="16626" cy="40653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6" name="図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31627" y="2687110"/>
            <a:ext cx="4485102" cy="1427690"/>
          </a:xfrm>
          <a:prstGeom prst="rect">
            <a:avLst/>
          </a:prstGeom>
        </p:spPr>
      </p:pic>
    </p:spTree>
    <p:extLst>
      <p:ext uri="{BB962C8B-B14F-4D97-AF65-F5344CB8AC3E}">
        <p14:creationId xmlns:p14="http://schemas.microsoft.com/office/powerpoint/2010/main" val="2775892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1084912"/>
          </a:xfrm>
          <a:prstGeom prst="rect">
            <a:avLst/>
          </a:prstGeom>
          <a:noFill/>
        </p:spPr>
        <p:txBody>
          <a:bodyPr wrap="square" rtlCol="0">
            <a:spAutoFit/>
          </a:bodyPr>
          <a:lstStyle/>
          <a:p>
            <a:pPr lvl="1" algn="l"/>
            <a:endParaRPr lang="en-US" altLang="ja-JP" sz="1050">
              <a:solidFill>
                <a:srgbClr val="000000"/>
              </a:solidFill>
              <a:latin typeface="Arial" panose="020B0604020202020204" pitchFamily="34" charset="0"/>
            </a:endParaRPr>
          </a:p>
          <a:p>
            <a:pPr lvl="1"/>
            <a:r>
              <a:rPr lang="ja-JP" altLang="en-US" sz="3600">
                <a:solidFill>
                  <a:srgbClr val="000000"/>
                </a:solidFill>
                <a:latin typeface="Arial" panose="020B0604020202020204" pitchFamily="34" charset="0"/>
              </a:rPr>
              <a:t>                                  　</a:t>
            </a:r>
            <a:r>
              <a:rPr lang="en-US" altLang="ja-JP" sz="3600">
                <a:solidFill>
                  <a:srgbClr val="000000"/>
                </a:solidFill>
                <a:latin typeface="Arial" panose="020B0604020202020204" pitchFamily="34" charset="0"/>
              </a:rPr>
              <a:t> </a:t>
            </a:r>
          </a:p>
          <a:p>
            <a:r>
              <a:rPr lang="en-US" altLang="ja-JP">
                <a:sym typeface="Wingdings" panose="05000000000000000000" pitchFamily="2" charset="2"/>
              </a:rPr>
              <a:t>  </a:t>
            </a: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3275216" y="252943"/>
            <a:ext cx="6384174"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a:solidFill>
                  <a:schemeClr val="tx1"/>
                </a:solidFill>
              </a:rPr>
              <a:t>FIR </a:t>
            </a:r>
            <a:r>
              <a:rPr lang="ja-JP" altLang="en-US" sz="3200">
                <a:solidFill>
                  <a:schemeClr val="tx1"/>
                </a:solidFill>
              </a:rPr>
              <a:t>フィルタの基本の総括</a:t>
            </a:r>
            <a:r>
              <a:rPr lang="en-US" altLang="ja-JP" sz="1100" b="1">
                <a:solidFill>
                  <a:schemeClr val="tx1"/>
                </a:solidFill>
              </a:rPr>
              <a:t>A basic review of FIR Filters </a:t>
            </a:r>
            <a:r>
              <a:rPr lang="ja-JP" altLang="en-US" sz="3200" b="1">
                <a:solidFill>
                  <a:srgbClr val="FF0000"/>
                </a:solidFill>
              </a:rPr>
              <a:t> </a:t>
            </a:r>
            <a:endParaRPr lang="en-US" sz="3200">
              <a:solidFill>
                <a:srgbClr val="FF0000"/>
              </a:solidFill>
            </a:endParaRPr>
          </a:p>
        </p:txBody>
      </p:sp>
      <p:pic>
        <p:nvPicPr>
          <p:cNvPr id="3" name="図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233" y="1138181"/>
            <a:ext cx="4429743" cy="4934639"/>
          </a:xfrm>
          <a:prstGeom prst="rect">
            <a:avLst/>
          </a:prstGeom>
        </p:spPr>
      </p:pic>
      <p:cxnSp>
        <p:nvCxnSpPr>
          <p:cNvPr id="9" name="直線矢印コネクタ 8"/>
          <p:cNvCxnSpPr/>
          <p:nvPr/>
        </p:nvCxnSpPr>
        <p:spPr>
          <a:xfrm>
            <a:off x="4651131" y="3605500"/>
            <a:ext cx="109024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14" name="図 1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44532" y="1505539"/>
            <a:ext cx="5896798" cy="4486901"/>
          </a:xfrm>
          <a:prstGeom prst="rect">
            <a:avLst/>
          </a:prstGeom>
        </p:spPr>
      </p:pic>
    </p:spTree>
    <p:extLst>
      <p:ext uri="{BB962C8B-B14F-4D97-AF65-F5344CB8AC3E}">
        <p14:creationId xmlns:p14="http://schemas.microsoft.com/office/powerpoint/2010/main" val="3558946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008790"/>
          </a:xfrm>
          <a:prstGeom prst="rect">
            <a:avLst/>
          </a:prstGeom>
          <a:noFill/>
        </p:spPr>
        <p:txBody>
          <a:bodyPr wrap="square" rtlCol="0">
            <a:spAutoFit/>
          </a:bodyPr>
          <a:lstStyle/>
          <a:p>
            <a:pPr lvl="1" algn="l"/>
            <a:endParaRPr lang="en-US" altLang="ja-JP" sz="2400" b="0" i="0">
              <a:solidFill>
                <a:srgbClr val="000000"/>
              </a:solidFill>
              <a:effectLst/>
              <a:latin typeface="Arial" panose="020B0604020202020204" pitchFamily="34" charset="0"/>
            </a:endParaRPr>
          </a:p>
          <a:p>
            <a:pPr lvl="1" algn="l"/>
            <a:endParaRPr lang="en-US" altLang="ja-JP" sz="2400">
              <a:solidFill>
                <a:srgbClr val="000000"/>
              </a:solidFill>
              <a:latin typeface="Arial" panose="020B0604020202020204" pitchFamily="34" charset="0"/>
            </a:endParaRPr>
          </a:p>
          <a:p>
            <a:pPr lvl="1" algn="l"/>
            <a:endParaRPr lang="en-US" altLang="ja-JP" sz="2400" b="0" i="0">
              <a:solidFill>
                <a:srgbClr val="000000"/>
              </a:solidFill>
              <a:effectLst/>
              <a:latin typeface="Arial" panose="020B0604020202020204" pitchFamily="34" charset="0"/>
            </a:endParaRPr>
          </a:p>
          <a:p>
            <a:pPr lvl="1" algn="l"/>
            <a:r>
              <a:rPr lang="ja-JP" altLang="en-US" sz="3200" b="0" i="0">
                <a:solidFill>
                  <a:srgbClr val="000000"/>
                </a:solidFill>
                <a:effectLst/>
                <a:latin typeface="Arial" panose="020B0604020202020204" pitchFamily="34" charset="0"/>
              </a:rPr>
              <a:t>通過域と阻止域が交互に現れる櫛形フィルタ </a:t>
            </a:r>
            <a:r>
              <a:rPr lang="en-US" altLang="ja-JP" sz="3200" b="0" i="0">
                <a:solidFill>
                  <a:srgbClr val="000000"/>
                </a:solidFill>
                <a:effectLst/>
                <a:latin typeface="Arial" panose="020B0604020202020204" pitchFamily="34" charset="0"/>
              </a:rPr>
              <a:t>"comb filter" </a:t>
            </a:r>
            <a:r>
              <a:rPr lang="ja-JP" altLang="en-US" sz="3200" b="0" i="0">
                <a:solidFill>
                  <a:srgbClr val="000000"/>
                </a:solidFill>
                <a:effectLst/>
                <a:latin typeface="Arial" panose="020B0604020202020204" pitchFamily="34" charset="0"/>
              </a:rPr>
              <a:t>特性が出現． 組み合わせれば様々なフィルタ特性を実現できそうですね．</a:t>
            </a:r>
          </a:p>
          <a:p>
            <a:r>
              <a:rPr lang="en-US" altLang="ja-JP" sz="1050" i="0">
                <a:solidFill>
                  <a:srgbClr val="3C4043"/>
                </a:solidFill>
                <a:effectLst/>
                <a:latin typeface="Arial" panose="020B0604020202020204" pitchFamily="34" charset="0"/>
                <a:cs typeface="Arial" panose="020B0604020202020204" pitchFamily="34" charset="0"/>
              </a:rPr>
              <a:t>             A comb filter characteristic appears, where passbands and stopbands alternate. By combining these, it seems possible to realize a variety of filter characteristics</a:t>
            </a:r>
          </a:p>
          <a:p>
            <a:endParaRPr lang="en-US" altLang="ja-JP" sz="1050">
              <a:solidFill>
                <a:srgbClr val="3C4043"/>
              </a:solidFill>
              <a:latin typeface="Arial" panose="020B0604020202020204" pitchFamily="34" charset="0"/>
              <a:cs typeface="Arial" panose="020B0604020202020204" pitchFamily="34" charset="0"/>
            </a:endParaRPr>
          </a:p>
          <a:p>
            <a:br>
              <a:rPr lang="ja-JP" altLang="en-US" sz="1050"/>
            </a:br>
            <a:endParaRPr lang="en-US" altLang="ja-JP" sz="1050"/>
          </a:p>
          <a:p>
            <a:r>
              <a:rPr lang="en-US" altLang="ja-JP" sz="1050">
                <a:latin typeface="Arial" panose="020B0604020202020204" pitchFamily="34" charset="0"/>
                <a:cs typeface="Arial" panose="020B0604020202020204" pitchFamily="34" charset="0"/>
              </a:rPr>
              <a:t> </a:t>
            </a:r>
          </a:p>
          <a:p>
            <a:r>
              <a:rPr lang="en-US" altLang="ja-JP" sz="1050">
                <a:latin typeface="Arial" panose="020B0604020202020204" pitchFamily="34" charset="0"/>
                <a:cs typeface="Arial" panose="020B0604020202020204" pitchFamily="34" charset="0"/>
              </a:rPr>
              <a:t>         </a:t>
            </a:r>
          </a:p>
          <a:p>
            <a:r>
              <a:rPr lang="ja-JP" altLang="en-US" sz="2400">
                <a:latin typeface="Arial" panose="020B0604020202020204" pitchFamily="34" charset="0"/>
                <a:cs typeface="Arial" panose="020B0604020202020204" pitchFamily="34" charset="0"/>
              </a:rPr>
              <a:t>例：</a:t>
            </a:r>
            <a:r>
              <a:rPr lang="ja-JP" altLang="en-US" sz="2400"/>
              <a:t>反射音、複数のスピーカーの使用　、複数のマイクロホンの使用</a:t>
            </a:r>
            <a:endParaRPr lang="en-US" altLang="ja-JP" sz="2400">
              <a:latin typeface="Arial" panose="020B0604020202020204" pitchFamily="34" charset="0"/>
              <a:cs typeface="Arial" panose="020B0604020202020204" pitchFamily="34" charset="0"/>
            </a:endParaRPr>
          </a:p>
          <a:p>
            <a:endParaRPr lang="en-US" altLang="ja-JP" sz="1050">
              <a:latin typeface="Arial" panose="020B0604020202020204" pitchFamily="34" charset="0"/>
              <a:cs typeface="Arial" panose="020B0604020202020204" pitchFamily="34" charset="0"/>
            </a:endParaRPr>
          </a:p>
          <a:p>
            <a:endParaRPr lang="en-US" altLang="ja-JP" sz="1050">
              <a:latin typeface="Arial" panose="020B0604020202020204" pitchFamily="34" charset="0"/>
              <a:cs typeface="Arial" panose="020B0604020202020204" pitchFamily="34" charset="0"/>
            </a:endParaRPr>
          </a:p>
          <a:p>
            <a:r>
              <a:rPr lang="en-US" altLang="ja-JP" sz="1050">
                <a:latin typeface="Arial" panose="020B0604020202020204" pitchFamily="34" charset="0"/>
                <a:cs typeface="Arial" panose="020B0604020202020204" pitchFamily="34" charset="0"/>
              </a:rPr>
              <a:t>          Real-scenarios examples of comb filtering  </a:t>
            </a:r>
            <a:r>
              <a:rPr lang="en-US" altLang="ja-JP" sz="1050">
                <a:latin typeface="Arial" panose="020B0604020202020204" pitchFamily="34" charset="0"/>
                <a:cs typeface="Arial" panose="020B0604020202020204" pitchFamily="34" charset="0"/>
                <a:sym typeface="Wingdings" panose="05000000000000000000" pitchFamily="2" charset="2"/>
              </a:rPr>
              <a:t> Reflections, Multiple speakers , Multiple microphones </a:t>
            </a:r>
            <a:endParaRPr lang="en-US" altLang="ja-JP" sz="1050">
              <a:latin typeface="Arial" panose="020B0604020202020204" pitchFamily="34" charset="0"/>
              <a:cs typeface="Arial" panose="020B0604020202020204" pitchFamily="34"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3275216" y="252943"/>
            <a:ext cx="6384174"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a:solidFill>
                  <a:schemeClr val="tx1"/>
                </a:solidFill>
              </a:rPr>
              <a:t>FIR </a:t>
            </a:r>
            <a:r>
              <a:rPr lang="ja-JP" altLang="en-US" sz="3200">
                <a:solidFill>
                  <a:schemeClr val="tx1"/>
                </a:solidFill>
              </a:rPr>
              <a:t>フィルタの基本の総括</a:t>
            </a:r>
            <a:r>
              <a:rPr lang="en-US" altLang="ja-JP" sz="1100" b="1">
                <a:solidFill>
                  <a:schemeClr val="tx1"/>
                </a:solidFill>
              </a:rPr>
              <a:t>A basic review of FIR Filters </a:t>
            </a:r>
            <a:r>
              <a:rPr lang="ja-JP" altLang="en-US" sz="3200" b="1">
                <a:solidFill>
                  <a:srgbClr val="FF0000"/>
                </a:solidFill>
              </a:rPr>
              <a:t> </a:t>
            </a:r>
            <a:endParaRPr lang="en-US" sz="3200">
              <a:solidFill>
                <a:srgbClr val="FF0000"/>
              </a:solidFill>
            </a:endParaRPr>
          </a:p>
        </p:txBody>
      </p:sp>
      <p:pic>
        <p:nvPicPr>
          <p:cNvPr id="6" name="図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59390" y="952775"/>
            <a:ext cx="2335360" cy="2317668"/>
          </a:xfrm>
          <a:prstGeom prst="rect">
            <a:avLst/>
          </a:prstGeom>
        </p:spPr>
      </p:pic>
      <p:pic>
        <p:nvPicPr>
          <p:cNvPr id="7" name="図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063661" y="4443307"/>
            <a:ext cx="2931089" cy="1834727"/>
          </a:xfrm>
          <a:prstGeom prst="rect">
            <a:avLst/>
          </a:prstGeom>
        </p:spPr>
      </p:pic>
    </p:spTree>
    <p:extLst>
      <p:ext uri="{BB962C8B-B14F-4D97-AF65-F5344CB8AC3E}">
        <p14:creationId xmlns:p14="http://schemas.microsoft.com/office/powerpoint/2010/main" val="11421492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043094"/>
          </a:xfrm>
          <a:prstGeom prst="rect">
            <a:avLst/>
          </a:prstGeom>
          <a:noFill/>
        </p:spPr>
        <p:txBody>
          <a:bodyPr wrap="square" rtlCol="0">
            <a:spAutoFit/>
          </a:bodyPr>
          <a:lstStyle/>
          <a:p>
            <a:pPr lvl="0">
              <a:lnSpc>
                <a:spcPct val="107000"/>
              </a:lnSpc>
              <a:spcBef>
                <a:spcPts val="450"/>
              </a:spcBef>
              <a:spcAft>
                <a:spcPts val="450"/>
              </a:spcAft>
              <a:buSzPts val="1000"/>
              <a:tabLst>
                <a:tab pos="457200" algn="l"/>
              </a:tabLst>
            </a:pPr>
            <a:r>
              <a:rPr lang="en-US" altLang="ja-JP" sz="2400" kern="0">
                <a:solidFill>
                  <a:srgbClr val="000000"/>
                </a:solidFill>
                <a:effectLst/>
                <a:latin typeface="Arial" panose="020B0604020202020204" pitchFamily="34" charset="0"/>
                <a:ea typeface="ＭＳ Ｐゴシック" panose="020B0600070205080204" pitchFamily="50" charset="-128"/>
                <a:cs typeface="Times New Roman" panose="02020603050405020304" pitchFamily="18" charset="0"/>
              </a:rPr>
              <a:t>FIR </a:t>
            </a:r>
            <a:r>
              <a:rPr lang="ja-JP" altLang="ja-JP" sz="240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rPr>
              <a:t>フィルタの簡便な設計方法：</a:t>
            </a:r>
            <a:endParaRPr lang="en-US" altLang="ja-JP" sz="2400" kern="0">
              <a:solidFill>
                <a:srgbClr val="000000"/>
              </a:solidFill>
              <a:latin typeface="Arial" panose="020B0604020202020204" pitchFamily="34" charset="0"/>
              <a:ea typeface="ＭＳ Ｐゴシック" panose="020B0600070205080204" pitchFamily="50" charset="-128"/>
              <a:cs typeface="Arial" panose="020B0604020202020204" pitchFamily="34" charset="0"/>
            </a:endParaRPr>
          </a:p>
          <a:p>
            <a:pPr lvl="0">
              <a:lnSpc>
                <a:spcPct val="107000"/>
              </a:lnSpc>
              <a:spcBef>
                <a:spcPts val="450"/>
              </a:spcBef>
              <a:spcAft>
                <a:spcPts val="450"/>
              </a:spcAft>
              <a:buSzPts val="1000"/>
              <a:tabLst>
                <a:tab pos="457200" algn="l"/>
              </a:tabLst>
            </a:pPr>
            <a:r>
              <a:rPr lang="en-US" altLang="ja-JP" sz="1050" b="0" i="0">
                <a:solidFill>
                  <a:srgbClr val="3C4043"/>
                </a:solidFill>
                <a:effectLst/>
                <a:latin typeface="Arial" panose="020B0604020202020204" pitchFamily="34" charset="0"/>
                <a:cs typeface="Arial" panose="020B0604020202020204" pitchFamily="34" charset="0"/>
              </a:rPr>
              <a:t>A simple way to design an FIR filter</a:t>
            </a:r>
            <a:endParaRPr lang="en-US" altLang="ja-JP" sz="1050" kern="100">
              <a:solidFill>
                <a:srgbClr val="000000"/>
              </a:solidFill>
              <a:latin typeface="Arial" panose="020B0604020202020204" pitchFamily="34" charset="0"/>
              <a:ea typeface="游明朝" panose="02020400000000000000" pitchFamily="18" charset="-128"/>
              <a:cs typeface="Arial" panose="020B0604020202020204" pitchFamily="34" charset="0"/>
            </a:endParaRPr>
          </a:p>
          <a:p>
            <a:pPr lvl="0">
              <a:lnSpc>
                <a:spcPct val="107000"/>
              </a:lnSpc>
              <a:spcBef>
                <a:spcPts val="450"/>
              </a:spcBef>
              <a:spcAft>
                <a:spcPts val="450"/>
              </a:spcAft>
              <a:buSzPts val="1000"/>
              <a:tabLst>
                <a:tab pos="457200" algn="l"/>
              </a:tabLst>
            </a:pPr>
            <a:r>
              <a:rPr lang="ja-JP" altLang="ja-JP" sz="240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rPr>
              <a:t>上記</a:t>
            </a:r>
            <a:r>
              <a:rPr lang="en-US" altLang="ja-JP" sz="2400" kern="0">
                <a:solidFill>
                  <a:srgbClr val="000000"/>
                </a:solidFill>
                <a:effectLst/>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sz="2400" kern="0">
                <a:solidFill>
                  <a:srgbClr val="000000"/>
                </a:solidFill>
                <a:effectLst/>
                <a:latin typeface="Cambria Math" panose="02040503050406030204" pitchFamily="18" charset="0"/>
                <a:ea typeface="ＭＳ Ｐゴシック" panose="020B0600070205080204" pitchFamily="50" charset="-128"/>
                <a:cs typeface="Cambria Math" panose="02040503050406030204" pitchFamily="18" charset="0"/>
              </a:rPr>
              <a:t>𝐻</a:t>
            </a:r>
            <a:r>
              <a:rPr lang="en-US" altLang="ja-JP" sz="2400" kern="0" baseline="-25000">
                <a:solidFill>
                  <a:srgbClr val="000000"/>
                </a:solidFill>
                <a:effectLst/>
                <a:latin typeface="Cambria Math" panose="02040503050406030204" pitchFamily="18" charset="0"/>
                <a:ea typeface="ＭＳ Ｐゴシック" panose="020B0600070205080204" pitchFamily="50" charset="-128"/>
                <a:cs typeface="Cambria Math" panose="02040503050406030204" pitchFamily="18" charset="0"/>
              </a:rPr>
              <a:t>𝑘</a:t>
            </a:r>
            <a:r>
              <a:rPr lang="en-US" altLang="ja-JP" sz="2400" kern="0">
                <a:solidFill>
                  <a:srgbClr val="000000"/>
                </a:solidFill>
                <a:effectLst/>
                <a:latin typeface="Arial" panose="020B0604020202020204" pitchFamily="34" charset="0"/>
                <a:ea typeface="ＭＳ Ｐゴシック" panose="020B0600070205080204" pitchFamily="50" charset="-128"/>
                <a:cs typeface="Times New Roman" panose="02020603050405020304" pitchFamily="18" charset="0"/>
              </a:rPr>
              <a:t> </a:t>
            </a:r>
            <a:r>
              <a:rPr lang="ja-JP" altLang="ja-JP" sz="240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rPr>
              <a:t>の数式って，</a:t>
            </a:r>
            <a:r>
              <a:rPr lang="en-US" altLang="ja-JP" sz="2400" kern="0">
                <a:solidFill>
                  <a:srgbClr val="000000"/>
                </a:solidFill>
                <a:effectLst/>
                <a:latin typeface="Cambria Math" panose="02040503050406030204" pitchFamily="18" charset="0"/>
                <a:ea typeface="ＭＳ Ｐゴシック" panose="020B0600070205080204" pitchFamily="50" charset="-128"/>
                <a:cs typeface="Cambria Math" panose="02040503050406030204" pitchFamily="18" charset="0"/>
              </a:rPr>
              <a:t>𝐽</a:t>
            </a:r>
            <a:r>
              <a:rPr lang="ja-JP" altLang="ja-JP" sz="2400" kern="0">
                <a:solidFill>
                  <a:srgbClr val="000000"/>
                </a:solidFill>
                <a:effectLst/>
                <a:latin typeface="Cambria Math" panose="02040503050406030204" pitchFamily="18" charset="0"/>
                <a:ea typeface="ＭＳ Ｐゴシック" panose="020B0600070205080204" pitchFamily="50" charset="-128"/>
                <a:cs typeface="Cambria Math" panose="02040503050406030204" pitchFamily="18" charset="0"/>
              </a:rPr>
              <a:t>　</a:t>
            </a:r>
            <a:r>
              <a:rPr lang="en-US" altLang="ja-JP" sz="2400" kern="0">
                <a:solidFill>
                  <a:srgbClr val="000000"/>
                </a:solidFill>
                <a:effectLst/>
                <a:latin typeface="Arial" panose="020B0604020202020204" pitchFamily="34" charset="0"/>
                <a:ea typeface="ＭＳ Ｐゴシック" panose="020B0600070205080204" pitchFamily="50" charset="-128"/>
                <a:cs typeface="Times New Roman" panose="02020603050405020304" pitchFamily="18" charset="0"/>
              </a:rPr>
              <a:t>=</a:t>
            </a:r>
            <a:r>
              <a:rPr lang="ja-JP" altLang="ja-JP" sz="240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rPr>
              <a:t>　</a:t>
            </a:r>
            <a:r>
              <a:rPr lang="en-US" altLang="ja-JP" sz="2400" kern="0">
                <a:solidFill>
                  <a:srgbClr val="000000"/>
                </a:solidFill>
                <a:effectLst/>
                <a:latin typeface="Cambria Math" panose="02040503050406030204" pitchFamily="18" charset="0"/>
                <a:ea typeface="ＭＳ Ｐゴシック" panose="020B0600070205080204" pitchFamily="50" charset="-128"/>
                <a:cs typeface="Cambria Math" panose="02040503050406030204" pitchFamily="18" charset="0"/>
              </a:rPr>
              <a:t>𝑁</a:t>
            </a:r>
            <a:r>
              <a:rPr lang="ja-JP" altLang="ja-JP" sz="240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rPr>
              <a:t>，</a:t>
            </a:r>
            <a:r>
              <a:rPr lang="en-US" altLang="ja-JP" sz="2400" kern="0">
                <a:solidFill>
                  <a:srgbClr val="000000"/>
                </a:solidFill>
                <a:effectLst/>
                <a:latin typeface="Cambria Math" panose="02040503050406030204" pitchFamily="18" charset="0"/>
                <a:ea typeface="ＭＳ Ｐゴシック" panose="020B0600070205080204" pitchFamily="50" charset="-128"/>
                <a:cs typeface="Cambria Math" panose="02040503050406030204" pitchFamily="18" charset="0"/>
              </a:rPr>
              <a:t>𝑚</a:t>
            </a:r>
            <a:r>
              <a:rPr lang="ja-JP" altLang="ja-JP" sz="2400" kern="0">
                <a:solidFill>
                  <a:srgbClr val="000000"/>
                </a:solidFill>
                <a:effectLst/>
                <a:latin typeface="Cambria Math" panose="02040503050406030204" pitchFamily="18" charset="0"/>
                <a:ea typeface="ＭＳ Ｐゴシック" panose="020B0600070205080204" pitchFamily="50" charset="-128"/>
                <a:cs typeface="Cambria Math" panose="02040503050406030204" pitchFamily="18" charset="0"/>
              </a:rPr>
              <a:t>　</a:t>
            </a:r>
            <a:r>
              <a:rPr lang="en-US" altLang="ja-JP" sz="2400" kern="0">
                <a:solidFill>
                  <a:srgbClr val="000000"/>
                </a:solidFill>
                <a:effectLst/>
                <a:latin typeface="Arial" panose="020B0604020202020204" pitchFamily="34" charset="0"/>
                <a:ea typeface="ＭＳ Ｐゴシック" panose="020B0600070205080204" pitchFamily="50" charset="-128"/>
                <a:cs typeface="Times New Roman" panose="02020603050405020304" pitchFamily="18" charset="0"/>
              </a:rPr>
              <a:t>=</a:t>
            </a:r>
            <a:r>
              <a:rPr lang="ja-JP" altLang="ja-JP" sz="240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rPr>
              <a:t>　</a:t>
            </a:r>
            <a:r>
              <a:rPr lang="en-US" altLang="ja-JP" sz="2400" kern="0">
                <a:solidFill>
                  <a:srgbClr val="000000"/>
                </a:solidFill>
                <a:effectLst/>
                <a:latin typeface="Cambria Math" panose="02040503050406030204" pitchFamily="18" charset="0"/>
                <a:ea typeface="ＭＳ Ｐゴシック" panose="020B0600070205080204" pitchFamily="50" charset="-128"/>
                <a:cs typeface="Cambria Math" panose="02040503050406030204" pitchFamily="18" charset="0"/>
              </a:rPr>
              <a:t>𝑛</a:t>
            </a:r>
            <a:r>
              <a:rPr lang="en-US" altLang="ja-JP" sz="2400" kern="0">
                <a:solidFill>
                  <a:srgbClr val="000000"/>
                </a:solidFill>
                <a:effectLst/>
                <a:latin typeface="Arial" panose="020B0604020202020204" pitchFamily="34" charset="0"/>
                <a:ea typeface="ＭＳ Ｐゴシック" panose="020B0600070205080204" pitchFamily="50" charset="-128"/>
                <a:cs typeface="Times New Roman" panose="02020603050405020304" pitchFamily="18" charset="0"/>
              </a:rPr>
              <a:t> </a:t>
            </a:r>
            <a:r>
              <a:rPr lang="ja-JP" altLang="ja-JP" sz="240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rPr>
              <a:t>とすれば，</a:t>
            </a:r>
            <a:r>
              <a:rPr lang="ja-JP" altLang="ja-JP" sz="2400" kern="0">
                <a:solidFill>
                  <a:srgbClr val="000000"/>
                </a:solidFill>
                <a:effectLst/>
                <a:latin typeface="游明朝" panose="02020400000000000000" pitchFamily="18" charset="-128"/>
                <a:ea typeface="Arial" panose="020B0604020202020204" pitchFamily="34" charset="0"/>
                <a:cs typeface="Times New Roman" panose="02020603050405020304" pitchFamily="18" charset="0"/>
              </a:rPr>
              <a:t> </a:t>
            </a:r>
            <a:r>
              <a:rPr lang="ja-JP" altLang="ja-JP" sz="240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rPr>
              <a:t>フィルタ係数</a:t>
            </a:r>
            <a:r>
              <a:rPr lang="en-US" altLang="ja-JP" sz="2400" kern="0">
                <a:solidFill>
                  <a:srgbClr val="000000"/>
                </a:solidFill>
                <a:effectLst/>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sz="2400" kern="0">
                <a:solidFill>
                  <a:srgbClr val="000000"/>
                </a:solidFill>
                <a:effectLst/>
                <a:latin typeface="Cambria Math" panose="02040503050406030204" pitchFamily="18" charset="0"/>
                <a:ea typeface="ＭＳ Ｐゴシック" panose="020B0600070205080204" pitchFamily="50" charset="-128"/>
                <a:cs typeface="Cambria Math" panose="02040503050406030204" pitchFamily="18" charset="0"/>
              </a:rPr>
              <a:t>𝑏</a:t>
            </a:r>
            <a:r>
              <a:rPr lang="en-US" altLang="ja-JP" sz="2400" kern="0" baseline="-25000">
                <a:solidFill>
                  <a:srgbClr val="000000"/>
                </a:solidFill>
                <a:effectLst/>
                <a:latin typeface="Cambria Math" panose="02040503050406030204" pitchFamily="18" charset="0"/>
                <a:ea typeface="ＭＳ Ｐゴシック" panose="020B0600070205080204" pitchFamily="50" charset="-128"/>
                <a:cs typeface="Cambria Math" panose="02040503050406030204" pitchFamily="18" charset="0"/>
              </a:rPr>
              <a:t>𝑚</a:t>
            </a:r>
            <a:r>
              <a:rPr lang="en-US" altLang="ja-JP" sz="2400" kern="0">
                <a:solidFill>
                  <a:srgbClr val="000000"/>
                </a:solidFill>
                <a:effectLst/>
                <a:latin typeface="Arial" panose="020B0604020202020204" pitchFamily="34" charset="0"/>
                <a:ea typeface="ＭＳ Ｐゴシック" panose="020B0600070205080204" pitchFamily="50" charset="-128"/>
                <a:cs typeface="Times New Roman" panose="02020603050405020304" pitchFamily="18" charset="0"/>
              </a:rPr>
              <a:t> </a:t>
            </a:r>
            <a:r>
              <a:rPr lang="ja-JP" altLang="ja-JP" sz="240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rPr>
              <a:t>に対する</a:t>
            </a:r>
            <a:r>
              <a:rPr lang="en-US" altLang="ja-JP" sz="2400" kern="0">
                <a:solidFill>
                  <a:srgbClr val="000000"/>
                </a:solidFill>
                <a:effectLst/>
                <a:latin typeface="Arial" panose="020B0604020202020204" pitchFamily="34" charset="0"/>
                <a:ea typeface="ＭＳ Ｐゴシック" panose="020B0600070205080204" pitchFamily="50" charset="-128"/>
                <a:cs typeface="Times New Roman" panose="02020603050405020304" pitchFamily="18" charset="0"/>
              </a:rPr>
              <a:t> DFT</a:t>
            </a:r>
            <a:r>
              <a:rPr lang="ja-JP" altLang="ja-JP" sz="240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rPr>
              <a:t>，つまり</a:t>
            </a:r>
            <a:r>
              <a:rPr lang="en-US" altLang="ja-JP" sz="2400" kern="0">
                <a:solidFill>
                  <a:srgbClr val="000000"/>
                </a:solidFill>
                <a:effectLst/>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sz="2400" kern="0">
                <a:solidFill>
                  <a:srgbClr val="000000"/>
                </a:solidFill>
                <a:effectLst/>
                <a:latin typeface="Cambria Math" panose="02040503050406030204" pitchFamily="18" charset="0"/>
                <a:ea typeface="ＭＳ Ｐゴシック" panose="020B0600070205080204" pitchFamily="50" charset="-128"/>
                <a:cs typeface="Cambria Math" panose="02040503050406030204" pitchFamily="18" charset="0"/>
              </a:rPr>
              <a:t>𝐵</a:t>
            </a:r>
            <a:r>
              <a:rPr lang="en-US" altLang="ja-JP" sz="2400" kern="0" baseline="-25000">
                <a:solidFill>
                  <a:srgbClr val="000000"/>
                </a:solidFill>
                <a:effectLst/>
                <a:latin typeface="Cambria Math" panose="02040503050406030204" pitchFamily="18" charset="0"/>
                <a:ea typeface="ＭＳ Ｐゴシック" panose="020B0600070205080204" pitchFamily="50" charset="-128"/>
                <a:cs typeface="Cambria Math" panose="02040503050406030204" pitchFamily="18" charset="0"/>
              </a:rPr>
              <a:t>𝑘</a:t>
            </a:r>
            <a:r>
              <a:rPr lang="en-US" altLang="ja-JP" sz="2400" kern="0">
                <a:solidFill>
                  <a:srgbClr val="000000"/>
                </a:solidFill>
                <a:effectLst/>
                <a:latin typeface="Arial" panose="020B0604020202020204" pitchFamily="34" charset="0"/>
                <a:ea typeface="ＭＳ Ｐゴシック" panose="020B0600070205080204" pitchFamily="50" charset="-128"/>
                <a:cs typeface="Times New Roman" panose="02020603050405020304" pitchFamily="18" charset="0"/>
              </a:rPr>
              <a:t> </a:t>
            </a:r>
            <a:r>
              <a:rPr lang="ja-JP" altLang="ja-JP" sz="240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rPr>
              <a:t>の計算式だよね？</a:t>
            </a:r>
            <a:r>
              <a:rPr lang="ja-JP" altLang="ja-JP" sz="2400" kern="0">
                <a:solidFill>
                  <a:srgbClr val="000000"/>
                </a:solidFill>
                <a:effectLst/>
                <a:latin typeface="游明朝" panose="02020400000000000000" pitchFamily="18" charset="-128"/>
                <a:ea typeface="Arial" panose="020B0604020202020204" pitchFamily="34" charset="0"/>
                <a:cs typeface="Times New Roman" panose="02020603050405020304" pitchFamily="18" charset="0"/>
              </a:rPr>
              <a:t> </a:t>
            </a:r>
            <a:r>
              <a:rPr lang="ja-JP" altLang="ja-JP" sz="240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rPr>
              <a:t>と云うことは逆に，伝達関数を</a:t>
            </a:r>
            <a:r>
              <a:rPr lang="en-US" altLang="ja-JP" sz="2400" kern="0">
                <a:solidFill>
                  <a:srgbClr val="000000"/>
                </a:solidFill>
                <a:effectLst/>
                <a:latin typeface="Arial" panose="020B0604020202020204" pitchFamily="34" charset="0"/>
                <a:ea typeface="ＭＳ Ｐゴシック" panose="020B0600070205080204" pitchFamily="50" charset="-128"/>
                <a:cs typeface="Times New Roman" panose="02020603050405020304" pitchFamily="18" charset="0"/>
              </a:rPr>
              <a:t> IDFT </a:t>
            </a:r>
            <a:r>
              <a:rPr lang="ja-JP" altLang="ja-JP" sz="240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rPr>
              <a:t>すればフィルタ係数になる，のかな？</a:t>
            </a:r>
            <a:r>
              <a:rPr lang="en-US" altLang="ja-JP" sz="1050" b="0" i="0">
                <a:solidFill>
                  <a:srgbClr val="3C4043"/>
                </a:solidFill>
                <a:effectLst/>
                <a:latin typeface="Arial" panose="020B0604020202020204" pitchFamily="34" charset="0"/>
                <a:cs typeface="Arial" panose="020B0604020202020204" pitchFamily="34" charset="0"/>
              </a:rPr>
              <a:t>The formula for </a:t>
            </a:r>
            <a:r>
              <a:rPr lang="ja-JP" altLang="en-US" sz="1050" b="1" i="0">
                <a:solidFill>
                  <a:srgbClr val="3C4043"/>
                </a:solidFill>
                <a:effectLst/>
                <a:latin typeface="Arial" panose="020B0604020202020204" pitchFamily="34" charset="0"/>
                <a:cs typeface="Arial" panose="020B0604020202020204" pitchFamily="34" charset="0"/>
              </a:rPr>
              <a:t>𝐻𝑘</a:t>
            </a:r>
            <a:r>
              <a:rPr lang="ja-JP" altLang="en-US" sz="1050" b="0" i="0">
                <a:solidFill>
                  <a:srgbClr val="3C4043"/>
                </a:solidFill>
                <a:effectLst/>
                <a:latin typeface="Arial" panose="020B0604020202020204" pitchFamily="34" charset="0"/>
                <a:cs typeface="Arial" panose="020B0604020202020204" pitchFamily="34" charset="0"/>
              </a:rPr>
              <a:t> </a:t>
            </a:r>
            <a:r>
              <a:rPr lang="en-US" altLang="ja-JP" sz="1050" b="0" i="0">
                <a:solidFill>
                  <a:srgbClr val="3C4043"/>
                </a:solidFill>
                <a:effectLst/>
                <a:latin typeface="Arial" panose="020B0604020202020204" pitchFamily="34" charset="0"/>
                <a:cs typeface="Arial" panose="020B0604020202020204" pitchFamily="34" charset="0"/>
              </a:rPr>
              <a:t>above is the </a:t>
            </a:r>
            <a:r>
              <a:rPr lang="en-US" altLang="ja-JP" sz="1050" b="1" i="0">
                <a:solidFill>
                  <a:srgbClr val="3C4043"/>
                </a:solidFill>
                <a:effectLst/>
                <a:latin typeface="Arial" panose="020B0604020202020204" pitchFamily="34" charset="0"/>
                <a:cs typeface="Arial" panose="020B0604020202020204" pitchFamily="34" charset="0"/>
              </a:rPr>
              <a:t>DFT for the filter coefficient </a:t>
            </a:r>
            <a:r>
              <a:rPr lang="ja-JP" altLang="en-US" sz="1050" b="1" i="0">
                <a:solidFill>
                  <a:srgbClr val="3C4043"/>
                </a:solidFill>
                <a:effectLst/>
                <a:latin typeface="Arial" panose="020B0604020202020204" pitchFamily="34" charset="0"/>
                <a:cs typeface="Arial" panose="020B0604020202020204" pitchFamily="34" charset="0"/>
              </a:rPr>
              <a:t>𝑏𝑚</a:t>
            </a:r>
            <a:r>
              <a:rPr lang="en-US" altLang="ja-JP" sz="1050" b="0" i="0">
                <a:solidFill>
                  <a:srgbClr val="3C4043"/>
                </a:solidFill>
                <a:effectLst/>
                <a:latin typeface="Arial" panose="020B0604020202020204" pitchFamily="34" charset="0"/>
                <a:cs typeface="Arial" panose="020B0604020202020204" pitchFamily="34" charset="0"/>
              </a:rPr>
              <a:t>, i.e., the formula for </a:t>
            </a:r>
            <a:r>
              <a:rPr lang="ja-JP" altLang="en-US" sz="1050" b="0" i="0">
                <a:solidFill>
                  <a:srgbClr val="3C4043"/>
                </a:solidFill>
                <a:effectLst/>
                <a:latin typeface="Arial" panose="020B0604020202020204" pitchFamily="34" charset="0"/>
                <a:cs typeface="Arial" panose="020B0604020202020204" pitchFamily="34" charset="0"/>
              </a:rPr>
              <a:t>𝐵𝑘</a:t>
            </a:r>
            <a:r>
              <a:rPr lang="en-US" altLang="ja-JP" sz="1050" b="0" i="0">
                <a:solidFill>
                  <a:srgbClr val="3C4043"/>
                </a:solidFill>
                <a:effectLst/>
                <a:latin typeface="Arial" panose="020B0604020202020204" pitchFamily="34" charset="0"/>
                <a:cs typeface="Arial" panose="020B0604020202020204" pitchFamily="34" charset="0"/>
              </a:rPr>
              <a:t>, assuming </a:t>
            </a:r>
            <a:r>
              <a:rPr lang="ja-JP" altLang="en-US" sz="1050" b="0" i="0">
                <a:solidFill>
                  <a:srgbClr val="3C4043"/>
                </a:solidFill>
                <a:effectLst/>
                <a:latin typeface="Arial" panose="020B0604020202020204" pitchFamily="34" charset="0"/>
                <a:cs typeface="Arial" panose="020B0604020202020204" pitchFamily="34" charset="0"/>
              </a:rPr>
              <a:t>𝐽 </a:t>
            </a:r>
            <a:r>
              <a:rPr lang="en-US" altLang="ja-JP" sz="1050" b="0" i="0">
                <a:solidFill>
                  <a:srgbClr val="3C4043"/>
                </a:solidFill>
                <a:effectLst/>
                <a:latin typeface="Arial" panose="020B0604020202020204" pitchFamily="34" charset="0"/>
                <a:cs typeface="Arial" panose="020B0604020202020204" pitchFamily="34" charset="0"/>
              </a:rPr>
              <a:t>= </a:t>
            </a:r>
            <a:r>
              <a:rPr lang="ja-JP" altLang="en-US" sz="1050" b="0" i="0">
                <a:solidFill>
                  <a:srgbClr val="3C4043"/>
                </a:solidFill>
                <a:effectLst/>
                <a:latin typeface="Arial" panose="020B0604020202020204" pitchFamily="34" charset="0"/>
                <a:cs typeface="Arial" panose="020B0604020202020204" pitchFamily="34" charset="0"/>
              </a:rPr>
              <a:t>𝑁 </a:t>
            </a:r>
            <a:r>
              <a:rPr lang="en-US" altLang="ja-JP" sz="1050" b="0" i="0">
                <a:solidFill>
                  <a:srgbClr val="3C4043"/>
                </a:solidFill>
                <a:effectLst/>
                <a:latin typeface="Arial" panose="020B0604020202020204" pitchFamily="34" charset="0"/>
                <a:cs typeface="Arial" panose="020B0604020202020204" pitchFamily="34" charset="0"/>
              </a:rPr>
              <a:t>and </a:t>
            </a:r>
            <a:r>
              <a:rPr lang="ja-JP" altLang="en-US" sz="1050" b="0" i="0">
                <a:solidFill>
                  <a:srgbClr val="3C4043"/>
                </a:solidFill>
                <a:effectLst/>
                <a:latin typeface="Arial" panose="020B0604020202020204" pitchFamily="34" charset="0"/>
                <a:cs typeface="Arial" panose="020B0604020202020204" pitchFamily="34" charset="0"/>
              </a:rPr>
              <a:t>𝑚 </a:t>
            </a:r>
            <a:r>
              <a:rPr lang="en-US" altLang="ja-JP" sz="1050" b="0" i="0">
                <a:solidFill>
                  <a:srgbClr val="3C4043"/>
                </a:solidFill>
                <a:effectLst/>
                <a:latin typeface="Arial" panose="020B0604020202020204" pitchFamily="34" charset="0"/>
                <a:cs typeface="Arial" panose="020B0604020202020204" pitchFamily="34" charset="0"/>
              </a:rPr>
              <a:t>= </a:t>
            </a:r>
            <a:r>
              <a:rPr lang="ja-JP" altLang="en-US" sz="1050" b="0" i="0">
                <a:solidFill>
                  <a:srgbClr val="3C4043"/>
                </a:solidFill>
                <a:effectLst/>
                <a:latin typeface="Arial" panose="020B0604020202020204" pitchFamily="34" charset="0"/>
                <a:cs typeface="Arial" panose="020B0604020202020204" pitchFamily="34" charset="0"/>
              </a:rPr>
              <a:t>𝑛</a:t>
            </a:r>
            <a:r>
              <a:rPr lang="en-US" altLang="ja-JP" sz="1050" b="0" i="0">
                <a:solidFill>
                  <a:srgbClr val="3C4043"/>
                </a:solidFill>
                <a:effectLst/>
                <a:latin typeface="Arial" panose="020B0604020202020204" pitchFamily="34" charset="0"/>
                <a:cs typeface="Arial" panose="020B0604020202020204" pitchFamily="34" charset="0"/>
              </a:rPr>
              <a:t>, right? So, conversely, if you take an IDFT of the transfer function, you get the filter coefficient</a:t>
            </a:r>
          </a:p>
          <a:p>
            <a:pPr lvl="0">
              <a:lnSpc>
                <a:spcPct val="107000"/>
              </a:lnSpc>
              <a:spcBef>
                <a:spcPts val="450"/>
              </a:spcBef>
              <a:spcAft>
                <a:spcPts val="450"/>
              </a:spcAft>
              <a:buSzPts val="1000"/>
              <a:tabLst>
                <a:tab pos="457200" algn="l"/>
              </a:tabLst>
            </a:pPr>
            <a:r>
              <a:rPr lang="ja-JP" altLang="ja-JP" sz="240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rPr>
              <a:t>アナログフィルタの伝達関数</a:t>
            </a:r>
            <a:r>
              <a:rPr lang="en-US" altLang="ja-JP" sz="2400" kern="0">
                <a:solidFill>
                  <a:srgbClr val="000000"/>
                </a:solidFill>
                <a:effectLst/>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sz="2400" kern="0">
                <a:solidFill>
                  <a:srgbClr val="000000"/>
                </a:solidFill>
                <a:effectLst/>
                <a:latin typeface="Cambria Math" panose="02040503050406030204" pitchFamily="18" charset="0"/>
                <a:ea typeface="ＭＳ Ｐゴシック" panose="020B0600070205080204" pitchFamily="50" charset="-128"/>
                <a:cs typeface="Cambria Math" panose="02040503050406030204" pitchFamily="18" charset="0"/>
              </a:rPr>
              <a:t>𝐻</a:t>
            </a:r>
            <a:r>
              <a:rPr lang="en-US" altLang="ja-JP" sz="2400" kern="0">
                <a:solidFill>
                  <a:srgbClr val="000000"/>
                </a:solidFill>
                <a:effectLst/>
                <a:latin typeface="Arial" panose="020B0604020202020204" pitchFamily="34" charset="0"/>
                <a:ea typeface="ＭＳ Ｐゴシック" panose="020B0600070205080204" pitchFamily="50" charset="-128"/>
                <a:cs typeface="Times New Roman" panose="02020603050405020304" pitchFamily="18" charset="0"/>
              </a:rPr>
              <a:t>(</a:t>
            </a:r>
            <a:r>
              <a:rPr lang="en-US" altLang="ja-JP" sz="2400" kern="0">
                <a:solidFill>
                  <a:srgbClr val="000000"/>
                </a:solidFill>
                <a:effectLst/>
                <a:latin typeface="Cambria Math" panose="02040503050406030204" pitchFamily="18" charset="0"/>
                <a:ea typeface="ＭＳ Ｐゴシック" panose="020B0600070205080204" pitchFamily="50" charset="-128"/>
                <a:cs typeface="Cambria Math" panose="02040503050406030204" pitchFamily="18" charset="0"/>
              </a:rPr>
              <a:t>𝜔</a:t>
            </a:r>
            <a:r>
              <a:rPr lang="en-US" altLang="ja-JP" sz="2400" kern="0">
                <a:solidFill>
                  <a:srgbClr val="000000"/>
                </a:solidFill>
                <a:effectLst/>
                <a:latin typeface="Arial" panose="020B0604020202020204" pitchFamily="34" charset="0"/>
                <a:ea typeface="ＭＳ Ｐゴシック" panose="020B0600070205080204" pitchFamily="50" charset="-128"/>
                <a:cs typeface="Times New Roman" panose="02020603050405020304" pitchFamily="18" charset="0"/>
              </a:rPr>
              <a:t>) </a:t>
            </a:r>
            <a:r>
              <a:rPr lang="ja-JP" altLang="ja-JP" sz="240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rPr>
              <a:t>の数式</a:t>
            </a:r>
            <a:r>
              <a:rPr lang="en-US" altLang="ja-JP" sz="2400" kern="0">
                <a:solidFill>
                  <a:srgbClr val="000000"/>
                </a:solidFill>
                <a:effectLst/>
                <a:latin typeface="Arial" panose="020B0604020202020204" pitchFamily="34" charset="0"/>
                <a:ea typeface="ＭＳ Ｐゴシック" panose="020B0600070205080204" pitchFamily="50" charset="-128"/>
                <a:cs typeface="Times New Roman" panose="02020603050405020304" pitchFamily="18" charset="0"/>
              </a:rPr>
              <a:t> → </a:t>
            </a:r>
            <a:r>
              <a:rPr lang="ja-JP" altLang="ja-JP" sz="240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rPr>
              <a:t>離散化</a:t>
            </a:r>
            <a:r>
              <a:rPr lang="en-US" altLang="ja-JP" sz="2400" kern="0">
                <a:solidFill>
                  <a:srgbClr val="000000"/>
                </a:solidFill>
                <a:effectLst/>
                <a:latin typeface="Arial" panose="020B0604020202020204" pitchFamily="34" charset="0"/>
                <a:ea typeface="ＭＳ Ｐゴシック" panose="020B0600070205080204" pitchFamily="50" charset="-128"/>
                <a:cs typeface="Times New Roman" panose="02020603050405020304" pitchFamily="18" charset="0"/>
              </a:rPr>
              <a:t> → </a:t>
            </a:r>
            <a:r>
              <a:rPr lang="ja-JP" altLang="ja-JP" sz="240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rPr>
              <a:t>伝達関数</a:t>
            </a:r>
            <a:r>
              <a:rPr lang="en-US" altLang="ja-JP" sz="2400" kern="0">
                <a:solidFill>
                  <a:srgbClr val="000000"/>
                </a:solidFill>
                <a:effectLst/>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sz="2400" kern="0">
                <a:solidFill>
                  <a:srgbClr val="000000"/>
                </a:solidFill>
                <a:effectLst/>
                <a:latin typeface="Cambria Math" panose="02040503050406030204" pitchFamily="18" charset="0"/>
                <a:ea typeface="ＭＳ Ｐゴシック" panose="020B0600070205080204" pitchFamily="50" charset="-128"/>
                <a:cs typeface="Cambria Math" panose="02040503050406030204" pitchFamily="18" charset="0"/>
              </a:rPr>
              <a:t>𝐻</a:t>
            </a:r>
            <a:r>
              <a:rPr lang="en-US" altLang="ja-JP" sz="2400" kern="0" baseline="-25000">
                <a:solidFill>
                  <a:srgbClr val="000000"/>
                </a:solidFill>
                <a:effectLst/>
                <a:latin typeface="Cambria Math" panose="02040503050406030204" pitchFamily="18" charset="0"/>
                <a:ea typeface="ＭＳ Ｐゴシック" panose="020B0600070205080204" pitchFamily="50" charset="-128"/>
                <a:cs typeface="Cambria Math" panose="02040503050406030204" pitchFamily="18" charset="0"/>
              </a:rPr>
              <a:t>𝑘</a:t>
            </a:r>
            <a:r>
              <a:rPr lang="en-US" altLang="ja-JP" sz="2400" kern="0">
                <a:solidFill>
                  <a:srgbClr val="000000"/>
                </a:solidFill>
                <a:effectLst/>
                <a:latin typeface="Arial" panose="020B0604020202020204" pitchFamily="34" charset="0"/>
                <a:ea typeface="ＭＳ Ｐゴシック" panose="020B0600070205080204" pitchFamily="50" charset="-128"/>
                <a:cs typeface="Times New Roman" panose="02020603050405020304" pitchFamily="18" charset="0"/>
              </a:rPr>
              <a:t>=</a:t>
            </a:r>
            <a:r>
              <a:rPr lang="en-US" altLang="ja-JP" sz="2400" kern="0">
                <a:solidFill>
                  <a:srgbClr val="000000"/>
                </a:solidFill>
                <a:effectLst/>
                <a:latin typeface="Cambria Math" panose="02040503050406030204" pitchFamily="18" charset="0"/>
                <a:ea typeface="ＭＳ Ｐゴシック" panose="020B0600070205080204" pitchFamily="50" charset="-128"/>
                <a:cs typeface="Cambria Math" panose="02040503050406030204" pitchFamily="18" charset="0"/>
              </a:rPr>
              <a:t>𝐵</a:t>
            </a:r>
            <a:r>
              <a:rPr lang="en-US" altLang="ja-JP" sz="2400" kern="0" baseline="-25000">
                <a:solidFill>
                  <a:srgbClr val="000000"/>
                </a:solidFill>
                <a:effectLst/>
                <a:latin typeface="Cambria Math" panose="02040503050406030204" pitchFamily="18" charset="0"/>
                <a:ea typeface="ＭＳ Ｐゴシック" panose="020B0600070205080204" pitchFamily="50" charset="-128"/>
                <a:cs typeface="Cambria Math" panose="02040503050406030204" pitchFamily="18" charset="0"/>
              </a:rPr>
              <a:t>𝑘</a:t>
            </a:r>
            <a:r>
              <a:rPr lang="en-US" altLang="ja-JP" sz="2400" kern="0">
                <a:solidFill>
                  <a:srgbClr val="000000"/>
                </a:solidFill>
                <a:effectLst/>
                <a:latin typeface="Arial" panose="020B0604020202020204" pitchFamily="34" charset="0"/>
                <a:ea typeface="ＭＳ Ｐゴシック" panose="020B0600070205080204" pitchFamily="50" charset="-128"/>
                <a:cs typeface="Times New Roman" panose="02020603050405020304" pitchFamily="18" charset="0"/>
              </a:rPr>
              <a:t> → IDFT → </a:t>
            </a:r>
            <a:r>
              <a:rPr lang="ja-JP" altLang="ja-JP" sz="240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rPr>
              <a:t>フィルタ係数</a:t>
            </a:r>
            <a:r>
              <a:rPr lang="en-US" altLang="ja-JP" sz="2400" kern="0">
                <a:solidFill>
                  <a:srgbClr val="000000"/>
                </a:solidFill>
                <a:effectLst/>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sz="1050" kern="0">
                <a:solidFill>
                  <a:srgbClr val="000000"/>
                </a:solidFill>
                <a:effectLst/>
                <a:latin typeface="Cambria Math" panose="02040503050406030204" pitchFamily="18" charset="0"/>
                <a:ea typeface="ＭＳ Ｐゴシック" panose="020B0600070205080204" pitchFamily="50" charset="-128"/>
                <a:cs typeface="Cambria Math" panose="02040503050406030204" pitchFamily="18" charset="0"/>
              </a:rPr>
              <a:t>𝑏</a:t>
            </a:r>
            <a:r>
              <a:rPr lang="en-US" altLang="ja-JP" sz="1050" kern="0" baseline="-25000">
                <a:solidFill>
                  <a:srgbClr val="000000"/>
                </a:solidFill>
                <a:effectLst/>
                <a:latin typeface="Cambria Math" panose="02040503050406030204" pitchFamily="18" charset="0"/>
                <a:ea typeface="ＭＳ Ｐゴシック" panose="020B0600070205080204" pitchFamily="50" charset="-128"/>
                <a:cs typeface="Cambria Math" panose="02040503050406030204" pitchFamily="18" charset="0"/>
              </a:rPr>
              <a:t>𝑛</a:t>
            </a:r>
            <a:r>
              <a:rPr lang="en-US" altLang="ja-JP" sz="1050" kern="0">
                <a:solidFill>
                  <a:srgbClr val="000000"/>
                </a:solidFill>
                <a:effectLst/>
                <a:latin typeface="Cambria Math" panose="02040503050406030204" pitchFamily="18" charset="0"/>
                <a:ea typeface="ＭＳ Ｐゴシック" panose="020B0600070205080204" pitchFamily="50" charset="-128"/>
                <a:cs typeface="Cambria Math" panose="02040503050406030204" pitchFamily="18" charset="0"/>
              </a:rPr>
              <a:t> </a:t>
            </a:r>
            <a:r>
              <a:rPr lang="en-US" altLang="ja-JP" sz="1050" b="0" i="0">
                <a:solidFill>
                  <a:srgbClr val="3C4043"/>
                </a:solidFill>
                <a:effectLst/>
                <a:latin typeface="Arial" panose="020B0604020202020204" pitchFamily="34" charset="0"/>
                <a:cs typeface="Arial" panose="020B0604020202020204" pitchFamily="34" charset="0"/>
              </a:rPr>
              <a:t>Formula for </a:t>
            </a:r>
            <a:r>
              <a:rPr lang="en-US" altLang="ja-JP" sz="1050" b="1" i="0">
                <a:solidFill>
                  <a:srgbClr val="3C4043"/>
                </a:solidFill>
                <a:effectLst/>
                <a:latin typeface="Arial" panose="020B0604020202020204" pitchFamily="34" charset="0"/>
                <a:cs typeface="Arial" panose="020B0604020202020204" pitchFamily="34" charset="0"/>
              </a:rPr>
              <a:t>analog filter transfer function </a:t>
            </a:r>
            <a:r>
              <a:rPr lang="ja-JP" altLang="en-US" sz="1050" b="1" i="0">
                <a:solidFill>
                  <a:srgbClr val="3C4043"/>
                </a:solidFill>
                <a:effectLst/>
                <a:latin typeface="Arial" panose="020B0604020202020204" pitchFamily="34" charset="0"/>
                <a:cs typeface="Arial" panose="020B0604020202020204" pitchFamily="34" charset="0"/>
              </a:rPr>
              <a:t>𝐻</a:t>
            </a:r>
            <a:r>
              <a:rPr lang="en-US" altLang="ja-JP" sz="1050" b="1" i="0">
                <a:solidFill>
                  <a:srgbClr val="3C4043"/>
                </a:solidFill>
                <a:effectLst/>
                <a:latin typeface="Arial" panose="020B0604020202020204" pitchFamily="34" charset="0"/>
                <a:cs typeface="Arial" panose="020B0604020202020204" pitchFamily="34" charset="0"/>
              </a:rPr>
              <a:t>(</a:t>
            </a:r>
            <a:r>
              <a:rPr lang="ja-JP" altLang="en-US" sz="1050" b="1" i="0">
                <a:solidFill>
                  <a:srgbClr val="3C4043"/>
                </a:solidFill>
                <a:effectLst/>
                <a:latin typeface="Arial" panose="020B0604020202020204" pitchFamily="34" charset="0"/>
                <a:cs typeface="Arial" panose="020B0604020202020204" pitchFamily="34" charset="0"/>
              </a:rPr>
              <a:t>𝜔</a:t>
            </a:r>
            <a:r>
              <a:rPr lang="en-US" altLang="ja-JP" sz="1050" b="1" i="0">
                <a:solidFill>
                  <a:srgbClr val="3C4043"/>
                </a:solidFill>
                <a:effectLst/>
                <a:latin typeface="Arial" panose="020B0604020202020204" pitchFamily="34" charset="0"/>
                <a:cs typeface="Arial" panose="020B0604020202020204" pitchFamily="34" charset="0"/>
              </a:rPr>
              <a:t>) </a:t>
            </a:r>
            <a:r>
              <a:rPr lang="en-US" altLang="ja-JP" sz="1050" b="0" i="0">
                <a:solidFill>
                  <a:srgbClr val="3C4043"/>
                </a:solidFill>
                <a:effectLst/>
                <a:latin typeface="Arial" panose="020B0604020202020204" pitchFamily="34" charset="0"/>
                <a:cs typeface="Arial" panose="020B0604020202020204" pitchFamily="34" charset="0"/>
              </a:rPr>
              <a:t>→ </a:t>
            </a:r>
            <a:r>
              <a:rPr lang="en-US" altLang="ja-JP" sz="1050" b="1" i="0">
                <a:solidFill>
                  <a:srgbClr val="3C4043"/>
                </a:solidFill>
                <a:effectLst/>
                <a:latin typeface="Arial" panose="020B0604020202020204" pitchFamily="34" charset="0"/>
                <a:cs typeface="Arial" panose="020B0604020202020204" pitchFamily="34" charset="0"/>
              </a:rPr>
              <a:t>Discretization</a:t>
            </a:r>
            <a:r>
              <a:rPr lang="en-US" altLang="ja-JP" sz="1050" b="0" i="0">
                <a:solidFill>
                  <a:srgbClr val="3C4043"/>
                </a:solidFill>
                <a:effectLst/>
                <a:latin typeface="Arial" panose="020B0604020202020204" pitchFamily="34" charset="0"/>
                <a:cs typeface="Arial" panose="020B0604020202020204" pitchFamily="34" charset="0"/>
              </a:rPr>
              <a:t> → </a:t>
            </a:r>
            <a:r>
              <a:rPr lang="en-US" altLang="ja-JP" sz="1050" b="1" i="0">
                <a:solidFill>
                  <a:srgbClr val="3C4043"/>
                </a:solidFill>
                <a:effectLst/>
                <a:latin typeface="Arial" panose="020B0604020202020204" pitchFamily="34" charset="0"/>
                <a:cs typeface="Arial" panose="020B0604020202020204" pitchFamily="34" charset="0"/>
              </a:rPr>
              <a:t>Transfer function </a:t>
            </a:r>
            <a:r>
              <a:rPr lang="ja-JP" altLang="en-US" sz="1050" b="1" i="0">
                <a:solidFill>
                  <a:srgbClr val="3C4043"/>
                </a:solidFill>
                <a:effectLst/>
                <a:latin typeface="Arial" panose="020B0604020202020204" pitchFamily="34" charset="0"/>
                <a:cs typeface="Arial" panose="020B0604020202020204" pitchFamily="34" charset="0"/>
              </a:rPr>
              <a:t>𝐻𝑘</a:t>
            </a:r>
            <a:r>
              <a:rPr lang="en-US" altLang="ja-JP" sz="1050" b="1" i="0">
                <a:solidFill>
                  <a:srgbClr val="3C4043"/>
                </a:solidFill>
                <a:effectLst/>
                <a:latin typeface="Arial" panose="020B0604020202020204" pitchFamily="34" charset="0"/>
                <a:cs typeface="Arial" panose="020B0604020202020204" pitchFamily="34" charset="0"/>
              </a:rPr>
              <a:t>=</a:t>
            </a:r>
            <a:r>
              <a:rPr lang="ja-JP" altLang="en-US" sz="1050" b="1" i="0">
                <a:solidFill>
                  <a:srgbClr val="3C4043"/>
                </a:solidFill>
                <a:effectLst/>
                <a:latin typeface="Arial" panose="020B0604020202020204" pitchFamily="34" charset="0"/>
                <a:cs typeface="Arial" panose="020B0604020202020204" pitchFamily="34" charset="0"/>
              </a:rPr>
              <a:t>𝐵𝑘 </a:t>
            </a:r>
            <a:r>
              <a:rPr lang="ja-JP" altLang="en-US" sz="1050" b="0" i="0">
                <a:solidFill>
                  <a:srgbClr val="3C4043"/>
                </a:solidFill>
                <a:effectLst/>
                <a:latin typeface="Arial" panose="020B0604020202020204" pitchFamily="34" charset="0"/>
                <a:cs typeface="Arial" panose="020B0604020202020204" pitchFamily="34" charset="0"/>
              </a:rPr>
              <a:t>→ </a:t>
            </a:r>
            <a:r>
              <a:rPr lang="en-US" altLang="ja-JP" sz="1050" b="1" i="0">
                <a:solidFill>
                  <a:srgbClr val="3C4043"/>
                </a:solidFill>
                <a:effectLst/>
                <a:latin typeface="Arial" panose="020B0604020202020204" pitchFamily="34" charset="0"/>
                <a:cs typeface="Arial" panose="020B0604020202020204" pitchFamily="34" charset="0"/>
              </a:rPr>
              <a:t>IDFT </a:t>
            </a:r>
            <a:r>
              <a:rPr lang="en-US" altLang="ja-JP" sz="1050" b="0" i="0">
                <a:solidFill>
                  <a:srgbClr val="3C4043"/>
                </a:solidFill>
                <a:effectLst/>
                <a:latin typeface="Arial" panose="020B0604020202020204" pitchFamily="34" charset="0"/>
                <a:cs typeface="Arial" panose="020B0604020202020204" pitchFamily="34" charset="0"/>
              </a:rPr>
              <a:t>→ </a:t>
            </a:r>
            <a:r>
              <a:rPr lang="en-US" altLang="ja-JP" sz="1050" b="1" i="0">
                <a:solidFill>
                  <a:srgbClr val="3C4043"/>
                </a:solidFill>
                <a:effectLst/>
                <a:latin typeface="Arial" panose="020B0604020202020204" pitchFamily="34" charset="0"/>
                <a:cs typeface="Arial" panose="020B0604020202020204" pitchFamily="34" charset="0"/>
              </a:rPr>
              <a:t>Filter coefficient </a:t>
            </a:r>
            <a:r>
              <a:rPr lang="ja-JP" altLang="en-US" sz="1050" b="1" i="0">
                <a:solidFill>
                  <a:srgbClr val="3C4043"/>
                </a:solidFill>
                <a:effectLst/>
                <a:latin typeface="Arial" panose="020B0604020202020204" pitchFamily="34" charset="0"/>
                <a:cs typeface="Arial" panose="020B0604020202020204" pitchFamily="34" charset="0"/>
              </a:rPr>
              <a:t>𝑏𝑛</a:t>
            </a:r>
            <a:endParaRPr lang="en-US" altLang="ja-JP" sz="1050" b="1" i="0">
              <a:solidFill>
                <a:srgbClr val="3C4043"/>
              </a:solidFill>
              <a:effectLst/>
              <a:latin typeface="Arial" panose="020B0604020202020204" pitchFamily="34" charset="0"/>
              <a:cs typeface="Arial" panose="020B0604020202020204" pitchFamily="34" charset="0"/>
            </a:endParaRPr>
          </a:p>
          <a:p>
            <a:pPr lvl="0">
              <a:lnSpc>
                <a:spcPct val="107000"/>
              </a:lnSpc>
              <a:spcBef>
                <a:spcPts val="450"/>
              </a:spcBef>
              <a:spcAft>
                <a:spcPts val="450"/>
              </a:spcAft>
              <a:buSzPts val="1000"/>
              <a:tabLst>
                <a:tab pos="457200" algn="l"/>
              </a:tabLst>
            </a:pPr>
            <a:r>
              <a:rPr lang="ja-JP" altLang="ja-JP" sz="240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rPr>
              <a:t>設計の詳細については，本科目の守備範囲外です．</a:t>
            </a:r>
            <a:r>
              <a:rPr lang="ja-JP" altLang="ja-JP" sz="2400" kern="0">
                <a:solidFill>
                  <a:srgbClr val="000000"/>
                </a:solidFill>
                <a:effectLst/>
                <a:latin typeface="游明朝" panose="02020400000000000000" pitchFamily="18" charset="-128"/>
                <a:ea typeface="Arial" panose="020B0604020202020204" pitchFamily="34" charset="0"/>
                <a:cs typeface="Times New Roman" panose="02020603050405020304" pitchFamily="18" charset="0"/>
              </a:rPr>
              <a:t> </a:t>
            </a:r>
            <a:r>
              <a:rPr lang="ja-JP" altLang="ja-JP" sz="2400" kern="0">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rPr>
              <a:t>やる気ある人は各自で調査・学習してね</a:t>
            </a:r>
            <a:endParaRPr lang="en-US" altLang="ja-JP" sz="2400" kern="0">
              <a:solidFill>
                <a:srgbClr val="000000"/>
              </a:solidFill>
              <a:latin typeface="Arial" panose="020B0604020202020204" pitchFamily="34" charset="0"/>
              <a:ea typeface="ＭＳ Ｐゴシック" panose="020B0600070205080204" pitchFamily="50" charset="-128"/>
              <a:cs typeface="Arial" panose="020B0604020202020204" pitchFamily="34" charset="0"/>
            </a:endParaRPr>
          </a:p>
          <a:p>
            <a:pPr lvl="0">
              <a:lnSpc>
                <a:spcPct val="107000"/>
              </a:lnSpc>
              <a:spcBef>
                <a:spcPts val="450"/>
              </a:spcBef>
              <a:spcAft>
                <a:spcPts val="450"/>
              </a:spcAft>
              <a:buSzPts val="1000"/>
              <a:tabLst>
                <a:tab pos="457200" algn="l"/>
              </a:tabLst>
            </a:pPr>
            <a:r>
              <a:rPr lang="en-US" altLang="ja-JP" sz="1050" b="0" i="0">
                <a:solidFill>
                  <a:srgbClr val="3C4043"/>
                </a:solidFill>
                <a:effectLst/>
                <a:latin typeface="Arial" panose="020B0604020202020204" pitchFamily="34" charset="0"/>
                <a:cs typeface="Arial" panose="020B0604020202020204" pitchFamily="34" charset="0"/>
              </a:rPr>
              <a:t>The details of the design are beyond the scope of this course. If you are interested, please research and learn on your own</a:t>
            </a:r>
            <a:endParaRPr lang="ja-JP" altLang="ja-JP" sz="1050" kern="100">
              <a:effectLst/>
              <a:latin typeface="Arial" panose="020B0604020202020204" pitchFamily="34" charset="0"/>
              <a:ea typeface="游明朝" panose="02020400000000000000" pitchFamily="18" charset="-128"/>
              <a:cs typeface="Arial" panose="020B0604020202020204" pitchFamily="34"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3275216" y="252943"/>
            <a:ext cx="6384174"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a:solidFill>
                  <a:schemeClr val="tx1"/>
                </a:solidFill>
              </a:rPr>
              <a:t>FIR </a:t>
            </a:r>
            <a:r>
              <a:rPr lang="ja-JP" altLang="en-US" sz="3200">
                <a:solidFill>
                  <a:schemeClr val="tx1"/>
                </a:solidFill>
              </a:rPr>
              <a:t>フィルタの設計・性質</a:t>
            </a:r>
            <a:r>
              <a:rPr lang="en-US" altLang="ja-JP" sz="1100" b="1">
                <a:solidFill>
                  <a:schemeClr val="tx1"/>
                </a:solidFill>
              </a:rPr>
              <a:t> FIR Filter design and properties </a:t>
            </a:r>
            <a:r>
              <a:rPr lang="ja-JP" altLang="en-US" sz="3200" b="1">
                <a:solidFill>
                  <a:srgbClr val="FF0000"/>
                </a:solidFill>
              </a:rPr>
              <a:t> </a:t>
            </a:r>
            <a:endParaRPr lang="en-US" sz="3200">
              <a:solidFill>
                <a:srgbClr val="FF0000"/>
              </a:solidFill>
            </a:endParaRPr>
          </a:p>
        </p:txBody>
      </p:sp>
      <p:pic>
        <p:nvPicPr>
          <p:cNvPr id="13" name="図 12" descr="ダイアグラム&#10;&#10;中程度の精度で自動的に生成された説明">
            <a:extLst>
              <a:ext uri="{FF2B5EF4-FFF2-40B4-BE49-F238E27FC236}">
                <a16:creationId xmlns:a16="http://schemas.microsoft.com/office/drawing/2014/main" id="{847BFE06-941D-A440-BC71-5AAE43C593C7}"/>
              </a:ext>
            </a:extLst>
          </p:cNvPr>
          <p:cNvPicPr>
            <a:picLocks noChangeAspect="1"/>
          </p:cNvPicPr>
          <p:nvPr/>
        </p:nvPicPr>
        <p:blipFill>
          <a:blip r:embed="rId5"/>
          <a:stretch>
            <a:fillRect/>
          </a:stretch>
        </p:blipFill>
        <p:spPr>
          <a:xfrm>
            <a:off x="9841587" y="1081406"/>
            <a:ext cx="2145366" cy="1790915"/>
          </a:xfrm>
          <a:prstGeom prst="rect">
            <a:avLst/>
          </a:prstGeom>
        </p:spPr>
      </p:pic>
    </p:spTree>
    <p:extLst>
      <p:ext uri="{BB962C8B-B14F-4D97-AF65-F5344CB8AC3E}">
        <p14:creationId xmlns:p14="http://schemas.microsoft.com/office/powerpoint/2010/main" val="29519221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231928"/>
          </a:xfrm>
          <a:prstGeom prst="rect">
            <a:avLst/>
          </a:prstGeom>
          <a:noFill/>
        </p:spPr>
        <p:txBody>
          <a:bodyPr wrap="square" rtlCol="0">
            <a:spAutoFit/>
          </a:bodyPr>
          <a:lstStyle/>
          <a:p>
            <a:pPr algn="l"/>
            <a:r>
              <a:rPr lang="en-US" altLang="ja-JP" sz="2800" b="0" i="0">
                <a:solidFill>
                  <a:srgbClr val="000000"/>
                </a:solidFill>
                <a:effectLst/>
                <a:latin typeface="+mn-ea"/>
                <a:ea typeface="+mn-ea"/>
              </a:rPr>
              <a:t>FIR </a:t>
            </a:r>
            <a:r>
              <a:rPr lang="ja-JP" altLang="en-US" sz="2800" b="0" i="0">
                <a:solidFill>
                  <a:srgbClr val="000000"/>
                </a:solidFill>
                <a:effectLst/>
                <a:latin typeface="+mn-ea"/>
                <a:ea typeface="+mn-ea"/>
              </a:rPr>
              <a:t>フィルタの性質：</a:t>
            </a:r>
            <a:r>
              <a:rPr lang="en-US" altLang="ja-JP" sz="2800">
                <a:solidFill>
                  <a:srgbClr val="000000"/>
                </a:solidFill>
                <a:latin typeface="+mn-ea"/>
                <a:ea typeface="+mn-ea"/>
              </a:rPr>
              <a:t> </a:t>
            </a:r>
            <a:r>
              <a:rPr lang="en-US" altLang="ja-JP" sz="1050" b="0" i="0">
                <a:solidFill>
                  <a:srgbClr val="3C4043"/>
                </a:solidFill>
                <a:effectLst/>
                <a:highlight>
                  <a:srgbClr val="F5F5F5"/>
                </a:highlight>
                <a:latin typeface="Arial" panose="020B0604020202020204" pitchFamily="34" charset="0"/>
                <a:cs typeface="Arial" panose="020B0604020202020204" pitchFamily="34" charset="0"/>
              </a:rPr>
              <a:t>Properties of FIR filters</a:t>
            </a:r>
            <a:endParaRPr lang="en-US" altLang="ja-JP" sz="1050">
              <a:solidFill>
                <a:srgbClr val="000000"/>
              </a:solidFill>
              <a:latin typeface="Arial" panose="020B0604020202020204" pitchFamily="34" charset="0"/>
              <a:cs typeface="Arial" panose="020B0604020202020204" pitchFamily="34" charset="0"/>
            </a:endParaRPr>
          </a:p>
          <a:p>
            <a:pPr algn="l"/>
            <a:endParaRPr lang="en-US" altLang="ja-JP">
              <a:solidFill>
                <a:srgbClr val="000000"/>
              </a:solidFill>
              <a:latin typeface="Arial" panose="020B0604020202020204" pitchFamily="34" charset="0"/>
            </a:endParaRPr>
          </a:p>
          <a:p>
            <a:pPr algn="l"/>
            <a:r>
              <a:rPr lang="en-US" altLang="ja-JP" b="0" i="0">
                <a:solidFill>
                  <a:srgbClr val="000000"/>
                </a:solidFill>
                <a:effectLst/>
                <a:latin typeface="Arial" panose="020B0604020202020204" pitchFamily="34" charset="0"/>
              </a:rPr>
              <a:t> </a:t>
            </a:r>
            <a:r>
              <a:rPr lang="ja-JP" altLang="en-US" sz="2400" b="0" i="0">
                <a:solidFill>
                  <a:srgbClr val="000000"/>
                </a:solidFill>
                <a:effectLst/>
                <a:latin typeface="Arial" panose="020B0604020202020204" pitchFamily="34" charset="0"/>
              </a:rPr>
              <a:t>◯</a:t>
            </a:r>
            <a:r>
              <a:rPr lang="en-US" altLang="ja-JP" sz="2400" b="0" i="0">
                <a:solidFill>
                  <a:srgbClr val="000000"/>
                </a:solidFill>
                <a:effectLst/>
                <a:latin typeface="Arial" panose="020B0604020202020204" pitchFamily="34" charset="0"/>
                <a:sym typeface="Wingdings" panose="05000000000000000000" pitchFamily="2" charset="2"/>
              </a:rPr>
              <a:t>    </a:t>
            </a:r>
            <a:r>
              <a:rPr lang="ja-JP" altLang="en-US" sz="2400" b="0" i="0">
                <a:solidFill>
                  <a:srgbClr val="000000"/>
                </a:solidFill>
                <a:effectLst/>
                <a:latin typeface="Arial" panose="020B0604020202020204" pitchFamily="34" charset="0"/>
              </a:rPr>
              <a:t>構造が単純なので，設計は容易</a:t>
            </a:r>
            <a:r>
              <a:rPr lang="ja-JP" altLang="en-US">
                <a:solidFill>
                  <a:srgbClr val="000000"/>
                </a:solidFill>
                <a:latin typeface="Arial" panose="020B0604020202020204" pitchFamily="34" charset="0"/>
              </a:rPr>
              <a:t>　</a:t>
            </a:r>
            <a:r>
              <a:rPr lang="en-US" altLang="ja-JP" sz="1050" b="0" i="0">
                <a:solidFill>
                  <a:srgbClr val="3C4043"/>
                </a:solidFill>
                <a:effectLst/>
                <a:latin typeface="Arial" panose="020B0604020202020204" pitchFamily="34" charset="0"/>
                <a:cs typeface="Arial" panose="020B0604020202020204" pitchFamily="34" charset="0"/>
              </a:rPr>
              <a:t>The structure is simple, so design is easy</a:t>
            </a:r>
            <a:endParaRPr lang="en-US" altLang="ja-JP" sz="1050" b="0" i="0">
              <a:solidFill>
                <a:srgbClr val="000000"/>
              </a:solidFill>
              <a:effectLst/>
              <a:latin typeface="Arial" panose="020B0604020202020204" pitchFamily="34" charset="0"/>
              <a:cs typeface="Arial" panose="020B0604020202020204" pitchFamily="34" charset="0"/>
            </a:endParaRPr>
          </a:p>
          <a:p>
            <a:pPr algn="l"/>
            <a:r>
              <a:rPr lang="en-US" altLang="ja-JP">
                <a:solidFill>
                  <a:srgbClr val="000000"/>
                </a:solidFill>
                <a:latin typeface="Arial" panose="020B0604020202020204" pitchFamily="34" charset="0"/>
              </a:rPr>
              <a:t>                </a:t>
            </a:r>
            <a:r>
              <a:rPr lang="en-US" altLang="ja-JP" sz="2000">
                <a:solidFill>
                  <a:srgbClr val="000000"/>
                </a:solidFill>
                <a:latin typeface="Arial" panose="020B0604020202020204" pitchFamily="34" charset="0"/>
                <a:sym typeface="Wingdings" panose="05000000000000000000" pitchFamily="2" charset="2"/>
              </a:rPr>
              <a:t> </a:t>
            </a:r>
            <a:r>
              <a:rPr lang="ja-JP" altLang="en-US" sz="2000" b="0" i="0">
                <a:solidFill>
                  <a:srgbClr val="000000"/>
                </a:solidFill>
                <a:effectLst/>
                <a:latin typeface="Arial" panose="020B0604020202020204" pitchFamily="34" charset="0"/>
              </a:rPr>
              <a:t>単純ではあるが，規模は大きくなりがち</a:t>
            </a:r>
            <a:r>
              <a:rPr lang="ja-JP" altLang="en-US">
                <a:solidFill>
                  <a:srgbClr val="000000"/>
                </a:solidFill>
                <a:latin typeface="Arial" panose="020B0604020202020204" pitchFamily="34" charset="0"/>
              </a:rPr>
              <a:t>　</a:t>
            </a:r>
            <a:r>
              <a:rPr lang="en-US" altLang="ja-JP" sz="1050" b="0" i="0">
                <a:solidFill>
                  <a:srgbClr val="3C4043"/>
                </a:solidFill>
                <a:effectLst/>
                <a:latin typeface="Arial" panose="020B0604020202020204" pitchFamily="34" charset="0"/>
                <a:cs typeface="Arial" panose="020B0604020202020204" pitchFamily="34" charset="0"/>
              </a:rPr>
              <a:t>Although it is simple, it tends to be large in scale</a:t>
            </a:r>
            <a:endParaRPr lang="en-US" altLang="ja-JP" sz="1050">
              <a:solidFill>
                <a:srgbClr val="000000"/>
              </a:solidFill>
              <a:latin typeface="Arial" panose="020B0604020202020204" pitchFamily="34" charset="0"/>
              <a:cs typeface="Arial" panose="020B0604020202020204" pitchFamily="34" charset="0"/>
            </a:endParaRPr>
          </a:p>
          <a:p>
            <a:pPr algn="l"/>
            <a:endParaRPr lang="en-US" altLang="ja-JP" b="0" i="0">
              <a:solidFill>
                <a:srgbClr val="000000"/>
              </a:solidFill>
              <a:effectLst/>
              <a:latin typeface="Arial" panose="020B0604020202020204" pitchFamily="34" charset="0"/>
            </a:endParaRPr>
          </a:p>
          <a:p>
            <a:pPr algn="l"/>
            <a:endParaRPr lang="en-US" altLang="ja-JP">
              <a:solidFill>
                <a:srgbClr val="000000"/>
              </a:solidFill>
              <a:latin typeface="Arial" panose="020B0604020202020204" pitchFamily="34" charset="0"/>
            </a:endParaRPr>
          </a:p>
          <a:p>
            <a:pPr algn="l"/>
            <a:r>
              <a:rPr lang="en-US" altLang="ja-JP" sz="2800" b="0" i="0">
                <a:solidFill>
                  <a:srgbClr val="000000"/>
                </a:solidFill>
                <a:effectLst/>
                <a:latin typeface="Arial" panose="020B0604020202020204" pitchFamily="34" charset="0"/>
              </a:rPr>
              <a:t>×</a:t>
            </a:r>
            <a:r>
              <a:rPr lang="en-US" altLang="ja-JP" sz="2400" b="0" i="0">
                <a:solidFill>
                  <a:srgbClr val="000000"/>
                </a:solidFill>
                <a:effectLst/>
                <a:latin typeface="Arial" panose="020B0604020202020204" pitchFamily="34" charset="0"/>
              </a:rPr>
              <a:t> </a:t>
            </a:r>
            <a:r>
              <a:rPr lang="ja-JP" altLang="en-US" sz="2400" b="0" i="0">
                <a:solidFill>
                  <a:srgbClr val="000000"/>
                </a:solidFill>
                <a:effectLst/>
                <a:latin typeface="Arial" panose="020B0604020202020204" pitchFamily="34" charset="0"/>
              </a:rPr>
              <a:t>大規模になると，効率が低下</a:t>
            </a:r>
            <a:r>
              <a:rPr lang="ja-JP" altLang="en-US">
                <a:solidFill>
                  <a:srgbClr val="000000"/>
                </a:solidFill>
                <a:latin typeface="Arial" panose="020B0604020202020204" pitchFamily="34" charset="0"/>
              </a:rPr>
              <a:t>　</a:t>
            </a:r>
            <a:r>
              <a:rPr lang="en-US" altLang="ja-JP" sz="1050" b="0" i="0">
                <a:solidFill>
                  <a:srgbClr val="3C4043"/>
                </a:solidFill>
                <a:effectLst/>
                <a:latin typeface="Arial" panose="020B0604020202020204" pitchFamily="34" charset="0"/>
                <a:cs typeface="Arial" panose="020B0604020202020204" pitchFamily="34" charset="0"/>
              </a:rPr>
              <a:t>Efficiency decreases as it gets larger</a:t>
            </a:r>
            <a:endParaRPr lang="en-US" altLang="ja-JP" sz="1050" b="0" i="0">
              <a:solidFill>
                <a:srgbClr val="000000"/>
              </a:solidFill>
              <a:effectLst/>
              <a:latin typeface="Arial" panose="020B0604020202020204" pitchFamily="34" charset="0"/>
              <a:cs typeface="Arial" panose="020B0604020202020204" pitchFamily="34" charset="0"/>
            </a:endParaRPr>
          </a:p>
          <a:p>
            <a:pPr algn="l"/>
            <a:r>
              <a:rPr lang="en-US" altLang="ja-JP">
                <a:solidFill>
                  <a:srgbClr val="000000"/>
                </a:solidFill>
                <a:latin typeface="Arial" panose="020B0604020202020204" pitchFamily="34" charset="0"/>
              </a:rPr>
              <a:t>    </a:t>
            </a:r>
          </a:p>
          <a:p>
            <a:pPr algn="l"/>
            <a:r>
              <a:rPr lang="en-US" altLang="ja-JP" sz="2000">
                <a:solidFill>
                  <a:srgbClr val="000000"/>
                </a:solidFill>
                <a:latin typeface="Arial" panose="020B0604020202020204" pitchFamily="34" charset="0"/>
                <a:sym typeface="Wingdings" panose="05000000000000000000" pitchFamily="2" charset="2"/>
              </a:rPr>
              <a:t>        </a:t>
            </a:r>
            <a:r>
              <a:rPr lang="ja-JP" altLang="en-US" sz="2000" b="0" i="0">
                <a:solidFill>
                  <a:srgbClr val="000000"/>
                </a:solidFill>
                <a:effectLst/>
                <a:latin typeface="Arial" panose="020B0604020202020204" pitchFamily="34" charset="0"/>
              </a:rPr>
              <a:t>タップ数が大きい場合，実装・実行にかかるコストも大きい． メモリサイズとかレイテンシの問題ですね     </a:t>
            </a:r>
            <a:endParaRPr lang="en-US" altLang="ja-JP" sz="2000" b="0" i="0">
              <a:solidFill>
                <a:srgbClr val="000000"/>
              </a:solidFill>
              <a:effectLst/>
              <a:latin typeface="Arial" panose="020B0604020202020204" pitchFamily="34" charset="0"/>
            </a:endParaRPr>
          </a:p>
          <a:p>
            <a:r>
              <a:rPr lang="ja-JP" altLang="en-US" b="0" i="0">
                <a:solidFill>
                  <a:srgbClr val="000000"/>
                </a:solidFill>
                <a:effectLst/>
                <a:latin typeface="Arial" panose="020B0604020202020204" pitchFamily="34" charset="0"/>
              </a:rPr>
              <a:t>　　　　　　 </a:t>
            </a:r>
            <a:r>
              <a:rPr lang="en-US" altLang="ja-JP" sz="1050">
                <a:solidFill>
                  <a:srgbClr val="000000"/>
                </a:solidFill>
                <a:latin typeface="Arial" panose="020B0604020202020204" pitchFamily="34" charset="0"/>
              </a:rPr>
              <a:t>When the number of taps is large, the cost of implementation and execution is also large. This is due to issues such as memory size and latency.</a:t>
            </a:r>
          </a:p>
          <a:p>
            <a:endParaRPr lang="en-US" altLang="ja-JP" sz="1050" b="0" i="0">
              <a:solidFill>
                <a:srgbClr val="000000"/>
              </a:solidFill>
              <a:effectLst/>
              <a:latin typeface="Arial" panose="020B0604020202020204" pitchFamily="34" charset="0"/>
            </a:endParaRPr>
          </a:p>
          <a:p>
            <a:endParaRPr lang="en-US" altLang="ja-JP" sz="1050" b="0" i="0">
              <a:solidFill>
                <a:srgbClr val="000000"/>
              </a:solidFill>
              <a:effectLst/>
              <a:latin typeface="Arial" panose="020B0604020202020204" pitchFamily="34" charset="0"/>
            </a:endParaRPr>
          </a:p>
          <a:p>
            <a:pPr lvl="1" algn="l"/>
            <a:r>
              <a:rPr lang="ja-JP" altLang="en-US" sz="2000" b="0" i="0">
                <a:solidFill>
                  <a:srgbClr val="000000"/>
                </a:solidFill>
                <a:effectLst/>
                <a:latin typeface="Arial" panose="020B0604020202020204" pitchFamily="34" charset="0"/>
              </a:rPr>
              <a:t> </a:t>
            </a:r>
            <a:r>
              <a:rPr lang="en-US" altLang="ja-JP" sz="2000" b="0" i="0">
                <a:solidFill>
                  <a:srgbClr val="000000"/>
                </a:solidFill>
                <a:effectLst/>
                <a:latin typeface="Arial" panose="020B0604020202020204" pitchFamily="34" charset="0"/>
                <a:sym typeface="Wingdings" panose="05000000000000000000" pitchFamily="2" charset="2"/>
              </a:rPr>
              <a:t> </a:t>
            </a:r>
            <a:r>
              <a:rPr lang="ja-JP" altLang="en-US" sz="2000" b="0" i="0">
                <a:solidFill>
                  <a:srgbClr val="000000"/>
                </a:solidFill>
                <a:effectLst/>
                <a:latin typeface="Arial" panose="020B0604020202020204" pitchFamily="34" charset="0"/>
              </a:rPr>
              <a:t>タップ数を減らしたいのですが</a:t>
            </a:r>
            <a:r>
              <a:rPr lang="en-US" altLang="ja-JP" sz="2000" b="0" i="0">
                <a:solidFill>
                  <a:srgbClr val="000000"/>
                </a:solidFill>
                <a:effectLst/>
                <a:latin typeface="Arial" panose="020B0604020202020204" pitchFamily="34" charset="0"/>
              </a:rPr>
              <a:t>... </a:t>
            </a:r>
            <a:r>
              <a:rPr lang="ja-JP" altLang="en-US" sz="2000" b="0" i="0">
                <a:solidFill>
                  <a:srgbClr val="000000"/>
                </a:solidFill>
                <a:effectLst/>
                <a:latin typeface="Arial" panose="020B0604020202020204" pitchFamily="34" charset="0"/>
              </a:rPr>
              <a:t>コスト削減すると，精度が低下</a:t>
            </a:r>
            <a:endParaRPr lang="en-US" altLang="ja-JP" b="0" i="0">
              <a:solidFill>
                <a:srgbClr val="000000"/>
              </a:solidFill>
              <a:effectLst/>
              <a:latin typeface="Arial" panose="020B0604020202020204" pitchFamily="34" charset="0"/>
            </a:endParaRPr>
          </a:p>
          <a:p>
            <a:pPr lvl="1" algn="l"/>
            <a:r>
              <a:rPr lang="en-US" altLang="ja-JP">
                <a:solidFill>
                  <a:srgbClr val="000000"/>
                </a:solidFill>
                <a:latin typeface="Arial" panose="020B0604020202020204" pitchFamily="34" charset="0"/>
              </a:rPr>
              <a:t>         </a:t>
            </a:r>
            <a:r>
              <a:rPr lang="en-US" altLang="ja-JP" sz="1050" b="0" i="0">
                <a:solidFill>
                  <a:srgbClr val="3C4043"/>
                </a:solidFill>
                <a:effectLst/>
                <a:latin typeface="Arial" panose="020B0604020202020204" pitchFamily="34" charset="0"/>
                <a:cs typeface="Arial" panose="020B0604020202020204" pitchFamily="34" charset="0"/>
              </a:rPr>
              <a:t>We would like to </a:t>
            </a:r>
            <a:r>
              <a:rPr lang="en-US" altLang="ja-JP" sz="1050" b="1" i="0">
                <a:solidFill>
                  <a:srgbClr val="3C4043"/>
                </a:solidFill>
                <a:effectLst/>
                <a:latin typeface="Arial" panose="020B0604020202020204" pitchFamily="34" charset="0"/>
                <a:cs typeface="Arial" panose="020B0604020202020204" pitchFamily="34" charset="0"/>
              </a:rPr>
              <a:t>reduce the number of taps</a:t>
            </a:r>
            <a:r>
              <a:rPr lang="en-US" altLang="ja-JP" sz="1050" b="0" i="0">
                <a:solidFill>
                  <a:srgbClr val="3C4043"/>
                </a:solidFill>
                <a:effectLst/>
                <a:latin typeface="Arial" panose="020B0604020202020204" pitchFamily="34" charset="0"/>
                <a:cs typeface="Arial" panose="020B0604020202020204" pitchFamily="34" charset="0"/>
              </a:rPr>
              <a:t>, but... </a:t>
            </a:r>
            <a:r>
              <a:rPr lang="en-US" altLang="ja-JP" sz="1050" b="1" i="0">
                <a:solidFill>
                  <a:srgbClr val="3C4043"/>
                </a:solidFill>
                <a:effectLst/>
                <a:latin typeface="Arial" panose="020B0604020202020204" pitchFamily="34" charset="0"/>
                <a:cs typeface="Arial" panose="020B0604020202020204" pitchFamily="34" charset="0"/>
              </a:rPr>
              <a:t>reducing cost reduces accuracy</a:t>
            </a:r>
            <a:endParaRPr lang="ja-JP" altLang="en-US" sz="1050" b="1" i="0">
              <a:solidFill>
                <a:srgbClr val="000000"/>
              </a:solidFill>
              <a:effectLst/>
              <a:latin typeface="Arial" panose="020B0604020202020204" pitchFamily="34" charset="0"/>
              <a:cs typeface="Arial" panose="020B0604020202020204" pitchFamily="34"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3275216" y="252943"/>
            <a:ext cx="6384174"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a:solidFill>
                  <a:schemeClr val="tx1"/>
                </a:solidFill>
              </a:rPr>
              <a:t>FIR </a:t>
            </a:r>
            <a:r>
              <a:rPr lang="ja-JP" altLang="en-US" sz="3200">
                <a:solidFill>
                  <a:schemeClr val="tx1"/>
                </a:solidFill>
              </a:rPr>
              <a:t>フィルタの設計・性質</a:t>
            </a:r>
            <a:r>
              <a:rPr lang="en-US" altLang="ja-JP" sz="1100" b="1">
                <a:solidFill>
                  <a:schemeClr val="tx1"/>
                </a:solidFill>
              </a:rPr>
              <a:t> FIR Filter design and properties </a:t>
            </a:r>
            <a:r>
              <a:rPr lang="ja-JP" altLang="en-US" sz="3200" b="1">
                <a:solidFill>
                  <a:srgbClr val="FF0000"/>
                </a:solidFill>
              </a:rPr>
              <a:t> </a:t>
            </a:r>
            <a:endParaRPr lang="en-US" sz="3200">
              <a:solidFill>
                <a:srgbClr val="FF0000"/>
              </a:solidFill>
            </a:endParaRPr>
          </a:p>
        </p:txBody>
      </p:sp>
    </p:spTree>
    <p:extLst>
      <p:ext uri="{BB962C8B-B14F-4D97-AF65-F5344CB8AC3E}">
        <p14:creationId xmlns:p14="http://schemas.microsoft.com/office/powerpoint/2010/main" val="32020960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639732"/>
          </a:xfrm>
          <a:prstGeom prst="rect">
            <a:avLst/>
          </a:prstGeom>
          <a:noFill/>
        </p:spPr>
        <p:txBody>
          <a:bodyPr wrap="square" rtlCol="0">
            <a:spAutoFit/>
          </a:bodyPr>
          <a:lstStyle/>
          <a:p>
            <a:r>
              <a:rPr lang="ja-JP" altLang="ja-JP" sz="3200">
                <a:latin typeface="+mn-ea"/>
                <a:ea typeface="+mn-ea"/>
              </a:rPr>
              <a:t>出力を入力へ帰還（フィードバック）</a:t>
            </a:r>
            <a:r>
              <a:rPr lang="en-US" altLang="ja-JP" sz="3200">
                <a:latin typeface="+mn-ea"/>
                <a:ea typeface="+mn-ea"/>
              </a:rPr>
              <a:t>"</a:t>
            </a:r>
            <a:r>
              <a:rPr lang="en-US" altLang="ja-JP" sz="3200" b="1">
                <a:latin typeface="+mn-ea"/>
                <a:ea typeface="+mn-ea"/>
              </a:rPr>
              <a:t>feedback</a:t>
            </a:r>
            <a:r>
              <a:rPr lang="en-US" altLang="ja-JP" sz="3200">
                <a:latin typeface="+mn-ea"/>
                <a:ea typeface="+mn-ea"/>
              </a:rPr>
              <a:t>" </a:t>
            </a:r>
            <a:r>
              <a:rPr lang="ja-JP" altLang="ja-JP" sz="3200">
                <a:latin typeface="+mn-ea"/>
                <a:ea typeface="+mn-ea"/>
              </a:rPr>
              <a:t>すると， 無限インパルス応答</a:t>
            </a:r>
            <a:r>
              <a:rPr lang="en-US" altLang="ja-JP" sz="3200">
                <a:latin typeface="+mn-ea"/>
                <a:ea typeface="+mn-ea"/>
              </a:rPr>
              <a:t> "</a:t>
            </a:r>
            <a:r>
              <a:rPr lang="en-US" altLang="ja-JP" sz="3200" b="1">
                <a:latin typeface="+mn-ea"/>
                <a:ea typeface="+mn-ea"/>
              </a:rPr>
              <a:t>infinite impulse response</a:t>
            </a:r>
            <a:r>
              <a:rPr lang="en-US" altLang="ja-JP" sz="3200">
                <a:latin typeface="+mn-ea"/>
                <a:ea typeface="+mn-ea"/>
              </a:rPr>
              <a:t>"</a:t>
            </a:r>
            <a:r>
              <a:rPr lang="ja-JP" altLang="ja-JP" sz="3200">
                <a:latin typeface="+mn-ea"/>
                <a:ea typeface="+mn-ea"/>
              </a:rPr>
              <a:t>（</a:t>
            </a:r>
            <a:r>
              <a:rPr lang="en-US" altLang="ja-JP" sz="3200">
                <a:latin typeface="+mn-ea"/>
                <a:ea typeface="+mn-ea"/>
              </a:rPr>
              <a:t>IIR</a:t>
            </a:r>
            <a:r>
              <a:rPr lang="ja-JP" altLang="ja-JP" sz="3200">
                <a:latin typeface="+mn-ea"/>
                <a:ea typeface="+mn-ea"/>
              </a:rPr>
              <a:t>）フィルタが得られる</a:t>
            </a:r>
            <a:endParaRPr lang="en-US" altLang="ja-JP" sz="3200">
              <a:latin typeface="+mn-ea"/>
              <a:ea typeface="+mn-ea"/>
            </a:endParaRPr>
          </a:p>
          <a:p>
            <a:r>
              <a:rPr lang="en-US" altLang="ja-JP" sz="1050"/>
              <a:t>By </a:t>
            </a:r>
            <a:r>
              <a:rPr lang="en-US" altLang="ja-JP" sz="1050" b="1"/>
              <a:t>feeding back the output to the input</a:t>
            </a:r>
            <a:r>
              <a:rPr lang="en-US" altLang="ja-JP" sz="1050"/>
              <a:t>, we get an infinite impulse response (IIR) filter</a:t>
            </a:r>
            <a:endParaRPr lang="en-US" altLang="ja-JP" sz="1050" b="0" i="0">
              <a:solidFill>
                <a:srgbClr val="000000"/>
              </a:solidFill>
              <a:effectLst/>
              <a:latin typeface="+mn-ea"/>
              <a:ea typeface="+mn-ea"/>
              <a:cs typeface="Arial" panose="020B0604020202020204" pitchFamily="34" charset="0"/>
            </a:endParaRPr>
          </a:p>
          <a:p>
            <a:r>
              <a:rPr lang="en-US" altLang="ja-JP" sz="3200">
                <a:solidFill>
                  <a:srgbClr val="000000"/>
                </a:solidFill>
                <a:latin typeface="+mn-ea"/>
                <a:ea typeface="+mn-ea"/>
                <a:cs typeface="Arial" panose="020B0604020202020204" pitchFamily="34" charset="0"/>
              </a:rPr>
              <a:t> </a:t>
            </a:r>
            <a:r>
              <a:rPr lang="en-US" altLang="ja-JP" sz="3200">
                <a:solidFill>
                  <a:srgbClr val="000000"/>
                </a:solidFill>
                <a:latin typeface="+mn-ea"/>
                <a:ea typeface="+mn-ea"/>
                <a:cs typeface="Arial" panose="020B0604020202020204" pitchFamily="34" charset="0"/>
                <a:sym typeface="Wingdings" panose="05000000000000000000" pitchFamily="2" charset="2"/>
              </a:rPr>
              <a:t> </a:t>
            </a:r>
            <a:r>
              <a:rPr lang="ja-JP" altLang="ja-JP" sz="2800"/>
              <a:t>単純なフィードバックの例</a:t>
            </a:r>
            <a:r>
              <a:rPr lang="en-US" altLang="ja-JP" sz="2800"/>
              <a:t> </a:t>
            </a:r>
            <a:r>
              <a:rPr lang="en-US" altLang="ja-JP" sz="1050"/>
              <a:t>Simple feedback example </a:t>
            </a:r>
          </a:p>
          <a:p>
            <a:r>
              <a:rPr lang="en-US" altLang="ja-JP" sz="1200"/>
              <a:t>               </a:t>
            </a:r>
          </a:p>
          <a:p>
            <a:r>
              <a:rPr lang="en-US" altLang="ja-JP" sz="1200"/>
              <a:t>                                                                                           </a:t>
            </a:r>
            <a:r>
              <a:rPr lang="en-US" altLang="ja-JP">
                <a:latin typeface="Cambria Math" panose="02040503050406030204" pitchFamily="18" charset="0"/>
                <a:ea typeface="游明朝" panose="02020400000000000000" pitchFamily="18" charset="-128"/>
                <a:cs typeface="Cambria Math" panose="02040503050406030204" pitchFamily="18" charset="0"/>
              </a:rPr>
              <a:t>𝑦</a:t>
            </a:r>
            <a:r>
              <a:rPr lang="en-US" altLang="ja-JP" baseline="-25000">
                <a:latin typeface="Cambria Math" panose="02040503050406030204" pitchFamily="18" charset="0"/>
                <a:ea typeface="游明朝" panose="02020400000000000000" pitchFamily="18" charset="-128"/>
                <a:cs typeface="Cambria Math" panose="02040503050406030204" pitchFamily="18" charset="0"/>
              </a:rPr>
              <a:t>𝑛</a:t>
            </a:r>
            <a:r>
              <a:rPr lang="en-US" altLang="ja-JP">
                <a:latin typeface="Calibri" panose="020F0502020204030204" pitchFamily="34" charset="0"/>
                <a:ea typeface="游明朝" panose="02020400000000000000" pitchFamily="18" charset="-128"/>
                <a:cs typeface="Times New Roman" panose="02020603050405020304" pitchFamily="18" charset="0"/>
              </a:rPr>
              <a:t>= x</a:t>
            </a:r>
            <a:r>
              <a:rPr lang="en-US" altLang="ja-JP" baseline="-25000">
                <a:latin typeface="Cambria Math" panose="02040503050406030204" pitchFamily="18" charset="0"/>
                <a:ea typeface="游明朝" panose="02020400000000000000" pitchFamily="18" charset="-128"/>
                <a:cs typeface="Cambria Math" panose="02040503050406030204" pitchFamily="18" charset="0"/>
              </a:rPr>
              <a:t>𝑛 </a:t>
            </a:r>
            <a:r>
              <a:rPr lang="en-US" altLang="ja-JP" b="1">
                <a:latin typeface="Calibri" panose="020F0502020204030204" pitchFamily="34" charset="0"/>
                <a:ea typeface="游明朝" panose="02020400000000000000" pitchFamily="18" charset="-128"/>
                <a:cs typeface="Times New Roman" panose="02020603050405020304" pitchFamily="18" charset="0"/>
              </a:rPr>
              <a:t>+  ay</a:t>
            </a:r>
            <a:r>
              <a:rPr lang="en-US" altLang="ja-JP" b="1" baseline="-25000">
                <a:latin typeface="Cambria Math" panose="02040503050406030204" pitchFamily="18" charset="0"/>
                <a:ea typeface="游明朝" panose="02020400000000000000" pitchFamily="18" charset="-128"/>
                <a:cs typeface="Cambria Math" panose="02040503050406030204" pitchFamily="18" charset="0"/>
              </a:rPr>
              <a:t>𝑛 - 1 </a:t>
            </a:r>
          </a:p>
          <a:p>
            <a:endParaRPr lang="en-US" altLang="ja-JP" b="1" baseline="-25000">
              <a:latin typeface="Cambria Math" panose="02040503050406030204" pitchFamily="18" charset="0"/>
              <a:ea typeface="游明朝" panose="02020400000000000000" pitchFamily="18" charset="-128"/>
            </a:endParaRPr>
          </a:p>
          <a:p>
            <a:r>
              <a:rPr lang="ja-JP" altLang="ja-JP" sz="2800">
                <a:latin typeface="+mn-ea"/>
                <a:ea typeface="+mn-ea"/>
              </a:rPr>
              <a:t>現在の入力</a:t>
            </a:r>
            <a:r>
              <a:rPr lang="en-US" altLang="ja-JP" sz="2800">
                <a:latin typeface="+mn-ea"/>
                <a:ea typeface="+mn-ea"/>
              </a:rPr>
              <a:t> 𝑥</a:t>
            </a:r>
            <a:r>
              <a:rPr lang="en-US" altLang="ja-JP" sz="2800" baseline="-25000">
                <a:latin typeface="+mn-ea"/>
                <a:ea typeface="+mn-ea"/>
              </a:rPr>
              <a:t>𝑛 </a:t>
            </a:r>
            <a:r>
              <a:rPr lang="ja-JP" altLang="ja-JP" sz="2800">
                <a:latin typeface="+mn-ea"/>
                <a:ea typeface="+mn-ea"/>
              </a:rPr>
              <a:t>の他に， 過去の出力</a:t>
            </a:r>
            <a:r>
              <a:rPr lang="en-US" altLang="ja-JP" sz="2800">
                <a:latin typeface="+mn-ea"/>
                <a:ea typeface="+mn-ea"/>
              </a:rPr>
              <a:t> 𝑦</a:t>
            </a:r>
            <a:r>
              <a:rPr lang="en-US" altLang="ja-JP" sz="2800" baseline="-25000">
                <a:latin typeface="+mn-ea"/>
                <a:ea typeface="+mn-ea"/>
              </a:rPr>
              <a:t>𝑛−1 </a:t>
            </a:r>
            <a:r>
              <a:rPr lang="ja-JP" altLang="ja-JP" sz="2800">
                <a:latin typeface="+mn-ea"/>
                <a:ea typeface="+mn-ea"/>
              </a:rPr>
              <a:t>も入力</a:t>
            </a:r>
            <a:r>
              <a:rPr lang="en-US" altLang="ja-JP" sz="2800">
                <a:latin typeface="+mn-ea"/>
                <a:ea typeface="+mn-ea"/>
              </a:rPr>
              <a:t> </a:t>
            </a:r>
          </a:p>
          <a:p>
            <a:r>
              <a:rPr lang="en-US" altLang="ja-JP" sz="1050">
                <a:latin typeface="Arial" panose="020B0604020202020204" pitchFamily="34" charset="0"/>
                <a:cs typeface="Arial" panose="020B0604020202020204" pitchFamily="34" charset="0"/>
              </a:rPr>
              <a:t>In addition to the current </a:t>
            </a:r>
            <a:r>
              <a:rPr lang="en-US" altLang="ja-JP" sz="1050" b="1">
                <a:latin typeface="Arial" panose="020B0604020202020204" pitchFamily="34" charset="0"/>
                <a:cs typeface="Arial" panose="020B0604020202020204" pitchFamily="34" charset="0"/>
              </a:rPr>
              <a:t>input </a:t>
            </a:r>
            <a:r>
              <a:rPr lang="en-US" altLang="ja-JP" sz="1050" b="1">
                <a:latin typeface="+mn-ea"/>
              </a:rPr>
              <a:t>𝑥</a:t>
            </a:r>
            <a:r>
              <a:rPr lang="en-US" altLang="ja-JP" sz="1050" b="1" baseline="-25000">
                <a:latin typeface="+mn-ea"/>
              </a:rPr>
              <a:t>𝑛</a:t>
            </a:r>
            <a:r>
              <a:rPr lang="en-US" altLang="ja-JP" sz="1050" b="1">
                <a:latin typeface="Arial" panose="020B0604020202020204" pitchFamily="34" charset="0"/>
                <a:cs typeface="Arial" panose="020B0604020202020204" pitchFamily="34" charset="0"/>
              </a:rPr>
              <a:t>, </a:t>
            </a:r>
            <a:r>
              <a:rPr lang="en-US" altLang="ja-JP" sz="1050">
                <a:latin typeface="Arial" panose="020B0604020202020204" pitchFamily="34" charset="0"/>
                <a:cs typeface="Arial" panose="020B0604020202020204" pitchFamily="34" charset="0"/>
              </a:rPr>
              <a:t>the </a:t>
            </a:r>
            <a:r>
              <a:rPr lang="en-US" altLang="ja-JP" sz="1050" b="1">
                <a:latin typeface="Arial" panose="020B0604020202020204" pitchFamily="34" charset="0"/>
                <a:cs typeface="Arial" panose="020B0604020202020204" pitchFamily="34" charset="0"/>
              </a:rPr>
              <a:t>past output </a:t>
            </a:r>
            <a:r>
              <a:rPr lang="en-US" altLang="ja-JP" sz="1050" b="1">
                <a:latin typeface="+mn-ea"/>
              </a:rPr>
              <a:t>𝑦</a:t>
            </a:r>
            <a:r>
              <a:rPr lang="en-US" altLang="ja-JP" sz="1050" b="1" baseline="-25000">
                <a:latin typeface="+mn-ea"/>
              </a:rPr>
              <a:t>𝑛−1 </a:t>
            </a:r>
            <a:r>
              <a:rPr lang="en-US" altLang="ja-JP" sz="1050">
                <a:latin typeface="Arial" panose="020B0604020202020204" pitchFamily="34" charset="0"/>
                <a:cs typeface="Arial" panose="020B0604020202020204" pitchFamily="34" charset="0"/>
              </a:rPr>
              <a:t> is also </a:t>
            </a:r>
            <a:r>
              <a:rPr lang="en-US" altLang="ja-JP" sz="1050" b="1">
                <a:latin typeface="Arial" panose="020B0604020202020204" pitchFamily="34" charset="0"/>
                <a:cs typeface="Arial" panose="020B0604020202020204" pitchFamily="34" charset="0"/>
              </a:rPr>
              <a:t>input</a:t>
            </a:r>
            <a:endParaRPr lang="en-US" altLang="ja-JP" sz="1050" b="1">
              <a:latin typeface="Arial" panose="020B0604020202020204" pitchFamily="34" charset="0"/>
              <a:ea typeface="+mn-ea"/>
              <a:cs typeface="Arial" panose="020B0604020202020204" pitchFamily="34" charset="0"/>
            </a:endParaRPr>
          </a:p>
          <a:p>
            <a:endParaRPr lang="en-US" altLang="ja-JP" b="1"/>
          </a:p>
          <a:p>
            <a:r>
              <a:rPr lang="ja-JP" altLang="ja-JP" sz="2800">
                <a:latin typeface="+mn-ea"/>
                <a:ea typeface="+mn-ea"/>
              </a:rPr>
              <a:t>数値</a:t>
            </a:r>
            <a:r>
              <a:rPr lang="en-US" altLang="ja-JP" sz="2800">
                <a:latin typeface="+mn-ea"/>
                <a:ea typeface="+mn-ea"/>
              </a:rPr>
              <a:t> 𝑦</a:t>
            </a:r>
            <a:r>
              <a:rPr lang="en-US" altLang="ja-JP" sz="2800" baseline="-25000">
                <a:latin typeface="+mn-ea"/>
                <a:ea typeface="+mn-ea"/>
              </a:rPr>
              <a:t>𝑛</a:t>
            </a:r>
            <a:r>
              <a:rPr lang="en-US" altLang="ja-JP" sz="2800">
                <a:latin typeface="+mn-ea"/>
                <a:ea typeface="+mn-ea"/>
              </a:rPr>
              <a:t> </a:t>
            </a:r>
            <a:r>
              <a:rPr lang="ja-JP" altLang="ja-JP" sz="2800" err="1">
                <a:latin typeface="+mn-ea"/>
                <a:ea typeface="+mn-ea"/>
              </a:rPr>
              <a:t>を算</a:t>
            </a:r>
            <a:r>
              <a:rPr lang="ja-JP" altLang="ja-JP" sz="2800">
                <a:latin typeface="+mn-ea"/>
                <a:ea typeface="+mn-ea"/>
              </a:rPr>
              <a:t>出するために， すでに算出された数値</a:t>
            </a:r>
            <a:r>
              <a:rPr lang="en-US" altLang="ja-JP" sz="2800">
                <a:latin typeface="+mn-ea"/>
                <a:ea typeface="+mn-ea"/>
              </a:rPr>
              <a:t> 𝑦</a:t>
            </a:r>
            <a:r>
              <a:rPr lang="en-US" altLang="ja-JP" sz="2800" baseline="-25000">
                <a:latin typeface="+mn-ea"/>
                <a:ea typeface="+mn-ea"/>
              </a:rPr>
              <a:t>𝑛−1 </a:t>
            </a:r>
            <a:r>
              <a:rPr lang="ja-JP" altLang="ja-JP" sz="2800">
                <a:latin typeface="+mn-ea"/>
                <a:ea typeface="+mn-ea"/>
              </a:rPr>
              <a:t>を利用</a:t>
            </a:r>
            <a:r>
              <a:rPr lang="en-US" altLang="ja-JP" sz="2800">
                <a:latin typeface="+mn-ea"/>
                <a:ea typeface="+mn-ea"/>
              </a:rPr>
              <a:t>... </a:t>
            </a:r>
            <a:r>
              <a:rPr lang="ja-JP" altLang="ja-JP" sz="2800">
                <a:latin typeface="+mn-ea"/>
                <a:ea typeface="+mn-ea"/>
              </a:rPr>
              <a:t>要するに，再帰処理ですね</a:t>
            </a:r>
            <a:r>
              <a:rPr lang="en-US" altLang="ja-JP" sz="2800">
                <a:latin typeface="+mn-ea"/>
                <a:ea typeface="+mn-ea"/>
              </a:rPr>
              <a:t> </a:t>
            </a:r>
          </a:p>
          <a:p>
            <a:r>
              <a:rPr lang="en-US" altLang="ja-JP" sz="1050"/>
              <a:t>To calculate the number </a:t>
            </a:r>
            <a:r>
              <a:rPr lang="en-US" altLang="ja-JP" sz="1050">
                <a:latin typeface="+mn-ea"/>
              </a:rPr>
              <a:t>𝑦</a:t>
            </a:r>
            <a:r>
              <a:rPr lang="en-US" altLang="ja-JP" sz="1050" baseline="-25000">
                <a:latin typeface="+mn-ea"/>
              </a:rPr>
              <a:t>𝑛</a:t>
            </a:r>
            <a:r>
              <a:rPr lang="en-US" altLang="ja-JP" sz="1050"/>
              <a:t>, the already calculated number </a:t>
            </a:r>
            <a:r>
              <a:rPr lang="en-US" altLang="ja-JP" sz="1050">
                <a:latin typeface="+mn-ea"/>
              </a:rPr>
              <a:t>𝑦</a:t>
            </a:r>
            <a:r>
              <a:rPr lang="en-US" altLang="ja-JP" sz="1050" baseline="-25000">
                <a:latin typeface="+mn-ea"/>
              </a:rPr>
              <a:t>𝑛−1</a:t>
            </a:r>
            <a:r>
              <a:rPr lang="en-US" altLang="ja-JP" sz="1050"/>
              <a:t> is used... In short, it's a </a:t>
            </a:r>
            <a:r>
              <a:rPr lang="en-US" altLang="ja-JP" sz="1050" b="1"/>
              <a:t>recursive process</a:t>
            </a:r>
            <a:endParaRPr lang="en-US" altLang="ja-JP" sz="1050" b="1">
              <a:latin typeface="+mn-ea"/>
              <a:ea typeface="+mn-ea"/>
            </a:endParaRPr>
          </a:p>
          <a:p>
            <a:endParaRPr lang="en-US" altLang="ja-JP" sz="1200" b="0" i="0">
              <a:solidFill>
                <a:srgbClr val="000000"/>
              </a:solidFill>
              <a:effectLst/>
              <a:latin typeface="+mn-ea"/>
              <a:ea typeface="+mn-ea"/>
              <a:cs typeface="Arial" panose="020B0604020202020204" pitchFamily="34" charset="0"/>
            </a:endParaRPr>
          </a:p>
          <a:p>
            <a:endParaRPr lang="ja-JP" altLang="en-US" sz="1200" b="0" i="0">
              <a:solidFill>
                <a:srgbClr val="000000"/>
              </a:solidFill>
              <a:effectLst/>
              <a:latin typeface="+mn-ea"/>
              <a:ea typeface="+mn-ea"/>
              <a:cs typeface="Arial" panose="020B0604020202020204" pitchFamily="34"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3275216" y="252943"/>
            <a:ext cx="6384174"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b="1">
                <a:solidFill>
                  <a:schemeClr val="tx1"/>
                </a:solidFill>
              </a:rPr>
              <a:t>IIR </a:t>
            </a:r>
            <a:r>
              <a:rPr lang="ja-JP" altLang="ja-JP" sz="3200" b="1">
                <a:solidFill>
                  <a:schemeClr val="tx1"/>
                </a:solidFill>
              </a:rPr>
              <a:t>フィルタの基本原理</a:t>
            </a:r>
            <a:r>
              <a:rPr lang="en-US" altLang="ja-JP" sz="1100" b="1">
                <a:solidFill>
                  <a:schemeClr val="tx1"/>
                </a:solidFill>
              </a:rPr>
              <a:t>Basic Principles of IIR filters </a:t>
            </a:r>
            <a:r>
              <a:rPr lang="ja-JP" altLang="en-US" sz="3200" b="1">
                <a:solidFill>
                  <a:srgbClr val="FF0000"/>
                </a:solidFill>
              </a:rPr>
              <a:t> </a:t>
            </a:r>
            <a:endParaRPr lang="en-US" sz="3200">
              <a:solidFill>
                <a:srgbClr val="FF0000"/>
              </a:solidFill>
            </a:endParaRPr>
          </a:p>
        </p:txBody>
      </p:sp>
    </p:spTree>
    <p:extLst>
      <p:ext uri="{BB962C8B-B14F-4D97-AF65-F5344CB8AC3E}">
        <p14:creationId xmlns:p14="http://schemas.microsoft.com/office/powerpoint/2010/main" val="6380979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093428"/>
          </a:xfrm>
          <a:prstGeom prst="rect">
            <a:avLst/>
          </a:prstGeom>
          <a:noFill/>
        </p:spPr>
        <p:txBody>
          <a:bodyPr wrap="square" rtlCol="0">
            <a:spAutoFit/>
          </a:bodyPr>
          <a:lstStyle/>
          <a:p>
            <a:endParaRPr lang="en-US" altLang="ja-JP" sz="3200"/>
          </a:p>
          <a:p>
            <a:endParaRPr lang="en-US" altLang="ja-JP" sz="3200"/>
          </a:p>
          <a:p>
            <a:r>
              <a:rPr lang="ja-JP" altLang="en-US" sz="3200"/>
              <a:t>ブロック図：</a:t>
            </a:r>
            <a:r>
              <a:rPr lang="en-US" altLang="ja-JP" sz="1050"/>
              <a:t>block diagram</a:t>
            </a:r>
          </a:p>
          <a:p>
            <a:endParaRPr lang="en-US" altLang="ja-JP" sz="1200"/>
          </a:p>
          <a:p>
            <a:r>
              <a:rPr lang="ja-JP" altLang="en-US" sz="3200"/>
              <a:t>教科書 </a:t>
            </a:r>
            <a:r>
              <a:rPr lang="en-US" altLang="ja-JP" sz="3200"/>
              <a:t>p.113 </a:t>
            </a:r>
            <a:r>
              <a:rPr lang="ja-JP" altLang="en-US" sz="3200"/>
              <a:t>図</a:t>
            </a:r>
            <a:r>
              <a:rPr lang="en-US" altLang="ja-JP" sz="3200"/>
              <a:t>6.8</a:t>
            </a:r>
            <a:r>
              <a:rPr lang="ja-JP" altLang="en-US" sz="3200" err="1"/>
              <a:t>，</a:t>
            </a:r>
            <a:r>
              <a:rPr lang="ja-JP" altLang="en-US" sz="3200"/>
              <a:t>等を参照 </a:t>
            </a:r>
            <a:r>
              <a:rPr lang="en-US" altLang="ja-JP" sz="1050"/>
              <a:t>See the textbook, p.113, fig. 6.8, </a:t>
            </a:r>
            <a:r>
              <a:rPr lang="en-US" altLang="ja-JP" sz="1050" err="1"/>
              <a:t>etc</a:t>
            </a:r>
            <a:endParaRPr lang="en-US" altLang="ja-JP" sz="1050"/>
          </a:p>
          <a:p>
            <a:endParaRPr lang="ja-JP" altLang="en-US" sz="3200"/>
          </a:p>
          <a:p>
            <a:r>
              <a:rPr lang="ja-JP" altLang="en-US" sz="3200"/>
              <a:t>フィードバック経路によって，ひとつのフィルタ係数を複数回利用するので， 大規模な </a:t>
            </a:r>
            <a:r>
              <a:rPr lang="en-US" altLang="ja-JP" sz="3200"/>
              <a:t>FIR </a:t>
            </a:r>
            <a:r>
              <a:rPr lang="ja-JP" altLang="en-US" sz="3200"/>
              <a:t>と同様な長時間の残響を小規模に実現できる？</a:t>
            </a:r>
          </a:p>
          <a:p>
            <a:r>
              <a:rPr lang="en-US" altLang="ja-JP" sz="1050"/>
              <a:t>By using a feedback path, one filter coefficient is used multiple times, so is it possible to achieve long-lasting reverberation similar to that of a large-scale FIR on a small scale?</a:t>
            </a:r>
            <a:endParaRPr lang="en-US" altLang="ja-JP" sz="1050" b="0" i="0">
              <a:solidFill>
                <a:srgbClr val="000000"/>
              </a:solidFill>
              <a:effectLst/>
              <a:latin typeface="+mn-ea"/>
              <a:ea typeface="+mn-ea"/>
              <a:cs typeface="Arial" panose="020B0604020202020204" pitchFamily="34" charset="0"/>
            </a:endParaRPr>
          </a:p>
          <a:p>
            <a:endParaRPr lang="ja-JP" altLang="en-US" sz="1200" b="0" i="0">
              <a:solidFill>
                <a:srgbClr val="000000"/>
              </a:solidFill>
              <a:effectLst/>
              <a:latin typeface="+mn-ea"/>
              <a:ea typeface="+mn-ea"/>
              <a:cs typeface="Arial" panose="020B0604020202020204" pitchFamily="34"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3275216" y="252943"/>
            <a:ext cx="6384174"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b="1">
                <a:solidFill>
                  <a:schemeClr val="tx1"/>
                </a:solidFill>
              </a:rPr>
              <a:t>IIR </a:t>
            </a:r>
            <a:r>
              <a:rPr lang="ja-JP" altLang="ja-JP" sz="3200" b="1">
                <a:solidFill>
                  <a:schemeClr val="tx1"/>
                </a:solidFill>
              </a:rPr>
              <a:t>フィルタの基本原理</a:t>
            </a:r>
            <a:r>
              <a:rPr lang="en-US" altLang="ja-JP" sz="1100" b="1">
                <a:solidFill>
                  <a:schemeClr val="tx1"/>
                </a:solidFill>
              </a:rPr>
              <a:t>Basic Principles of IIR filters </a:t>
            </a:r>
            <a:r>
              <a:rPr lang="ja-JP" altLang="en-US" sz="3200" b="1">
                <a:solidFill>
                  <a:srgbClr val="FF0000"/>
                </a:solidFill>
              </a:rPr>
              <a:t> </a:t>
            </a:r>
            <a:endParaRPr lang="en-US" sz="3200">
              <a:solidFill>
                <a:srgbClr val="FF0000"/>
              </a:solidFill>
            </a:endParaRPr>
          </a:p>
        </p:txBody>
      </p:sp>
      <p:pic>
        <p:nvPicPr>
          <p:cNvPr id="6" name="図 5" descr="ダイアグラム&#10;&#10;AI 生成コンテンツは誤りを含む可能性があります。">
            <a:extLst>
              <a:ext uri="{FF2B5EF4-FFF2-40B4-BE49-F238E27FC236}">
                <a16:creationId xmlns:a16="http://schemas.microsoft.com/office/drawing/2014/main" id="{17889358-7E47-A7A0-C403-6D0B1C5165E2}"/>
              </a:ext>
            </a:extLst>
          </p:cNvPr>
          <p:cNvPicPr>
            <a:picLocks noChangeAspect="1"/>
          </p:cNvPicPr>
          <p:nvPr/>
        </p:nvPicPr>
        <p:blipFill>
          <a:blip r:embed="rId5"/>
          <a:stretch>
            <a:fillRect/>
          </a:stretch>
        </p:blipFill>
        <p:spPr>
          <a:xfrm>
            <a:off x="4294551" y="1098079"/>
            <a:ext cx="7897449" cy="2634712"/>
          </a:xfrm>
          <a:prstGeom prst="rect">
            <a:avLst/>
          </a:prstGeom>
        </p:spPr>
      </p:pic>
    </p:spTree>
    <p:extLst>
      <p:ext uri="{BB962C8B-B14F-4D97-AF65-F5344CB8AC3E}">
        <p14:creationId xmlns:p14="http://schemas.microsoft.com/office/powerpoint/2010/main" val="39108753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2739211"/>
          </a:xfrm>
          <a:prstGeom prst="rect">
            <a:avLst/>
          </a:prstGeom>
          <a:noFill/>
        </p:spPr>
        <p:txBody>
          <a:bodyPr wrap="square" rtlCol="0">
            <a:spAutoFit/>
          </a:bodyPr>
          <a:lstStyle/>
          <a:p>
            <a:endParaRPr lang="en-US" altLang="ja-JP" sz="3200"/>
          </a:p>
          <a:p>
            <a:endParaRPr lang="en-US" altLang="ja-JP" sz="3200"/>
          </a:p>
          <a:p>
            <a:endParaRPr lang="en-US" altLang="ja-JP" sz="3200"/>
          </a:p>
          <a:p>
            <a:endParaRPr lang="en-US" altLang="ja-JP" sz="3200"/>
          </a:p>
          <a:p>
            <a:endParaRPr lang="ja-JP" altLang="en-US" sz="3200"/>
          </a:p>
          <a:p>
            <a:endParaRPr lang="ja-JP" altLang="en-US" sz="1200" b="0" i="0">
              <a:solidFill>
                <a:srgbClr val="000000"/>
              </a:solidFill>
              <a:effectLst/>
              <a:latin typeface="+mn-ea"/>
              <a:ea typeface="+mn-ea"/>
              <a:cs typeface="Arial" panose="020B0604020202020204" pitchFamily="34"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3275216" y="252943"/>
            <a:ext cx="6384174"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b="1">
                <a:solidFill>
                  <a:schemeClr val="tx1"/>
                </a:solidFill>
              </a:rPr>
              <a:t>IIR </a:t>
            </a:r>
            <a:r>
              <a:rPr lang="ja-JP" altLang="ja-JP" sz="3200" b="1">
                <a:solidFill>
                  <a:schemeClr val="tx1"/>
                </a:solidFill>
              </a:rPr>
              <a:t>フィルタの基本原理</a:t>
            </a:r>
            <a:r>
              <a:rPr lang="en-US" altLang="ja-JP" sz="1100" b="1">
                <a:solidFill>
                  <a:schemeClr val="tx1"/>
                </a:solidFill>
              </a:rPr>
              <a:t>Basic Principles of IIR filters </a:t>
            </a:r>
            <a:r>
              <a:rPr lang="ja-JP" altLang="en-US" sz="3200" b="1">
                <a:solidFill>
                  <a:srgbClr val="FF0000"/>
                </a:solidFill>
              </a:rPr>
              <a:t> </a:t>
            </a:r>
            <a:endParaRPr lang="en-US" sz="3200">
              <a:solidFill>
                <a:srgbClr val="FF0000"/>
              </a:solidFill>
            </a:endParaRPr>
          </a:p>
        </p:txBody>
      </p:sp>
      <p:pic>
        <p:nvPicPr>
          <p:cNvPr id="6" name="図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1021" y="1032102"/>
            <a:ext cx="10058400" cy="4310742"/>
          </a:xfrm>
          <a:prstGeom prst="rect">
            <a:avLst/>
          </a:prstGeom>
        </p:spPr>
      </p:pic>
    </p:spTree>
    <p:extLst>
      <p:ext uri="{BB962C8B-B14F-4D97-AF65-F5344CB8AC3E}">
        <p14:creationId xmlns:p14="http://schemas.microsoft.com/office/powerpoint/2010/main" val="24296560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062651"/>
          </a:xfrm>
          <a:prstGeom prst="rect">
            <a:avLst/>
          </a:prstGeom>
          <a:noFill/>
        </p:spPr>
        <p:txBody>
          <a:bodyPr wrap="square" rtlCol="0">
            <a:spAutoFit/>
          </a:bodyPr>
          <a:lstStyle/>
          <a:p>
            <a:r>
              <a:rPr lang="en-US" altLang="ja-JP" sz="3200"/>
              <a:t>                                </a:t>
            </a:r>
            <a:r>
              <a:rPr lang="en-US" altLang="ja-JP" sz="1400" b="1" err="1"/>
              <a:t>yn</a:t>
            </a:r>
            <a:r>
              <a:rPr lang="en-US" altLang="ja-JP" sz="1400" b="1"/>
              <a:t> = a0  * x(n) + a1 *x(n-1)                                                                      </a:t>
            </a:r>
            <a:r>
              <a:rPr lang="en-US" altLang="ja-JP" sz="1400" b="1" err="1"/>
              <a:t>yn</a:t>
            </a:r>
            <a:r>
              <a:rPr lang="en-US" altLang="ja-JP" sz="1400" b="1"/>
              <a:t> = a0  * x(n) + b1 *y(n-1)</a:t>
            </a:r>
          </a:p>
          <a:p>
            <a:endParaRPr lang="en-US" altLang="ja-JP" sz="1400" b="1"/>
          </a:p>
          <a:p>
            <a:r>
              <a:rPr lang="en-US" altLang="ja-JP" sz="3200"/>
              <a:t> </a:t>
            </a:r>
          </a:p>
          <a:p>
            <a:endParaRPr lang="en-US" altLang="ja-JP" sz="3200"/>
          </a:p>
          <a:p>
            <a:endParaRPr lang="en-US" altLang="ja-JP" sz="3200"/>
          </a:p>
          <a:p>
            <a:endParaRPr lang="ja-JP" altLang="en-US" sz="3200"/>
          </a:p>
          <a:p>
            <a:endParaRPr lang="en-US" altLang="ja-JP" sz="1200">
              <a:solidFill>
                <a:srgbClr val="000000"/>
              </a:solidFill>
              <a:latin typeface="+mn-ea"/>
              <a:ea typeface="+mn-ea"/>
              <a:cs typeface="Arial" panose="020B0604020202020204" pitchFamily="34" charset="0"/>
            </a:endParaRPr>
          </a:p>
          <a:p>
            <a:endParaRPr lang="en-US" altLang="ja-JP" sz="1200" b="0" i="0">
              <a:solidFill>
                <a:srgbClr val="000000"/>
              </a:solidFill>
              <a:effectLst/>
              <a:latin typeface="+mn-ea"/>
              <a:ea typeface="+mn-ea"/>
              <a:cs typeface="Arial" panose="020B0604020202020204" pitchFamily="34" charset="0"/>
            </a:endParaRPr>
          </a:p>
          <a:p>
            <a:endParaRPr lang="en-US" altLang="ja-JP" sz="1200">
              <a:solidFill>
                <a:srgbClr val="000000"/>
              </a:solidFill>
              <a:latin typeface="+mn-ea"/>
              <a:ea typeface="+mn-ea"/>
              <a:cs typeface="Arial" panose="020B0604020202020204" pitchFamily="34" charset="0"/>
            </a:endParaRPr>
          </a:p>
          <a:p>
            <a:endParaRPr lang="en-US" altLang="ja-JP" sz="1200" b="0" i="0">
              <a:solidFill>
                <a:srgbClr val="000000"/>
              </a:solidFill>
              <a:effectLst/>
              <a:latin typeface="+mn-ea"/>
              <a:ea typeface="+mn-ea"/>
              <a:cs typeface="Arial" panose="020B0604020202020204" pitchFamily="34" charset="0"/>
            </a:endParaRPr>
          </a:p>
          <a:p>
            <a:endParaRPr lang="en-US" altLang="ja-JP" sz="1200">
              <a:solidFill>
                <a:srgbClr val="000000"/>
              </a:solidFill>
              <a:latin typeface="+mn-ea"/>
              <a:ea typeface="+mn-ea"/>
              <a:cs typeface="Arial" panose="020B0604020202020204" pitchFamily="34" charset="0"/>
            </a:endParaRPr>
          </a:p>
          <a:p>
            <a:r>
              <a:rPr lang="en-US" altLang="ja-JP" sz="1200" b="0" i="0">
                <a:solidFill>
                  <a:srgbClr val="000000"/>
                </a:solidFill>
                <a:effectLst/>
                <a:latin typeface="+mn-ea"/>
                <a:ea typeface="+mn-ea"/>
                <a:cs typeface="Arial" panose="020B0604020202020204" pitchFamily="34" charset="0"/>
              </a:rPr>
              <a:t>                                                                                      </a:t>
            </a:r>
            <a:r>
              <a:rPr lang="en-US" altLang="ja-JP" sz="1200" b="1" i="0">
                <a:solidFill>
                  <a:srgbClr val="000000"/>
                </a:solidFill>
                <a:effectLst/>
                <a:latin typeface="+mn-ea"/>
                <a:ea typeface="+mn-ea"/>
                <a:cs typeface="Arial" panose="020B0604020202020204" pitchFamily="34" charset="0"/>
              </a:rPr>
              <a:t>[ 0.50,  . .   . .               ]                                                                                                </a:t>
            </a:r>
            <a:r>
              <a:rPr lang="en-US" altLang="ja-JP" sz="1200" b="1">
                <a:solidFill>
                  <a:srgbClr val="000000"/>
                </a:solidFill>
                <a:latin typeface="+mn-ea"/>
                <a:cs typeface="Arial" panose="020B0604020202020204" pitchFamily="34" charset="0"/>
              </a:rPr>
              <a:t>[ 0.50,  0.425, . . .  ]</a:t>
            </a:r>
            <a:endParaRPr lang="ja-JP" altLang="en-US" sz="1200" b="1">
              <a:solidFill>
                <a:srgbClr val="000000"/>
              </a:solidFill>
              <a:latin typeface="+mn-ea"/>
              <a:cs typeface="Arial" panose="020B0604020202020204" pitchFamily="34" charset="0"/>
            </a:endParaRPr>
          </a:p>
          <a:p>
            <a:endParaRPr lang="ja-JP" altLang="en-US" sz="1200" b="1" i="0">
              <a:solidFill>
                <a:srgbClr val="000000"/>
              </a:solidFill>
              <a:effectLst/>
              <a:latin typeface="+mn-ea"/>
              <a:ea typeface="+mn-ea"/>
              <a:cs typeface="Arial" panose="020B0604020202020204" pitchFamily="34"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3275216" y="252943"/>
            <a:ext cx="6384174"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b="1">
                <a:solidFill>
                  <a:schemeClr val="tx1"/>
                </a:solidFill>
              </a:rPr>
              <a:t>IIR </a:t>
            </a:r>
            <a:r>
              <a:rPr lang="ja-JP" altLang="ja-JP" sz="3200" b="1">
                <a:solidFill>
                  <a:schemeClr val="tx1"/>
                </a:solidFill>
              </a:rPr>
              <a:t>フィルタの基本原理</a:t>
            </a:r>
            <a:r>
              <a:rPr lang="en-US" altLang="ja-JP" sz="1100" b="1">
                <a:solidFill>
                  <a:schemeClr val="tx1"/>
                </a:solidFill>
              </a:rPr>
              <a:t>Basic Principles of IIR filters </a:t>
            </a:r>
            <a:r>
              <a:rPr lang="ja-JP" altLang="en-US" sz="3200" b="1">
                <a:solidFill>
                  <a:srgbClr val="FF0000"/>
                </a:solidFill>
              </a:rPr>
              <a:t> </a:t>
            </a:r>
            <a:endParaRPr lang="en-US" sz="3200">
              <a:solidFill>
                <a:srgbClr val="FF0000"/>
              </a:solidFill>
            </a:endParaRPr>
          </a:p>
        </p:txBody>
      </p:sp>
      <p:pic>
        <p:nvPicPr>
          <p:cNvPr id="3" name="図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127" y="1057843"/>
            <a:ext cx="3446259" cy="3670266"/>
          </a:xfrm>
          <a:prstGeom prst="rect">
            <a:avLst/>
          </a:prstGeom>
        </p:spPr>
      </p:pic>
      <p:pic>
        <p:nvPicPr>
          <p:cNvPr id="7" name="図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06408" y="1084246"/>
            <a:ext cx="3304473" cy="3670267"/>
          </a:xfrm>
          <a:prstGeom prst="rect">
            <a:avLst/>
          </a:prstGeom>
        </p:spPr>
      </p:pic>
      <p:pic>
        <p:nvPicPr>
          <p:cNvPr id="8" name="図 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8612" y="4863048"/>
            <a:ext cx="2106522" cy="1373239"/>
          </a:xfrm>
          <a:prstGeom prst="rect">
            <a:avLst/>
          </a:prstGeom>
        </p:spPr>
      </p:pic>
      <p:cxnSp>
        <p:nvCxnSpPr>
          <p:cNvPr id="13" name="直線矢印コネクタ 12"/>
          <p:cNvCxnSpPr/>
          <p:nvPr/>
        </p:nvCxnSpPr>
        <p:spPr>
          <a:xfrm flipV="1">
            <a:off x="2245134" y="5753190"/>
            <a:ext cx="1594021" cy="547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16" name="図 1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59449" y="4821198"/>
            <a:ext cx="2106522" cy="1373239"/>
          </a:xfrm>
          <a:prstGeom prst="rect">
            <a:avLst/>
          </a:prstGeom>
        </p:spPr>
      </p:pic>
      <p:cxnSp>
        <p:nvCxnSpPr>
          <p:cNvPr id="17" name="直線矢印コネクタ 16"/>
          <p:cNvCxnSpPr/>
          <p:nvPr/>
        </p:nvCxnSpPr>
        <p:spPr>
          <a:xfrm flipV="1">
            <a:off x="8604583" y="5777873"/>
            <a:ext cx="1594021" cy="547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9128488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062651"/>
          </a:xfrm>
          <a:prstGeom prst="rect">
            <a:avLst/>
          </a:prstGeom>
          <a:noFill/>
        </p:spPr>
        <p:txBody>
          <a:bodyPr wrap="square" rtlCol="0">
            <a:spAutoFit/>
          </a:bodyPr>
          <a:lstStyle/>
          <a:p>
            <a:r>
              <a:rPr lang="en-US" altLang="ja-JP" sz="3200"/>
              <a:t>                                </a:t>
            </a:r>
            <a:r>
              <a:rPr lang="en-US" altLang="ja-JP" sz="1400" b="1" err="1"/>
              <a:t>yn</a:t>
            </a:r>
            <a:r>
              <a:rPr lang="en-US" altLang="ja-JP" sz="1400" b="1"/>
              <a:t> = a0  * x(n) + a1 *x(n-1)                                                                      </a:t>
            </a:r>
            <a:r>
              <a:rPr lang="en-US" altLang="ja-JP" sz="1400" b="1" err="1"/>
              <a:t>yn</a:t>
            </a:r>
            <a:r>
              <a:rPr lang="en-US" altLang="ja-JP" sz="1400" b="1"/>
              <a:t> = a0  * x(n) + b1 *y(n-1)</a:t>
            </a:r>
          </a:p>
          <a:p>
            <a:endParaRPr lang="en-US" altLang="ja-JP" sz="1400" b="1"/>
          </a:p>
          <a:p>
            <a:r>
              <a:rPr lang="en-US" altLang="ja-JP" sz="3200"/>
              <a:t> </a:t>
            </a:r>
          </a:p>
          <a:p>
            <a:endParaRPr lang="en-US" altLang="ja-JP" sz="3200"/>
          </a:p>
          <a:p>
            <a:endParaRPr lang="en-US" altLang="ja-JP" sz="3200"/>
          </a:p>
          <a:p>
            <a:endParaRPr lang="ja-JP" altLang="en-US" sz="3200"/>
          </a:p>
          <a:p>
            <a:endParaRPr lang="en-US" altLang="ja-JP" sz="1200">
              <a:solidFill>
                <a:srgbClr val="000000"/>
              </a:solidFill>
              <a:latin typeface="+mn-ea"/>
              <a:ea typeface="+mn-ea"/>
              <a:cs typeface="Arial" panose="020B0604020202020204" pitchFamily="34" charset="0"/>
            </a:endParaRPr>
          </a:p>
          <a:p>
            <a:endParaRPr lang="en-US" altLang="ja-JP" sz="1200" b="0" i="0">
              <a:solidFill>
                <a:srgbClr val="000000"/>
              </a:solidFill>
              <a:effectLst/>
              <a:latin typeface="+mn-ea"/>
              <a:ea typeface="+mn-ea"/>
              <a:cs typeface="Arial" panose="020B0604020202020204" pitchFamily="34" charset="0"/>
            </a:endParaRPr>
          </a:p>
          <a:p>
            <a:endParaRPr lang="en-US" altLang="ja-JP" sz="1200">
              <a:solidFill>
                <a:srgbClr val="000000"/>
              </a:solidFill>
              <a:latin typeface="+mn-ea"/>
              <a:ea typeface="+mn-ea"/>
              <a:cs typeface="Arial" panose="020B0604020202020204" pitchFamily="34" charset="0"/>
            </a:endParaRPr>
          </a:p>
          <a:p>
            <a:endParaRPr lang="en-US" altLang="ja-JP" sz="1200" b="0" i="0">
              <a:solidFill>
                <a:srgbClr val="000000"/>
              </a:solidFill>
              <a:effectLst/>
              <a:latin typeface="+mn-ea"/>
              <a:ea typeface="+mn-ea"/>
              <a:cs typeface="Arial" panose="020B0604020202020204" pitchFamily="34" charset="0"/>
            </a:endParaRPr>
          </a:p>
          <a:p>
            <a:endParaRPr lang="en-US" altLang="ja-JP" sz="1200">
              <a:solidFill>
                <a:srgbClr val="000000"/>
              </a:solidFill>
              <a:latin typeface="+mn-ea"/>
              <a:ea typeface="+mn-ea"/>
              <a:cs typeface="Arial" panose="020B0604020202020204" pitchFamily="34" charset="0"/>
            </a:endParaRPr>
          </a:p>
          <a:p>
            <a:r>
              <a:rPr lang="en-US" altLang="ja-JP" sz="1200" b="0" i="0">
                <a:solidFill>
                  <a:srgbClr val="000000"/>
                </a:solidFill>
                <a:effectLst/>
                <a:latin typeface="+mn-ea"/>
                <a:ea typeface="+mn-ea"/>
                <a:cs typeface="Arial" panose="020B0604020202020204" pitchFamily="34" charset="0"/>
              </a:rPr>
              <a:t>                                                                                      </a:t>
            </a:r>
            <a:r>
              <a:rPr lang="en-US" altLang="ja-JP" sz="1200" b="1" i="0">
                <a:solidFill>
                  <a:srgbClr val="000000"/>
                </a:solidFill>
                <a:effectLst/>
                <a:latin typeface="+mn-ea"/>
                <a:ea typeface="+mn-ea"/>
                <a:cs typeface="Arial" panose="020B0604020202020204" pitchFamily="34" charset="0"/>
              </a:rPr>
              <a:t>[ 0.50,  . .   . .               ]                                                                                                      </a:t>
            </a:r>
            <a:r>
              <a:rPr lang="en-US" altLang="ja-JP" sz="1200" b="1">
                <a:solidFill>
                  <a:srgbClr val="000000"/>
                </a:solidFill>
                <a:latin typeface="+mn-ea"/>
                <a:cs typeface="Arial" panose="020B0604020202020204" pitchFamily="34" charset="0"/>
              </a:rPr>
              <a:t>[                         </a:t>
            </a:r>
            <a:endParaRPr lang="ja-JP" altLang="en-US" sz="1200" b="1">
              <a:solidFill>
                <a:srgbClr val="000000"/>
              </a:solidFill>
              <a:latin typeface="+mn-ea"/>
              <a:cs typeface="Arial" panose="020B0604020202020204" pitchFamily="34" charset="0"/>
            </a:endParaRPr>
          </a:p>
          <a:p>
            <a:endParaRPr lang="ja-JP" altLang="en-US" sz="1200" b="1" i="0">
              <a:solidFill>
                <a:srgbClr val="000000"/>
              </a:solidFill>
              <a:effectLst/>
              <a:latin typeface="+mn-ea"/>
              <a:ea typeface="+mn-ea"/>
              <a:cs typeface="Arial" panose="020B0604020202020204" pitchFamily="34"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3275216" y="252943"/>
            <a:ext cx="6384174"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b="1">
                <a:solidFill>
                  <a:schemeClr val="tx1"/>
                </a:solidFill>
              </a:rPr>
              <a:t>IIR </a:t>
            </a:r>
            <a:r>
              <a:rPr lang="ja-JP" altLang="ja-JP" sz="3200" b="1">
                <a:solidFill>
                  <a:schemeClr val="tx1"/>
                </a:solidFill>
              </a:rPr>
              <a:t>フィルタの基本原理</a:t>
            </a:r>
            <a:r>
              <a:rPr lang="en-US" altLang="ja-JP" sz="1100" b="1">
                <a:solidFill>
                  <a:schemeClr val="tx1"/>
                </a:solidFill>
              </a:rPr>
              <a:t>Basic Principles of IIR filters </a:t>
            </a:r>
            <a:r>
              <a:rPr lang="ja-JP" altLang="en-US" sz="3200" b="1">
                <a:solidFill>
                  <a:srgbClr val="FF0000"/>
                </a:solidFill>
              </a:rPr>
              <a:t> </a:t>
            </a:r>
            <a:endParaRPr lang="en-US" sz="3200">
              <a:solidFill>
                <a:srgbClr val="FF0000"/>
              </a:solidFill>
            </a:endParaRPr>
          </a:p>
        </p:txBody>
      </p:sp>
      <p:pic>
        <p:nvPicPr>
          <p:cNvPr id="3" name="図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127" y="1057843"/>
            <a:ext cx="3446259" cy="3670266"/>
          </a:xfrm>
          <a:prstGeom prst="rect">
            <a:avLst/>
          </a:prstGeom>
        </p:spPr>
      </p:pic>
      <p:pic>
        <p:nvPicPr>
          <p:cNvPr id="7" name="図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06408" y="1084246"/>
            <a:ext cx="3304473" cy="3670267"/>
          </a:xfrm>
          <a:prstGeom prst="rect">
            <a:avLst/>
          </a:prstGeom>
        </p:spPr>
      </p:pic>
      <p:pic>
        <p:nvPicPr>
          <p:cNvPr id="8" name="図 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8612" y="4863048"/>
            <a:ext cx="2106522" cy="1373239"/>
          </a:xfrm>
          <a:prstGeom prst="rect">
            <a:avLst/>
          </a:prstGeom>
        </p:spPr>
      </p:pic>
      <p:cxnSp>
        <p:nvCxnSpPr>
          <p:cNvPr id="13" name="直線矢印コネクタ 12"/>
          <p:cNvCxnSpPr/>
          <p:nvPr/>
        </p:nvCxnSpPr>
        <p:spPr>
          <a:xfrm flipV="1">
            <a:off x="2245134" y="5753190"/>
            <a:ext cx="1594021" cy="547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16" name="図 1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59449" y="4821198"/>
            <a:ext cx="2106522" cy="1373239"/>
          </a:xfrm>
          <a:prstGeom prst="rect">
            <a:avLst/>
          </a:prstGeom>
        </p:spPr>
      </p:pic>
      <p:cxnSp>
        <p:nvCxnSpPr>
          <p:cNvPr id="17" name="直線矢印コネクタ 16"/>
          <p:cNvCxnSpPr/>
          <p:nvPr/>
        </p:nvCxnSpPr>
        <p:spPr>
          <a:xfrm flipV="1">
            <a:off x="8604583" y="5777873"/>
            <a:ext cx="1594021" cy="547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6" name="図 5"/>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945677" y="1073226"/>
            <a:ext cx="5574081" cy="5140171"/>
          </a:xfrm>
          <a:prstGeom prst="rect">
            <a:avLst/>
          </a:prstGeom>
        </p:spPr>
      </p:pic>
      <p:pic>
        <p:nvPicPr>
          <p:cNvPr id="9" name="図 8"/>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3127" y="1094899"/>
            <a:ext cx="5930811" cy="5154004"/>
          </a:xfrm>
          <a:prstGeom prst="rect">
            <a:avLst/>
          </a:prstGeom>
        </p:spPr>
      </p:pic>
      <p:sp>
        <p:nvSpPr>
          <p:cNvPr id="14" name="角丸四角形 13"/>
          <p:cNvSpPr/>
          <p:nvPr/>
        </p:nvSpPr>
        <p:spPr>
          <a:xfrm>
            <a:off x="1764799" y="898706"/>
            <a:ext cx="3261946" cy="43703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b="1"/>
              <a:t>FIR</a:t>
            </a:r>
            <a:endParaRPr kumimoji="1" lang="ja-JP" altLang="en-US" b="1"/>
          </a:p>
        </p:txBody>
      </p:sp>
      <p:sp>
        <p:nvSpPr>
          <p:cNvPr id="21" name="角丸四角形 20"/>
          <p:cNvSpPr/>
          <p:nvPr/>
        </p:nvSpPr>
        <p:spPr>
          <a:xfrm>
            <a:off x="5969273" y="926340"/>
            <a:ext cx="3261946" cy="43703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b="1"/>
              <a:t>IIR</a:t>
            </a:r>
            <a:endParaRPr kumimoji="1" lang="ja-JP" altLang="en-US" b="1"/>
          </a:p>
        </p:txBody>
      </p:sp>
    </p:spTree>
    <p:extLst>
      <p:ext uri="{BB962C8B-B14F-4D97-AF65-F5344CB8AC3E}">
        <p14:creationId xmlns:p14="http://schemas.microsoft.com/office/powerpoint/2010/main" val="22238141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008790"/>
          </a:xfrm>
          <a:prstGeom prst="rect">
            <a:avLst/>
          </a:prstGeom>
          <a:noFill/>
        </p:spPr>
        <p:txBody>
          <a:bodyPr wrap="square" rtlCol="0">
            <a:spAutoFit/>
          </a:bodyPr>
          <a:lstStyle/>
          <a:p>
            <a:r>
              <a:rPr lang="ja-JP" altLang="en-US" sz="3200"/>
              <a:t>インパルス応答：</a:t>
            </a:r>
            <a:r>
              <a:rPr lang="en-US" altLang="ja-JP" sz="1050"/>
              <a:t>Impulse Response</a:t>
            </a:r>
          </a:p>
          <a:p>
            <a:endParaRPr lang="en-US" altLang="ja-JP" sz="1200"/>
          </a:p>
          <a:p>
            <a:endParaRPr lang="en-US" altLang="ja-JP" sz="1200"/>
          </a:p>
          <a:p>
            <a:endParaRPr lang="en-US" altLang="ja-JP" sz="1200"/>
          </a:p>
          <a:p>
            <a:endParaRPr lang="en-US" altLang="ja-JP" sz="1200"/>
          </a:p>
          <a:p>
            <a:endParaRPr lang="en-US" altLang="ja-JP" sz="1200"/>
          </a:p>
          <a:p>
            <a:endParaRPr lang="en-US" altLang="ja-JP" sz="1200"/>
          </a:p>
          <a:p>
            <a:r>
              <a:rPr lang="ja-JP" altLang="en-US" sz="2800"/>
              <a:t>フィルタ係数が１個だけなのに， 単独のインパルス入力に対して，無限長の出力ですね </a:t>
            </a:r>
            <a:r>
              <a:rPr lang="en-US" altLang="ja-JP" sz="1050"/>
              <a:t>Even though there is only one filter coefficient, the output is infinitely long for a single impulse input</a:t>
            </a:r>
          </a:p>
          <a:p>
            <a:endParaRPr lang="ja-JP" altLang="en-US" sz="2800"/>
          </a:p>
          <a:p>
            <a:r>
              <a:rPr lang="ja-JP" altLang="en-US" sz="2800"/>
              <a:t>理論的には無限長ですが，もちろん， 実際には有限長（出力が充分に小さく収束した時点など）で 打ち切ることになりますよ</a:t>
            </a:r>
            <a:endParaRPr lang="en-US" altLang="ja-JP" sz="2800"/>
          </a:p>
          <a:p>
            <a:r>
              <a:rPr lang="ja-JP" altLang="en-US" sz="1050"/>
              <a:t> </a:t>
            </a:r>
            <a:r>
              <a:rPr lang="en-US" altLang="ja-JP" sz="1050"/>
              <a:t>Theoretically, it is infinitely long, but of course, in practice it will be cut off at a finite length (such as when the output becomes small enough and converges)</a:t>
            </a:r>
            <a:endParaRPr lang="ja-JP" altLang="en-US" sz="1050"/>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3275216" y="252943"/>
            <a:ext cx="6384174"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b="1">
                <a:solidFill>
                  <a:schemeClr val="tx1"/>
                </a:solidFill>
              </a:rPr>
              <a:t>IIR </a:t>
            </a:r>
            <a:r>
              <a:rPr lang="ja-JP" altLang="ja-JP" sz="3200" b="1">
                <a:solidFill>
                  <a:schemeClr val="tx1"/>
                </a:solidFill>
              </a:rPr>
              <a:t>フィルタの基本原理</a:t>
            </a:r>
            <a:r>
              <a:rPr lang="en-US" altLang="ja-JP" sz="1100" b="1">
                <a:solidFill>
                  <a:schemeClr val="tx1"/>
                </a:solidFill>
              </a:rPr>
              <a:t>Basic Principles of IIR filters </a:t>
            </a:r>
            <a:r>
              <a:rPr lang="ja-JP" altLang="en-US" sz="3200" b="1">
                <a:solidFill>
                  <a:srgbClr val="FF0000"/>
                </a:solidFill>
              </a:rPr>
              <a:t> </a:t>
            </a:r>
            <a:endParaRPr lang="en-US" sz="3200">
              <a:solidFill>
                <a:srgbClr val="FF0000"/>
              </a:solidFill>
            </a:endParaRPr>
          </a:p>
        </p:txBody>
      </p:sp>
      <p:pic>
        <p:nvPicPr>
          <p:cNvPr id="3" name="図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74218" y="1268229"/>
            <a:ext cx="2791215" cy="2210108"/>
          </a:xfrm>
          <a:prstGeom prst="rect">
            <a:avLst/>
          </a:prstGeom>
        </p:spPr>
      </p:pic>
    </p:spTree>
    <p:extLst>
      <p:ext uri="{BB962C8B-B14F-4D97-AF65-F5344CB8AC3E}">
        <p14:creationId xmlns:p14="http://schemas.microsoft.com/office/powerpoint/2010/main" val="988731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270400"/>
          </a:xfrm>
          <a:prstGeom prst="rect">
            <a:avLst/>
          </a:prstGeom>
          <a:noFill/>
        </p:spPr>
        <p:txBody>
          <a:bodyPr wrap="square" rtlCol="0">
            <a:spAutoFit/>
          </a:bodyPr>
          <a:lstStyle/>
          <a:p>
            <a:r>
              <a:rPr lang="ja-JP" altLang="ja-JP" sz="3200"/>
              <a:t>安定性： フィルタ係数</a:t>
            </a:r>
            <a:r>
              <a:rPr lang="en-US" altLang="ja-JP" sz="3200"/>
              <a:t> 𝑎 </a:t>
            </a:r>
            <a:r>
              <a:rPr lang="ja-JP" altLang="ja-JP" sz="3200"/>
              <a:t>の値によっては， 出力が収束せず， 不安定化の危険がある</a:t>
            </a:r>
            <a:endParaRPr lang="en-US" altLang="ja-JP" sz="3200"/>
          </a:p>
          <a:p>
            <a:r>
              <a:rPr lang="en-US" altLang="ja-JP" sz="1050"/>
              <a:t>Stability: </a:t>
            </a:r>
            <a:r>
              <a:rPr lang="en-US" altLang="ja-JP" sz="1050" b="1"/>
              <a:t>Depending</a:t>
            </a:r>
            <a:r>
              <a:rPr lang="en-US" altLang="ja-JP" sz="1050"/>
              <a:t> on the value of the filter coefficient </a:t>
            </a:r>
            <a:r>
              <a:rPr lang="ja-JP" altLang="en-US" sz="1050" b="1"/>
              <a:t>𝑎</a:t>
            </a:r>
            <a:r>
              <a:rPr lang="en-US" altLang="ja-JP" sz="1050"/>
              <a:t>, the output may </a:t>
            </a:r>
            <a:r>
              <a:rPr lang="en-US" altLang="ja-JP" sz="1050" b="1"/>
              <a:t>not converge </a:t>
            </a:r>
            <a:r>
              <a:rPr lang="en-US" altLang="ja-JP" sz="1050"/>
              <a:t>and there is a </a:t>
            </a:r>
            <a:r>
              <a:rPr lang="en-US" altLang="ja-JP" sz="1050" b="1"/>
              <a:t>risk of instability</a:t>
            </a:r>
            <a:r>
              <a:rPr lang="en-US" altLang="ja-JP" sz="1050"/>
              <a:t>                                                      </a:t>
            </a:r>
          </a:p>
          <a:p>
            <a:endParaRPr lang="en-US" altLang="ja-JP" sz="1200"/>
          </a:p>
          <a:p>
            <a:endParaRPr lang="en-US" altLang="ja-JP" sz="1200"/>
          </a:p>
          <a:p>
            <a:r>
              <a:rPr lang="ja-JP" altLang="en-US" sz="1200"/>
              <a:t>                                                                                                                  安定（収束） </a:t>
            </a:r>
            <a:r>
              <a:rPr lang="en-US" altLang="ja-JP" sz="1200">
                <a:sym typeface="Wingdings" panose="05000000000000000000" pitchFamily="2" charset="2"/>
              </a:rPr>
              <a:t> stable (convergence)</a:t>
            </a:r>
            <a:endParaRPr lang="en-US" altLang="ja-JP" sz="1200"/>
          </a:p>
          <a:p>
            <a:r>
              <a:rPr lang="en-US" altLang="zh-TW" sz="1200"/>
              <a:t>                                                                                                                  </a:t>
            </a:r>
            <a:r>
              <a:rPr lang="zh-TW" altLang="en-US" sz="1200"/>
              <a:t>臨界安定（発振） </a:t>
            </a:r>
            <a:r>
              <a:rPr lang="en-US" altLang="zh-TW" sz="1200">
                <a:sym typeface="Wingdings" panose="05000000000000000000" pitchFamily="2" charset="2"/>
              </a:rPr>
              <a:t> Critical stability (oscillation)</a:t>
            </a:r>
            <a:endParaRPr lang="en-US" altLang="zh-TW" sz="1200"/>
          </a:p>
          <a:p>
            <a:r>
              <a:rPr lang="ja-JP" altLang="en-US" sz="1200"/>
              <a:t>                                                                                                                  不安定（発散）　</a:t>
            </a:r>
            <a:r>
              <a:rPr lang="en-US" altLang="ja-JP" sz="1200">
                <a:sym typeface="Wingdings" panose="05000000000000000000" pitchFamily="2" charset="2"/>
              </a:rPr>
              <a:t> divergence</a:t>
            </a:r>
            <a:endParaRPr lang="en-US" altLang="ja-JP" sz="1200"/>
          </a:p>
          <a:p>
            <a:endParaRPr lang="en-US" altLang="ja-JP" sz="1200"/>
          </a:p>
          <a:p>
            <a:endParaRPr lang="en-US" altLang="ja-JP" sz="1200"/>
          </a:p>
          <a:p>
            <a:endParaRPr lang="en-US" altLang="ja-JP" sz="1200"/>
          </a:p>
          <a:p>
            <a:endParaRPr lang="en-US" altLang="ja-JP" sz="1200"/>
          </a:p>
          <a:p>
            <a:r>
              <a:rPr lang="en-US" altLang="ja-JP" sz="2800"/>
              <a:t>IIR </a:t>
            </a:r>
            <a:r>
              <a:rPr lang="ja-JP" altLang="ja-JP" sz="2800"/>
              <a:t>では，設計時に，安定性への注意が必要． ハウリングですね</a:t>
            </a:r>
            <a:endParaRPr lang="en-US" altLang="ja-JP" sz="2800"/>
          </a:p>
          <a:p>
            <a:r>
              <a:rPr lang="en-US" altLang="ja-JP" sz="1050"/>
              <a:t>With IIR, attention must be paid to </a:t>
            </a:r>
            <a:r>
              <a:rPr lang="en-US" altLang="ja-JP" sz="1050" b="1"/>
              <a:t>stability during design</a:t>
            </a:r>
            <a:r>
              <a:rPr lang="en-US" altLang="ja-JP" sz="1050"/>
              <a:t>. This is </a:t>
            </a:r>
            <a:r>
              <a:rPr lang="en-US" altLang="ja-JP" sz="1050" b="1"/>
              <a:t>howling</a:t>
            </a:r>
          </a:p>
          <a:p>
            <a:endParaRPr lang="ja-JP" altLang="en-US" sz="1050" b="1"/>
          </a:p>
          <a:p>
            <a:r>
              <a:rPr lang="en-US" altLang="ja-JP" sz="2800"/>
              <a:t>FIR </a:t>
            </a:r>
            <a:r>
              <a:rPr lang="ja-JP" altLang="ja-JP" sz="2800"/>
              <a:t>では，常に安定</a:t>
            </a:r>
            <a:endParaRPr lang="en-US" altLang="ja-JP" sz="2800"/>
          </a:p>
          <a:p>
            <a:r>
              <a:rPr lang="en-US" altLang="ja-JP" sz="1050"/>
              <a:t>With </a:t>
            </a:r>
            <a:r>
              <a:rPr lang="en-US" altLang="ja-JP" sz="1050" b="1"/>
              <a:t>FIR</a:t>
            </a:r>
            <a:r>
              <a:rPr lang="en-US" altLang="ja-JP" sz="1050"/>
              <a:t>, it is </a:t>
            </a:r>
            <a:r>
              <a:rPr lang="en-US" altLang="ja-JP" sz="1050" b="1"/>
              <a:t>always stable</a:t>
            </a:r>
            <a:endParaRPr lang="ja-JP" altLang="en-US" sz="1050" b="1"/>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3275216" y="252943"/>
            <a:ext cx="6384174"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b="1">
                <a:solidFill>
                  <a:schemeClr val="tx1"/>
                </a:solidFill>
              </a:rPr>
              <a:t>IIR </a:t>
            </a:r>
            <a:r>
              <a:rPr lang="ja-JP" altLang="ja-JP" sz="3200" b="1">
                <a:solidFill>
                  <a:schemeClr val="tx1"/>
                </a:solidFill>
              </a:rPr>
              <a:t>フィルタの基本原理</a:t>
            </a:r>
            <a:r>
              <a:rPr lang="en-US" altLang="ja-JP" sz="1100" b="1">
                <a:solidFill>
                  <a:schemeClr val="tx1"/>
                </a:solidFill>
              </a:rPr>
              <a:t>Basic Principles of IIR filters </a:t>
            </a:r>
            <a:r>
              <a:rPr lang="ja-JP" altLang="en-US" sz="3200" b="1">
                <a:solidFill>
                  <a:srgbClr val="FF0000"/>
                </a:solidFill>
              </a:rPr>
              <a:t> </a:t>
            </a:r>
            <a:endParaRPr lang="en-US" sz="3200">
              <a:solidFill>
                <a:srgbClr val="FF0000"/>
              </a:solidFill>
            </a:endParaRPr>
          </a:p>
        </p:txBody>
      </p:sp>
      <p:pic>
        <p:nvPicPr>
          <p:cNvPr id="6" name="図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15985" y="3423777"/>
            <a:ext cx="2315367" cy="1045650"/>
          </a:xfrm>
          <a:prstGeom prst="rect">
            <a:avLst/>
          </a:prstGeom>
        </p:spPr>
      </p:pic>
    </p:spTree>
    <p:extLst>
      <p:ext uri="{BB962C8B-B14F-4D97-AF65-F5344CB8AC3E}">
        <p14:creationId xmlns:p14="http://schemas.microsoft.com/office/powerpoint/2010/main" val="36273496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139595"/>
          </a:xfrm>
          <a:prstGeom prst="rect">
            <a:avLst/>
          </a:prstGeom>
          <a:noFill/>
        </p:spPr>
        <p:txBody>
          <a:bodyPr wrap="square" rtlCol="0">
            <a:spAutoFit/>
          </a:bodyPr>
          <a:lstStyle/>
          <a:p>
            <a:r>
              <a:rPr lang="en-US" altLang="ja-JP" sz="2800"/>
              <a:t>IIR </a:t>
            </a:r>
            <a:r>
              <a:rPr lang="ja-JP" altLang="ja-JP" sz="2800"/>
              <a:t>フィルタに対して，時間応答から周波数特性を解析してみる</a:t>
            </a:r>
            <a:endParaRPr lang="en-US" altLang="ja-JP" sz="2800"/>
          </a:p>
          <a:p>
            <a:r>
              <a:rPr lang="en-US" altLang="ja-JP" sz="1050"/>
              <a:t>Analyze the frequency characteristics of an IIR filter from its time response</a:t>
            </a:r>
          </a:p>
          <a:p>
            <a:pPr lvl="0"/>
            <a:endParaRPr lang="en-US" altLang="ja-JP" sz="2800"/>
          </a:p>
          <a:p>
            <a:pPr lvl="0"/>
            <a:r>
              <a:rPr lang="ja-JP" altLang="ja-JP" sz="2400"/>
              <a:t>時間応答：</a:t>
            </a:r>
            <a:endParaRPr lang="en-US" altLang="ja-JP" sz="2400"/>
          </a:p>
          <a:p>
            <a:pPr lvl="0"/>
            <a:r>
              <a:rPr lang="en-US" altLang="ja-JP" sz="1050"/>
              <a:t>Time response : </a:t>
            </a:r>
          </a:p>
          <a:p>
            <a:r>
              <a:rPr lang="ja-JP" altLang="ja-JP" sz="2400"/>
              <a:t>フィードバックなしの部分（</a:t>
            </a:r>
            <a:r>
              <a:rPr lang="en-US" altLang="ja-JP" sz="2400"/>
              <a:t>FIR </a:t>
            </a:r>
            <a:r>
              <a:rPr lang="ja-JP" altLang="ja-JP" sz="2400"/>
              <a:t>と同じ係数</a:t>
            </a:r>
            <a:r>
              <a:rPr lang="en-US" altLang="ja-JP" sz="2400"/>
              <a:t> 𝑏</a:t>
            </a:r>
            <a:r>
              <a:rPr lang="en-US" altLang="ja-JP" sz="2400" baseline="-25000"/>
              <a:t>𝑚</a:t>
            </a:r>
            <a:r>
              <a:rPr lang="ja-JP" altLang="ja-JP" sz="2400"/>
              <a:t>）と フィードバックありの部分（係数</a:t>
            </a:r>
            <a:r>
              <a:rPr lang="en-US" altLang="ja-JP" sz="2400"/>
              <a:t> 𝑎</a:t>
            </a:r>
            <a:r>
              <a:rPr lang="en-US" altLang="ja-JP" sz="2400" baseline="-25000"/>
              <a:t>𝑚</a:t>
            </a:r>
            <a:r>
              <a:rPr lang="en-US" altLang="ja-JP" sz="2400"/>
              <a:t> </a:t>
            </a:r>
            <a:r>
              <a:rPr lang="ja-JP" altLang="ja-JP" sz="2400"/>
              <a:t>との組み合せです． 総和の</a:t>
            </a:r>
            <a:r>
              <a:rPr lang="en-US" altLang="ja-JP" sz="2400"/>
              <a:t> 𝑚 </a:t>
            </a:r>
            <a:r>
              <a:rPr lang="ja-JP" altLang="ja-JP" sz="2400"/>
              <a:t>の範囲が</a:t>
            </a:r>
            <a:r>
              <a:rPr lang="en-US" altLang="ja-JP" sz="2400"/>
              <a:t> 𝑎</a:t>
            </a:r>
            <a:r>
              <a:rPr lang="en-US" altLang="ja-JP" sz="2400" baseline="-25000"/>
              <a:t>𝑚</a:t>
            </a:r>
            <a:r>
              <a:rPr lang="en-US" altLang="ja-JP" sz="2400"/>
              <a:t> </a:t>
            </a:r>
            <a:r>
              <a:rPr lang="ja-JP" altLang="ja-JP" sz="2400"/>
              <a:t>と</a:t>
            </a:r>
            <a:r>
              <a:rPr lang="en-US" altLang="ja-JP" sz="2400"/>
              <a:t> 𝑏</a:t>
            </a:r>
            <a:r>
              <a:rPr lang="en-US" altLang="ja-JP" sz="2400" baseline="-25000"/>
              <a:t>𝑚</a:t>
            </a:r>
            <a:r>
              <a:rPr lang="en-US" altLang="ja-JP" sz="2400"/>
              <a:t> </a:t>
            </a:r>
            <a:r>
              <a:rPr lang="ja-JP" altLang="ja-JP" sz="2400" err="1"/>
              <a:t>とで</a:t>
            </a:r>
            <a:r>
              <a:rPr lang="ja-JP" altLang="ja-JP" sz="2400"/>
              <a:t>異なることに注意</a:t>
            </a:r>
            <a:r>
              <a:rPr lang="en-US" altLang="ja-JP" sz="2400"/>
              <a:t> </a:t>
            </a:r>
          </a:p>
          <a:p>
            <a:r>
              <a:rPr lang="en-US" altLang="ja-JP" sz="1050">
                <a:latin typeface="Arial" panose="020B0604020202020204" pitchFamily="34" charset="0"/>
                <a:cs typeface="Arial" panose="020B0604020202020204" pitchFamily="34" charset="0"/>
              </a:rPr>
              <a:t>This is a combination of a part without feedback (coefficient </a:t>
            </a:r>
            <a:r>
              <a:rPr lang="ja-JP" altLang="en-US" sz="1050">
                <a:latin typeface="Arial" panose="020B0604020202020204" pitchFamily="34" charset="0"/>
                <a:cs typeface="Arial" panose="020B0604020202020204" pitchFamily="34" charset="0"/>
              </a:rPr>
              <a:t>𝑏𝑚</a:t>
            </a:r>
            <a:r>
              <a:rPr lang="en-US" altLang="ja-JP" sz="1050">
                <a:latin typeface="Arial" panose="020B0604020202020204" pitchFamily="34" charset="0"/>
                <a:cs typeface="Arial" panose="020B0604020202020204" pitchFamily="34" charset="0"/>
              </a:rPr>
              <a:t>, the same as FIR) and a part with feedback (coefficient </a:t>
            </a:r>
            <a:r>
              <a:rPr lang="ja-JP" altLang="en-US" sz="1050">
                <a:latin typeface="Arial" panose="020B0604020202020204" pitchFamily="34" charset="0"/>
                <a:cs typeface="Arial" panose="020B0604020202020204" pitchFamily="34" charset="0"/>
              </a:rPr>
              <a:t>𝑎𝑚</a:t>
            </a:r>
            <a:r>
              <a:rPr lang="en-US" altLang="ja-JP" sz="1050">
                <a:latin typeface="Arial" panose="020B0604020202020204" pitchFamily="34" charset="0"/>
                <a:cs typeface="Arial" panose="020B0604020202020204" pitchFamily="34" charset="0"/>
              </a:rPr>
              <a:t>). Note that the range of the sum </a:t>
            </a:r>
            <a:r>
              <a:rPr lang="ja-JP" altLang="en-US" sz="1050">
                <a:latin typeface="Arial" panose="020B0604020202020204" pitchFamily="34" charset="0"/>
                <a:cs typeface="Arial" panose="020B0604020202020204" pitchFamily="34" charset="0"/>
              </a:rPr>
              <a:t>𝑚 </a:t>
            </a:r>
            <a:r>
              <a:rPr lang="en-US" altLang="ja-JP" sz="1050">
                <a:latin typeface="Arial" panose="020B0604020202020204" pitchFamily="34" charset="0"/>
                <a:cs typeface="Arial" panose="020B0604020202020204" pitchFamily="34" charset="0"/>
              </a:rPr>
              <a:t>is different for </a:t>
            </a:r>
            <a:r>
              <a:rPr lang="ja-JP" altLang="en-US" sz="1050">
                <a:latin typeface="Arial" panose="020B0604020202020204" pitchFamily="34" charset="0"/>
                <a:cs typeface="Arial" panose="020B0604020202020204" pitchFamily="34" charset="0"/>
              </a:rPr>
              <a:t>𝑎𝑚 </a:t>
            </a:r>
            <a:r>
              <a:rPr lang="en-US" altLang="ja-JP" sz="1050">
                <a:latin typeface="Arial" panose="020B0604020202020204" pitchFamily="34" charset="0"/>
                <a:cs typeface="Arial" panose="020B0604020202020204" pitchFamily="34" charset="0"/>
              </a:rPr>
              <a:t>and </a:t>
            </a:r>
            <a:r>
              <a:rPr lang="ja-JP" altLang="en-US" sz="1050">
                <a:latin typeface="Arial" panose="020B0604020202020204" pitchFamily="34" charset="0"/>
                <a:cs typeface="Arial" panose="020B0604020202020204" pitchFamily="34" charset="0"/>
              </a:rPr>
              <a:t>𝑏𝑚</a:t>
            </a:r>
            <a:endParaRPr lang="en-US" altLang="ja-JP" sz="1050">
              <a:latin typeface="Arial" panose="020B0604020202020204" pitchFamily="34" charset="0"/>
              <a:cs typeface="Arial" panose="020B0604020202020204" pitchFamily="34" charset="0"/>
            </a:endParaRPr>
          </a:p>
          <a:p>
            <a:endParaRPr lang="ja-JP" altLang="ja-JP" sz="1050">
              <a:latin typeface="Arial" panose="020B0604020202020204" pitchFamily="34" charset="0"/>
              <a:cs typeface="Arial" panose="020B0604020202020204" pitchFamily="34" charset="0"/>
            </a:endParaRPr>
          </a:p>
          <a:p>
            <a:r>
              <a:rPr lang="ja-JP" altLang="ja-JP" sz="2400"/>
              <a:t>フィードバック部の</a:t>
            </a:r>
            <a:r>
              <a:rPr lang="ja-JP" altLang="ja-JP" sz="2400" b="1"/>
              <a:t>フィルタ係数</a:t>
            </a:r>
            <a:r>
              <a:rPr lang="en-US" altLang="ja-JP" sz="2400" b="1"/>
              <a:t> 𝑎 </a:t>
            </a:r>
            <a:r>
              <a:rPr lang="ja-JP" altLang="ja-JP" sz="2400" b="1"/>
              <a:t>の符号</a:t>
            </a:r>
            <a:r>
              <a:rPr lang="ja-JP" altLang="ja-JP" sz="2400"/>
              <a:t>の定義について， どちらでも良いのですが</a:t>
            </a:r>
            <a:r>
              <a:rPr lang="en-US" altLang="ja-JP" sz="2400"/>
              <a:t>... </a:t>
            </a:r>
            <a:r>
              <a:rPr lang="ja-JP" altLang="ja-JP" sz="2400"/>
              <a:t>ポジティブフィードバック</a:t>
            </a:r>
            <a:r>
              <a:rPr lang="en-US" altLang="ja-JP" sz="2400"/>
              <a:t> +𝑎 </a:t>
            </a:r>
            <a:r>
              <a:rPr lang="ja-JP" altLang="ja-JP" sz="2400"/>
              <a:t>では出力増大</a:t>
            </a:r>
            <a:r>
              <a:rPr lang="en-US" altLang="ja-JP" sz="2400"/>
              <a:t>→</a:t>
            </a:r>
            <a:r>
              <a:rPr lang="ja-JP" altLang="ja-JP" sz="2400"/>
              <a:t>発散のイメージがあるので，</a:t>
            </a:r>
            <a:r>
              <a:rPr lang="en-US" altLang="ja-JP" sz="2400"/>
              <a:t> </a:t>
            </a:r>
            <a:r>
              <a:rPr lang="ja-JP" altLang="ja-JP" sz="2400" b="1"/>
              <a:t>ネガティブフィードバック</a:t>
            </a:r>
            <a:r>
              <a:rPr lang="en-US" altLang="ja-JP" sz="2400" b="1"/>
              <a:t> −𝑎</a:t>
            </a:r>
            <a:r>
              <a:rPr lang="en-US" altLang="ja-JP" sz="2400"/>
              <a:t> </a:t>
            </a:r>
            <a:r>
              <a:rPr lang="ja-JP" altLang="ja-JP" sz="2400"/>
              <a:t>としておくのがお約束のようです</a:t>
            </a:r>
            <a:endParaRPr lang="en-US" altLang="ja-JP" sz="2400"/>
          </a:p>
          <a:p>
            <a:r>
              <a:rPr lang="en-US" altLang="ja-JP" sz="1050">
                <a:latin typeface="Arial" panose="020B0604020202020204" pitchFamily="34" charset="0"/>
                <a:cs typeface="Arial" panose="020B0604020202020204" pitchFamily="34" charset="0"/>
              </a:rPr>
              <a:t>Regarding the definition of the sign of the filter coefficient </a:t>
            </a:r>
            <a:r>
              <a:rPr lang="ja-JP" altLang="en-US" sz="1050">
                <a:latin typeface="Arial" panose="020B0604020202020204" pitchFamily="34" charset="0"/>
                <a:cs typeface="Arial" panose="020B0604020202020204" pitchFamily="34" charset="0"/>
              </a:rPr>
              <a:t>𝑎 </a:t>
            </a:r>
            <a:r>
              <a:rPr lang="en-US" altLang="ja-JP" sz="1050">
                <a:latin typeface="Arial" panose="020B0604020202020204" pitchFamily="34" charset="0"/>
                <a:cs typeface="Arial" panose="020B0604020202020204" pitchFamily="34" charset="0"/>
              </a:rPr>
              <a:t>in the feedback section, either is fine... Since positive feedback +</a:t>
            </a:r>
            <a:r>
              <a:rPr lang="ja-JP" altLang="en-US" sz="1050">
                <a:latin typeface="Arial" panose="020B0604020202020204" pitchFamily="34" charset="0"/>
                <a:cs typeface="Arial" panose="020B0604020202020204" pitchFamily="34" charset="0"/>
              </a:rPr>
              <a:t>𝑎 </a:t>
            </a:r>
            <a:r>
              <a:rPr lang="en-US" altLang="ja-JP" sz="1050">
                <a:latin typeface="Arial" panose="020B0604020202020204" pitchFamily="34" charset="0"/>
                <a:cs typeface="Arial" panose="020B0604020202020204" pitchFamily="34" charset="0"/>
              </a:rPr>
              <a:t>gives the impression of an increase in output → divergence, it seems to be conventional to use negative feedback −</a:t>
            </a:r>
            <a:r>
              <a:rPr lang="ja-JP" altLang="en-US" sz="1050">
                <a:latin typeface="Arial" panose="020B0604020202020204" pitchFamily="34" charset="0"/>
                <a:cs typeface="Arial" panose="020B0604020202020204" pitchFamily="34" charset="0"/>
              </a:rPr>
              <a:t>𝑎</a:t>
            </a: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13" name="Rounded Rectangle 18">
            <a:extLst>
              <a:ext uri="{FF2B5EF4-FFF2-40B4-BE49-F238E27FC236}">
                <a16:creationId xmlns:a16="http://schemas.microsoft.com/office/drawing/2014/main" id="{38CC964D-2AE0-C129-77E1-2842C9968624}"/>
              </a:ext>
            </a:extLst>
          </p:cNvPr>
          <p:cNvSpPr/>
          <p:nvPr/>
        </p:nvSpPr>
        <p:spPr>
          <a:xfrm>
            <a:off x="3275216" y="252943"/>
            <a:ext cx="6384174"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a:solidFill>
                  <a:schemeClr val="tx1"/>
                </a:solidFill>
              </a:rPr>
              <a:t>IIR </a:t>
            </a:r>
            <a:r>
              <a:rPr lang="ja-JP" altLang="ja-JP" sz="3200">
                <a:solidFill>
                  <a:schemeClr val="tx1"/>
                </a:solidFill>
              </a:rPr>
              <a:t>フィルタの解析</a:t>
            </a:r>
            <a:r>
              <a:rPr lang="en-US" altLang="ja-JP" sz="1100" b="1">
                <a:solidFill>
                  <a:schemeClr val="tx1"/>
                </a:solidFill>
              </a:rPr>
              <a:t>Analysis of IIR filters </a:t>
            </a:r>
            <a:r>
              <a:rPr lang="ja-JP" altLang="en-US" sz="3200" b="1">
                <a:solidFill>
                  <a:srgbClr val="FF0000"/>
                </a:solidFill>
              </a:rPr>
              <a:t> </a:t>
            </a:r>
            <a:endParaRPr lang="en-US" sz="3200">
              <a:solidFill>
                <a:srgbClr val="FF0000"/>
              </a:solidFill>
            </a:endParaRPr>
          </a:p>
        </p:txBody>
      </p:sp>
      <p:pic>
        <p:nvPicPr>
          <p:cNvPr id="3" name="図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43637" y="2790021"/>
            <a:ext cx="3115110" cy="952633"/>
          </a:xfrm>
          <a:prstGeom prst="rect">
            <a:avLst/>
          </a:prstGeom>
        </p:spPr>
      </p:pic>
    </p:spTree>
    <p:extLst>
      <p:ext uri="{BB962C8B-B14F-4D97-AF65-F5344CB8AC3E}">
        <p14:creationId xmlns:p14="http://schemas.microsoft.com/office/powerpoint/2010/main" val="34074780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3847207"/>
          </a:xfrm>
          <a:prstGeom prst="rect">
            <a:avLst/>
          </a:prstGeom>
          <a:noFill/>
        </p:spPr>
        <p:txBody>
          <a:bodyPr wrap="square" rtlCol="0">
            <a:spAutoFit/>
          </a:bodyPr>
          <a:lstStyle/>
          <a:p>
            <a:pPr lvl="0"/>
            <a:r>
              <a:rPr lang="en-US" altLang="ja-JP" sz="2400"/>
              <a:t>Z </a:t>
            </a:r>
            <a:r>
              <a:rPr lang="ja-JP" altLang="en-US" sz="2400"/>
              <a:t>変換</a:t>
            </a:r>
            <a:r>
              <a:rPr lang="ja-JP" altLang="ja-JP" sz="2400"/>
              <a:t>：</a:t>
            </a:r>
            <a:endParaRPr lang="en-US" altLang="ja-JP" sz="2400"/>
          </a:p>
          <a:p>
            <a:pPr lvl="0"/>
            <a:r>
              <a:rPr lang="en-US" altLang="ja-JP" sz="1050"/>
              <a:t>Z Transform : </a:t>
            </a:r>
          </a:p>
          <a:p>
            <a:pPr lvl="0"/>
            <a:endParaRPr lang="en-US" altLang="ja-JP" sz="1200"/>
          </a:p>
          <a:p>
            <a:pPr lvl="0"/>
            <a:endParaRPr lang="en-US" altLang="ja-JP" sz="1200"/>
          </a:p>
          <a:p>
            <a:pPr lvl="0"/>
            <a:endParaRPr lang="en-US" altLang="ja-JP" sz="1200"/>
          </a:p>
          <a:p>
            <a:pPr lvl="0"/>
            <a:endParaRPr lang="en-US" altLang="ja-JP" sz="1200"/>
          </a:p>
          <a:p>
            <a:pPr lvl="0"/>
            <a:endParaRPr lang="en-US" altLang="ja-JP" sz="1200"/>
          </a:p>
          <a:p>
            <a:pPr lvl="0"/>
            <a:endParaRPr lang="en-US" altLang="ja-JP" sz="1200"/>
          </a:p>
          <a:p>
            <a:pPr lvl="0"/>
            <a:endParaRPr lang="en-US" altLang="ja-JP" sz="1200"/>
          </a:p>
          <a:p>
            <a:pPr lvl="0"/>
            <a:endParaRPr lang="en-US" altLang="ja-JP" sz="2800">
              <a:latin typeface="+mn-ea"/>
              <a:ea typeface="+mn-ea"/>
            </a:endParaRPr>
          </a:p>
          <a:p>
            <a:pPr lvl="0"/>
            <a:r>
              <a:rPr lang="zh-TW" altLang="en-US" sz="2400">
                <a:latin typeface="ＭＳ Ｐゴシック" panose="020B0600070205080204" pitchFamily="50" charset="-128"/>
                <a:ea typeface="ＭＳ Ｐゴシック" panose="020B0600070205080204" pitchFamily="50" charset="-128"/>
              </a:rPr>
              <a:t>伝達関数（𝑧 領域：</a:t>
            </a:r>
            <a:endParaRPr lang="en-US" altLang="zh-TW" sz="2400">
              <a:latin typeface="ＭＳ Ｐゴシック" panose="020B0600070205080204" pitchFamily="50" charset="-128"/>
              <a:ea typeface="ＭＳ Ｐゴシック" panose="020B0600070205080204" pitchFamily="50" charset="-128"/>
            </a:endParaRPr>
          </a:p>
          <a:p>
            <a:pPr lvl="0"/>
            <a:r>
              <a:rPr lang="en-US" altLang="ja-JP" sz="1050">
                <a:latin typeface="Arial" panose="020B0604020202020204" pitchFamily="34" charset="0"/>
                <a:cs typeface="Arial" panose="020B0604020202020204" pitchFamily="34" charset="0"/>
              </a:rPr>
              <a:t>Transfer function (</a:t>
            </a:r>
            <a:r>
              <a:rPr lang="ja-JP" altLang="en-US" sz="1050">
                <a:latin typeface="Arial" panose="020B0604020202020204" pitchFamily="34" charset="0"/>
                <a:cs typeface="Arial" panose="020B0604020202020204" pitchFamily="34" charset="0"/>
              </a:rPr>
              <a:t>𝑧 </a:t>
            </a:r>
            <a:r>
              <a:rPr lang="en-US" altLang="ja-JP" sz="1050">
                <a:latin typeface="Arial" panose="020B0604020202020204" pitchFamily="34" charset="0"/>
                <a:cs typeface="Arial" panose="020B0604020202020204" pitchFamily="34" charset="0"/>
              </a:rPr>
              <a:t>domain)</a:t>
            </a:r>
          </a:p>
          <a:p>
            <a:pPr lvl="0"/>
            <a:endParaRPr lang="en-US" altLang="ja-JP" sz="1200">
              <a:latin typeface="Arial" panose="020B0604020202020204" pitchFamily="34" charset="0"/>
              <a:ea typeface="ＭＳ Ｐゴシック" panose="020B0600070205080204" pitchFamily="50" charset="-128"/>
              <a:cs typeface="Arial" panose="020B0604020202020204" pitchFamily="34" charset="0"/>
            </a:endParaRPr>
          </a:p>
          <a:p>
            <a:pPr lvl="0"/>
            <a:r>
              <a:rPr lang="en-US" altLang="ja-JP" sz="2400"/>
              <a:t>   </a:t>
            </a:r>
            <a:r>
              <a:rPr lang="en-US" altLang="ja-JP" sz="2400">
                <a:sym typeface="Wingdings" panose="05000000000000000000" pitchFamily="2" charset="2"/>
              </a:rPr>
              <a:t> </a:t>
            </a:r>
            <a:r>
              <a:rPr lang="en-US" altLang="ja-JP" sz="2400"/>
              <a:t>FIR </a:t>
            </a:r>
            <a:r>
              <a:rPr lang="ja-JP" altLang="en-US" sz="2400"/>
              <a:t>と同様，畳み込みの </a:t>
            </a:r>
            <a:r>
              <a:rPr lang="en-US" altLang="ja-JP" sz="2400"/>
              <a:t>Z </a:t>
            </a:r>
            <a:r>
              <a:rPr lang="ja-JP" altLang="en-US" sz="2400"/>
              <a:t>変換は，</a:t>
            </a:r>
            <a:r>
              <a:rPr lang="en-US" altLang="ja-JP" sz="2400"/>
              <a:t>Z </a:t>
            </a:r>
            <a:r>
              <a:rPr lang="ja-JP" altLang="en-US" sz="2400"/>
              <a:t>変換の積です</a:t>
            </a:r>
            <a:endParaRPr lang="en-US" altLang="ja-JP" sz="2400"/>
          </a:p>
          <a:p>
            <a:pPr lvl="0"/>
            <a:r>
              <a:rPr lang="en-US" altLang="ja-JP" sz="2400">
                <a:latin typeface="ＭＳ Ｐゴシック" panose="020B0600070205080204" pitchFamily="50" charset="-128"/>
                <a:ea typeface="ＭＳ Ｐゴシック" panose="020B0600070205080204" pitchFamily="50" charset="-128"/>
              </a:rPr>
              <a:t>       </a:t>
            </a:r>
            <a:r>
              <a:rPr lang="en-US" altLang="ja-JP" sz="1050"/>
              <a:t>As with FIR, the Z-transform of the convolution is the product of Z-transforms</a:t>
            </a:r>
            <a:endParaRPr lang="en-US" altLang="ja-JP" sz="1050">
              <a:latin typeface="ＭＳ Ｐゴシック" panose="020B0600070205080204" pitchFamily="50" charset="-128"/>
              <a:ea typeface="ＭＳ Ｐゴシック" panose="020B0600070205080204" pitchFamily="50" charset="-128"/>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13" name="Rounded Rectangle 18">
            <a:extLst>
              <a:ext uri="{FF2B5EF4-FFF2-40B4-BE49-F238E27FC236}">
                <a16:creationId xmlns:a16="http://schemas.microsoft.com/office/drawing/2014/main" id="{38CC964D-2AE0-C129-77E1-2842C9968624}"/>
              </a:ext>
            </a:extLst>
          </p:cNvPr>
          <p:cNvSpPr/>
          <p:nvPr/>
        </p:nvSpPr>
        <p:spPr>
          <a:xfrm>
            <a:off x="3275216" y="252943"/>
            <a:ext cx="6384174"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a:solidFill>
                  <a:schemeClr val="tx1"/>
                </a:solidFill>
              </a:rPr>
              <a:t>IIR </a:t>
            </a:r>
            <a:r>
              <a:rPr lang="ja-JP" altLang="ja-JP" sz="3200">
                <a:solidFill>
                  <a:schemeClr val="tx1"/>
                </a:solidFill>
              </a:rPr>
              <a:t>フィルタの解析</a:t>
            </a:r>
            <a:r>
              <a:rPr lang="en-US" altLang="ja-JP" sz="1100" b="1">
                <a:solidFill>
                  <a:schemeClr val="tx1"/>
                </a:solidFill>
              </a:rPr>
              <a:t>Analysis of IIR filters </a:t>
            </a:r>
            <a:r>
              <a:rPr lang="ja-JP" altLang="en-US" sz="3200" b="1">
                <a:solidFill>
                  <a:srgbClr val="FF0000"/>
                </a:solidFill>
              </a:rPr>
              <a:t> </a:t>
            </a:r>
            <a:endParaRPr lang="en-US" sz="3200">
              <a:solidFill>
                <a:srgbClr val="FF0000"/>
              </a:solidFill>
            </a:endParaRPr>
          </a:p>
        </p:txBody>
      </p:sp>
      <p:pic>
        <p:nvPicPr>
          <p:cNvPr id="2" name="図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63608" y="1848514"/>
            <a:ext cx="4286848" cy="1648055"/>
          </a:xfrm>
          <a:prstGeom prst="rect">
            <a:avLst/>
          </a:prstGeom>
        </p:spPr>
      </p:pic>
      <p:pic>
        <p:nvPicPr>
          <p:cNvPr id="6" name="図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50029" y="3794094"/>
            <a:ext cx="2635136" cy="1084371"/>
          </a:xfrm>
          <a:prstGeom prst="rect">
            <a:avLst/>
          </a:prstGeom>
        </p:spPr>
      </p:pic>
    </p:spTree>
    <p:extLst>
      <p:ext uri="{BB962C8B-B14F-4D97-AF65-F5344CB8AC3E}">
        <p14:creationId xmlns:p14="http://schemas.microsoft.com/office/powerpoint/2010/main" val="24165374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154984"/>
          </a:xfrm>
          <a:prstGeom prst="rect">
            <a:avLst/>
          </a:prstGeom>
          <a:noFill/>
        </p:spPr>
        <p:txBody>
          <a:bodyPr wrap="square" rtlCol="0">
            <a:spAutoFit/>
          </a:bodyPr>
          <a:lstStyle/>
          <a:p>
            <a:r>
              <a:rPr lang="en-US" altLang="ja-JP">
                <a:sym typeface="Wingdings" panose="05000000000000000000" pitchFamily="2" charset="2"/>
              </a:rPr>
              <a:t> </a:t>
            </a:r>
            <a:r>
              <a:rPr lang="ja-JP" altLang="ja-JP" sz="2400"/>
              <a:t>総和の</a:t>
            </a:r>
            <a:r>
              <a:rPr lang="en-US" altLang="ja-JP" sz="2400"/>
              <a:t> 𝑚 </a:t>
            </a:r>
            <a:r>
              <a:rPr lang="ja-JP" altLang="ja-JP" sz="2400"/>
              <a:t>の範囲が</a:t>
            </a:r>
            <a:r>
              <a:rPr lang="en-US" altLang="ja-JP" sz="2400"/>
              <a:t> 𝑎</a:t>
            </a:r>
            <a:r>
              <a:rPr lang="en-US" altLang="ja-JP" sz="2400" baseline="-25000"/>
              <a:t>𝑚</a:t>
            </a:r>
            <a:r>
              <a:rPr lang="en-US" altLang="ja-JP" sz="2400"/>
              <a:t> </a:t>
            </a:r>
            <a:r>
              <a:rPr lang="ja-JP" altLang="ja-JP" sz="2400"/>
              <a:t>と</a:t>
            </a:r>
            <a:r>
              <a:rPr lang="en-US" altLang="ja-JP" sz="2400"/>
              <a:t> 𝑏</a:t>
            </a:r>
            <a:r>
              <a:rPr lang="en-US" altLang="ja-JP" sz="2400" baseline="-25000"/>
              <a:t>𝑚</a:t>
            </a:r>
            <a:r>
              <a:rPr lang="en-US" altLang="ja-JP" sz="2400"/>
              <a:t> </a:t>
            </a:r>
            <a:r>
              <a:rPr lang="ja-JP" altLang="ja-JP" sz="2400"/>
              <a:t>とで</a:t>
            </a:r>
            <a:r>
              <a:rPr lang="en-US" altLang="ja-JP" sz="2400"/>
              <a:t>... </a:t>
            </a:r>
            <a:r>
              <a:rPr lang="ja-JP" altLang="ja-JP" sz="2400"/>
              <a:t>なんですが， 範囲外では</a:t>
            </a:r>
            <a:r>
              <a:rPr lang="en-US" altLang="ja-JP" sz="2400"/>
              <a:t> 𝑎</a:t>
            </a:r>
            <a:r>
              <a:rPr lang="en-US" altLang="ja-JP" sz="2400" baseline="-25000"/>
              <a:t>𝑚</a:t>
            </a:r>
            <a:r>
              <a:rPr lang="en-US" altLang="ja-JP" sz="2400"/>
              <a:t> = 𝑏</a:t>
            </a:r>
            <a:r>
              <a:rPr lang="en-US" altLang="ja-JP" sz="2400" baseline="-25000"/>
              <a:t>𝑚  </a:t>
            </a:r>
            <a:r>
              <a:rPr lang="en-US" altLang="ja-JP" sz="2400"/>
              <a:t>= 0 </a:t>
            </a:r>
            <a:r>
              <a:rPr lang="ja-JP" altLang="ja-JP" sz="2400"/>
              <a:t>と定義すれば， 総和の範囲は気にせず</a:t>
            </a:r>
            <a:r>
              <a:rPr lang="en-US" altLang="ja-JP" sz="2400"/>
              <a:t> OK</a:t>
            </a:r>
            <a:r>
              <a:rPr lang="ja-JP" altLang="ja-JP" sz="2400" err="1"/>
              <a:t>．</a:t>
            </a:r>
            <a:r>
              <a:rPr lang="ja-JP" altLang="ja-JP" sz="2400"/>
              <a:t> 離散信号と同様</a:t>
            </a:r>
            <a:r>
              <a:rPr lang="en-US" altLang="ja-JP" sz="2400"/>
              <a:t> </a:t>
            </a:r>
            <a:r>
              <a:rPr lang="ja-JP" altLang="ja-JP" sz="2400"/>
              <a:t>〜</a:t>
            </a:r>
            <a:r>
              <a:rPr lang="en-US" altLang="ja-JP" sz="2400"/>
              <a:t>0</a:t>
            </a:r>
            <a:r>
              <a:rPr lang="ja-JP" altLang="ja-JP" sz="2400"/>
              <a:t>〜</a:t>
            </a:r>
            <a:r>
              <a:rPr lang="en-US" altLang="ja-JP" sz="2400"/>
              <a:t>𝑁−1 </a:t>
            </a:r>
            <a:r>
              <a:rPr lang="ja-JP" altLang="ja-JP" sz="2400"/>
              <a:t>と考えれば好都合</a:t>
            </a:r>
          </a:p>
          <a:p>
            <a:r>
              <a:rPr lang="en-US" altLang="ja-JP" sz="1050">
                <a:latin typeface="Arial" panose="020B0604020202020204" pitchFamily="34" charset="0"/>
                <a:cs typeface="Arial" panose="020B0604020202020204" pitchFamily="34" charset="0"/>
              </a:rPr>
              <a:t>The range of the sum </a:t>
            </a:r>
            <a:r>
              <a:rPr lang="ja-JP" altLang="en-US" sz="1050">
                <a:latin typeface="Arial" panose="020B0604020202020204" pitchFamily="34" charset="0"/>
                <a:cs typeface="Arial" panose="020B0604020202020204" pitchFamily="34" charset="0"/>
              </a:rPr>
              <a:t>𝑚 </a:t>
            </a:r>
            <a:r>
              <a:rPr lang="en-US" altLang="ja-JP" sz="1050">
                <a:latin typeface="Arial" panose="020B0604020202020204" pitchFamily="34" charset="0"/>
                <a:cs typeface="Arial" panose="020B0604020202020204" pitchFamily="34" charset="0"/>
              </a:rPr>
              <a:t>is </a:t>
            </a:r>
            <a:r>
              <a:rPr lang="ja-JP" altLang="en-US" sz="1050">
                <a:latin typeface="Arial" panose="020B0604020202020204" pitchFamily="34" charset="0"/>
                <a:cs typeface="Arial" panose="020B0604020202020204" pitchFamily="34" charset="0"/>
              </a:rPr>
              <a:t>𝑎𝑚 </a:t>
            </a:r>
            <a:r>
              <a:rPr lang="en-US" altLang="ja-JP" sz="1050">
                <a:latin typeface="Arial" panose="020B0604020202020204" pitchFamily="34" charset="0"/>
                <a:cs typeface="Arial" panose="020B0604020202020204" pitchFamily="34" charset="0"/>
              </a:rPr>
              <a:t>and </a:t>
            </a:r>
            <a:r>
              <a:rPr lang="ja-JP" altLang="en-US" sz="1050">
                <a:latin typeface="Arial" panose="020B0604020202020204" pitchFamily="34" charset="0"/>
                <a:cs typeface="Arial" panose="020B0604020202020204" pitchFamily="34" charset="0"/>
              </a:rPr>
              <a:t>𝑏𝑚</a:t>
            </a:r>
            <a:r>
              <a:rPr lang="en-US" altLang="ja-JP" sz="1050">
                <a:latin typeface="Arial" panose="020B0604020202020204" pitchFamily="34" charset="0"/>
                <a:cs typeface="Arial" panose="020B0604020202020204" pitchFamily="34" charset="0"/>
              </a:rPr>
              <a:t>... but if you define </a:t>
            </a:r>
            <a:r>
              <a:rPr lang="ja-JP" altLang="en-US" sz="1050">
                <a:latin typeface="Arial" panose="020B0604020202020204" pitchFamily="34" charset="0"/>
                <a:cs typeface="Arial" panose="020B0604020202020204" pitchFamily="34" charset="0"/>
              </a:rPr>
              <a:t>𝑎𝑚 </a:t>
            </a:r>
            <a:r>
              <a:rPr lang="en-US" altLang="ja-JP" sz="1050">
                <a:latin typeface="Arial" panose="020B0604020202020204" pitchFamily="34" charset="0"/>
                <a:cs typeface="Arial" panose="020B0604020202020204" pitchFamily="34" charset="0"/>
              </a:rPr>
              <a:t>= </a:t>
            </a:r>
            <a:r>
              <a:rPr lang="ja-JP" altLang="en-US" sz="1050">
                <a:latin typeface="Arial" panose="020B0604020202020204" pitchFamily="34" charset="0"/>
                <a:cs typeface="Arial" panose="020B0604020202020204" pitchFamily="34" charset="0"/>
              </a:rPr>
              <a:t>𝑏𝑚 </a:t>
            </a:r>
            <a:r>
              <a:rPr lang="en-US" altLang="ja-JP" sz="1050">
                <a:latin typeface="Arial" panose="020B0604020202020204" pitchFamily="34" charset="0"/>
                <a:cs typeface="Arial" panose="020B0604020202020204" pitchFamily="34" charset="0"/>
              </a:rPr>
              <a:t>= 0 outside that range, you don't need to worry about the range of the sum. It's convenient to think of it as ~0~</a:t>
            </a:r>
            <a:r>
              <a:rPr lang="ja-JP" altLang="en-US" sz="1050">
                <a:latin typeface="Arial" panose="020B0604020202020204" pitchFamily="34" charset="0"/>
                <a:cs typeface="Arial" panose="020B0604020202020204" pitchFamily="34" charset="0"/>
              </a:rPr>
              <a:t>𝑁−</a:t>
            </a:r>
            <a:r>
              <a:rPr lang="en-US" altLang="ja-JP" sz="1050">
                <a:latin typeface="Arial" panose="020B0604020202020204" pitchFamily="34" charset="0"/>
                <a:cs typeface="Arial" panose="020B0604020202020204" pitchFamily="34" charset="0"/>
              </a:rPr>
              <a:t>1, just like discrete signals</a:t>
            </a:r>
          </a:p>
          <a:p>
            <a:r>
              <a:rPr lang="en-US" altLang="ja-JP" sz="2400">
                <a:sym typeface="Wingdings" panose="05000000000000000000" pitchFamily="2" charset="2"/>
              </a:rPr>
              <a:t> </a:t>
            </a:r>
            <a:r>
              <a:rPr lang="ja-JP" altLang="ja-JP" sz="2400"/>
              <a:t>さらに，</a:t>
            </a:r>
            <a:r>
              <a:rPr lang="en-US" altLang="ja-JP" sz="2400"/>
              <a:t>𝑎</a:t>
            </a:r>
            <a:r>
              <a:rPr lang="en-US" altLang="ja-JP" sz="2400" baseline="-25000"/>
              <a:t>0</a:t>
            </a:r>
            <a:r>
              <a:rPr lang="en-US" altLang="ja-JP" sz="2400"/>
              <a:t>=1 </a:t>
            </a:r>
            <a:r>
              <a:rPr lang="ja-JP" altLang="ja-JP" sz="2400"/>
              <a:t>とすれば， 伝達関数の分母の１も省略できそうですが， 教科書に合わせて，残しておきましょう．</a:t>
            </a:r>
          </a:p>
          <a:p>
            <a:r>
              <a:rPr lang="en-US" altLang="ja-JP" sz="1050">
                <a:latin typeface="Arial" panose="020B0604020202020204" pitchFamily="34" charset="0"/>
                <a:cs typeface="Arial" panose="020B0604020202020204" pitchFamily="34" charset="0"/>
              </a:rPr>
              <a:t>Furthermore, if you set </a:t>
            </a:r>
            <a:r>
              <a:rPr lang="ja-JP" altLang="en-US" sz="1050">
                <a:latin typeface="Arial" panose="020B0604020202020204" pitchFamily="34" charset="0"/>
                <a:cs typeface="Arial" panose="020B0604020202020204" pitchFamily="34" charset="0"/>
              </a:rPr>
              <a:t>𝑎</a:t>
            </a:r>
            <a:r>
              <a:rPr lang="en-US" altLang="ja-JP" sz="1050">
                <a:latin typeface="Arial" panose="020B0604020202020204" pitchFamily="34" charset="0"/>
                <a:cs typeface="Arial" panose="020B0604020202020204" pitchFamily="34" charset="0"/>
              </a:rPr>
              <a:t>0=1, it seems like you could omit the 1 in the denominator of the transfer function, but let's keep it in to match the textbook</a:t>
            </a:r>
            <a:endParaRPr lang="ja-JP" altLang="ja-JP" sz="1050">
              <a:latin typeface="Arial" panose="020B0604020202020204" pitchFamily="34" charset="0"/>
              <a:cs typeface="Arial" panose="020B0604020202020204" pitchFamily="34" charset="0"/>
            </a:endParaRPr>
          </a:p>
          <a:p>
            <a:pPr marL="342900" indent="-342900">
              <a:buFont typeface="Wingdings" panose="05000000000000000000" pitchFamily="2" charset="2"/>
              <a:buChar char="à"/>
            </a:pPr>
            <a:r>
              <a:rPr lang="ja-JP" altLang="ja-JP" sz="2400"/>
              <a:t>分母＝０だと不安定</a:t>
            </a:r>
            <a:endParaRPr lang="en-US" altLang="ja-JP" sz="2400"/>
          </a:p>
          <a:p>
            <a:r>
              <a:rPr lang="en-US" altLang="ja-JP" sz="1050"/>
              <a:t>If the denominator = 0, it will be unstable</a:t>
            </a:r>
          </a:p>
          <a:p>
            <a:endParaRPr lang="en-US" altLang="ja-JP" sz="1200">
              <a:latin typeface="ＭＳ Ｐゴシック" panose="020B0600070205080204" pitchFamily="50" charset="-128"/>
              <a:ea typeface="ＭＳ Ｐゴシック" panose="020B0600070205080204" pitchFamily="50" charset="-128"/>
            </a:endParaRPr>
          </a:p>
          <a:p>
            <a:r>
              <a:rPr lang="ja-JP" altLang="en-US" sz="2400"/>
              <a:t>ブロック図：教科書 </a:t>
            </a:r>
            <a:r>
              <a:rPr lang="en-US" altLang="ja-JP" sz="2400"/>
              <a:t>p.119 </a:t>
            </a:r>
            <a:r>
              <a:rPr lang="ja-JP" altLang="en-US" sz="2400"/>
              <a:t>図</a:t>
            </a:r>
            <a:r>
              <a:rPr lang="en-US" altLang="ja-JP" sz="2400"/>
              <a:t>6.11</a:t>
            </a:r>
            <a:r>
              <a:rPr lang="ja-JP" altLang="en-US" sz="2400" err="1"/>
              <a:t>，</a:t>
            </a:r>
            <a:r>
              <a:rPr lang="ja-JP" altLang="en-US" sz="2400"/>
              <a:t>等を参照</a:t>
            </a:r>
            <a:endParaRPr lang="en-US" altLang="ja-JP" sz="2400"/>
          </a:p>
          <a:p>
            <a:r>
              <a:rPr lang="en-US" altLang="ja-JP" sz="1050"/>
              <a:t>Block diagram: See textbook p.119, Fig. 6.11, </a:t>
            </a:r>
            <a:r>
              <a:rPr lang="en-US" altLang="ja-JP" sz="1050" err="1"/>
              <a:t>etc</a:t>
            </a:r>
            <a:endParaRPr lang="en-US" altLang="ja-JP" sz="1050"/>
          </a:p>
          <a:p>
            <a:endParaRPr lang="en-US" altLang="ja-JP" sz="1200"/>
          </a:p>
          <a:p>
            <a:r>
              <a:rPr lang="ja-JP" altLang="ja-JP" sz="2400"/>
              <a:t>伝達関数（周波数領域）：</a:t>
            </a:r>
            <a:r>
              <a:rPr lang="en-US" altLang="ja-JP" sz="2400"/>
              <a:t> </a:t>
            </a:r>
            <a:r>
              <a:rPr lang="ja-JP" altLang="ja-JP" sz="2400"/>
              <a:t>省略．</a:t>
            </a:r>
            <a:r>
              <a:rPr lang="en-US" altLang="ja-JP" sz="2400"/>
              <a:t>𝑧 </a:t>
            </a:r>
            <a:r>
              <a:rPr lang="ja-JP" altLang="ja-JP" sz="2400"/>
              <a:t>を</a:t>
            </a:r>
            <a:r>
              <a:rPr lang="en-US" altLang="ja-JP" sz="2400"/>
              <a:t> </a:t>
            </a:r>
            <a:r>
              <a:rPr lang="en-US" altLang="ja-JP" sz="2400" err="1"/>
              <a:t>exp</a:t>
            </a:r>
            <a:r>
              <a:rPr lang="en-US" altLang="ja-JP" sz="2400"/>
              <a:t>⁡(⋯) </a:t>
            </a:r>
            <a:r>
              <a:rPr lang="ja-JP" altLang="ja-JP" sz="2400"/>
              <a:t>に変えるだけなので</a:t>
            </a:r>
            <a:endParaRPr lang="en-US" altLang="ja-JP" sz="2400"/>
          </a:p>
          <a:p>
            <a:r>
              <a:rPr lang="en-US" altLang="ja-JP" sz="1050">
                <a:latin typeface="Arial" panose="020B0604020202020204" pitchFamily="34" charset="0"/>
                <a:cs typeface="Arial" panose="020B0604020202020204" pitchFamily="34" charset="0"/>
              </a:rPr>
              <a:t>Transfer function (frequency domain): Omitted. Just change </a:t>
            </a:r>
            <a:r>
              <a:rPr lang="ja-JP" altLang="en-US" sz="1050">
                <a:latin typeface="Arial" panose="020B0604020202020204" pitchFamily="34" charset="0"/>
                <a:cs typeface="Arial" panose="020B0604020202020204" pitchFamily="34" charset="0"/>
              </a:rPr>
              <a:t>𝑧 </a:t>
            </a:r>
            <a:r>
              <a:rPr lang="en-US" altLang="ja-JP" sz="1050">
                <a:latin typeface="Arial" panose="020B0604020202020204" pitchFamily="34" charset="0"/>
                <a:cs typeface="Arial" panose="020B0604020202020204" pitchFamily="34" charset="0"/>
              </a:rPr>
              <a:t>to </a:t>
            </a:r>
            <a:r>
              <a:rPr lang="en-US" altLang="ja-JP" sz="1050" err="1">
                <a:latin typeface="Arial" panose="020B0604020202020204" pitchFamily="34" charset="0"/>
                <a:cs typeface="Arial" panose="020B0604020202020204" pitchFamily="34" charset="0"/>
              </a:rPr>
              <a:t>exp</a:t>
            </a:r>
            <a:r>
              <a:rPr lang="en-US" altLang="ja-JP" sz="1050">
                <a:latin typeface="Arial" panose="020B0604020202020204" pitchFamily="34" charset="0"/>
                <a:cs typeface="Arial" panose="020B0604020202020204" pitchFamily="34" charset="0"/>
              </a:rPr>
              <a:t>⁡(⋯)</a:t>
            </a:r>
            <a:endParaRPr lang="en-US" altLang="ja-JP" sz="1050">
              <a:latin typeface="Arial" panose="020B0604020202020204" pitchFamily="34" charset="0"/>
              <a:ea typeface="ＭＳ Ｐゴシック" panose="020B0600070205080204" pitchFamily="50" charset="-128"/>
              <a:cs typeface="Arial" panose="020B0604020202020204" pitchFamily="34"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13" name="Rounded Rectangle 18">
            <a:extLst>
              <a:ext uri="{FF2B5EF4-FFF2-40B4-BE49-F238E27FC236}">
                <a16:creationId xmlns:a16="http://schemas.microsoft.com/office/drawing/2014/main" id="{38CC964D-2AE0-C129-77E1-2842C9968624}"/>
              </a:ext>
            </a:extLst>
          </p:cNvPr>
          <p:cNvSpPr/>
          <p:nvPr/>
        </p:nvSpPr>
        <p:spPr>
          <a:xfrm>
            <a:off x="3275216" y="252943"/>
            <a:ext cx="6384174"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a:solidFill>
                  <a:schemeClr val="tx1"/>
                </a:solidFill>
              </a:rPr>
              <a:t>IIR </a:t>
            </a:r>
            <a:r>
              <a:rPr lang="ja-JP" altLang="ja-JP" sz="3200">
                <a:solidFill>
                  <a:schemeClr val="tx1"/>
                </a:solidFill>
              </a:rPr>
              <a:t>フィルタの解析</a:t>
            </a:r>
            <a:r>
              <a:rPr lang="en-US" altLang="ja-JP" sz="1100" b="1">
                <a:solidFill>
                  <a:schemeClr val="tx1"/>
                </a:solidFill>
              </a:rPr>
              <a:t>Analysis of IIR filters </a:t>
            </a:r>
            <a:r>
              <a:rPr lang="ja-JP" altLang="en-US" sz="3200" b="1">
                <a:solidFill>
                  <a:srgbClr val="FF0000"/>
                </a:solidFill>
              </a:rPr>
              <a:t> </a:t>
            </a:r>
            <a:endParaRPr lang="en-US" sz="3200">
              <a:solidFill>
                <a:srgbClr val="FF0000"/>
              </a:solidFill>
            </a:endParaRPr>
          </a:p>
        </p:txBody>
      </p:sp>
      <p:pic>
        <p:nvPicPr>
          <p:cNvPr id="3" name="図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71199" y="4389120"/>
            <a:ext cx="2134829" cy="1621100"/>
          </a:xfrm>
          <a:prstGeom prst="rect">
            <a:avLst/>
          </a:prstGeom>
        </p:spPr>
      </p:pic>
    </p:spTree>
    <p:extLst>
      <p:ext uri="{BB962C8B-B14F-4D97-AF65-F5344CB8AC3E}">
        <p14:creationId xmlns:p14="http://schemas.microsoft.com/office/powerpoint/2010/main" val="25081844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308872"/>
          </a:xfrm>
          <a:prstGeom prst="rect">
            <a:avLst/>
          </a:prstGeom>
          <a:noFill/>
        </p:spPr>
        <p:txBody>
          <a:bodyPr wrap="square" rtlCol="0">
            <a:spAutoFit/>
          </a:bodyPr>
          <a:lstStyle/>
          <a:p>
            <a:r>
              <a:rPr lang="ja-JP" altLang="en-US" sz="2800"/>
              <a:t>単純な例：</a:t>
            </a:r>
            <a:endParaRPr lang="en-US" altLang="ja-JP" sz="2800"/>
          </a:p>
          <a:p>
            <a:r>
              <a:rPr lang="en-US" altLang="ja-JP" sz="1050"/>
              <a:t>A simple example</a:t>
            </a:r>
          </a:p>
          <a:p>
            <a:endParaRPr lang="en-US" altLang="ja-JP" sz="2800"/>
          </a:p>
          <a:p>
            <a:endParaRPr lang="en-US" altLang="ja-JP" sz="2800"/>
          </a:p>
          <a:p>
            <a:endParaRPr lang="en-US" altLang="ja-JP" sz="2800"/>
          </a:p>
          <a:p>
            <a:r>
              <a:rPr lang="en-US" altLang="ja-JP" sz="2400">
                <a:sym typeface="Wingdings" panose="05000000000000000000" pitchFamily="2" charset="2"/>
              </a:rPr>
              <a:t> </a:t>
            </a:r>
            <a:r>
              <a:rPr lang="ja-JP" altLang="en-US" sz="2400"/>
              <a:t>図示すると，</a:t>
            </a:r>
            <a:r>
              <a:rPr lang="en-US" altLang="ja-JP" sz="2400"/>
              <a:t>FIR </a:t>
            </a:r>
            <a:r>
              <a:rPr lang="ja-JP" altLang="en-US" sz="2400"/>
              <a:t>より顕著な櫛形フィルタ </a:t>
            </a:r>
            <a:r>
              <a:rPr lang="en-US" altLang="ja-JP" sz="2400"/>
              <a:t>"comb filter" </a:t>
            </a:r>
            <a:r>
              <a:rPr lang="ja-JP" altLang="en-US" sz="2400"/>
              <a:t>特性が出現． </a:t>
            </a:r>
            <a:r>
              <a:rPr lang="en-US" altLang="ja-JP" sz="2400"/>
              <a:t>IIR </a:t>
            </a:r>
            <a:r>
              <a:rPr lang="ja-JP" altLang="en-US" sz="2400"/>
              <a:t>では，通過域と遮断域の境界がシャープですね．</a:t>
            </a:r>
            <a:endParaRPr lang="en-US" altLang="ja-JP" sz="2400"/>
          </a:p>
          <a:p>
            <a:r>
              <a:rPr lang="en-US" altLang="ja-JP" sz="1050"/>
              <a:t>When illustrated, a more pronounced comb filter characteristic appears than with FIR. With IIR, the boundary between the passband and the cutoff band is sharp</a:t>
            </a:r>
          </a:p>
          <a:p>
            <a:endParaRPr lang="en-US" altLang="ja-JP" sz="1050"/>
          </a:p>
          <a:p>
            <a:r>
              <a:rPr lang="en-US" altLang="ja-JP" sz="2400">
                <a:sym typeface="Wingdings" panose="05000000000000000000" pitchFamily="2" charset="2"/>
              </a:rPr>
              <a:t> </a:t>
            </a:r>
            <a:r>
              <a:rPr lang="en-US" altLang="ja-JP" sz="2400"/>
              <a:t>FIR </a:t>
            </a:r>
            <a:r>
              <a:rPr lang="ja-JP" altLang="en-US" sz="2400"/>
              <a:t>の結果も思い出せば， 伝達関数の分母・分子のフィルタ係数の組み合せによって， 多様なフィルタ特性を表現できそうですよね</a:t>
            </a:r>
          </a:p>
          <a:p>
            <a:r>
              <a:rPr lang="en-US" altLang="ja-JP" sz="1050"/>
              <a:t>If we remember the results of FIR, it seems that a variety of filter characteristics can be expressed by combining the filter coefficients of the numerator and denominator of the transfer function</a:t>
            </a:r>
          </a:p>
          <a:p>
            <a:endParaRPr lang="en-US" altLang="ja-JP" sz="2400">
              <a:sym typeface="Wingdings" panose="05000000000000000000" pitchFamily="2" charset="2"/>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13" name="Rounded Rectangle 18">
            <a:extLst>
              <a:ext uri="{FF2B5EF4-FFF2-40B4-BE49-F238E27FC236}">
                <a16:creationId xmlns:a16="http://schemas.microsoft.com/office/drawing/2014/main" id="{38CC964D-2AE0-C129-77E1-2842C9968624}"/>
              </a:ext>
            </a:extLst>
          </p:cNvPr>
          <p:cNvSpPr/>
          <p:nvPr/>
        </p:nvSpPr>
        <p:spPr>
          <a:xfrm>
            <a:off x="3275216" y="252943"/>
            <a:ext cx="6384174"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a:solidFill>
                  <a:schemeClr val="tx1"/>
                </a:solidFill>
              </a:rPr>
              <a:t>IIR </a:t>
            </a:r>
            <a:r>
              <a:rPr lang="ja-JP" altLang="ja-JP" sz="3200">
                <a:solidFill>
                  <a:schemeClr val="tx1"/>
                </a:solidFill>
              </a:rPr>
              <a:t>フィルタの解析</a:t>
            </a:r>
            <a:r>
              <a:rPr lang="en-US" altLang="ja-JP" sz="1100" b="1">
                <a:solidFill>
                  <a:schemeClr val="tx1"/>
                </a:solidFill>
              </a:rPr>
              <a:t>Analysis of IIR filters </a:t>
            </a:r>
            <a:r>
              <a:rPr lang="ja-JP" altLang="en-US" sz="3200" b="1">
                <a:solidFill>
                  <a:srgbClr val="FF0000"/>
                </a:solidFill>
              </a:rPr>
              <a:t> </a:t>
            </a:r>
            <a:endParaRPr lang="en-US" sz="3200">
              <a:solidFill>
                <a:srgbClr val="FF0000"/>
              </a:solidFill>
            </a:endParaRPr>
          </a:p>
        </p:txBody>
      </p:sp>
      <p:pic>
        <p:nvPicPr>
          <p:cNvPr id="2" name="図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66245" y="1004919"/>
            <a:ext cx="3735050" cy="2943575"/>
          </a:xfrm>
          <a:prstGeom prst="rect">
            <a:avLst/>
          </a:prstGeom>
        </p:spPr>
      </p:pic>
    </p:spTree>
    <p:extLst>
      <p:ext uri="{BB962C8B-B14F-4D97-AF65-F5344CB8AC3E}">
        <p14:creationId xmlns:p14="http://schemas.microsoft.com/office/powerpoint/2010/main" val="5449068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131900"/>
          </a:xfrm>
          <a:prstGeom prst="rect">
            <a:avLst/>
          </a:prstGeom>
          <a:noFill/>
        </p:spPr>
        <p:txBody>
          <a:bodyPr wrap="square" rtlCol="0">
            <a:spAutoFit/>
          </a:bodyPr>
          <a:lstStyle/>
          <a:p>
            <a:r>
              <a:rPr lang="en-US" altLang="ja-JP" sz="2800"/>
              <a:t>IIR </a:t>
            </a:r>
            <a:r>
              <a:rPr lang="ja-JP" altLang="ja-JP" sz="2800"/>
              <a:t>フィルタの設計</a:t>
            </a:r>
            <a:r>
              <a:rPr lang="ja-JP" altLang="en-US" sz="2800"/>
              <a:t>：</a:t>
            </a:r>
            <a:r>
              <a:rPr lang="ja-JP" altLang="ja-JP" sz="2800"/>
              <a:t>時間応答（フィルタ係数）から 周波数応答（伝達関数）の算出は容易だが， その逆については一般に，厳密な算出は困難</a:t>
            </a:r>
            <a:endParaRPr lang="en-US" altLang="ja-JP" sz="2800"/>
          </a:p>
          <a:p>
            <a:r>
              <a:rPr lang="en-US" altLang="ja-JP" sz="1050"/>
              <a:t>Designing an IIR filter: It is easy to calculate the frequency response (transfer function) from the time response (filter coefficients), but the reverse is generally difficult to calculate exactly</a:t>
            </a:r>
          </a:p>
          <a:p>
            <a:r>
              <a:rPr lang="ja-JP" altLang="ja-JP" sz="2400"/>
              <a:t>双一次変換法： アナログフィルタの伝達関数</a:t>
            </a:r>
            <a:r>
              <a:rPr lang="en-US" altLang="ja-JP" sz="2400"/>
              <a:t> 𝐻(𝜔) </a:t>
            </a:r>
            <a:r>
              <a:rPr lang="ja-JP" altLang="ja-JP" sz="2400"/>
              <a:t>の数式</a:t>
            </a:r>
            <a:r>
              <a:rPr lang="en-US" altLang="ja-JP" sz="2400"/>
              <a:t> → </a:t>
            </a:r>
            <a:r>
              <a:rPr lang="ja-JP" altLang="ja-JP" sz="2400"/>
              <a:t>双一次変換</a:t>
            </a:r>
            <a:r>
              <a:rPr lang="en-US" altLang="ja-JP" sz="2400"/>
              <a:t> → </a:t>
            </a:r>
            <a:r>
              <a:rPr lang="ja-JP" altLang="ja-JP" sz="2400"/>
              <a:t>伝達関数</a:t>
            </a:r>
            <a:r>
              <a:rPr lang="en-US" altLang="ja-JP" sz="2400"/>
              <a:t> 𝐻(𝑧) → </a:t>
            </a:r>
            <a:r>
              <a:rPr lang="ja-JP" altLang="ja-JP" sz="2400"/>
              <a:t>フィルタ係数</a:t>
            </a:r>
            <a:r>
              <a:rPr lang="en-US" altLang="ja-JP" sz="2400"/>
              <a:t> 𝑎</a:t>
            </a:r>
            <a:r>
              <a:rPr lang="en-US" altLang="ja-JP" sz="2400" baseline="-25000"/>
              <a:t>𝑚</a:t>
            </a:r>
            <a:r>
              <a:rPr lang="en-US" altLang="ja-JP" sz="2400"/>
              <a:t>,𝑏</a:t>
            </a:r>
            <a:r>
              <a:rPr lang="en-US" altLang="ja-JP" sz="2400" baseline="-25000"/>
              <a:t>𝑚 </a:t>
            </a:r>
            <a:r>
              <a:rPr lang="en-US" altLang="ja-JP" sz="1050">
                <a:latin typeface="Arial" panose="020B0604020202020204" pitchFamily="34" charset="0"/>
                <a:cs typeface="Arial" panose="020B0604020202020204" pitchFamily="34" charset="0"/>
              </a:rPr>
              <a:t>Bilinear transformation method: Formula for analog filter transfer function </a:t>
            </a:r>
            <a:r>
              <a:rPr lang="ja-JP" altLang="en-US" sz="1050">
                <a:latin typeface="Arial" panose="020B0604020202020204" pitchFamily="34" charset="0"/>
                <a:cs typeface="Arial" panose="020B0604020202020204" pitchFamily="34" charset="0"/>
              </a:rPr>
              <a:t>𝐻</a:t>
            </a:r>
            <a:r>
              <a:rPr lang="en-US" altLang="ja-JP" sz="1050">
                <a:latin typeface="Arial" panose="020B0604020202020204" pitchFamily="34" charset="0"/>
                <a:cs typeface="Arial" panose="020B0604020202020204" pitchFamily="34" charset="0"/>
              </a:rPr>
              <a:t>(</a:t>
            </a:r>
            <a:r>
              <a:rPr lang="ja-JP" altLang="en-US" sz="1050">
                <a:latin typeface="Arial" panose="020B0604020202020204" pitchFamily="34" charset="0"/>
                <a:cs typeface="Arial" panose="020B0604020202020204" pitchFamily="34" charset="0"/>
              </a:rPr>
              <a:t>𝜔</a:t>
            </a:r>
            <a:r>
              <a:rPr lang="en-US" altLang="ja-JP" sz="1050">
                <a:latin typeface="Arial" panose="020B0604020202020204" pitchFamily="34" charset="0"/>
                <a:cs typeface="Arial" panose="020B0604020202020204" pitchFamily="34" charset="0"/>
              </a:rPr>
              <a:t>) → Bilinear transformation → Transfer function </a:t>
            </a:r>
            <a:r>
              <a:rPr lang="ja-JP" altLang="en-US" sz="1050">
                <a:latin typeface="Arial" panose="020B0604020202020204" pitchFamily="34" charset="0"/>
                <a:cs typeface="Arial" panose="020B0604020202020204" pitchFamily="34" charset="0"/>
              </a:rPr>
              <a:t>𝐻</a:t>
            </a:r>
            <a:r>
              <a:rPr lang="en-US" altLang="ja-JP" sz="1050">
                <a:latin typeface="Arial" panose="020B0604020202020204" pitchFamily="34" charset="0"/>
                <a:cs typeface="Arial" panose="020B0604020202020204" pitchFamily="34" charset="0"/>
              </a:rPr>
              <a:t>(</a:t>
            </a:r>
            <a:r>
              <a:rPr lang="ja-JP" altLang="en-US" sz="1050">
                <a:latin typeface="Arial" panose="020B0604020202020204" pitchFamily="34" charset="0"/>
                <a:cs typeface="Arial" panose="020B0604020202020204" pitchFamily="34" charset="0"/>
              </a:rPr>
              <a:t>𝑧</a:t>
            </a:r>
            <a:r>
              <a:rPr lang="en-US" altLang="ja-JP" sz="1050">
                <a:latin typeface="Arial" panose="020B0604020202020204" pitchFamily="34" charset="0"/>
                <a:cs typeface="Arial" panose="020B0604020202020204" pitchFamily="34" charset="0"/>
              </a:rPr>
              <a:t>) → Filter coefficients </a:t>
            </a:r>
            <a:r>
              <a:rPr lang="ja-JP" altLang="en-US" sz="1050">
                <a:latin typeface="Arial" panose="020B0604020202020204" pitchFamily="34" charset="0"/>
                <a:cs typeface="Arial" panose="020B0604020202020204" pitchFamily="34" charset="0"/>
              </a:rPr>
              <a:t>𝑎𝑚</a:t>
            </a:r>
            <a:r>
              <a:rPr lang="en-US" altLang="ja-JP" sz="1050">
                <a:latin typeface="Arial" panose="020B0604020202020204" pitchFamily="34" charset="0"/>
                <a:cs typeface="Arial" panose="020B0604020202020204" pitchFamily="34" charset="0"/>
              </a:rPr>
              <a:t>,</a:t>
            </a:r>
            <a:r>
              <a:rPr lang="ja-JP" altLang="en-US" sz="1050">
                <a:latin typeface="Arial" panose="020B0604020202020204" pitchFamily="34" charset="0"/>
                <a:cs typeface="Arial" panose="020B0604020202020204" pitchFamily="34" charset="0"/>
              </a:rPr>
              <a:t>𝑏𝑚</a:t>
            </a:r>
            <a:endParaRPr lang="en-US" altLang="ja-JP" sz="1050" baseline="-25000">
              <a:latin typeface="Arial" panose="020B0604020202020204" pitchFamily="34" charset="0"/>
              <a:cs typeface="Arial" panose="020B0604020202020204" pitchFamily="34" charset="0"/>
            </a:endParaRPr>
          </a:p>
          <a:p>
            <a:r>
              <a:rPr lang="en-US" altLang="ja-JP" sz="2400">
                <a:sym typeface="Wingdings" panose="05000000000000000000" pitchFamily="2" charset="2"/>
              </a:rPr>
              <a:t>  </a:t>
            </a:r>
            <a:r>
              <a:rPr lang="ja-JP" altLang="ja-JP" sz="2400"/>
              <a:t>厳密解法ではなく近似解法． 補正も必要</a:t>
            </a:r>
            <a:endParaRPr lang="en-US" altLang="ja-JP" sz="2400"/>
          </a:p>
          <a:p>
            <a:r>
              <a:rPr lang="en-US" altLang="ja-JP" sz="1200"/>
              <a:t>            </a:t>
            </a:r>
            <a:r>
              <a:rPr lang="en-US" altLang="ja-JP" sz="1050"/>
              <a:t>Approximate solution, not exact solution. Correction is also required</a:t>
            </a:r>
          </a:p>
          <a:p>
            <a:r>
              <a:rPr lang="ja-JP" altLang="ja-JP" sz="2400"/>
              <a:t>双一次変換の導出</a:t>
            </a:r>
            <a:r>
              <a:rPr lang="ja-JP" altLang="ja-JP"/>
              <a:t>：</a:t>
            </a:r>
            <a:r>
              <a:rPr lang="en-US" altLang="ja-JP"/>
              <a:t> </a:t>
            </a:r>
            <a:endParaRPr lang="en-US" altLang="ja-JP" sz="2800"/>
          </a:p>
          <a:p>
            <a:r>
              <a:rPr lang="en-US" altLang="ja-JP" sz="1050"/>
              <a:t>Derivation of bilinear transformation:</a:t>
            </a:r>
          </a:p>
          <a:p>
            <a:endParaRPr lang="en-US" altLang="ja-JP" sz="1200"/>
          </a:p>
          <a:p>
            <a:endParaRPr lang="en-US" altLang="ja-JP" sz="1200"/>
          </a:p>
          <a:p>
            <a:r>
              <a:rPr lang="ja-JP" altLang="en-US" sz="2400"/>
              <a:t>離散周波数を連続周波数に変換し， テイラー展開の１次近似を利用</a:t>
            </a:r>
            <a:endParaRPr lang="en-US" altLang="ja-JP" sz="2400"/>
          </a:p>
          <a:p>
            <a:r>
              <a:rPr lang="en-US" altLang="ja-JP" sz="1050"/>
              <a:t>Convert discrete frequencies to continuous frequencies and use the first-order approximation of </a:t>
            </a:r>
            <a:r>
              <a:rPr lang="en-US" altLang="ja-JP" sz="1050" b="1"/>
              <a:t>Taylor expansion</a:t>
            </a:r>
            <a:r>
              <a:rPr lang="en-US" altLang="ja-JP" sz="1050"/>
              <a:t>.</a:t>
            </a: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13" name="Rounded Rectangle 18">
            <a:extLst>
              <a:ext uri="{FF2B5EF4-FFF2-40B4-BE49-F238E27FC236}">
                <a16:creationId xmlns:a16="http://schemas.microsoft.com/office/drawing/2014/main" id="{38CC964D-2AE0-C129-77E1-2842C9968624}"/>
              </a:ext>
            </a:extLst>
          </p:cNvPr>
          <p:cNvSpPr/>
          <p:nvPr/>
        </p:nvSpPr>
        <p:spPr>
          <a:xfrm>
            <a:off x="3275216" y="252943"/>
            <a:ext cx="6384174"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a:solidFill>
                  <a:schemeClr val="tx1"/>
                </a:solidFill>
              </a:rPr>
              <a:t>IIR </a:t>
            </a:r>
            <a:r>
              <a:rPr lang="ja-JP" altLang="ja-JP" sz="3200">
                <a:solidFill>
                  <a:schemeClr val="tx1"/>
                </a:solidFill>
              </a:rPr>
              <a:t>フィルタの設計・性質</a:t>
            </a:r>
            <a:r>
              <a:rPr lang="en-US" altLang="ja-JP" sz="3200">
                <a:solidFill>
                  <a:schemeClr val="tx1"/>
                </a:solidFill>
              </a:rPr>
              <a:t> </a:t>
            </a:r>
            <a:r>
              <a:rPr lang="en-US" altLang="ja-JP" sz="1100" b="1">
                <a:solidFill>
                  <a:schemeClr val="tx1"/>
                </a:solidFill>
              </a:rPr>
              <a:t> IIR filter Design and Properties </a:t>
            </a:r>
            <a:r>
              <a:rPr lang="ja-JP" altLang="en-US" sz="3200" b="1">
                <a:solidFill>
                  <a:srgbClr val="FF0000"/>
                </a:solidFill>
              </a:rPr>
              <a:t> </a:t>
            </a:r>
            <a:endParaRPr lang="en-US" sz="3200">
              <a:solidFill>
                <a:srgbClr val="FF0000"/>
              </a:solidFill>
            </a:endParaRPr>
          </a:p>
        </p:txBody>
      </p:sp>
      <p:pic>
        <p:nvPicPr>
          <p:cNvPr id="3" name="図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59980" y="3889416"/>
            <a:ext cx="3167148" cy="1620401"/>
          </a:xfrm>
          <a:prstGeom prst="rect">
            <a:avLst/>
          </a:prstGeom>
        </p:spPr>
      </p:pic>
    </p:spTree>
    <p:extLst>
      <p:ext uri="{BB962C8B-B14F-4D97-AF65-F5344CB8AC3E}">
        <p14:creationId xmlns:p14="http://schemas.microsoft.com/office/powerpoint/2010/main" val="31215556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5047536"/>
          </a:xfrm>
          <a:prstGeom prst="rect">
            <a:avLst/>
          </a:prstGeom>
          <a:noFill/>
        </p:spPr>
        <p:txBody>
          <a:bodyPr wrap="square" rtlCol="0">
            <a:spAutoFit/>
          </a:bodyPr>
          <a:lstStyle/>
          <a:p>
            <a:r>
              <a:rPr lang="ja-JP" altLang="ja-JP" sz="2800"/>
              <a:t>この近似により，</a:t>
            </a:r>
            <a:r>
              <a:rPr lang="en-US" altLang="ja-JP" sz="2800"/>
              <a:t>𝐻(𝜔) </a:t>
            </a:r>
            <a:r>
              <a:rPr lang="ja-JP" altLang="ja-JP" sz="2800"/>
              <a:t>（大抵は</a:t>
            </a:r>
            <a:r>
              <a:rPr lang="en-US" altLang="ja-JP" sz="2800"/>
              <a:t> 𝜔 </a:t>
            </a:r>
            <a:r>
              <a:rPr lang="ja-JP" altLang="ja-JP" sz="2800"/>
              <a:t>の多項式の分数形式）を</a:t>
            </a:r>
            <a:r>
              <a:rPr lang="en-US" altLang="ja-JP" sz="2800"/>
              <a:t> 𝐻(𝑧)</a:t>
            </a:r>
            <a:r>
              <a:rPr lang="ja-JP" altLang="ja-JP" sz="2800"/>
              <a:t>（</a:t>
            </a:r>
            <a:r>
              <a:rPr lang="en-US" altLang="ja-JP" sz="2800"/>
              <a:t>𝑧</a:t>
            </a:r>
            <a:r>
              <a:rPr lang="en-US" altLang="ja-JP" sz="2800" baseline="30000"/>
              <a:t>−1</a:t>
            </a:r>
            <a:r>
              <a:rPr lang="en-US" altLang="ja-JP" sz="2800"/>
              <a:t> </a:t>
            </a:r>
            <a:r>
              <a:rPr lang="ja-JP" altLang="ja-JP" sz="2800"/>
              <a:t>の多項式の分数形式）に変形</a:t>
            </a:r>
            <a:endParaRPr lang="en-US" altLang="ja-JP" sz="2800"/>
          </a:p>
          <a:p>
            <a:r>
              <a:rPr lang="en-US" altLang="ja-JP" sz="1050"/>
              <a:t>This approximation transforms 𝐻(𝜔) (usually the fractional form of a polynomial in 𝜔) into 𝐻(𝑧)</a:t>
            </a:r>
            <a:r>
              <a:rPr lang="ja-JP" altLang="ja-JP" sz="1050"/>
              <a:t>（</a:t>
            </a:r>
            <a:r>
              <a:rPr lang="en-US" altLang="ja-JP" sz="1050"/>
              <a:t>  the fractional form of a polynomial in 𝑧</a:t>
            </a:r>
            <a:r>
              <a:rPr lang="en-US" altLang="ja-JP" sz="1050" baseline="30000"/>
              <a:t>−1</a:t>
            </a:r>
            <a:r>
              <a:rPr lang="en-US" altLang="ja-JP" sz="1050"/>
              <a:t>)</a:t>
            </a:r>
          </a:p>
          <a:p>
            <a:endParaRPr lang="en-US" altLang="ja-JP" sz="1200"/>
          </a:p>
          <a:p>
            <a:r>
              <a:rPr lang="ja-JP" altLang="ja-JP" sz="2800"/>
              <a:t>設計の詳細については，本科目の守備範囲外です．やる気ある人は各自で調査・学習してね</a:t>
            </a:r>
            <a:endParaRPr lang="en-US" altLang="ja-JP" sz="2800"/>
          </a:p>
          <a:p>
            <a:r>
              <a:rPr lang="en-US" altLang="ja-JP" sz="1050"/>
              <a:t>The </a:t>
            </a:r>
            <a:r>
              <a:rPr lang="en-US" altLang="ja-JP" sz="1050" b="1"/>
              <a:t>details of the design </a:t>
            </a:r>
            <a:r>
              <a:rPr lang="en-US" altLang="ja-JP" sz="1050"/>
              <a:t>are beyond the scope of this course. If you are interested, please research and </a:t>
            </a:r>
            <a:r>
              <a:rPr lang="en-US" altLang="ja-JP" sz="1050" b="1"/>
              <a:t>learn on your own</a:t>
            </a:r>
            <a:r>
              <a:rPr lang="en-US" altLang="ja-JP" sz="1050"/>
              <a:t>.</a:t>
            </a:r>
          </a:p>
          <a:p>
            <a:endParaRPr lang="en-US" altLang="ja-JP" sz="1200"/>
          </a:p>
          <a:p>
            <a:pPr lvl="0"/>
            <a:endParaRPr lang="en-US" altLang="ja-JP"/>
          </a:p>
          <a:p>
            <a:pPr lvl="0"/>
            <a:r>
              <a:rPr lang="en-US" altLang="ja-JP" sz="2400"/>
              <a:t>   IIR </a:t>
            </a:r>
            <a:r>
              <a:rPr lang="ja-JP" altLang="ja-JP" sz="2400"/>
              <a:t>フィルタの性質：</a:t>
            </a:r>
            <a:r>
              <a:rPr lang="en-US" altLang="ja-JP" sz="2400"/>
              <a:t> </a:t>
            </a:r>
            <a:r>
              <a:rPr lang="en-US" altLang="ja-JP" sz="1050"/>
              <a:t>Properties of IIR filters</a:t>
            </a:r>
          </a:p>
          <a:p>
            <a:pPr lvl="0"/>
            <a:endParaRPr lang="ja-JP" altLang="ja-JP" sz="1200"/>
          </a:p>
          <a:p>
            <a:pPr lvl="1"/>
            <a:r>
              <a:rPr lang="en-US" altLang="ja-JP" sz="2400"/>
              <a:t>◯ </a:t>
            </a:r>
            <a:r>
              <a:rPr lang="ja-JP" altLang="ja-JP" sz="2400"/>
              <a:t>実装・実行コストが小</a:t>
            </a:r>
            <a:r>
              <a:rPr lang="en-US" altLang="ja-JP" sz="2400"/>
              <a:t> </a:t>
            </a:r>
            <a:r>
              <a:rPr lang="en-US" altLang="ja-JP" sz="1050"/>
              <a:t>Implementation and execution costs are low</a:t>
            </a:r>
            <a:endParaRPr lang="ja-JP" altLang="ja-JP" sz="1050"/>
          </a:p>
          <a:p>
            <a:pPr lvl="1"/>
            <a:r>
              <a:rPr lang="en-US" altLang="ja-JP" sz="2400"/>
              <a:t>× </a:t>
            </a:r>
            <a:r>
              <a:rPr lang="ja-JP" altLang="ja-JP" sz="2400"/>
              <a:t>設計コストが大</a:t>
            </a:r>
            <a:r>
              <a:rPr lang="en-US" altLang="ja-JP" sz="2400"/>
              <a:t>   </a:t>
            </a:r>
            <a:r>
              <a:rPr lang="en-US" altLang="ja-JP" sz="1050">
                <a:latin typeface="Arial" panose="020B0604020202020204" pitchFamily="34" charset="0"/>
                <a:cs typeface="Arial" panose="020B0604020202020204" pitchFamily="34" charset="0"/>
              </a:rPr>
              <a:t>Design costs are high</a:t>
            </a:r>
            <a:endParaRPr lang="ja-JP" altLang="ja-JP" sz="1050">
              <a:latin typeface="Arial" panose="020B0604020202020204" pitchFamily="34" charset="0"/>
              <a:cs typeface="Arial" panose="020B0604020202020204" pitchFamily="34" charset="0"/>
            </a:endParaRPr>
          </a:p>
          <a:p>
            <a:endParaRPr lang="en-US" altLang="ja-JP" sz="1200"/>
          </a:p>
          <a:p>
            <a:endParaRPr lang="en-US" altLang="ja-JP" sz="1200"/>
          </a:p>
          <a:p>
            <a:endParaRPr lang="en-US" altLang="ja-JP" sz="1200"/>
          </a:p>
          <a:p>
            <a:endParaRPr lang="en-US" altLang="ja-JP" sz="1200"/>
          </a:p>
          <a:p>
            <a:endParaRPr lang="en-US" altLang="ja-JP" sz="1200"/>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pic>
        <p:nvPicPr>
          <p:cNvPr id="2" name="図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9026" y="1251298"/>
            <a:ext cx="2369963" cy="816072"/>
          </a:xfrm>
          <a:prstGeom prst="rect">
            <a:avLst/>
          </a:prstGeom>
        </p:spPr>
      </p:pic>
      <p:sp>
        <p:nvSpPr>
          <p:cNvPr id="14" name="Rounded Rectangle 18">
            <a:extLst>
              <a:ext uri="{FF2B5EF4-FFF2-40B4-BE49-F238E27FC236}">
                <a16:creationId xmlns:a16="http://schemas.microsoft.com/office/drawing/2014/main" id="{38CC964D-2AE0-C129-77E1-2842C9968624}"/>
              </a:ext>
            </a:extLst>
          </p:cNvPr>
          <p:cNvSpPr/>
          <p:nvPr/>
        </p:nvSpPr>
        <p:spPr>
          <a:xfrm>
            <a:off x="3275216" y="252943"/>
            <a:ext cx="6384174"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a:solidFill>
                  <a:schemeClr val="tx1"/>
                </a:solidFill>
              </a:rPr>
              <a:t>IIR </a:t>
            </a:r>
            <a:r>
              <a:rPr lang="ja-JP" altLang="ja-JP" sz="3200">
                <a:solidFill>
                  <a:schemeClr val="tx1"/>
                </a:solidFill>
              </a:rPr>
              <a:t>フィルタの設計・性質</a:t>
            </a:r>
            <a:r>
              <a:rPr lang="en-US" altLang="ja-JP" sz="3200">
                <a:solidFill>
                  <a:schemeClr val="tx1"/>
                </a:solidFill>
              </a:rPr>
              <a:t> </a:t>
            </a:r>
            <a:r>
              <a:rPr lang="en-US" altLang="ja-JP" sz="1100" b="1">
                <a:solidFill>
                  <a:schemeClr val="tx1"/>
                </a:solidFill>
              </a:rPr>
              <a:t> IIR filter Design and Properties </a:t>
            </a:r>
            <a:r>
              <a:rPr lang="ja-JP" altLang="en-US" sz="3200" b="1">
                <a:solidFill>
                  <a:srgbClr val="FF0000"/>
                </a:solidFill>
              </a:rPr>
              <a:t> </a:t>
            </a:r>
            <a:endParaRPr lang="en-US" sz="3200">
              <a:solidFill>
                <a:srgbClr val="FF0000"/>
              </a:solidFill>
            </a:endParaRPr>
          </a:p>
        </p:txBody>
      </p:sp>
    </p:spTree>
    <p:extLst>
      <p:ext uri="{BB962C8B-B14F-4D97-AF65-F5344CB8AC3E}">
        <p14:creationId xmlns:p14="http://schemas.microsoft.com/office/powerpoint/2010/main" val="40658431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093428"/>
          </a:xfrm>
          <a:prstGeom prst="rect">
            <a:avLst/>
          </a:prstGeom>
          <a:noFill/>
        </p:spPr>
        <p:txBody>
          <a:bodyPr wrap="square" rtlCol="0">
            <a:spAutoFit/>
          </a:bodyPr>
          <a:lstStyle/>
          <a:p>
            <a:pPr algn="just"/>
            <a:r>
              <a:rPr lang="ja-JP" altLang="en-US" sz="3200" b="1">
                <a:latin typeface="+mj-ea"/>
                <a:ea typeface="+mj-ea"/>
                <a:cs typeface="Times New Roman" panose="02020603050405020304" pitchFamily="18" charset="0"/>
              </a:rPr>
              <a:t>ブロック図：入力スペクトル 𝑋</a:t>
            </a:r>
            <a:r>
              <a:rPr lang="en-US" altLang="ja-JP" sz="3200" b="1">
                <a:latin typeface="+mj-ea"/>
                <a:ea typeface="+mj-ea"/>
                <a:cs typeface="Times New Roman" panose="02020603050405020304" pitchFamily="18" charset="0"/>
              </a:rPr>
              <a:t>(</a:t>
            </a:r>
            <a:r>
              <a:rPr lang="ja-JP" altLang="en-US" sz="3200" b="1">
                <a:latin typeface="+mj-ea"/>
                <a:ea typeface="+mj-ea"/>
                <a:cs typeface="Times New Roman" panose="02020603050405020304" pitchFamily="18" charset="0"/>
              </a:rPr>
              <a:t>𝜔</a:t>
            </a:r>
            <a:r>
              <a:rPr lang="en-US" altLang="ja-JP" sz="3200" b="1">
                <a:latin typeface="+mj-ea"/>
                <a:ea typeface="+mj-ea"/>
                <a:cs typeface="Times New Roman" panose="02020603050405020304" pitchFamily="18" charset="0"/>
              </a:rPr>
              <a:t>) → </a:t>
            </a:r>
            <a:r>
              <a:rPr lang="ja-JP" altLang="en-US" sz="3200" b="1">
                <a:latin typeface="+mj-ea"/>
                <a:ea typeface="+mj-ea"/>
                <a:cs typeface="Times New Roman" panose="02020603050405020304" pitchFamily="18" charset="0"/>
              </a:rPr>
              <a:t>フィルタ 𝐻</a:t>
            </a:r>
            <a:r>
              <a:rPr lang="en-US" altLang="ja-JP" sz="3200" b="1">
                <a:latin typeface="+mj-ea"/>
                <a:ea typeface="+mj-ea"/>
                <a:cs typeface="Times New Roman" panose="02020603050405020304" pitchFamily="18" charset="0"/>
              </a:rPr>
              <a:t>(</a:t>
            </a:r>
            <a:r>
              <a:rPr lang="ja-JP" altLang="en-US" sz="3200" b="1">
                <a:latin typeface="+mj-ea"/>
                <a:ea typeface="+mj-ea"/>
                <a:cs typeface="Times New Roman" panose="02020603050405020304" pitchFamily="18" charset="0"/>
              </a:rPr>
              <a:t>𝜔</a:t>
            </a:r>
            <a:r>
              <a:rPr lang="en-US" altLang="ja-JP" sz="3200" b="1">
                <a:latin typeface="+mj-ea"/>
                <a:ea typeface="+mj-ea"/>
                <a:cs typeface="Times New Roman" panose="02020603050405020304" pitchFamily="18" charset="0"/>
              </a:rPr>
              <a:t>) → </a:t>
            </a:r>
            <a:r>
              <a:rPr lang="ja-JP" altLang="en-US" sz="3200" b="1">
                <a:latin typeface="+mj-ea"/>
                <a:ea typeface="+mj-ea"/>
                <a:cs typeface="Times New Roman" panose="02020603050405020304" pitchFamily="18" charset="0"/>
              </a:rPr>
              <a:t>出力スペクトル </a:t>
            </a:r>
            <a:r>
              <a:rPr lang="en-US" altLang="ja-JP" sz="3200" b="1">
                <a:latin typeface="+mj-ea"/>
                <a:ea typeface="+mj-ea"/>
                <a:cs typeface="Times New Roman" panose="02020603050405020304" pitchFamily="18" charset="0"/>
              </a:rPr>
              <a:t>Y</a:t>
            </a:r>
            <a:r>
              <a:rPr lang="en-US" altLang="ja-JP" sz="3200" b="1">
                <a:latin typeface="+mj-ea"/>
                <a:cs typeface="Times New Roman" panose="02020603050405020304" pitchFamily="18" charset="0"/>
              </a:rPr>
              <a:t>(</a:t>
            </a:r>
            <a:r>
              <a:rPr lang="ja-JP" altLang="en-US" sz="3200" b="1">
                <a:latin typeface="+mj-ea"/>
                <a:cs typeface="Times New Roman" panose="02020603050405020304" pitchFamily="18" charset="0"/>
              </a:rPr>
              <a:t>𝜔</a:t>
            </a:r>
            <a:r>
              <a:rPr lang="en-US" altLang="ja-JP" sz="3200" b="1">
                <a:latin typeface="+mj-ea"/>
                <a:cs typeface="Times New Roman" panose="02020603050405020304" pitchFamily="18" charset="0"/>
              </a:rPr>
              <a:t>) = </a:t>
            </a:r>
            <a:r>
              <a:rPr lang="ja-JP" altLang="en-US" sz="3200" b="1">
                <a:latin typeface="+mj-ea"/>
                <a:cs typeface="Times New Roman" panose="02020603050405020304" pitchFamily="18" charset="0"/>
              </a:rPr>
              <a:t>𝐻</a:t>
            </a:r>
            <a:r>
              <a:rPr lang="en-US" altLang="ja-JP" sz="3200" b="1">
                <a:latin typeface="+mj-ea"/>
                <a:cs typeface="Times New Roman" panose="02020603050405020304" pitchFamily="18" charset="0"/>
              </a:rPr>
              <a:t>(</a:t>
            </a:r>
            <a:r>
              <a:rPr lang="ja-JP" altLang="en-US" sz="3200" b="1">
                <a:latin typeface="+mj-ea"/>
                <a:cs typeface="Times New Roman" panose="02020603050405020304" pitchFamily="18" charset="0"/>
              </a:rPr>
              <a:t>𝜔</a:t>
            </a:r>
            <a:r>
              <a:rPr lang="en-US" altLang="ja-JP" sz="3200" b="1">
                <a:latin typeface="+mj-ea"/>
                <a:cs typeface="Times New Roman" panose="02020603050405020304" pitchFamily="18" charset="0"/>
              </a:rPr>
              <a:t>)</a:t>
            </a:r>
            <a:r>
              <a:rPr lang="ja-JP" altLang="en-US" sz="3200" b="1">
                <a:latin typeface="+mj-ea"/>
                <a:cs typeface="Times New Roman" panose="02020603050405020304" pitchFamily="18" charset="0"/>
              </a:rPr>
              <a:t>𝑋</a:t>
            </a:r>
            <a:r>
              <a:rPr lang="en-US" altLang="ja-JP" sz="3200" b="1">
                <a:latin typeface="+mj-ea"/>
                <a:cs typeface="Times New Roman" panose="02020603050405020304" pitchFamily="18" charset="0"/>
              </a:rPr>
              <a:t>(</a:t>
            </a:r>
            <a:r>
              <a:rPr lang="ja-JP" altLang="en-US" sz="3200" b="1">
                <a:latin typeface="+mj-ea"/>
                <a:cs typeface="Times New Roman" panose="02020603050405020304" pitchFamily="18" charset="0"/>
              </a:rPr>
              <a:t>𝜔</a:t>
            </a:r>
            <a:r>
              <a:rPr lang="en-US" altLang="ja-JP" sz="3200" b="1">
                <a:latin typeface="+mj-ea"/>
                <a:cs typeface="Times New Roman" panose="02020603050405020304" pitchFamily="18" charset="0"/>
              </a:rPr>
              <a:t>) </a:t>
            </a:r>
            <a:endParaRPr lang="en-US" altLang="ja-JP" sz="3200" b="1">
              <a:latin typeface="+mj-ea"/>
              <a:ea typeface="+mj-ea"/>
              <a:cs typeface="Times New Roman" panose="02020603050405020304" pitchFamily="18" charset="0"/>
            </a:endParaRPr>
          </a:p>
          <a:p>
            <a:pPr algn="just"/>
            <a:r>
              <a:rPr lang="en-US" altLang="ja-JP" sz="1200">
                <a:latin typeface="Arial" panose="020B0604020202020204" pitchFamily="34" charset="0"/>
                <a:ea typeface="+mj-ea"/>
                <a:cs typeface="Arial" panose="020B0604020202020204" pitchFamily="34" charset="0"/>
              </a:rPr>
              <a:t>Block diagram : input spectrum </a:t>
            </a:r>
            <a:r>
              <a:rPr lang="ja-JP" altLang="en-US" sz="1200">
                <a:latin typeface="Arial" panose="020B0604020202020204" pitchFamily="34" charset="0"/>
                <a:cs typeface="Arial" panose="020B0604020202020204" pitchFamily="34" charset="0"/>
              </a:rPr>
              <a:t>𝑋</a:t>
            </a:r>
            <a:r>
              <a:rPr lang="en-US" altLang="ja-JP" sz="1200">
                <a:latin typeface="Arial" panose="020B0604020202020204" pitchFamily="34" charset="0"/>
                <a:cs typeface="Arial" panose="020B0604020202020204" pitchFamily="34" charset="0"/>
              </a:rPr>
              <a:t>(</a:t>
            </a:r>
            <a:r>
              <a:rPr lang="ja-JP" altLang="en-US" sz="1200">
                <a:latin typeface="Arial" panose="020B0604020202020204" pitchFamily="34" charset="0"/>
                <a:cs typeface="Arial" panose="020B0604020202020204" pitchFamily="34" charset="0"/>
              </a:rPr>
              <a:t>𝜔</a:t>
            </a:r>
            <a:r>
              <a:rPr lang="en-US" altLang="ja-JP" sz="1200">
                <a:latin typeface="Arial" panose="020B0604020202020204" pitchFamily="34" charset="0"/>
                <a:cs typeface="Arial" panose="020B0604020202020204" pitchFamily="34" charset="0"/>
              </a:rPr>
              <a:t>)  </a:t>
            </a:r>
            <a:r>
              <a:rPr lang="en-US" altLang="ja-JP" sz="1200">
                <a:latin typeface="Arial" panose="020B0604020202020204" pitchFamily="34" charset="0"/>
                <a:cs typeface="Arial" panose="020B0604020202020204" pitchFamily="34" charset="0"/>
                <a:sym typeface="Wingdings" panose="05000000000000000000" pitchFamily="2" charset="2"/>
              </a:rPr>
              <a:t> filter </a:t>
            </a:r>
            <a:r>
              <a:rPr lang="ja-JP" altLang="en-US" sz="1200">
                <a:latin typeface="Arial" panose="020B0604020202020204" pitchFamily="34" charset="0"/>
                <a:cs typeface="Arial" panose="020B0604020202020204" pitchFamily="34" charset="0"/>
              </a:rPr>
              <a:t>𝐻</a:t>
            </a:r>
            <a:r>
              <a:rPr lang="en-US" altLang="ja-JP" sz="1200">
                <a:latin typeface="Arial" panose="020B0604020202020204" pitchFamily="34" charset="0"/>
                <a:cs typeface="Arial" panose="020B0604020202020204" pitchFamily="34" charset="0"/>
              </a:rPr>
              <a:t>(</a:t>
            </a:r>
            <a:r>
              <a:rPr lang="ja-JP" altLang="en-US" sz="1200">
                <a:latin typeface="Arial" panose="020B0604020202020204" pitchFamily="34" charset="0"/>
                <a:cs typeface="Arial" panose="020B0604020202020204" pitchFamily="34" charset="0"/>
              </a:rPr>
              <a:t>𝜔</a:t>
            </a:r>
            <a:r>
              <a:rPr lang="en-US" altLang="ja-JP" sz="1200">
                <a:latin typeface="Arial" panose="020B0604020202020204" pitchFamily="34" charset="0"/>
                <a:cs typeface="Arial" panose="020B0604020202020204" pitchFamily="34" charset="0"/>
              </a:rPr>
              <a:t>) </a:t>
            </a:r>
            <a:r>
              <a:rPr lang="en-US" altLang="ja-JP" sz="1200">
                <a:latin typeface="Arial" panose="020B0604020202020204" pitchFamily="34" charset="0"/>
                <a:cs typeface="Arial" panose="020B0604020202020204" pitchFamily="34" charset="0"/>
                <a:sym typeface="Wingdings" panose="05000000000000000000" pitchFamily="2" charset="2"/>
              </a:rPr>
              <a:t> Output spectrum  </a:t>
            </a:r>
            <a:r>
              <a:rPr lang="en-US" altLang="ja-JP" sz="1200">
                <a:latin typeface="Arial" panose="020B0604020202020204" pitchFamily="34" charset="0"/>
                <a:cs typeface="Arial" panose="020B0604020202020204" pitchFamily="34" charset="0"/>
              </a:rPr>
              <a:t>Y(</a:t>
            </a:r>
            <a:r>
              <a:rPr lang="ja-JP" altLang="en-US" sz="1200">
                <a:latin typeface="Arial" panose="020B0604020202020204" pitchFamily="34" charset="0"/>
                <a:cs typeface="Arial" panose="020B0604020202020204" pitchFamily="34" charset="0"/>
              </a:rPr>
              <a:t>𝜔</a:t>
            </a:r>
            <a:r>
              <a:rPr lang="en-US" altLang="ja-JP" sz="1200">
                <a:latin typeface="Arial" panose="020B0604020202020204" pitchFamily="34" charset="0"/>
                <a:cs typeface="Arial" panose="020B0604020202020204" pitchFamily="34" charset="0"/>
              </a:rPr>
              <a:t>) = </a:t>
            </a:r>
            <a:r>
              <a:rPr lang="ja-JP" altLang="en-US" sz="1200">
                <a:latin typeface="Arial" panose="020B0604020202020204" pitchFamily="34" charset="0"/>
                <a:cs typeface="Arial" panose="020B0604020202020204" pitchFamily="34" charset="0"/>
              </a:rPr>
              <a:t>𝐻</a:t>
            </a:r>
            <a:r>
              <a:rPr lang="en-US" altLang="ja-JP" sz="1200">
                <a:latin typeface="Arial" panose="020B0604020202020204" pitchFamily="34" charset="0"/>
                <a:cs typeface="Arial" panose="020B0604020202020204" pitchFamily="34" charset="0"/>
              </a:rPr>
              <a:t>(</a:t>
            </a:r>
            <a:r>
              <a:rPr lang="ja-JP" altLang="en-US" sz="1200">
                <a:latin typeface="Arial" panose="020B0604020202020204" pitchFamily="34" charset="0"/>
                <a:cs typeface="Arial" panose="020B0604020202020204" pitchFamily="34" charset="0"/>
              </a:rPr>
              <a:t>𝜔</a:t>
            </a:r>
            <a:r>
              <a:rPr lang="en-US" altLang="ja-JP" sz="1200">
                <a:latin typeface="Arial" panose="020B0604020202020204" pitchFamily="34" charset="0"/>
                <a:cs typeface="Arial" panose="020B0604020202020204" pitchFamily="34" charset="0"/>
              </a:rPr>
              <a:t>)</a:t>
            </a:r>
            <a:r>
              <a:rPr lang="ja-JP" altLang="en-US" sz="1200">
                <a:latin typeface="Arial" panose="020B0604020202020204" pitchFamily="34" charset="0"/>
                <a:cs typeface="Arial" panose="020B0604020202020204" pitchFamily="34" charset="0"/>
              </a:rPr>
              <a:t>𝑋</a:t>
            </a:r>
            <a:r>
              <a:rPr lang="en-US" altLang="ja-JP" sz="1200">
                <a:latin typeface="Arial" panose="020B0604020202020204" pitchFamily="34" charset="0"/>
                <a:cs typeface="Arial" panose="020B0604020202020204" pitchFamily="34" charset="0"/>
              </a:rPr>
              <a:t>(</a:t>
            </a:r>
            <a:r>
              <a:rPr lang="ja-JP" altLang="en-US" sz="1200">
                <a:latin typeface="Arial" panose="020B0604020202020204" pitchFamily="34" charset="0"/>
                <a:cs typeface="Arial" panose="020B0604020202020204" pitchFamily="34" charset="0"/>
              </a:rPr>
              <a:t>𝜔</a:t>
            </a:r>
            <a:r>
              <a:rPr lang="en-US" altLang="ja-JP" sz="1200">
                <a:latin typeface="Arial" panose="020B0604020202020204" pitchFamily="34" charset="0"/>
                <a:cs typeface="Arial" panose="020B0604020202020204" pitchFamily="34" charset="0"/>
              </a:rPr>
              <a:t>) </a:t>
            </a:r>
            <a:endParaRPr lang="en-US" altLang="ja-JP" sz="1200">
              <a:latin typeface="Arial" panose="020B0604020202020204" pitchFamily="34" charset="0"/>
              <a:ea typeface="+mj-ea"/>
              <a:cs typeface="Arial" panose="020B0604020202020204" pitchFamily="34" charset="0"/>
            </a:endParaRPr>
          </a:p>
          <a:p>
            <a:pPr algn="just"/>
            <a:endParaRPr lang="en-US" altLang="ja-JP" sz="3200"/>
          </a:p>
          <a:p>
            <a:pPr algn="just"/>
            <a:r>
              <a:rPr lang="ja-JP" altLang="en-US" sz="3200"/>
              <a:t>アナログフィルタの取扱の際に好都合</a:t>
            </a:r>
            <a:endParaRPr lang="en-US" altLang="ja-JP" sz="3200" b="1">
              <a:latin typeface="+mj-ea"/>
              <a:ea typeface="+mj-ea"/>
              <a:cs typeface="Times New Roman" panose="02020603050405020304" pitchFamily="18" charset="0"/>
            </a:endParaRPr>
          </a:p>
          <a:p>
            <a:pPr algn="just"/>
            <a:r>
              <a:rPr lang="en-US" altLang="ja-JP" sz="1200">
                <a:latin typeface="Arial" panose="020B0604020202020204" pitchFamily="34" charset="0"/>
                <a:ea typeface="+mj-ea"/>
                <a:cs typeface="Arial" panose="020B0604020202020204" pitchFamily="34" charset="0"/>
              </a:rPr>
              <a:t>Convenient when working with analog filters</a:t>
            </a:r>
          </a:p>
          <a:p>
            <a:pPr algn="just"/>
            <a:endParaRPr lang="en-US" altLang="ja-JP" sz="3200" b="1">
              <a:latin typeface="+mn-ea"/>
              <a:ea typeface="+mn-ea"/>
            </a:endParaRPr>
          </a:p>
          <a:p>
            <a:pPr algn="just"/>
            <a:r>
              <a:rPr lang="ja-JP" altLang="en-US" sz="3200" b="1">
                <a:latin typeface="+mn-ea"/>
                <a:ea typeface="+mn-ea"/>
              </a:rPr>
              <a:t>ディジタルフィルタ（</a:t>
            </a:r>
            <a:r>
              <a:rPr lang="en-US" altLang="ja-JP" sz="3200" b="1">
                <a:latin typeface="+mn-ea"/>
                <a:ea typeface="+mn-ea"/>
              </a:rPr>
              <a:t>DFT </a:t>
            </a:r>
            <a:r>
              <a:rPr lang="ja-JP" altLang="en-US" sz="3200" b="1">
                <a:latin typeface="+mn-ea"/>
                <a:ea typeface="+mn-ea"/>
              </a:rPr>
              <a:t>フィルタ）の実装にも利用可能だが， 区間毎のバッファ処理となり，レイテンシ </a:t>
            </a:r>
            <a:r>
              <a:rPr lang="en-US" altLang="ja-JP" sz="3200" b="1">
                <a:latin typeface="+mn-ea"/>
                <a:ea typeface="+mn-ea"/>
              </a:rPr>
              <a:t>"latency"</a:t>
            </a:r>
            <a:r>
              <a:rPr lang="ja-JP" altLang="en-US" sz="3200" b="1">
                <a:latin typeface="+mn-ea"/>
                <a:ea typeface="+mn-ea"/>
              </a:rPr>
              <a:t>（処理遅延）が問題</a:t>
            </a:r>
            <a:endParaRPr lang="en-US" altLang="ja-JP" sz="3200" b="1">
              <a:latin typeface="+mn-ea"/>
              <a:ea typeface="+mn-ea"/>
            </a:endParaRPr>
          </a:p>
          <a:p>
            <a:pPr algn="just"/>
            <a:r>
              <a:rPr lang="en-US" altLang="ja-JP" sz="1200">
                <a:latin typeface="Arial" panose="020B0604020202020204" pitchFamily="34" charset="0"/>
                <a:ea typeface="+mn-ea"/>
                <a:cs typeface="Arial" panose="020B0604020202020204" pitchFamily="34" charset="0"/>
              </a:rPr>
              <a:t>It can also be used to implement digital filters (DFT filters) but because buffer processing is performed for each section, latency(</a:t>
            </a:r>
            <a:r>
              <a:rPr lang="en-US" altLang="ja-JP" sz="1200" b="1">
                <a:latin typeface="Arial" panose="020B0604020202020204" pitchFamily="34" charset="0"/>
                <a:ea typeface="+mn-ea"/>
                <a:cs typeface="Arial" panose="020B0604020202020204" pitchFamily="34" charset="0"/>
              </a:rPr>
              <a:t>processing delay</a:t>
            </a:r>
            <a:r>
              <a:rPr lang="en-US" altLang="ja-JP" sz="1200">
                <a:latin typeface="Arial" panose="020B0604020202020204" pitchFamily="34" charset="0"/>
                <a:ea typeface="+mn-ea"/>
                <a:cs typeface="Arial" panose="020B0604020202020204" pitchFamily="34" charset="0"/>
              </a:rPr>
              <a:t>) is an issue</a:t>
            </a: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pic>
        <p:nvPicPr>
          <p:cNvPr id="3" name="図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96429" y="2703381"/>
            <a:ext cx="3086531" cy="809738"/>
          </a:xfrm>
          <a:prstGeom prst="rect">
            <a:avLst/>
          </a:prstGeom>
        </p:spPr>
      </p:pic>
      <p:pic>
        <p:nvPicPr>
          <p:cNvPr id="6" name="図 2">
            <a:extLst>
              <a:ext uri="{FF2B5EF4-FFF2-40B4-BE49-F238E27FC236}">
                <a16:creationId xmlns:a16="http://schemas.microsoft.com/office/drawing/2014/main" id="{FC71CB6E-DDAE-4CA4-EA11-386C63B9361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77743" y="3616625"/>
            <a:ext cx="4618995" cy="1148541"/>
          </a:xfrm>
          <a:prstGeom prst="rect">
            <a:avLst/>
          </a:prstGeom>
        </p:spPr>
      </p:pic>
      <p:pic>
        <p:nvPicPr>
          <p:cNvPr id="14" name="Picture 7">
            <a:extLst>
              <a:ext uri="{FF2B5EF4-FFF2-40B4-BE49-F238E27FC236}">
                <a16:creationId xmlns:a16="http://schemas.microsoft.com/office/drawing/2014/main" id="{EEDFA962-55FE-E666-1000-1335B08BDFB5}"/>
              </a:ext>
            </a:extLst>
          </p:cNvPr>
          <p:cNvPicPr>
            <a:picLocks noChangeAspect="1"/>
          </p:cNvPicPr>
          <p:nvPr/>
        </p:nvPicPr>
        <p:blipFill>
          <a:blip r:embed="rId7"/>
          <a:stretch>
            <a:fillRect/>
          </a:stretch>
        </p:blipFill>
        <p:spPr>
          <a:xfrm>
            <a:off x="9762350" y="1118584"/>
            <a:ext cx="2034388" cy="905721"/>
          </a:xfrm>
          <a:prstGeom prst="rect">
            <a:avLst/>
          </a:prstGeom>
        </p:spPr>
      </p:pic>
      <p:sp>
        <p:nvSpPr>
          <p:cNvPr id="15" name="Rounded Rectangle 18">
            <a:extLst>
              <a:ext uri="{FF2B5EF4-FFF2-40B4-BE49-F238E27FC236}">
                <a16:creationId xmlns:a16="http://schemas.microsoft.com/office/drawing/2014/main" id="{38CC964D-2AE0-C129-77E1-2842C9968624}"/>
              </a:ext>
            </a:extLst>
          </p:cNvPr>
          <p:cNvSpPr/>
          <p:nvPr/>
        </p:nvSpPr>
        <p:spPr>
          <a:xfrm>
            <a:off x="3275216" y="252943"/>
            <a:ext cx="6384174"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a:solidFill>
                  <a:schemeClr val="tx1"/>
                </a:solidFill>
              </a:rPr>
              <a:t>IIR </a:t>
            </a:r>
            <a:r>
              <a:rPr lang="ja-JP" altLang="ja-JP" sz="3200">
                <a:solidFill>
                  <a:schemeClr val="tx1"/>
                </a:solidFill>
              </a:rPr>
              <a:t>フィルタの設計・性質</a:t>
            </a:r>
            <a:r>
              <a:rPr lang="en-US" altLang="ja-JP" sz="3200">
                <a:solidFill>
                  <a:schemeClr val="tx1"/>
                </a:solidFill>
              </a:rPr>
              <a:t> </a:t>
            </a:r>
            <a:r>
              <a:rPr lang="en-US" altLang="ja-JP" sz="1100" b="1">
                <a:solidFill>
                  <a:schemeClr val="tx1"/>
                </a:solidFill>
              </a:rPr>
              <a:t> IIR filter Design and Properties </a:t>
            </a:r>
            <a:r>
              <a:rPr lang="ja-JP" altLang="en-US" sz="3200" b="1">
                <a:solidFill>
                  <a:srgbClr val="FF0000"/>
                </a:solidFill>
              </a:rPr>
              <a:t> </a:t>
            </a:r>
            <a:endParaRPr lang="en-US" sz="3200">
              <a:solidFill>
                <a:srgbClr val="FF0000"/>
              </a:solidFill>
            </a:endParaRPr>
          </a:p>
        </p:txBody>
      </p:sp>
    </p:spTree>
    <p:extLst>
      <p:ext uri="{BB962C8B-B14F-4D97-AF65-F5344CB8AC3E}">
        <p14:creationId xmlns:p14="http://schemas.microsoft.com/office/powerpoint/2010/main" val="20619575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2985433"/>
          </a:xfrm>
          <a:prstGeom prst="rect">
            <a:avLst/>
          </a:prstGeom>
          <a:noFill/>
        </p:spPr>
        <p:txBody>
          <a:bodyPr wrap="square" rtlCol="0">
            <a:spAutoFit/>
          </a:bodyPr>
          <a:lstStyle/>
          <a:p>
            <a:pPr algn="just"/>
            <a:r>
              <a:rPr lang="ja-JP" altLang="en-US" sz="3200">
                <a:latin typeface="Arial" panose="020B0604020202020204" pitchFamily="34" charset="0"/>
                <a:cs typeface="Arial" panose="020B0604020202020204" pitchFamily="34" charset="0"/>
              </a:rPr>
              <a:t>伝達関数の具体的な数式の定義は容易</a:t>
            </a:r>
            <a:endParaRPr lang="en-US" altLang="ja-JP" sz="3200">
              <a:latin typeface="Arial" panose="020B0604020202020204" pitchFamily="34" charset="0"/>
              <a:cs typeface="Arial" panose="020B0604020202020204" pitchFamily="34" charset="0"/>
            </a:endParaRPr>
          </a:p>
          <a:p>
            <a:pPr algn="just"/>
            <a:r>
              <a:rPr lang="en-US" altLang="ja-JP" sz="1200">
                <a:latin typeface="Arial" panose="020B0604020202020204" pitchFamily="34" charset="0"/>
                <a:cs typeface="Arial" panose="020B0604020202020204" pitchFamily="34" charset="0"/>
              </a:rPr>
              <a:t>It is easy to define the specific formula for the transfer function</a:t>
            </a:r>
          </a:p>
          <a:p>
            <a:pPr algn="just"/>
            <a:endParaRPr lang="en-US" altLang="ja-JP" sz="1200">
              <a:latin typeface="Arial" panose="020B0604020202020204" pitchFamily="34" charset="0"/>
              <a:cs typeface="Arial" panose="020B0604020202020204" pitchFamily="34" charset="0"/>
            </a:endParaRPr>
          </a:p>
          <a:p>
            <a:pPr algn="just"/>
            <a:endParaRPr lang="en-US" altLang="ja-JP" sz="3200">
              <a:latin typeface="Arial" panose="020B0604020202020204" pitchFamily="34" charset="0"/>
              <a:cs typeface="Arial" panose="020B0604020202020204" pitchFamily="34" charset="0"/>
            </a:endParaRPr>
          </a:p>
          <a:p>
            <a:pPr algn="just"/>
            <a:r>
              <a:rPr lang="ja-JP" altLang="en-US" sz="3200">
                <a:latin typeface="Arial" panose="020B0604020202020204" pitchFamily="34" charset="0"/>
                <a:cs typeface="Arial" panose="020B0604020202020204" pitchFamily="34" charset="0"/>
              </a:rPr>
              <a:t>周波数（単独の数値）を引数とした普通の関数． 適当（</a:t>
            </a:r>
            <a:r>
              <a:rPr lang="en-US" altLang="ja-JP" sz="3200">
                <a:latin typeface="Arial" panose="020B0604020202020204" pitchFamily="34" charset="0"/>
                <a:cs typeface="Arial" panose="020B0604020202020204" pitchFamily="34" charset="0"/>
              </a:rPr>
              <a:t>LPF</a:t>
            </a:r>
            <a:r>
              <a:rPr lang="ja-JP" altLang="en-US" sz="3200">
                <a:latin typeface="Arial" panose="020B0604020202020204" pitchFamily="34" charset="0"/>
                <a:cs typeface="Arial" panose="020B0604020202020204" pitchFamily="34" charset="0"/>
              </a:rPr>
              <a:t>とか</a:t>
            </a:r>
            <a:r>
              <a:rPr lang="en-US" altLang="ja-JP" sz="3200">
                <a:latin typeface="Arial" panose="020B0604020202020204" pitchFamily="34" charset="0"/>
                <a:cs typeface="Arial" panose="020B0604020202020204" pitchFamily="34" charset="0"/>
              </a:rPr>
              <a:t>BEF</a:t>
            </a:r>
            <a:r>
              <a:rPr lang="ja-JP" altLang="en-US" sz="3200">
                <a:latin typeface="Arial" panose="020B0604020202020204" pitchFamily="34" charset="0"/>
                <a:cs typeface="Arial" panose="020B0604020202020204" pitchFamily="34" charset="0"/>
              </a:rPr>
              <a:t>とか所望の特性を表すよう）な数式を定義すれば </a:t>
            </a:r>
            <a:r>
              <a:rPr lang="en-US" altLang="ja-JP" sz="3200">
                <a:latin typeface="Arial" panose="020B0604020202020204" pitchFamily="34" charset="0"/>
                <a:cs typeface="Arial" panose="020B0604020202020204" pitchFamily="34" charset="0"/>
              </a:rPr>
              <a:t>OK</a:t>
            </a:r>
          </a:p>
          <a:p>
            <a:pPr algn="just"/>
            <a:r>
              <a:rPr lang="en-US" altLang="ja-JP" sz="1200">
                <a:latin typeface="Arial" panose="020B0604020202020204" pitchFamily="34" charset="0"/>
                <a:cs typeface="Arial" panose="020B0604020202020204" pitchFamily="34" charset="0"/>
              </a:rPr>
              <a:t>It is a normal function with frequency (a single numerical value) as an argument. Just define an appropriate formula (such as LPF or BEF, which represents the desired characteristics) and you’re good to go. </a:t>
            </a:r>
          </a:p>
          <a:p>
            <a:pPr algn="just"/>
            <a:endParaRPr lang="en-US" altLang="ja-JP" sz="1200" b="1">
              <a:latin typeface="+mj-ea"/>
              <a:ea typeface="+mj-ea"/>
              <a:cs typeface="Times New Roman" panose="02020603050405020304" pitchFamily="18"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4072546" y="252943"/>
            <a:ext cx="4773270"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altLang="en-US" sz="3200">
                <a:solidFill>
                  <a:schemeClr val="tx1"/>
                </a:solidFill>
              </a:rPr>
              <a:t>基礎知識</a:t>
            </a:r>
            <a:r>
              <a:rPr lang="en-US" altLang="ja-JP" sz="1100" b="1">
                <a:solidFill>
                  <a:schemeClr val="tx1"/>
                </a:solidFill>
              </a:rPr>
              <a:t>Basic Knowledge</a:t>
            </a:r>
            <a:r>
              <a:rPr lang="ja-JP" altLang="en-US" sz="3200" b="1">
                <a:solidFill>
                  <a:srgbClr val="FF0000"/>
                </a:solidFill>
              </a:rPr>
              <a:t> </a:t>
            </a:r>
            <a:endParaRPr lang="en-US" sz="3200">
              <a:solidFill>
                <a:srgbClr val="FF0000"/>
              </a:solidFill>
            </a:endParaRPr>
          </a:p>
        </p:txBody>
      </p:sp>
    </p:spTree>
    <p:extLst>
      <p:ext uri="{BB962C8B-B14F-4D97-AF65-F5344CB8AC3E}">
        <p14:creationId xmlns:p14="http://schemas.microsoft.com/office/powerpoint/2010/main" val="9414508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093428"/>
          </a:xfrm>
          <a:prstGeom prst="rect">
            <a:avLst/>
          </a:prstGeom>
          <a:noFill/>
        </p:spPr>
        <p:txBody>
          <a:bodyPr wrap="square" rtlCol="0">
            <a:spAutoFit/>
          </a:bodyPr>
          <a:lstStyle/>
          <a:p>
            <a:pPr algn="just"/>
            <a:r>
              <a:rPr lang="ja-JP" altLang="en-US" sz="3200">
                <a:latin typeface="Arial" panose="020B0604020202020204" pitchFamily="34" charset="0"/>
                <a:cs typeface="Arial" panose="020B0604020202020204" pitchFamily="34" charset="0"/>
              </a:rPr>
              <a:t>時間応答 </a:t>
            </a:r>
            <a:r>
              <a:rPr lang="en-US" altLang="ja-JP" sz="3200">
                <a:latin typeface="Arial" panose="020B0604020202020204" pitchFamily="34" charset="0"/>
                <a:cs typeface="Arial" panose="020B0604020202020204" pitchFamily="34" charset="0"/>
              </a:rPr>
              <a:t>"temporal response"</a:t>
            </a:r>
            <a:r>
              <a:rPr lang="ja-JP" altLang="en-US" sz="3200">
                <a:latin typeface="Arial" panose="020B0604020202020204" pitchFamily="34" charset="0"/>
                <a:cs typeface="Arial" panose="020B0604020202020204" pitchFamily="34" charset="0"/>
              </a:rPr>
              <a:t>： 時間波形的な入出力の関係で表現</a:t>
            </a:r>
            <a:endParaRPr lang="en-US" altLang="ja-JP" sz="3200">
              <a:latin typeface="Arial" panose="020B0604020202020204" pitchFamily="34" charset="0"/>
              <a:cs typeface="Arial" panose="020B0604020202020204" pitchFamily="34" charset="0"/>
            </a:endParaRPr>
          </a:p>
          <a:p>
            <a:pPr algn="just"/>
            <a:r>
              <a:rPr lang="en-US" altLang="ja-JP" sz="1200">
                <a:latin typeface="Arial" panose="020B0604020202020204" pitchFamily="34" charset="0"/>
                <a:cs typeface="Arial" panose="020B0604020202020204" pitchFamily="34" charset="0"/>
              </a:rPr>
              <a:t>Temporal response: Expressed as a time waveform relationship between input and output. </a:t>
            </a:r>
          </a:p>
          <a:p>
            <a:pPr algn="just"/>
            <a:r>
              <a:rPr lang="ja-JP" altLang="en-US" sz="3200">
                <a:latin typeface="Arial" panose="020B0604020202020204" pitchFamily="34" charset="0"/>
                <a:cs typeface="Arial" panose="020B0604020202020204" pitchFamily="34" charset="0"/>
              </a:rPr>
              <a:t>応答関数 </a:t>
            </a:r>
            <a:r>
              <a:rPr lang="en-US" altLang="ja-JP" sz="3200">
                <a:latin typeface="Arial" panose="020B0604020202020204" pitchFamily="34" charset="0"/>
                <a:cs typeface="Arial" panose="020B0604020202020204" pitchFamily="34" charset="0"/>
              </a:rPr>
              <a:t>"response</a:t>
            </a:r>
          </a:p>
          <a:p>
            <a:r>
              <a:rPr lang="ja-JP" altLang="en-US" sz="3200"/>
              <a:t>ブロック図：入力波形 𝑥</a:t>
            </a:r>
            <a:r>
              <a:rPr lang="en-US" altLang="ja-JP" sz="3200"/>
              <a:t>(</a:t>
            </a:r>
            <a:r>
              <a:rPr lang="ja-JP" altLang="en-US" sz="3200"/>
              <a:t>𝑡</a:t>
            </a:r>
            <a:r>
              <a:rPr lang="en-US" altLang="ja-JP" sz="3200"/>
              <a:t>) → </a:t>
            </a:r>
            <a:r>
              <a:rPr lang="ja-JP" altLang="en-US" sz="3200"/>
              <a:t>フィルタ </a:t>
            </a:r>
            <a:r>
              <a:rPr lang="en-US" altLang="ja-JP" sz="3200"/>
              <a:t>ℎ(</a:t>
            </a:r>
            <a:r>
              <a:rPr lang="ja-JP" altLang="en-US" sz="3200"/>
              <a:t>𝑥</a:t>
            </a:r>
            <a:r>
              <a:rPr lang="en-US" altLang="ja-JP" sz="3200"/>
              <a:t>) → </a:t>
            </a:r>
            <a:r>
              <a:rPr lang="ja-JP" altLang="en-US" sz="3200"/>
              <a:t>出力波形 𝑦</a:t>
            </a:r>
            <a:r>
              <a:rPr lang="en-US" altLang="ja-JP" sz="3200"/>
              <a:t>(</a:t>
            </a:r>
            <a:r>
              <a:rPr lang="ja-JP" altLang="en-US" sz="3200"/>
              <a:t>𝑡</a:t>
            </a:r>
            <a:r>
              <a:rPr lang="en-US" altLang="ja-JP" sz="3200"/>
              <a:t>)=ℎ(</a:t>
            </a:r>
            <a:r>
              <a:rPr lang="ja-JP" altLang="en-US" sz="3200"/>
              <a:t>𝑥</a:t>
            </a:r>
            <a:r>
              <a:rPr lang="en-US" altLang="ja-JP" sz="3200"/>
              <a:t>(</a:t>
            </a:r>
            <a:r>
              <a:rPr lang="ja-JP" altLang="en-US" sz="3200"/>
              <a:t>𝑡</a:t>
            </a:r>
            <a:r>
              <a:rPr lang="en-US" altLang="ja-JP" sz="3200"/>
              <a:t>))</a:t>
            </a:r>
          </a:p>
          <a:p>
            <a:r>
              <a:rPr lang="en-US" altLang="ja-JP" sz="1200"/>
              <a:t>Block diagram: Input waveform </a:t>
            </a:r>
            <a:r>
              <a:rPr lang="ja-JP" altLang="en-US" sz="1200"/>
              <a:t>𝑥</a:t>
            </a:r>
            <a:r>
              <a:rPr lang="en-US" altLang="ja-JP" sz="1200"/>
              <a:t>(</a:t>
            </a:r>
            <a:r>
              <a:rPr lang="ja-JP" altLang="en-US" sz="1200"/>
              <a:t>𝑡</a:t>
            </a:r>
            <a:r>
              <a:rPr lang="en-US" altLang="ja-JP" sz="1200"/>
              <a:t>) → filter ℎ(</a:t>
            </a:r>
            <a:r>
              <a:rPr lang="ja-JP" altLang="en-US" sz="1200"/>
              <a:t>𝑥</a:t>
            </a:r>
            <a:r>
              <a:rPr lang="en-US" altLang="ja-JP" sz="1200"/>
              <a:t>) → Output waveform </a:t>
            </a:r>
            <a:r>
              <a:rPr lang="ja-JP" altLang="en-US" sz="1200"/>
              <a:t>𝑦</a:t>
            </a:r>
            <a:r>
              <a:rPr lang="en-US" altLang="ja-JP" sz="1200"/>
              <a:t>(</a:t>
            </a:r>
            <a:r>
              <a:rPr lang="ja-JP" altLang="en-US" sz="1200"/>
              <a:t>𝑡</a:t>
            </a:r>
            <a:r>
              <a:rPr lang="en-US" altLang="ja-JP" sz="1200"/>
              <a:t>)=ℎ(</a:t>
            </a:r>
            <a:r>
              <a:rPr lang="ja-JP" altLang="en-US" sz="1200"/>
              <a:t>𝑥</a:t>
            </a:r>
            <a:r>
              <a:rPr lang="en-US" altLang="ja-JP" sz="1200"/>
              <a:t>(</a:t>
            </a:r>
            <a:r>
              <a:rPr lang="ja-JP" altLang="en-US" sz="1200"/>
              <a:t>𝑡</a:t>
            </a:r>
            <a:r>
              <a:rPr lang="en-US" altLang="ja-JP" sz="1200"/>
              <a:t>))</a:t>
            </a:r>
          </a:p>
          <a:p>
            <a:endParaRPr lang="en-US" altLang="ja-JP" sz="3200"/>
          </a:p>
          <a:p>
            <a:r>
              <a:rPr lang="ja-JP" altLang="en-US" sz="3200"/>
              <a:t>応答関数をどのように定義すれば？</a:t>
            </a:r>
            <a:r>
              <a:rPr lang="en-US" altLang="ja-JP" sz="1200">
                <a:latin typeface="Arial" panose="020B0604020202020204" pitchFamily="34" charset="0"/>
                <a:cs typeface="Arial" panose="020B0604020202020204" pitchFamily="34" charset="0"/>
              </a:rPr>
              <a:t>How do we define the response function? </a:t>
            </a:r>
            <a:endParaRPr lang="ja-JP" altLang="en-US" sz="3200">
              <a:solidFill>
                <a:srgbClr val="FF0000"/>
              </a:solidFill>
            </a:endParaRPr>
          </a:p>
          <a:p>
            <a:pPr algn="just"/>
            <a:r>
              <a:rPr lang="ja-JP" altLang="en-US" sz="3200" b="1">
                <a:latin typeface="Arial" panose="020B0604020202020204" pitchFamily="34" charset="0"/>
                <a:ea typeface="+mj-ea"/>
                <a:cs typeface="Arial" panose="020B0604020202020204" pitchFamily="34" charset="0"/>
              </a:rPr>
              <a:t>波形（関数，数値列）を引数とする特殊な関数（汎関数と云われるもの）ですよ</a:t>
            </a:r>
            <a:r>
              <a:rPr lang="en-US" altLang="ja-JP" sz="3200" b="1">
                <a:latin typeface="Arial" panose="020B0604020202020204" pitchFamily="34" charset="0"/>
                <a:ea typeface="+mj-ea"/>
                <a:cs typeface="Arial" panose="020B0604020202020204" pitchFamily="34" charset="0"/>
              </a:rPr>
              <a:t>.    → </a:t>
            </a:r>
            <a:r>
              <a:rPr lang="ja-JP" altLang="en-US" sz="3200" b="1">
                <a:latin typeface="Arial" panose="020B0604020202020204" pitchFamily="34" charset="0"/>
                <a:ea typeface="+mj-ea"/>
                <a:cs typeface="Arial" panose="020B0604020202020204" pitchFamily="34" charset="0"/>
              </a:rPr>
              <a:t>インパルス応答と </a:t>
            </a:r>
            <a:r>
              <a:rPr lang="en-US" altLang="ja-JP" sz="3200" b="1">
                <a:latin typeface="Arial" panose="020B0604020202020204" pitchFamily="34" charset="0"/>
                <a:ea typeface="+mj-ea"/>
                <a:cs typeface="Arial" panose="020B0604020202020204" pitchFamily="34" charset="0"/>
              </a:rPr>
              <a:t>Z </a:t>
            </a:r>
            <a:r>
              <a:rPr lang="ja-JP" altLang="en-US" sz="3200" b="1">
                <a:latin typeface="Arial" panose="020B0604020202020204" pitchFamily="34" charset="0"/>
                <a:ea typeface="+mj-ea"/>
                <a:cs typeface="Arial" panose="020B0604020202020204" pitchFamily="34" charset="0"/>
              </a:rPr>
              <a:t>変換を利用</a:t>
            </a:r>
            <a:endParaRPr lang="en-US" altLang="ja-JP" sz="3200" b="1">
              <a:latin typeface="Arial" panose="020B0604020202020204" pitchFamily="34" charset="0"/>
              <a:ea typeface="+mj-ea"/>
              <a:cs typeface="Arial" panose="020B0604020202020204" pitchFamily="34" charset="0"/>
            </a:endParaRPr>
          </a:p>
          <a:p>
            <a:pPr algn="just"/>
            <a:r>
              <a:rPr lang="en-US" altLang="ja-JP" sz="1200">
                <a:latin typeface="Arial" panose="020B0604020202020204" pitchFamily="34" charset="0"/>
                <a:ea typeface="+mj-ea"/>
                <a:cs typeface="Arial" panose="020B0604020202020204" pitchFamily="34" charset="0"/>
              </a:rPr>
              <a:t>It is a special function (</a:t>
            </a:r>
            <a:r>
              <a:rPr lang="en-US" altLang="ja-JP" sz="1200" b="1">
                <a:latin typeface="Arial" panose="020B0604020202020204" pitchFamily="34" charset="0"/>
                <a:ea typeface="+mj-ea"/>
                <a:cs typeface="Arial" panose="020B0604020202020204" pitchFamily="34" charset="0"/>
              </a:rPr>
              <a:t>called a functional</a:t>
            </a:r>
            <a:r>
              <a:rPr lang="en-US" altLang="ja-JP" sz="1200">
                <a:latin typeface="Arial" panose="020B0604020202020204" pitchFamily="34" charset="0"/>
                <a:ea typeface="+mj-ea"/>
                <a:cs typeface="Arial" panose="020B0604020202020204" pitchFamily="34" charset="0"/>
              </a:rPr>
              <a:t>) that takes a waveform (function, numeric sequence) as an argument. </a:t>
            </a:r>
            <a:r>
              <a:rPr lang="en-US" altLang="ja-JP" sz="1200">
                <a:latin typeface="Arial" panose="020B0604020202020204" pitchFamily="34" charset="0"/>
                <a:ea typeface="+mj-ea"/>
                <a:cs typeface="Arial" panose="020B0604020202020204" pitchFamily="34" charset="0"/>
                <a:sym typeface="Wingdings" panose="05000000000000000000" pitchFamily="2" charset="2"/>
              </a:rPr>
              <a:t> Use impulse response and </a:t>
            </a:r>
            <a:r>
              <a:rPr lang="en-US" altLang="ja-JP" sz="1200" b="1">
                <a:latin typeface="Arial" panose="020B0604020202020204" pitchFamily="34" charset="0"/>
                <a:ea typeface="+mj-ea"/>
                <a:cs typeface="Arial" panose="020B0604020202020204" pitchFamily="34" charset="0"/>
                <a:sym typeface="Wingdings" panose="05000000000000000000" pitchFamily="2" charset="2"/>
              </a:rPr>
              <a:t>Z transform</a:t>
            </a:r>
            <a:endParaRPr lang="en-US" altLang="ja-JP" sz="1200" b="1">
              <a:latin typeface="Arial" panose="020B0604020202020204" pitchFamily="34" charset="0"/>
              <a:ea typeface="+mj-ea"/>
              <a:cs typeface="Arial" panose="020B0604020202020204" pitchFamily="34"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4072546" y="252943"/>
            <a:ext cx="4773270"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altLang="en-US" sz="3200">
                <a:solidFill>
                  <a:schemeClr val="tx1"/>
                </a:solidFill>
              </a:rPr>
              <a:t>基礎知識</a:t>
            </a:r>
            <a:r>
              <a:rPr lang="en-US" altLang="ja-JP" sz="1100" b="1">
                <a:solidFill>
                  <a:schemeClr val="tx1"/>
                </a:solidFill>
              </a:rPr>
              <a:t>Basic Knowledge</a:t>
            </a:r>
            <a:r>
              <a:rPr lang="ja-JP" altLang="en-US" sz="3200" b="1">
                <a:solidFill>
                  <a:srgbClr val="FF0000"/>
                </a:solidFill>
              </a:rPr>
              <a:t> </a:t>
            </a:r>
            <a:endParaRPr lang="en-US" sz="3200">
              <a:solidFill>
                <a:srgbClr val="FF0000"/>
              </a:solidFill>
            </a:endParaRPr>
          </a:p>
        </p:txBody>
      </p:sp>
      <p:pic>
        <p:nvPicPr>
          <p:cNvPr id="3" name="図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77513" y="2822070"/>
            <a:ext cx="2191056" cy="628738"/>
          </a:xfrm>
          <a:prstGeom prst="rect">
            <a:avLst/>
          </a:prstGeom>
        </p:spPr>
      </p:pic>
    </p:spTree>
    <p:extLst>
      <p:ext uri="{BB962C8B-B14F-4D97-AF65-F5344CB8AC3E}">
        <p14:creationId xmlns:p14="http://schemas.microsoft.com/office/powerpoint/2010/main" val="31958162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2985433"/>
          </a:xfrm>
          <a:prstGeom prst="rect">
            <a:avLst/>
          </a:prstGeom>
          <a:noFill/>
        </p:spPr>
        <p:txBody>
          <a:bodyPr wrap="square" rtlCol="0">
            <a:spAutoFit/>
          </a:bodyPr>
          <a:lstStyle/>
          <a:p>
            <a:pPr algn="just"/>
            <a:r>
              <a:rPr lang="ja-JP" altLang="en-US" sz="3200" b="1">
                <a:latin typeface="+mj-ea"/>
                <a:ea typeface="+mj-ea"/>
                <a:cs typeface="Times New Roman" panose="02020603050405020304" pitchFamily="18" charset="0"/>
              </a:rPr>
              <a:t>インパルス </a:t>
            </a:r>
            <a:r>
              <a:rPr lang="en-US" altLang="ja-JP" sz="3200" b="1">
                <a:latin typeface="+mj-ea"/>
                <a:ea typeface="+mj-ea"/>
                <a:cs typeface="Times New Roman" panose="02020603050405020304" pitchFamily="18" charset="0"/>
              </a:rPr>
              <a:t>"impulse"</a:t>
            </a:r>
            <a:r>
              <a:rPr lang="ja-JP" altLang="en-US" sz="3200" b="1">
                <a:latin typeface="+mj-ea"/>
                <a:ea typeface="+mj-ea"/>
                <a:cs typeface="Times New Roman" panose="02020603050405020304" pitchFamily="18" charset="0"/>
              </a:rPr>
              <a:t>（一瞬だけのパルス）入力に対するフィルタ出力</a:t>
            </a:r>
            <a:r>
              <a:rPr lang="en-US" altLang="ja-JP" sz="1200"/>
              <a:t>Filter output for impulse input.</a:t>
            </a:r>
          </a:p>
          <a:p>
            <a:pPr algn="just"/>
            <a:endParaRPr lang="en-US" altLang="ja-JP" sz="1200" b="1">
              <a:latin typeface="+mj-ea"/>
              <a:ea typeface="+mj-ea"/>
              <a:cs typeface="Times New Roman" panose="02020603050405020304" pitchFamily="18" charset="0"/>
            </a:endParaRPr>
          </a:p>
          <a:p>
            <a:pPr algn="just"/>
            <a:r>
              <a:rPr lang="ja-JP" altLang="en-US" sz="3200" b="1">
                <a:latin typeface="+mj-ea"/>
                <a:ea typeface="+mj-ea"/>
                <a:cs typeface="Times New Roman" panose="02020603050405020304" pitchFamily="18" charset="0"/>
              </a:rPr>
              <a:t>複数のインパルスの遅延・定数倍・総和で任意の波形を表現可能．</a:t>
            </a:r>
            <a:endParaRPr lang="en-US" altLang="ja-JP" sz="3200" b="1">
              <a:latin typeface="+mj-ea"/>
              <a:ea typeface="+mj-ea"/>
              <a:cs typeface="Times New Roman" panose="02020603050405020304" pitchFamily="18" charset="0"/>
            </a:endParaRPr>
          </a:p>
          <a:p>
            <a:pPr algn="just"/>
            <a:r>
              <a:rPr lang="en-US" altLang="ja-JP" sz="1200">
                <a:latin typeface="Arial" panose="020B0604020202020204" pitchFamily="34" charset="0"/>
                <a:cs typeface="Arial" panose="020B0604020202020204" pitchFamily="34" charset="0"/>
              </a:rPr>
              <a:t>Arbitrary waveforms can be expressed by </a:t>
            </a:r>
            <a:r>
              <a:rPr lang="en-US" altLang="ja-JP" sz="1200" b="1">
                <a:latin typeface="Arial" panose="020B0604020202020204" pitchFamily="34" charset="0"/>
                <a:cs typeface="Arial" panose="020B0604020202020204" pitchFamily="34" charset="0"/>
              </a:rPr>
              <a:t>delaying</a:t>
            </a:r>
            <a:r>
              <a:rPr lang="en-US" altLang="ja-JP" sz="1200">
                <a:latin typeface="Arial" panose="020B0604020202020204" pitchFamily="34" charset="0"/>
                <a:cs typeface="Arial" panose="020B0604020202020204" pitchFamily="34" charset="0"/>
              </a:rPr>
              <a:t>, </a:t>
            </a:r>
            <a:r>
              <a:rPr lang="en-US" altLang="ja-JP" sz="1200" b="1">
                <a:latin typeface="Arial" panose="020B0604020202020204" pitchFamily="34" charset="0"/>
                <a:cs typeface="Arial" panose="020B0604020202020204" pitchFamily="34" charset="0"/>
              </a:rPr>
              <a:t>multiplying</a:t>
            </a:r>
            <a:r>
              <a:rPr lang="en-US" altLang="ja-JP" sz="1200">
                <a:latin typeface="Arial" panose="020B0604020202020204" pitchFamily="34" charset="0"/>
                <a:cs typeface="Arial" panose="020B0604020202020204" pitchFamily="34" charset="0"/>
              </a:rPr>
              <a:t> by a </a:t>
            </a:r>
            <a:r>
              <a:rPr lang="en-US" altLang="ja-JP" sz="1200" b="1">
                <a:latin typeface="Arial" panose="020B0604020202020204" pitchFamily="34" charset="0"/>
                <a:cs typeface="Arial" panose="020B0604020202020204" pitchFamily="34" charset="0"/>
              </a:rPr>
              <a:t>constant,</a:t>
            </a:r>
            <a:r>
              <a:rPr lang="en-US" altLang="ja-JP" sz="1200">
                <a:latin typeface="Arial" panose="020B0604020202020204" pitchFamily="34" charset="0"/>
                <a:cs typeface="Arial" panose="020B0604020202020204" pitchFamily="34" charset="0"/>
              </a:rPr>
              <a:t> and </a:t>
            </a:r>
            <a:r>
              <a:rPr lang="en-US" altLang="ja-JP" sz="1200" b="1">
                <a:latin typeface="Arial" panose="020B0604020202020204" pitchFamily="34" charset="0"/>
                <a:cs typeface="Arial" panose="020B0604020202020204" pitchFamily="34" charset="0"/>
              </a:rPr>
              <a:t>adding up multiple impulses</a:t>
            </a:r>
            <a:r>
              <a:rPr lang="en-US" altLang="ja-JP" sz="1200">
                <a:latin typeface="Arial" panose="020B0604020202020204" pitchFamily="34" charset="0"/>
                <a:cs typeface="Arial" panose="020B0604020202020204" pitchFamily="34" charset="0"/>
              </a:rPr>
              <a:t>.</a:t>
            </a:r>
            <a:endParaRPr lang="en-US" altLang="ja-JP" sz="1200" b="1">
              <a:latin typeface="+mj-ea"/>
              <a:ea typeface="+mj-ea"/>
              <a:cs typeface="Times New Roman" panose="02020603050405020304" pitchFamily="18" charset="0"/>
            </a:endParaRPr>
          </a:p>
          <a:p>
            <a:pPr algn="just"/>
            <a:endParaRPr lang="ja-JP" altLang="en-US" sz="3200" b="1">
              <a:latin typeface="+mj-ea"/>
              <a:ea typeface="+mj-ea"/>
              <a:cs typeface="Times New Roman" panose="02020603050405020304" pitchFamily="18" charset="0"/>
            </a:endParaRPr>
          </a:p>
          <a:p>
            <a:pPr algn="just"/>
            <a:r>
              <a:rPr lang="ja-JP" altLang="en-US" sz="3200" b="1">
                <a:latin typeface="+mj-ea"/>
                <a:ea typeface="+mj-ea"/>
                <a:cs typeface="Times New Roman" panose="02020603050405020304" pitchFamily="18" charset="0"/>
              </a:rPr>
              <a:t>インパルスをズラしながら大きさを調整して重ね合わせるってことね</a:t>
            </a:r>
            <a:endParaRPr lang="en-US" altLang="ja-JP" sz="3200" b="1">
              <a:latin typeface="+mj-ea"/>
              <a:ea typeface="+mj-ea"/>
              <a:cs typeface="Times New Roman" panose="02020603050405020304" pitchFamily="18" charset="0"/>
            </a:endParaRPr>
          </a:p>
          <a:p>
            <a:pPr algn="just"/>
            <a:r>
              <a:rPr lang="en-US" altLang="ja-JP" sz="1200">
                <a:latin typeface="Arial" panose="020B0604020202020204" pitchFamily="34" charset="0"/>
                <a:cs typeface="Arial" panose="020B0604020202020204" pitchFamily="34" charset="0"/>
              </a:rPr>
              <a:t>It involves </a:t>
            </a:r>
            <a:r>
              <a:rPr lang="en-US" altLang="ja-JP" sz="1200" b="1">
                <a:latin typeface="Arial" panose="020B0604020202020204" pitchFamily="34" charset="0"/>
                <a:cs typeface="Arial" panose="020B0604020202020204" pitchFamily="34" charset="0"/>
              </a:rPr>
              <a:t>shifting the impulses</a:t>
            </a:r>
            <a:r>
              <a:rPr lang="en-US" altLang="ja-JP" sz="1200">
                <a:latin typeface="Arial" panose="020B0604020202020204" pitchFamily="34" charset="0"/>
                <a:cs typeface="Arial" panose="020B0604020202020204" pitchFamily="34" charset="0"/>
              </a:rPr>
              <a:t>, </a:t>
            </a:r>
            <a:r>
              <a:rPr lang="en-US" altLang="ja-JP" sz="1200" b="1">
                <a:latin typeface="Arial" panose="020B0604020202020204" pitchFamily="34" charset="0"/>
                <a:cs typeface="Arial" panose="020B0604020202020204" pitchFamily="34" charset="0"/>
              </a:rPr>
              <a:t>adjusting their size</a:t>
            </a:r>
            <a:r>
              <a:rPr lang="en-US" altLang="ja-JP" sz="1200">
                <a:latin typeface="Arial" panose="020B0604020202020204" pitchFamily="34" charset="0"/>
                <a:cs typeface="Arial" panose="020B0604020202020204" pitchFamily="34" charset="0"/>
              </a:rPr>
              <a:t>, and </a:t>
            </a:r>
            <a:r>
              <a:rPr lang="en-US" altLang="ja-JP" sz="1200" b="1">
                <a:latin typeface="Arial" panose="020B0604020202020204" pitchFamily="34" charset="0"/>
                <a:cs typeface="Arial" panose="020B0604020202020204" pitchFamily="34" charset="0"/>
              </a:rPr>
              <a:t>overlapping them</a:t>
            </a:r>
          </a:p>
          <a:p>
            <a:pPr algn="just"/>
            <a:endParaRPr lang="en-US" altLang="ja-JP" sz="1200" b="1">
              <a:latin typeface="+mj-ea"/>
              <a:ea typeface="+mj-ea"/>
              <a:cs typeface="Times New Roman" panose="02020603050405020304" pitchFamily="18"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4072546" y="252943"/>
            <a:ext cx="4773270"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altLang="en-US" sz="3200">
                <a:solidFill>
                  <a:schemeClr val="tx1"/>
                </a:solidFill>
              </a:rPr>
              <a:t>インパルス応答</a:t>
            </a:r>
            <a:r>
              <a:rPr lang="en-US" altLang="ja-JP" sz="1100" b="1">
                <a:solidFill>
                  <a:schemeClr val="tx1"/>
                </a:solidFill>
              </a:rPr>
              <a:t>Impulse Response</a:t>
            </a:r>
            <a:r>
              <a:rPr lang="ja-JP" altLang="en-US" sz="3200" b="1">
                <a:solidFill>
                  <a:srgbClr val="FF0000"/>
                </a:solidFill>
              </a:rPr>
              <a:t> </a:t>
            </a:r>
            <a:endParaRPr lang="en-US" sz="3200">
              <a:solidFill>
                <a:srgbClr val="FF0000"/>
              </a:solidFill>
            </a:endParaRPr>
          </a:p>
        </p:txBody>
      </p:sp>
    </p:spTree>
    <p:extLst>
      <p:ext uri="{BB962C8B-B14F-4D97-AF65-F5344CB8AC3E}">
        <p14:creationId xmlns:p14="http://schemas.microsoft.com/office/powerpoint/2010/main" val="148532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093428"/>
          </a:xfrm>
          <a:prstGeom prst="rect">
            <a:avLst/>
          </a:prstGeom>
          <a:noFill/>
        </p:spPr>
        <p:txBody>
          <a:bodyPr wrap="square" rtlCol="0">
            <a:spAutoFit/>
          </a:bodyPr>
          <a:lstStyle/>
          <a:p>
            <a:pPr algn="just"/>
            <a:r>
              <a:rPr lang="ja-JP" altLang="en-US" sz="2800" b="1">
                <a:latin typeface="Arial" panose="020B0604020202020204" pitchFamily="34" charset="0"/>
                <a:cs typeface="Arial" panose="020B0604020202020204" pitchFamily="34" charset="0"/>
              </a:rPr>
              <a:t>インパルス応答と入力波形を畳み込めば，フィルタの時間応答になる</a:t>
            </a:r>
            <a:endParaRPr lang="en-US" altLang="ja-JP" sz="2800" b="1">
              <a:latin typeface="Arial" panose="020B0604020202020204" pitchFamily="34" charset="0"/>
              <a:cs typeface="Arial" panose="020B0604020202020204" pitchFamily="34" charset="0"/>
            </a:endParaRPr>
          </a:p>
          <a:p>
            <a:pPr algn="just"/>
            <a:r>
              <a:rPr lang="en-US" altLang="ja-JP" sz="1200"/>
              <a:t>Convolving the impulse response with the input waveform results in the time response of the filter. </a:t>
            </a:r>
            <a:endParaRPr lang="en-US" altLang="ja-JP" sz="1200" b="1">
              <a:latin typeface="Arial" panose="020B0604020202020204" pitchFamily="34" charset="0"/>
              <a:cs typeface="Arial" panose="020B0604020202020204" pitchFamily="34" charset="0"/>
            </a:endParaRPr>
          </a:p>
          <a:p>
            <a:pPr algn="just"/>
            <a:r>
              <a:rPr lang="en-US" altLang="ja-JP" sz="2800" b="1">
                <a:latin typeface="Arial" panose="020B0604020202020204" pitchFamily="34" charset="0"/>
                <a:cs typeface="Arial" panose="020B0604020202020204" pitchFamily="34" charset="0"/>
              </a:rPr>
              <a:t>   </a:t>
            </a:r>
          </a:p>
          <a:p>
            <a:pPr algn="just"/>
            <a:r>
              <a:rPr lang="en-US" altLang="ja-JP" sz="2800" b="1">
                <a:latin typeface="Arial" panose="020B0604020202020204" pitchFamily="34" charset="0"/>
                <a:cs typeface="Arial" panose="020B0604020202020204" pitchFamily="34" charset="0"/>
                <a:sym typeface="Wingdings" panose="05000000000000000000" pitchFamily="2" charset="2"/>
              </a:rPr>
              <a:t> </a:t>
            </a:r>
            <a:r>
              <a:rPr lang="ja-JP" altLang="en-US" sz="2800" b="1">
                <a:latin typeface="Arial" panose="020B0604020202020204" pitchFamily="34" charset="0"/>
                <a:cs typeface="Arial" panose="020B0604020202020204" pitchFamily="34" charset="0"/>
                <a:sym typeface="Wingdings" panose="05000000000000000000" pitchFamily="2" charset="2"/>
              </a:rPr>
              <a:t>両者をズラしながら乗算し，合計するのが畳み込み </a:t>
            </a:r>
            <a:r>
              <a:rPr lang="en-US" altLang="ja-JP" sz="2800" b="1">
                <a:latin typeface="Arial" panose="020B0604020202020204" pitchFamily="34" charset="0"/>
                <a:cs typeface="Arial" panose="020B0604020202020204" pitchFamily="34" charset="0"/>
                <a:sym typeface="Wingdings" panose="05000000000000000000" pitchFamily="2" charset="2"/>
              </a:rPr>
              <a:t>"convolution”</a:t>
            </a:r>
          </a:p>
          <a:p>
            <a:pPr algn="just"/>
            <a:r>
              <a:rPr lang="en-US" altLang="ja-JP" sz="1200" b="1"/>
              <a:t>Convolution</a:t>
            </a:r>
            <a:r>
              <a:rPr lang="en-US" altLang="ja-JP" sz="1200"/>
              <a:t> involves multiplying the two with a shift and adding them together.</a:t>
            </a:r>
          </a:p>
          <a:p>
            <a:pPr algn="just"/>
            <a:endParaRPr lang="en-US" altLang="ja-JP" sz="1200" b="1">
              <a:latin typeface="Arial" panose="020B0604020202020204" pitchFamily="34" charset="0"/>
              <a:cs typeface="Arial" panose="020B0604020202020204" pitchFamily="34" charset="0"/>
              <a:sym typeface="Wingdings" panose="05000000000000000000" pitchFamily="2" charset="2"/>
            </a:endParaRPr>
          </a:p>
          <a:p>
            <a:pPr algn="just"/>
            <a:r>
              <a:rPr lang="en-US" altLang="ja-JP" sz="2800" b="1">
                <a:latin typeface="Arial" panose="020B0604020202020204" pitchFamily="34" charset="0"/>
                <a:cs typeface="Arial" panose="020B0604020202020204" pitchFamily="34" charset="0"/>
                <a:sym typeface="Wingdings" panose="05000000000000000000" pitchFamily="2" charset="2"/>
              </a:rPr>
              <a:t> </a:t>
            </a:r>
            <a:r>
              <a:rPr lang="ja-JP" altLang="en-US" sz="2800" b="1">
                <a:latin typeface="Arial" panose="020B0604020202020204" pitchFamily="34" charset="0"/>
                <a:cs typeface="Arial" panose="020B0604020202020204" pitchFamily="34" charset="0"/>
                <a:sym typeface="Wingdings" panose="05000000000000000000" pitchFamily="2" charset="2"/>
              </a:rPr>
              <a:t>なお，フィルタの周波数応答は，伝達関数と入力スペクトルの積でした． 畳み込みとフーリエ変換の積とは表裏一体</a:t>
            </a:r>
            <a:endParaRPr lang="en-US" altLang="ja-JP" sz="2800" b="1">
              <a:latin typeface="Arial" panose="020B0604020202020204" pitchFamily="34" charset="0"/>
              <a:cs typeface="Arial" panose="020B0604020202020204" pitchFamily="34" charset="0"/>
              <a:sym typeface="Wingdings" panose="05000000000000000000" pitchFamily="2" charset="2"/>
            </a:endParaRPr>
          </a:p>
          <a:p>
            <a:pPr algn="just"/>
            <a:r>
              <a:rPr lang="en-US" altLang="ja-JP" sz="1200"/>
              <a:t>The </a:t>
            </a:r>
            <a:r>
              <a:rPr lang="en-US" altLang="ja-JP" sz="1200" b="1"/>
              <a:t>frequency response </a:t>
            </a:r>
            <a:r>
              <a:rPr lang="en-US" altLang="ja-JP" sz="1200"/>
              <a:t>of a filter is the </a:t>
            </a:r>
            <a:r>
              <a:rPr lang="en-US" altLang="ja-JP" sz="1200" b="1"/>
              <a:t>product of the transfer function</a:t>
            </a:r>
            <a:r>
              <a:rPr lang="en-US" altLang="ja-JP" sz="1200"/>
              <a:t> and the </a:t>
            </a:r>
            <a:r>
              <a:rPr lang="en-US" altLang="ja-JP" sz="1200" b="1"/>
              <a:t>input spectrum</a:t>
            </a:r>
            <a:r>
              <a:rPr lang="en-US" altLang="ja-JP" sz="1200"/>
              <a:t>. Convolution and the product of the Fourier transform are two sides of the same coin.</a:t>
            </a:r>
            <a:endParaRPr lang="en-US" altLang="ja-JP" sz="1200" b="1">
              <a:latin typeface="Arial" panose="020B0604020202020204" pitchFamily="34" charset="0"/>
              <a:cs typeface="Arial" panose="020B0604020202020204" pitchFamily="34" charset="0"/>
            </a:endParaRPr>
          </a:p>
          <a:p>
            <a:pPr algn="just"/>
            <a:endParaRPr lang="en-US" altLang="ja-JP" sz="1200" b="1">
              <a:latin typeface="+mj-ea"/>
              <a:ea typeface="+mj-ea"/>
              <a:cs typeface="Times New Roman" panose="02020603050405020304" pitchFamily="18" charset="0"/>
            </a:endParaRPr>
          </a:p>
          <a:p>
            <a:pPr algn="just"/>
            <a:endParaRPr lang="en-US" altLang="ja-JP" sz="1200" b="1">
              <a:latin typeface="+mj-ea"/>
              <a:ea typeface="+mj-ea"/>
              <a:cs typeface="Times New Roman" panose="02020603050405020304" pitchFamily="18" charset="0"/>
            </a:endParaRPr>
          </a:p>
          <a:p>
            <a:pPr algn="just"/>
            <a:endParaRPr lang="en-US" altLang="ja-JP" sz="1200" b="1">
              <a:latin typeface="+mj-ea"/>
              <a:ea typeface="+mj-ea"/>
              <a:cs typeface="Times New Roman" panose="02020603050405020304" pitchFamily="18" charset="0"/>
            </a:endParaRPr>
          </a:p>
          <a:p>
            <a:pPr algn="just"/>
            <a:endParaRPr lang="en-US" altLang="ja-JP" sz="1200" b="1">
              <a:latin typeface="+mj-ea"/>
              <a:ea typeface="+mj-ea"/>
              <a:cs typeface="Times New Roman" panose="02020603050405020304" pitchFamily="18" charset="0"/>
            </a:endParaRPr>
          </a:p>
          <a:p>
            <a:pPr algn="just"/>
            <a:r>
              <a:rPr lang="en-US" altLang="ja-JP" sz="1200" b="1">
                <a:latin typeface="+mj-ea"/>
                <a:ea typeface="+mj-ea"/>
                <a:cs typeface="Times New Roman" panose="02020603050405020304" pitchFamily="18" charset="0"/>
              </a:rPr>
              <a:t>                                                                       </a:t>
            </a:r>
            <a:r>
              <a:rPr lang="en-US" altLang="ja-JP" sz="1200" b="1">
                <a:latin typeface="Arial" panose="020B0604020202020204" pitchFamily="34" charset="0"/>
                <a:ea typeface="+mj-ea"/>
                <a:cs typeface="Arial" panose="020B0604020202020204" pitchFamily="34" charset="0"/>
              </a:rPr>
              <a:t>This computation is also known as Convolution     </a:t>
            </a:r>
            <a:r>
              <a:rPr lang="en-US" altLang="ja-JP" sz="1200" b="1">
                <a:latin typeface="Arial" panose="020B0604020202020204" pitchFamily="34" charset="0"/>
                <a:ea typeface="+mj-ea"/>
                <a:cs typeface="Arial" panose="020B0604020202020204" pitchFamily="34" charset="0"/>
                <a:sym typeface="Wingdings" panose="05000000000000000000" pitchFamily="2" charset="2"/>
              </a:rPr>
              <a:t></a:t>
            </a:r>
            <a:endParaRPr lang="en-US" altLang="ja-JP" sz="1200" b="1">
              <a:latin typeface="Arial" panose="020B0604020202020204" pitchFamily="34" charset="0"/>
              <a:ea typeface="+mj-ea"/>
              <a:cs typeface="Arial" panose="020B0604020202020204" pitchFamily="34"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4072546" y="252943"/>
            <a:ext cx="4773270"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altLang="en-US" sz="3200">
                <a:solidFill>
                  <a:schemeClr val="tx1"/>
                </a:solidFill>
              </a:rPr>
              <a:t>インパルス応答</a:t>
            </a:r>
            <a:r>
              <a:rPr lang="en-US" altLang="ja-JP" sz="1100" b="1">
                <a:solidFill>
                  <a:schemeClr val="tx1"/>
                </a:solidFill>
              </a:rPr>
              <a:t>Impulse Response</a:t>
            </a:r>
            <a:r>
              <a:rPr lang="ja-JP" altLang="en-US" sz="3200" b="1">
                <a:solidFill>
                  <a:srgbClr val="FF0000"/>
                </a:solidFill>
              </a:rPr>
              <a:t> </a:t>
            </a:r>
            <a:endParaRPr lang="en-US" sz="3200">
              <a:solidFill>
                <a:srgbClr val="FF0000"/>
              </a:solidFill>
            </a:endParaRPr>
          </a:p>
        </p:txBody>
      </p:sp>
      <p:pic>
        <p:nvPicPr>
          <p:cNvPr id="3" name="Picture 2">
            <a:extLst>
              <a:ext uri="{FF2B5EF4-FFF2-40B4-BE49-F238E27FC236}">
                <a16:creationId xmlns:a16="http://schemas.microsoft.com/office/drawing/2014/main" id="{877DEE26-89BC-B8B8-D6CB-F1901B49064C}"/>
              </a:ext>
            </a:extLst>
          </p:cNvPr>
          <p:cNvPicPr>
            <a:picLocks noChangeAspect="1"/>
          </p:cNvPicPr>
          <p:nvPr/>
        </p:nvPicPr>
        <p:blipFill>
          <a:blip r:embed="rId5"/>
          <a:stretch>
            <a:fillRect/>
          </a:stretch>
        </p:blipFill>
        <p:spPr>
          <a:xfrm>
            <a:off x="8025765" y="5290608"/>
            <a:ext cx="3981450" cy="866775"/>
          </a:xfrm>
          <a:prstGeom prst="rect">
            <a:avLst/>
          </a:prstGeom>
        </p:spPr>
      </p:pic>
    </p:spTree>
    <p:extLst>
      <p:ext uri="{BB962C8B-B14F-4D97-AF65-F5344CB8AC3E}">
        <p14:creationId xmlns:p14="http://schemas.microsoft.com/office/powerpoint/2010/main" val="13337312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154984"/>
          </a:xfrm>
          <a:prstGeom prst="rect">
            <a:avLst/>
          </a:prstGeom>
          <a:noFill/>
        </p:spPr>
        <p:txBody>
          <a:bodyPr wrap="square" rtlCol="0">
            <a:spAutoFit/>
          </a:bodyPr>
          <a:lstStyle/>
          <a:p>
            <a:pPr algn="just"/>
            <a:r>
              <a:rPr lang="ja-JP" altLang="en-US" sz="3200"/>
              <a:t>インパルスのフーリエ変換は一定値</a:t>
            </a:r>
            <a:endParaRPr lang="en-US" altLang="ja-JP" sz="3200"/>
          </a:p>
          <a:p>
            <a:pPr algn="just"/>
            <a:r>
              <a:rPr lang="en-US" altLang="ja-JP" sz="1200">
                <a:latin typeface="Arial" panose="020B0604020202020204" pitchFamily="34" charset="0"/>
                <a:cs typeface="Arial" panose="020B0604020202020204" pitchFamily="34" charset="0"/>
              </a:rPr>
              <a:t>The Fourier transform of an impulse is a constant value</a:t>
            </a:r>
          </a:p>
          <a:p>
            <a:pPr algn="just"/>
            <a:endParaRPr lang="en-US" altLang="ja-JP" sz="1200">
              <a:latin typeface="Arial" panose="020B0604020202020204" pitchFamily="34" charset="0"/>
              <a:cs typeface="Arial" panose="020B0604020202020204" pitchFamily="34" charset="0"/>
            </a:endParaRPr>
          </a:p>
          <a:p>
            <a:pPr marL="457200" indent="-457200" algn="just">
              <a:buFont typeface="Wingdings" panose="05000000000000000000" pitchFamily="2" charset="2"/>
              <a:buChar char="à"/>
            </a:pPr>
            <a:r>
              <a:rPr lang="ja-JP" altLang="en-US" sz="2800"/>
              <a:t>スペクトル分布に，あらゆる周波数が含まれる</a:t>
            </a:r>
            <a:endParaRPr lang="en-US" altLang="ja-JP" sz="2800"/>
          </a:p>
          <a:p>
            <a:pPr algn="just"/>
            <a:r>
              <a:rPr lang="en-US" altLang="ja-JP" sz="2800"/>
              <a:t>  </a:t>
            </a:r>
            <a:r>
              <a:rPr lang="ja-JP" altLang="en-US" sz="2800"/>
              <a:t> </a:t>
            </a:r>
            <a:r>
              <a:rPr lang="en-US" altLang="ja-JP" sz="1200">
                <a:cs typeface="Times New Roman" panose="02020603050405020304" pitchFamily="18" charset="0"/>
              </a:rPr>
              <a:t>The spectral distribution includes all frequencies</a:t>
            </a:r>
            <a:endParaRPr lang="en-US" altLang="ja-JP" sz="1200" b="1">
              <a:latin typeface="+mj-ea"/>
              <a:ea typeface="+mj-ea"/>
              <a:cs typeface="Times New Roman" panose="02020603050405020304" pitchFamily="18" charset="0"/>
            </a:endParaRPr>
          </a:p>
          <a:p>
            <a:pPr algn="just"/>
            <a:endParaRPr lang="en-US" altLang="ja-JP" sz="3200" b="1">
              <a:latin typeface="+mj-ea"/>
              <a:ea typeface="+mj-ea"/>
              <a:cs typeface="Times New Roman" panose="02020603050405020304" pitchFamily="18" charset="0"/>
            </a:endParaRPr>
          </a:p>
          <a:p>
            <a:pPr algn="just"/>
            <a:r>
              <a:rPr lang="ja-JP" altLang="en-US" sz="3200"/>
              <a:t>インパルス応答のフーリエ変換は伝達関数そのもの</a:t>
            </a:r>
            <a:endParaRPr lang="en-US" altLang="ja-JP" sz="3200"/>
          </a:p>
          <a:p>
            <a:pPr algn="just"/>
            <a:r>
              <a:rPr lang="en-US" altLang="ja-JP" sz="1200"/>
              <a:t>The Fourier transform of the impulse response is the transfer function itself</a:t>
            </a:r>
          </a:p>
          <a:p>
            <a:pPr algn="just"/>
            <a:endParaRPr lang="en-US" altLang="ja-JP" sz="1200"/>
          </a:p>
          <a:p>
            <a:pPr algn="just"/>
            <a:r>
              <a:rPr lang="en-US" altLang="ja-JP" sz="2800">
                <a:sym typeface="Wingdings" panose="05000000000000000000" pitchFamily="2" charset="2"/>
              </a:rPr>
              <a:t> </a:t>
            </a:r>
            <a:r>
              <a:rPr lang="ja-JP" altLang="en-US" sz="2800"/>
              <a:t>てことは，伝達関数の逆フーリエ変換はインパルス応答ですね</a:t>
            </a:r>
          </a:p>
          <a:p>
            <a:pPr algn="just"/>
            <a:r>
              <a:rPr lang="en-US" altLang="ja-JP" sz="1200">
                <a:latin typeface="Arial" panose="020B0604020202020204" pitchFamily="34" charset="0"/>
                <a:cs typeface="Arial" panose="020B0604020202020204" pitchFamily="34" charset="0"/>
              </a:rPr>
              <a:t>This means that the inverse Fourier transform of the transfer function is the impulse response</a:t>
            </a:r>
          </a:p>
          <a:p>
            <a:pPr algn="just"/>
            <a:endParaRPr lang="ja-JP" altLang="en-US" sz="1200" b="1">
              <a:latin typeface="Arial" panose="020B0604020202020204" pitchFamily="34" charset="0"/>
              <a:ea typeface="+mj-ea"/>
              <a:cs typeface="Arial" panose="020B0604020202020204" pitchFamily="34" charset="0"/>
            </a:endParaRPr>
          </a:p>
          <a:p>
            <a:pPr algn="just"/>
            <a:r>
              <a:rPr lang="en-US" altLang="ja-JP" sz="1200" b="1">
                <a:latin typeface="+mj-ea"/>
                <a:ea typeface="+mj-ea"/>
                <a:cs typeface="Times New Roman" panose="02020603050405020304" pitchFamily="18" charset="0"/>
              </a:rPr>
              <a:t>                </a:t>
            </a:r>
            <a:r>
              <a:rPr lang="en-US" altLang="ja-JP" sz="1200" b="1">
                <a:latin typeface="Arial" panose="020B0604020202020204" pitchFamily="34" charset="0"/>
                <a:ea typeface="+mj-ea"/>
                <a:cs typeface="Arial" panose="020B0604020202020204" pitchFamily="34" charset="0"/>
              </a:rPr>
              <a:t>I FT of Transfer  function =  Impulse Response</a:t>
            </a: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4072546" y="252943"/>
            <a:ext cx="4773270"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altLang="en-US" sz="3200">
                <a:solidFill>
                  <a:schemeClr val="tx1"/>
                </a:solidFill>
              </a:rPr>
              <a:t>インパルス応答</a:t>
            </a:r>
            <a:r>
              <a:rPr lang="en-US" altLang="ja-JP" sz="1100" b="1">
                <a:solidFill>
                  <a:schemeClr val="tx1"/>
                </a:solidFill>
              </a:rPr>
              <a:t>Impulse Response</a:t>
            </a:r>
            <a:r>
              <a:rPr lang="ja-JP" altLang="en-US" sz="3200" b="1">
                <a:solidFill>
                  <a:srgbClr val="FF0000"/>
                </a:solidFill>
              </a:rPr>
              <a:t> </a:t>
            </a:r>
            <a:endParaRPr lang="en-US" sz="3200">
              <a:solidFill>
                <a:srgbClr val="FF0000"/>
              </a:solidFill>
            </a:endParaRPr>
          </a:p>
        </p:txBody>
      </p:sp>
    </p:spTree>
    <p:extLst>
      <p:ext uri="{BB962C8B-B14F-4D97-AF65-F5344CB8AC3E}">
        <p14:creationId xmlns:p14="http://schemas.microsoft.com/office/powerpoint/2010/main" val="15262763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401205"/>
          </a:xfrm>
          <a:prstGeom prst="rect">
            <a:avLst/>
          </a:prstGeom>
          <a:noFill/>
        </p:spPr>
        <p:txBody>
          <a:bodyPr wrap="square" rtlCol="0">
            <a:spAutoFit/>
          </a:bodyPr>
          <a:lstStyle/>
          <a:p>
            <a:pPr algn="just"/>
            <a:r>
              <a:rPr lang="ja-JP" altLang="en-US" sz="3200"/>
              <a:t>バリエーション：</a:t>
            </a:r>
            <a:r>
              <a:rPr lang="en-US" altLang="ja-JP" sz="1200">
                <a:latin typeface="Arial" panose="020B0604020202020204" pitchFamily="34" charset="0"/>
                <a:cs typeface="Arial" panose="020B0604020202020204" pitchFamily="34" charset="0"/>
              </a:rPr>
              <a:t>Variations</a:t>
            </a:r>
          </a:p>
          <a:p>
            <a:pPr algn="just"/>
            <a:r>
              <a:rPr lang="en-US" altLang="ja-JP" sz="1200" b="1">
                <a:solidFill>
                  <a:srgbClr val="FF0000"/>
                </a:solidFill>
                <a:latin typeface="Arial" panose="020B0604020202020204" pitchFamily="34" charset="0"/>
                <a:ea typeface="+mj-ea"/>
                <a:cs typeface="Arial" panose="020B0604020202020204" pitchFamily="34" charset="0"/>
              </a:rPr>
              <a:t>Output response of FIR Y[n] </a:t>
            </a:r>
            <a:r>
              <a:rPr lang="en-US" altLang="ja-JP" sz="1200" b="1">
                <a:solidFill>
                  <a:srgbClr val="FF0000"/>
                </a:solidFill>
                <a:latin typeface="Arial" panose="020B0604020202020204" pitchFamily="34" charset="0"/>
                <a:ea typeface="+mj-ea"/>
                <a:cs typeface="Arial" panose="020B0604020202020204" pitchFamily="34" charset="0"/>
                <a:sym typeface="Wingdings" panose="05000000000000000000" pitchFamily="2" charset="2"/>
              </a:rPr>
              <a:t>depends only on the input signal</a:t>
            </a:r>
            <a:endParaRPr lang="en-US" altLang="ja-JP" sz="1200">
              <a:latin typeface="Arial" panose="020B0604020202020204" pitchFamily="34" charset="0"/>
              <a:cs typeface="Arial" panose="020B0604020202020204" pitchFamily="34" charset="0"/>
            </a:endParaRPr>
          </a:p>
          <a:p>
            <a:pPr algn="just"/>
            <a:r>
              <a:rPr lang="ja-JP" altLang="en-US" sz="3200"/>
              <a:t>有限インパルス応答</a:t>
            </a:r>
            <a:r>
              <a:rPr lang="ja-JP" altLang="en-US" sz="3200">
                <a:solidFill>
                  <a:srgbClr val="FF0000"/>
                </a:solidFill>
              </a:rPr>
              <a:t>（</a:t>
            </a:r>
            <a:r>
              <a:rPr lang="en-US" altLang="ja-JP" sz="3200">
                <a:solidFill>
                  <a:srgbClr val="FF0000"/>
                </a:solidFill>
              </a:rPr>
              <a:t>FIR</a:t>
            </a:r>
            <a:r>
              <a:rPr lang="ja-JP" altLang="en-US" sz="3200">
                <a:solidFill>
                  <a:srgbClr val="FF0000"/>
                </a:solidFill>
              </a:rPr>
              <a:t>）</a:t>
            </a:r>
            <a:r>
              <a:rPr lang="en-US" altLang="ja-JP" sz="3200">
                <a:solidFill>
                  <a:srgbClr val="FF0000"/>
                </a:solidFill>
              </a:rPr>
              <a:t>"finite impulse response</a:t>
            </a:r>
            <a:r>
              <a:rPr lang="en-US" altLang="ja-JP" sz="3200"/>
              <a:t>"</a:t>
            </a:r>
            <a:r>
              <a:rPr lang="ja-JP" altLang="en-US" sz="3200"/>
              <a:t>： 単独のインパルス入力に対して，有限個のパルスを出力</a:t>
            </a:r>
            <a:endParaRPr lang="en-US" altLang="ja-JP" sz="3200"/>
          </a:p>
          <a:p>
            <a:pPr algn="just"/>
            <a:r>
              <a:rPr lang="en-US" altLang="ja-JP" sz="1200"/>
              <a:t>Finite impulse response (FIR): A finite number of pulses are output in response to a single impulse input</a:t>
            </a:r>
          </a:p>
          <a:p>
            <a:pPr algn="just"/>
            <a:endParaRPr lang="en-US" altLang="ja-JP" sz="1200"/>
          </a:p>
          <a:p>
            <a:pPr algn="just"/>
            <a:endParaRPr lang="en-US" altLang="ja-JP" sz="1200"/>
          </a:p>
          <a:p>
            <a:pPr algn="just"/>
            <a:endParaRPr lang="en-US" altLang="ja-JP" sz="1200">
              <a:sym typeface="Wingdings" panose="05000000000000000000" pitchFamily="2" charset="2"/>
            </a:endParaRPr>
          </a:p>
          <a:p>
            <a:pPr algn="just"/>
            <a:r>
              <a:rPr lang="en-US" altLang="ja-JP" sz="2800">
                <a:sym typeface="Wingdings" panose="05000000000000000000" pitchFamily="2" charset="2"/>
              </a:rPr>
              <a:t></a:t>
            </a:r>
            <a:r>
              <a:rPr lang="ja-JP" altLang="en-US" sz="2800">
                <a:sym typeface="Wingdings" panose="05000000000000000000" pitchFamily="2" charset="2"/>
              </a:rPr>
              <a:t>例えば，短めの残響 </a:t>
            </a:r>
            <a:r>
              <a:rPr lang="en-US" altLang="ja-JP" sz="2800">
                <a:sym typeface="Wingdings" panose="05000000000000000000" pitchFamily="2" charset="2"/>
              </a:rPr>
              <a:t>"reverb" </a:t>
            </a:r>
            <a:r>
              <a:rPr lang="ja-JP" altLang="en-US" sz="2800">
                <a:sym typeface="Wingdings" panose="05000000000000000000" pitchFamily="2" charset="2"/>
              </a:rPr>
              <a:t>みたいなものですよーぉ</a:t>
            </a:r>
            <a:endParaRPr lang="ja-JP" altLang="en-US" sz="2800"/>
          </a:p>
          <a:p>
            <a:pPr algn="just"/>
            <a:r>
              <a:rPr lang="en-US" altLang="ja-JP" sz="1200"/>
              <a:t>For example, it's like a short reverberation "reverb“</a:t>
            </a:r>
          </a:p>
          <a:p>
            <a:pPr algn="just"/>
            <a:endParaRPr lang="en-US" altLang="ja-JP" sz="1200" b="1">
              <a:latin typeface="+mj-ea"/>
              <a:ea typeface="+mj-ea"/>
              <a:cs typeface="Times New Roman" panose="02020603050405020304" pitchFamily="18" charset="0"/>
            </a:endParaRPr>
          </a:p>
          <a:p>
            <a:pPr algn="just"/>
            <a:endParaRPr lang="en-US" altLang="ja-JP" sz="1200" b="1">
              <a:latin typeface="+mj-ea"/>
              <a:ea typeface="+mj-ea"/>
              <a:cs typeface="Times New Roman" panose="02020603050405020304" pitchFamily="18" charset="0"/>
            </a:endParaRPr>
          </a:p>
          <a:p>
            <a:pPr algn="just"/>
            <a:endParaRPr lang="en-US" altLang="ja-JP" sz="1200" b="1">
              <a:latin typeface="+mj-ea"/>
              <a:ea typeface="+mj-ea"/>
              <a:cs typeface="Times New Roman" panose="02020603050405020304" pitchFamily="18" charset="0"/>
            </a:endParaRPr>
          </a:p>
          <a:p>
            <a:pPr algn="just"/>
            <a:endParaRPr lang="en-US" altLang="ja-JP" sz="1200" b="1">
              <a:latin typeface="+mj-ea"/>
              <a:ea typeface="+mj-ea"/>
              <a:cs typeface="Times New Roman" panose="02020603050405020304" pitchFamily="18" charset="0"/>
            </a:endParaRPr>
          </a:p>
          <a:p>
            <a:r>
              <a:rPr lang="en-US" sz="1200"/>
              <a:t>X [n] – input signal, y[n] – output signal , N filter order , Nth – order filter has N + 1 terms</a:t>
            </a:r>
          </a:p>
          <a:p>
            <a:r>
              <a:rPr lang="en-US" sz="1200"/>
              <a:t> bi – value of impulse response at the </a:t>
            </a:r>
            <a:r>
              <a:rPr lang="en-US" sz="1200" err="1"/>
              <a:t>ith</a:t>
            </a:r>
            <a:r>
              <a:rPr lang="en-US" sz="1200"/>
              <a:t> instant for 0 &lt;= I &lt;= N of an Nth order FIR filter.</a:t>
            </a:r>
          </a:p>
          <a:p>
            <a:pPr algn="just"/>
            <a:endParaRPr lang="en-US" altLang="ja-JP" sz="1200" b="1">
              <a:latin typeface="+mj-ea"/>
              <a:ea typeface="+mj-ea"/>
              <a:cs typeface="Times New Roman" panose="02020603050405020304" pitchFamily="18"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4072546" y="252943"/>
            <a:ext cx="4773270"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altLang="en-US" sz="3200">
                <a:solidFill>
                  <a:schemeClr val="tx1"/>
                </a:solidFill>
              </a:rPr>
              <a:t>インパルス応答</a:t>
            </a:r>
            <a:r>
              <a:rPr lang="en-US" altLang="ja-JP" sz="1100" b="1">
                <a:solidFill>
                  <a:schemeClr val="tx1"/>
                </a:solidFill>
              </a:rPr>
              <a:t>Impulse Response</a:t>
            </a:r>
            <a:r>
              <a:rPr lang="ja-JP" altLang="en-US" sz="3200" b="1">
                <a:solidFill>
                  <a:srgbClr val="FF0000"/>
                </a:solidFill>
              </a:rPr>
              <a:t> </a:t>
            </a:r>
            <a:endParaRPr lang="en-US" sz="3200">
              <a:solidFill>
                <a:srgbClr val="FF0000"/>
              </a:solidFill>
            </a:endParaRPr>
          </a:p>
        </p:txBody>
      </p:sp>
      <p:pic>
        <p:nvPicPr>
          <p:cNvPr id="8" name="Picture 7">
            <a:extLst>
              <a:ext uri="{FF2B5EF4-FFF2-40B4-BE49-F238E27FC236}">
                <a16:creationId xmlns:a16="http://schemas.microsoft.com/office/drawing/2014/main" id="{EEDFA962-55FE-E666-1000-1335B08BDFB5}"/>
              </a:ext>
            </a:extLst>
          </p:cNvPr>
          <p:cNvPicPr>
            <a:picLocks noChangeAspect="1"/>
          </p:cNvPicPr>
          <p:nvPr/>
        </p:nvPicPr>
        <p:blipFill>
          <a:blip r:embed="rId5"/>
          <a:stretch>
            <a:fillRect/>
          </a:stretch>
        </p:blipFill>
        <p:spPr>
          <a:xfrm>
            <a:off x="8522776" y="1258052"/>
            <a:ext cx="3044384" cy="1355377"/>
          </a:xfrm>
          <a:prstGeom prst="rect">
            <a:avLst/>
          </a:prstGeom>
        </p:spPr>
      </p:pic>
      <p:pic>
        <p:nvPicPr>
          <p:cNvPr id="9" name="Picture 8">
            <a:extLst>
              <a:ext uri="{FF2B5EF4-FFF2-40B4-BE49-F238E27FC236}">
                <a16:creationId xmlns:a16="http://schemas.microsoft.com/office/drawing/2014/main" id="{07470BB6-6DE3-65E6-1BFC-BAC5B269C7F1}"/>
              </a:ext>
            </a:extLst>
          </p:cNvPr>
          <p:cNvPicPr>
            <a:picLocks noChangeAspect="1"/>
          </p:cNvPicPr>
          <p:nvPr/>
        </p:nvPicPr>
        <p:blipFill>
          <a:blip r:embed="rId6"/>
          <a:stretch>
            <a:fillRect/>
          </a:stretch>
        </p:blipFill>
        <p:spPr>
          <a:xfrm>
            <a:off x="7360920" y="5277758"/>
            <a:ext cx="4206240" cy="915713"/>
          </a:xfrm>
          <a:prstGeom prst="rect">
            <a:avLst/>
          </a:prstGeom>
        </p:spPr>
      </p:pic>
    </p:spTree>
    <p:extLst>
      <p:ext uri="{BB962C8B-B14F-4D97-AF65-F5344CB8AC3E}">
        <p14:creationId xmlns:p14="http://schemas.microsoft.com/office/powerpoint/2010/main" val="35359886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3908762"/>
          </a:xfrm>
          <a:prstGeom prst="rect">
            <a:avLst/>
          </a:prstGeom>
          <a:noFill/>
        </p:spPr>
        <p:txBody>
          <a:bodyPr wrap="square" rtlCol="0">
            <a:spAutoFit/>
          </a:bodyPr>
          <a:lstStyle/>
          <a:p>
            <a:pPr algn="just"/>
            <a:r>
              <a:rPr lang="ja-JP" altLang="en-US" sz="3200"/>
              <a:t>バリエーション：</a:t>
            </a:r>
            <a:r>
              <a:rPr lang="en-US" altLang="ja-JP" sz="1200">
                <a:latin typeface="Arial" panose="020B0604020202020204" pitchFamily="34" charset="0"/>
                <a:cs typeface="Arial" panose="020B0604020202020204" pitchFamily="34" charset="0"/>
              </a:rPr>
              <a:t>Variations</a:t>
            </a:r>
          </a:p>
          <a:p>
            <a:pPr algn="just"/>
            <a:r>
              <a:rPr lang="en-US" altLang="ja-JP" sz="1200" b="1">
                <a:solidFill>
                  <a:srgbClr val="FF0000"/>
                </a:solidFill>
                <a:latin typeface="Arial" panose="020B0604020202020204" pitchFamily="34" charset="0"/>
                <a:ea typeface="+mj-ea"/>
                <a:cs typeface="Arial" panose="020B0604020202020204" pitchFamily="34" charset="0"/>
              </a:rPr>
              <a:t>Output response of IIR Y[n] </a:t>
            </a:r>
            <a:r>
              <a:rPr lang="en-US" altLang="ja-JP" sz="1200" b="1">
                <a:solidFill>
                  <a:srgbClr val="FF0000"/>
                </a:solidFill>
                <a:latin typeface="Arial" panose="020B0604020202020204" pitchFamily="34" charset="0"/>
                <a:ea typeface="+mj-ea"/>
                <a:cs typeface="Arial" panose="020B0604020202020204" pitchFamily="34" charset="0"/>
                <a:sym typeface="Wingdings" panose="05000000000000000000" pitchFamily="2" charset="2"/>
              </a:rPr>
              <a:t> Influenced by Input signal X[n] + feedback from previous output</a:t>
            </a:r>
            <a:endParaRPr lang="en-US" altLang="ja-JP" sz="1200" b="1">
              <a:solidFill>
                <a:srgbClr val="FF0000"/>
              </a:solidFill>
              <a:latin typeface="Arial" panose="020B0604020202020204" pitchFamily="34" charset="0"/>
              <a:ea typeface="+mj-ea"/>
              <a:cs typeface="Arial" panose="020B0604020202020204" pitchFamily="34" charset="0"/>
            </a:endParaRPr>
          </a:p>
          <a:p>
            <a:pPr algn="just"/>
            <a:endParaRPr lang="en-US" altLang="ja-JP" sz="3200"/>
          </a:p>
          <a:p>
            <a:pPr algn="just"/>
            <a:endParaRPr lang="en-US" altLang="ja-JP" sz="3200"/>
          </a:p>
          <a:p>
            <a:pPr algn="just"/>
            <a:r>
              <a:rPr lang="ja-JP" altLang="en-US" sz="3200"/>
              <a:t>無限インパルス応答（</a:t>
            </a:r>
            <a:r>
              <a:rPr lang="en-US" altLang="ja-JP" sz="3200">
                <a:solidFill>
                  <a:srgbClr val="FF0000"/>
                </a:solidFill>
              </a:rPr>
              <a:t>IIR</a:t>
            </a:r>
            <a:r>
              <a:rPr lang="ja-JP" altLang="en-US" sz="3200">
                <a:solidFill>
                  <a:srgbClr val="FF0000"/>
                </a:solidFill>
              </a:rPr>
              <a:t>）</a:t>
            </a:r>
            <a:r>
              <a:rPr lang="en-US" altLang="ja-JP" sz="3200">
                <a:solidFill>
                  <a:srgbClr val="FF0000"/>
                </a:solidFill>
              </a:rPr>
              <a:t>"infinite impulse response</a:t>
            </a:r>
            <a:r>
              <a:rPr lang="en-US" altLang="ja-JP" sz="3200"/>
              <a:t>" </a:t>
            </a:r>
            <a:r>
              <a:rPr lang="ja-JP" altLang="en-US" sz="3200"/>
              <a:t>単独のインパルス入力に対して，無限個のパルスを出力</a:t>
            </a:r>
            <a:endParaRPr lang="en-US" altLang="ja-JP" sz="3200"/>
          </a:p>
          <a:p>
            <a:pPr algn="just"/>
            <a:r>
              <a:rPr lang="en-US" altLang="ja-JP" sz="1200"/>
              <a:t>Infinite impulse response (IIR) An infinite number of pulses are output for a single impulse input</a:t>
            </a:r>
          </a:p>
          <a:p>
            <a:pPr algn="just"/>
            <a:endParaRPr lang="en-US" altLang="ja-JP" sz="1200"/>
          </a:p>
          <a:p>
            <a:pPr algn="just"/>
            <a:endParaRPr lang="en-US" altLang="ja-JP" sz="1200">
              <a:sym typeface="Wingdings" panose="05000000000000000000" pitchFamily="2" charset="2"/>
            </a:endParaRPr>
          </a:p>
          <a:p>
            <a:pPr algn="just"/>
            <a:r>
              <a:rPr lang="en-US" altLang="ja-JP" sz="2800">
                <a:sym typeface="Wingdings" panose="05000000000000000000" pitchFamily="2" charset="2"/>
              </a:rPr>
              <a:t></a:t>
            </a:r>
            <a:r>
              <a:rPr lang="ja-JP" altLang="en-US" sz="2800">
                <a:sym typeface="Wingdings" panose="05000000000000000000" pitchFamily="2" charset="2"/>
              </a:rPr>
              <a:t>長めの残響ですかね</a:t>
            </a:r>
            <a:endParaRPr lang="en-US" altLang="ja-JP" sz="2800">
              <a:sym typeface="Wingdings" panose="05000000000000000000" pitchFamily="2" charset="2"/>
            </a:endParaRPr>
          </a:p>
          <a:p>
            <a:pPr algn="just"/>
            <a:r>
              <a:rPr lang="en-US" altLang="ja-JP" sz="1200"/>
              <a:t>        Long reverberation</a:t>
            </a:r>
            <a:endParaRPr lang="en-US" altLang="ja-JP" sz="1200" b="1">
              <a:latin typeface="+mj-ea"/>
              <a:ea typeface="+mj-ea"/>
              <a:cs typeface="Times New Roman" panose="02020603050405020304" pitchFamily="18"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4072546" y="252943"/>
            <a:ext cx="4773270"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altLang="en-US" sz="3200">
                <a:solidFill>
                  <a:schemeClr val="tx1"/>
                </a:solidFill>
              </a:rPr>
              <a:t>インパルス応答</a:t>
            </a:r>
            <a:r>
              <a:rPr lang="en-US" altLang="ja-JP" sz="1100" b="1">
                <a:solidFill>
                  <a:schemeClr val="tx1"/>
                </a:solidFill>
              </a:rPr>
              <a:t>Impulse Response</a:t>
            </a:r>
            <a:r>
              <a:rPr lang="ja-JP" altLang="en-US" sz="3200" b="1">
                <a:solidFill>
                  <a:srgbClr val="FF0000"/>
                </a:solidFill>
              </a:rPr>
              <a:t> </a:t>
            </a:r>
            <a:endParaRPr lang="en-US" sz="3200">
              <a:solidFill>
                <a:srgbClr val="FF0000"/>
              </a:solidFill>
            </a:endParaRPr>
          </a:p>
        </p:txBody>
      </p:sp>
      <p:pic>
        <p:nvPicPr>
          <p:cNvPr id="6" name="Picture 5">
            <a:extLst>
              <a:ext uri="{FF2B5EF4-FFF2-40B4-BE49-F238E27FC236}">
                <a16:creationId xmlns:a16="http://schemas.microsoft.com/office/drawing/2014/main" id="{9A56895F-3B69-5158-3CE2-1DC66635EAA8}"/>
              </a:ext>
            </a:extLst>
          </p:cNvPr>
          <p:cNvPicPr>
            <a:picLocks noChangeAspect="1"/>
          </p:cNvPicPr>
          <p:nvPr/>
        </p:nvPicPr>
        <p:blipFill>
          <a:blip r:embed="rId5"/>
          <a:stretch>
            <a:fillRect/>
          </a:stretch>
        </p:blipFill>
        <p:spPr>
          <a:xfrm>
            <a:off x="8845816" y="1190439"/>
            <a:ext cx="3005336" cy="2683694"/>
          </a:xfrm>
          <a:prstGeom prst="rect">
            <a:avLst/>
          </a:prstGeom>
        </p:spPr>
      </p:pic>
      <p:pic>
        <p:nvPicPr>
          <p:cNvPr id="8" name="Picture 7">
            <a:extLst>
              <a:ext uri="{FF2B5EF4-FFF2-40B4-BE49-F238E27FC236}">
                <a16:creationId xmlns:a16="http://schemas.microsoft.com/office/drawing/2014/main" id="{038F6B67-EF0E-51E2-96BD-26BD9D720BCB}"/>
              </a:ext>
            </a:extLst>
          </p:cNvPr>
          <p:cNvPicPr>
            <a:picLocks noChangeAspect="1"/>
          </p:cNvPicPr>
          <p:nvPr/>
        </p:nvPicPr>
        <p:blipFill>
          <a:blip r:embed="rId6"/>
          <a:stretch>
            <a:fillRect/>
          </a:stretch>
        </p:blipFill>
        <p:spPr>
          <a:xfrm>
            <a:off x="7853054" y="5048049"/>
            <a:ext cx="3677163" cy="1086002"/>
          </a:xfrm>
          <a:prstGeom prst="rect">
            <a:avLst/>
          </a:prstGeom>
        </p:spPr>
      </p:pic>
    </p:spTree>
    <p:extLst>
      <p:ext uri="{BB962C8B-B14F-4D97-AF65-F5344CB8AC3E}">
        <p14:creationId xmlns:p14="http://schemas.microsoft.com/office/powerpoint/2010/main" val="26607351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p:cNvSpPr txBox="1"/>
          <p:nvPr/>
        </p:nvSpPr>
        <p:spPr>
          <a:xfrm>
            <a:off x="0" y="2081203"/>
            <a:ext cx="12192000" cy="3770263"/>
          </a:xfrm>
          <a:prstGeom prst="rect">
            <a:avLst/>
          </a:prstGeom>
          <a:noFill/>
        </p:spPr>
        <p:txBody>
          <a:bodyPr wrap="square" rtlCol="0">
            <a:spAutoFit/>
          </a:bodyPr>
          <a:lstStyle/>
          <a:p>
            <a:r>
              <a:rPr lang="ja-JP" altLang="en-US" sz="3200" b="1"/>
              <a:t>具体例を元にして，</a:t>
            </a:r>
            <a:r>
              <a:rPr lang="en-US" altLang="ja-JP" sz="3200" b="1"/>
              <a:t>FIR </a:t>
            </a:r>
            <a:r>
              <a:rPr lang="ja-JP" altLang="en-US" sz="3200" b="1"/>
              <a:t>の時間応答を導出してみる</a:t>
            </a:r>
            <a:endParaRPr lang="en-US" altLang="ja-JP" sz="3200" b="1"/>
          </a:p>
          <a:p>
            <a:r>
              <a:rPr lang="en-US" altLang="ja-JP" sz="1100" b="1">
                <a:sym typeface="Wingdings" panose="05000000000000000000" pitchFamily="2" charset="2"/>
              </a:rPr>
              <a:t>Lets use a specific example to derive the time response of FIR</a:t>
            </a:r>
          </a:p>
          <a:p>
            <a:endParaRPr lang="en-US" altLang="ja-JP" sz="1100" b="1">
              <a:sym typeface="Wingdings" panose="05000000000000000000" pitchFamily="2" charset="2"/>
            </a:endParaRPr>
          </a:p>
          <a:p>
            <a:endParaRPr lang="en-US" altLang="ja-JP" sz="1100" b="1">
              <a:sym typeface="Wingdings" panose="05000000000000000000" pitchFamily="2" charset="2"/>
            </a:endParaRPr>
          </a:p>
          <a:p>
            <a:r>
              <a:rPr lang="ja-JP" altLang="en-US" sz="3200">
                <a:latin typeface="+mn-ea"/>
                <a:ea typeface="+mn-ea"/>
                <a:sym typeface="Wingdings" panose="05000000000000000000" pitchFamily="2" charset="2"/>
              </a:rPr>
              <a:t>インパルス応答の例：（残響時間 </a:t>
            </a:r>
            <a:r>
              <a:rPr lang="en-US" altLang="ja-JP"/>
              <a:t> 𝐽 = 3</a:t>
            </a:r>
            <a:r>
              <a:rPr lang="ja-JP" altLang="en-US" sz="3200">
                <a:latin typeface="+mn-ea"/>
                <a:ea typeface="+mn-ea"/>
                <a:sym typeface="Wingdings" panose="05000000000000000000" pitchFamily="2" charset="2"/>
              </a:rPr>
              <a:t> の場合）</a:t>
            </a:r>
            <a:r>
              <a:rPr lang="en-US" altLang="ja-JP" sz="3200">
                <a:latin typeface="+mn-ea"/>
                <a:ea typeface="+mn-ea"/>
                <a:sym typeface="Wingdings" panose="05000000000000000000" pitchFamily="2" charset="2"/>
              </a:rPr>
              <a:t>                             </a:t>
            </a:r>
            <a:endParaRPr lang="en-US" altLang="ja-JP" sz="3200">
              <a:latin typeface="+mn-ea"/>
              <a:ea typeface="+mn-ea"/>
            </a:endParaRPr>
          </a:p>
          <a:p>
            <a:r>
              <a:rPr lang="en-US" altLang="ja-JP" sz="1200">
                <a:latin typeface="Arial" panose="020B0604020202020204" pitchFamily="34" charset="0"/>
                <a:cs typeface="Arial" panose="020B0604020202020204" pitchFamily="34" charset="0"/>
              </a:rPr>
              <a:t>Example of an impulse response (for reverberation time </a:t>
            </a:r>
            <a:r>
              <a:rPr lang="ja-JP" altLang="en-US" sz="1200">
                <a:latin typeface="Arial" panose="020B0604020202020204" pitchFamily="34" charset="0"/>
                <a:cs typeface="Arial" panose="020B0604020202020204" pitchFamily="34" charset="0"/>
              </a:rPr>
              <a:t>𝐽 </a:t>
            </a:r>
            <a:r>
              <a:rPr lang="en-US" altLang="ja-JP" sz="1200">
                <a:latin typeface="Arial" panose="020B0604020202020204" pitchFamily="34" charset="0"/>
                <a:cs typeface="Arial" panose="020B0604020202020204" pitchFamily="34" charset="0"/>
              </a:rPr>
              <a:t>= 3) : </a:t>
            </a:r>
          </a:p>
          <a:p>
            <a:endParaRPr lang="en-US" sz="2000"/>
          </a:p>
          <a:p>
            <a:r>
              <a:rPr lang="en-US" sz="1100"/>
              <a:t>  </a:t>
            </a:r>
          </a:p>
          <a:p>
            <a:r>
              <a:rPr lang="ja-JP" altLang="en-US" sz="2800"/>
              <a:t>時間 </a:t>
            </a:r>
            <a:r>
              <a:rPr lang="en-US" altLang="ja-JP" sz="2800"/>
              <a:t>〜</a:t>
            </a:r>
            <a:r>
              <a:rPr lang="ja-JP" altLang="en-US" sz="2800"/>
              <a:t>𝑛 </a:t>
            </a:r>
            <a:r>
              <a:rPr lang="en-US" altLang="ja-JP" sz="2800"/>
              <a:t>= 0〜(</a:t>
            </a:r>
            <a:r>
              <a:rPr lang="ja-JP" altLang="en-US" sz="2800"/>
              <a:t>𝐽−</a:t>
            </a:r>
            <a:r>
              <a:rPr lang="en-US" altLang="ja-JP" sz="2800"/>
              <a:t>1) </a:t>
            </a:r>
            <a:r>
              <a:rPr lang="ja-JP" altLang="en-US" sz="2800"/>
              <a:t>に対して， 出力は 𝑦𝑛</a:t>
            </a:r>
            <a:r>
              <a:rPr lang="en-US" altLang="ja-JP" sz="2800"/>
              <a:t>=</a:t>
            </a:r>
            <a:r>
              <a:rPr lang="ja-JP" altLang="en-US" sz="2800"/>
              <a:t>𝑏𝑛𝑥</a:t>
            </a:r>
            <a:r>
              <a:rPr lang="en-US" altLang="ja-JP" sz="2800"/>
              <a:t>0 </a:t>
            </a:r>
            <a:r>
              <a:rPr lang="ja-JP" altLang="en-US" sz="2800"/>
              <a:t>ですね</a:t>
            </a:r>
            <a:endParaRPr lang="en-US" sz="2800"/>
          </a:p>
          <a:p>
            <a:endParaRPr lang="en-US" sz="1100"/>
          </a:p>
          <a:p>
            <a:r>
              <a:rPr lang="en-US" sz="1200"/>
              <a:t>For time 〜𝑛=0〜(𝐽−1), the output is 𝑦𝑛=𝑏𝑛𝑥0</a:t>
            </a:r>
          </a:p>
          <a:p>
            <a:endParaRPr lang="en-US" sz="1200"/>
          </a:p>
          <a:p>
            <a:endParaRPr lang="en-US" sz="1200"/>
          </a:p>
          <a:p>
            <a:endParaRPr lang="en-US" sz="1200"/>
          </a:p>
          <a:p>
            <a:endParaRPr lang="en-US" sz="1200"/>
          </a:p>
        </p:txBody>
      </p:sp>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13" name="Rounded Rectangle 18">
            <a:extLst>
              <a:ext uri="{FF2B5EF4-FFF2-40B4-BE49-F238E27FC236}">
                <a16:creationId xmlns:a16="http://schemas.microsoft.com/office/drawing/2014/main" id="{E0DEF935-6EBE-CE85-7430-6DD6F529FFBE}"/>
              </a:ext>
            </a:extLst>
          </p:cNvPr>
          <p:cNvSpPr/>
          <p:nvPr/>
        </p:nvSpPr>
        <p:spPr>
          <a:xfrm>
            <a:off x="2676697" y="252943"/>
            <a:ext cx="6791499"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r>
              <a:rPr lang="ja-JP" altLang="en-US" sz="3200" b="1">
                <a:sym typeface="Wingdings" panose="05000000000000000000" pitchFamily="2" charset="2"/>
              </a:rPr>
              <a:t>         </a:t>
            </a:r>
            <a:r>
              <a:rPr lang="en-US" altLang="ja-JP" sz="3200" b="1">
                <a:solidFill>
                  <a:schemeClr val="tx1"/>
                </a:solidFill>
                <a:sym typeface="Wingdings" panose="05000000000000000000" pitchFamily="2" charset="2"/>
              </a:rPr>
              <a:t>FIR </a:t>
            </a:r>
            <a:r>
              <a:rPr lang="ja-JP" altLang="en-US" sz="3200" b="1">
                <a:solidFill>
                  <a:schemeClr val="tx1"/>
                </a:solidFill>
                <a:sym typeface="Wingdings" panose="05000000000000000000" pitchFamily="2" charset="2"/>
              </a:rPr>
              <a:t>フィルタの時間応答</a:t>
            </a:r>
            <a:r>
              <a:rPr lang="en-US" altLang="ja-JP" sz="1200" b="1">
                <a:solidFill>
                  <a:schemeClr val="tx1"/>
                </a:solidFill>
                <a:sym typeface="Wingdings" panose="05000000000000000000" pitchFamily="2" charset="2"/>
              </a:rPr>
              <a:t>Time response of FIR filter</a:t>
            </a:r>
            <a:endParaRPr lang="en-US" sz="3200" b="1">
              <a:solidFill>
                <a:schemeClr val="tx1"/>
              </a:solidFill>
            </a:endParaRPr>
          </a:p>
        </p:txBody>
      </p:sp>
      <p:pic>
        <p:nvPicPr>
          <p:cNvPr id="16" name="図 15"/>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2" name="図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10496" y="2224804"/>
            <a:ext cx="3081504" cy="1672280"/>
          </a:xfrm>
          <a:prstGeom prst="rect">
            <a:avLst/>
          </a:prstGeom>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8DD47616-AFB0-8237-7274-3D6619986995}"/>
                  </a:ext>
                </a:extLst>
              </p14:cNvPr>
              <p14:cNvContentPartPr/>
              <p14:nvPr/>
            </p14:nvContentPartPr>
            <p14:xfrm>
              <a:off x="410770" y="3749786"/>
              <a:ext cx="360" cy="360"/>
            </p14:xfrm>
          </p:contentPart>
        </mc:Choice>
        <mc:Fallback>
          <p:pic>
            <p:nvPicPr>
              <p:cNvPr id="3" name="Ink 2">
                <a:extLst>
                  <a:ext uri="{FF2B5EF4-FFF2-40B4-BE49-F238E27FC236}">
                    <a16:creationId xmlns:a16="http://schemas.microsoft.com/office/drawing/2014/main" id="{8DD47616-AFB0-8237-7274-3D6619986995}"/>
                  </a:ext>
                </a:extLst>
              </p:cNvPr>
              <p:cNvPicPr/>
              <p:nvPr/>
            </p:nvPicPr>
            <p:blipFill>
              <a:blip r:embed="rId6"/>
              <a:stretch>
                <a:fillRect/>
              </a:stretch>
            </p:blipFill>
            <p:spPr>
              <a:xfrm>
                <a:off x="401770" y="3740786"/>
                <a:ext cx="18000" cy="18000"/>
              </a:xfrm>
              <a:prstGeom prst="rect">
                <a:avLst/>
              </a:prstGeom>
            </p:spPr>
          </p:pic>
        </mc:Fallback>
      </mc:AlternateContent>
    </p:spTree>
    <p:extLst>
      <p:ext uri="{BB962C8B-B14F-4D97-AF65-F5344CB8AC3E}">
        <p14:creationId xmlns:p14="http://schemas.microsoft.com/office/powerpoint/2010/main" val="19048218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p:cNvSpPr txBox="1"/>
          <p:nvPr/>
        </p:nvSpPr>
        <p:spPr>
          <a:xfrm>
            <a:off x="0" y="2081203"/>
            <a:ext cx="12192000" cy="3538020"/>
          </a:xfrm>
          <a:prstGeom prst="rect">
            <a:avLst/>
          </a:prstGeom>
          <a:noFill/>
        </p:spPr>
        <p:txBody>
          <a:bodyPr wrap="square" rtlCol="0">
            <a:spAutoFit/>
          </a:bodyPr>
          <a:lstStyle/>
          <a:p>
            <a:pPr marL="0" marR="0">
              <a:lnSpc>
                <a:spcPct val="107000"/>
              </a:lnSpc>
              <a:spcBef>
                <a:spcPts val="0"/>
              </a:spcBef>
              <a:spcAft>
                <a:spcPts val="800"/>
              </a:spcAft>
            </a:pPr>
            <a:r>
              <a:rPr lang="ja-JP" sz="3200">
                <a:solidFill>
                  <a:srgbClr val="000000"/>
                </a:solidFill>
                <a:effectLst/>
                <a:latin typeface="Arial" panose="020B0604020202020204" pitchFamily="34" charset="0"/>
                <a:ea typeface="游明朝" panose="02020400000000000000" pitchFamily="18" charset="-128"/>
                <a:cs typeface="Arial" panose="020B0604020202020204" pitchFamily="34" charset="0"/>
              </a:rPr>
              <a:t>遅延インパルス応答の例：（同上かつ遅延時間</a:t>
            </a:r>
            <a:r>
              <a:rPr lang="en-US" sz="3200">
                <a:solidFill>
                  <a:srgbClr val="000000"/>
                </a:solidFill>
                <a:effectLst/>
                <a:latin typeface="Arial" panose="020B0604020202020204" pitchFamily="34" charset="0"/>
                <a:ea typeface="游明朝" panose="02020400000000000000" pitchFamily="18" charset="-128"/>
                <a:cs typeface="Times New Roman" panose="02020603050405020304" pitchFamily="18" charset="0"/>
              </a:rPr>
              <a:t> </a:t>
            </a:r>
            <a:r>
              <a:rPr lang="en-US" sz="3200">
                <a:effectLst/>
                <a:latin typeface="Cambria Math" panose="02040503050406030204" pitchFamily="18" charset="0"/>
                <a:ea typeface="游明朝" panose="02020400000000000000" pitchFamily="18" charset="-128"/>
                <a:cs typeface="Cambria Math" panose="02040503050406030204" pitchFamily="18" charset="0"/>
              </a:rPr>
              <a:t>𝑚</a:t>
            </a:r>
            <a:r>
              <a:rPr lang="en-US" sz="3200">
                <a:effectLst/>
                <a:latin typeface="Calibri" panose="020F0502020204030204" pitchFamily="34" charset="0"/>
                <a:ea typeface="游明朝" panose="02020400000000000000" pitchFamily="18" charset="-128"/>
                <a:cs typeface="Times New Roman" panose="02020603050405020304" pitchFamily="18" charset="0"/>
              </a:rPr>
              <a:t>=2</a:t>
            </a:r>
            <a:r>
              <a:rPr lang="en-US" sz="3200">
                <a:solidFill>
                  <a:srgbClr val="000000"/>
                </a:solidFill>
                <a:effectLst/>
                <a:latin typeface="Arial" panose="020B0604020202020204" pitchFamily="34" charset="0"/>
                <a:ea typeface="游明朝" panose="02020400000000000000" pitchFamily="18" charset="-128"/>
                <a:cs typeface="Times New Roman" panose="02020603050405020304" pitchFamily="18" charset="0"/>
              </a:rPr>
              <a:t> </a:t>
            </a:r>
            <a:r>
              <a:rPr lang="ja-JP" sz="3200">
                <a:solidFill>
                  <a:srgbClr val="000000"/>
                </a:solidFill>
                <a:effectLst/>
                <a:latin typeface="Arial" panose="020B0604020202020204" pitchFamily="34" charset="0"/>
                <a:ea typeface="游明朝" panose="02020400000000000000" pitchFamily="18" charset="-128"/>
                <a:cs typeface="Arial" panose="020B0604020202020204" pitchFamily="34" charset="0"/>
              </a:rPr>
              <a:t>の場</a:t>
            </a:r>
            <a:r>
              <a:rPr lang="ja-JP" sz="3200">
                <a:solidFill>
                  <a:srgbClr val="000000"/>
                </a:solidFill>
                <a:effectLst/>
                <a:latin typeface="Arial" panose="020B0604020202020204" pitchFamily="34" charset="0"/>
                <a:ea typeface="ＭＳ 明朝" panose="02020609040205080304" pitchFamily="17" charset="-128"/>
                <a:cs typeface="ＭＳ 明朝" panose="02020609040205080304" pitchFamily="17" charset="-128"/>
              </a:rPr>
              <a:t>合</a:t>
            </a:r>
            <a:endParaRPr lang="en-US" sz="3200">
              <a:effectLst/>
              <a:latin typeface="Calibri" panose="020F0502020204030204" pitchFamily="34" charset="0"/>
              <a:ea typeface="游明朝" panose="02020400000000000000" pitchFamily="18" charset="-128"/>
              <a:cs typeface="Times New Roman" panose="02020603050405020304" pitchFamily="18" charset="0"/>
            </a:endParaRPr>
          </a:p>
          <a:p>
            <a:r>
              <a:rPr lang="en-US" altLang="ja-JP" sz="1100" b="1">
                <a:sym typeface="Wingdings" panose="05000000000000000000" pitchFamily="2" charset="2"/>
              </a:rPr>
              <a:t>Example of delayed impulse response: (same as above with delay time </a:t>
            </a:r>
            <a:r>
              <a:rPr lang="ja-JP" altLang="en-US" sz="1100" b="1">
                <a:sym typeface="Wingdings" panose="05000000000000000000" pitchFamily="2" charset="2"/>
              </a:rPr>
              <a:t>𝑚</a:t>
            </a:r>
            <a:r>
              <a:rPr lang="en-US" altLang="ja-JP" sz="1100" b="1">
                <a:sym typeface="Wingdings" panose="05000000000000000000" pitchFamily="2" charset="2"/>
              </a:rPr>
              <a:t>=2)</a:t>
            </a:r>
          </a:p>
          <a:p>
            <a:endParaRPr lang="en-US" altLang="ja-JP" sz="1100" b="1">
              <a:sym typeface="Wingdings" panose="05000000000000000000" pitchFamily="2" charset="2"/>
            </a:endParaRPr>
          </a:p>
          <a:p>
            <a:endParaRPr lang="en-US" altLang="ja-JP" sz="1100" b="1">
              <a:sym typeface="Wingdings" panose="05000000000000000000" pitchFamily="2" charset="2"/>
            </a:endParaRPr>
          </a:p>
          <a:p>
            <a:endParaRPr lang="en-US" altLang="ja-JP" sz="1100" b="1">
              <a:sym typeface="Wingdings" panose="05000000000000000000" pitchFamily="2" charset="2"/>
            </a:endParaRPr>
          </a:p>
          <a:p>
            <a:endParaRPr lang="en-US" altLang="ja-JP" sz="1100" b="1">
              <a:sym typeface="Wingdings" panose="05000000000000000000" pitchFamily="2" charset="2"/>
            </a:endParaRPr>
          </a:p>
          <a:p>
            <a:endParaRPr lang="en-US" altLang="ja-JP" sz="1100" b="1">
              <a:sym typeface="Wingdings" panose="05000000000000000000" pitchFamily="2" charset="2"/>
            </a:endParaRPr>
          </a:p>
          <a:p>
            <a:endParaRPr lang="en-US" altLang="ja-JP" sz="1100" b="1">
              <a:sym typeface="Wingdings" panose="05000000000000000000" pitchFamily="2" charset="2"/>
            </a:endParaRPr>
          </a:p>
          <a:p>
            <a:endParaRPr lang="en-US" altLang="ja-JP" sz="1100" b="1">
              <a:sym typeface="Wingdings" panose="05000000000000000000" pitchFamily="2" charset="2"/>
            </a:endParaRPr>
          </a:p>
          <a:p>
            <a:endParaRPr lang="en-US" altLang="ja-JP" sz="1100" b="1">
              <a:sym typeface="Wingdings" panose="05000000000000000000" pitchFamily="2" charset="2"/>
            </a:endParaRPr>
          </a:p>
          <a:p>
            <a:endParaRPr lang="en-US" altLang="ja-JP" sz="1100" b="1">
              <a:sym typeface="Wingdings" panose="05000000000000000000" pitchFamily="2" charset="2"/>
            </a:endParaRPr>
          </a:p>
          <a:p>
            <a:endParaRPr lang="en-US" altLang="ja-JP" sz="1100" b="1">
              <a:sym typeface="Wingdings" panose="05000000000000000000" pitchFamily="2" charset="2"/>
            </a:endParaRPr>
          </a:p>
          <a:p>
            <a:endParaRPr lang="en-US" altLang="ja-JP" sz="1100" b="1">
              <a:sym typeface="Wingdings" panose="05000000000000000000" pitchFamily="2" charset="2"/>
            </a:endParaRPr>
          </a:p>
          <a:p>
            <a:endParaRPr lang="en-US" altLang="ja-JP" sz="1100" b="1">
              <a:sym typeface="Wingdings" panose="05000000000000000000" pitchFamily="2" charset="2"/>
            </a:endParaRPr>
          </a:p>
          <a:p>
            <a:r>
              <a:rPr lang="ja-JP" sz="2800">
                <a:solidFill>
                  <a:srgbClr val="000000"/>
                </a:solidFill>
                <a:effectLst/>
                <a:latin typeface="Arial" panose="020B0604020202020204" pitchFamily="34" charset="0"/>
                <a:ea typeface="游明朝" panose="02020400000000000000" pitchFamily="18" charset="-128"/>
                <a:cs typeface="Arial" panose="020B0604020202020204" pitchFamily="34" charset="0"/>
              </a:rPr>
              <a:t>時間</a:t>
            </a:r>
            <a:r>
              <a:rPr lang="en-US" sz="2800">
                <a:solidFill>
                  <a:srgbClr val="000000"/>
                </a:solidFill>
                <a:effectLst/>
                <a:latin typeface="Arial" panose="020B0604020202020204" pitchFamily="34" charset="0"/>
                <a:ea typeface="游明朝" panose="02020400000000000000" pitchFamily="18" charset="-128"/>
              </a:rPr>
              <a:t> </a:t>
            </a:r>
            <a:r>
              <a:rPr lang="en-US" sz="2800">
                <a:effectLst/>
                <a:latin typeface="Cambria Math" panose="02040503050406030204" pitchFamily="18" charset="0"/>
                <a:ea typeface="游明朝" panose="02020400000000000000" pitchFamily="18" charset="-128"/>
                <a:cs typeface="Cambria Math" panose="02040503050406030204" pitchFamily="18" charset="0"/>
              </a:rPr>
              <a:t>𝑛 </a:t>
            </a:r>
            <a:r>
              <a:rPr lang="en-US" sz="2800">
                <a:effectLst/>
                <a:latin typeface="Calibri" panose="020F0502020204030204" pitchFamily="34" charset="0"/>
                <a:ea typeface="游明朝" panose="02020400000000000000" pitchFamily="18" charset="-128"/>
                <a:cs typeface="Times New Roman" panose="02020603050405020304" pitchFamily="18" charset="0"/>
              </a:rPr>
              <a:t>= </a:t>
            </a:r>
            <a:r>
              <a:rPr lang="en-US" sz="2800">
                <a:effectLst/>
                <a:latin typeface="Cambria Math" panose="02040503050406030204" pitchFamily="18" charset="0"/>
                <a:ea typeface="游明朝" panose="02020400000000000000" pitchFamily="18" charset="-128"/>
                <a:cs typeface="Cambria Math" panose="02040503050406030204" pitchFamily="18" charset="0"/>
              </a:rPr>
              <a:t>𝑚 </a:t>
            </a:r>
            <a:r>
              <a:rPr lang="ja-JP" altLang="en-US" sz="2800"/>
              <a:t> </a:t>
            </a:r>
            <a:r>
              <a:rPr lang="en-US" altLang="ja-JP" sz="2800"/>
              <a:t>〜 </a:t>
            </a:r>
            <a:r>
              <a:rPr lang="en-US" sz="2800">
                <a:effectLst/>
                <a:latin typeface="Calibri" panose="020F0502020204030204" pitchFamily="34" charset="0"/>
                <a:ea typeface="游明朝" panose="02020400000000000000" pitchFamily="18" charset="-128"/>
                <a:cs typeface="Times New Roman" panose="02020603050405020304" pitchFamily="18" charset="0"/>
              </a:rPr>
              <a:t> (</a:t>
            </a:r>
            <a:r>
              <a:rPr lang="en-US" sz="2800">
                <a:effectLst/>
                <a:latin typeface="Cambria Math" panose="02040503050406030204" pitchFamily="18" charset="0"/>
                <a:ea typeface="游明朝" panose="02020400000000000000" pitchFamily="18" charset="-128"/>
                <a:cs typeface="Cambria Math" panose="02040503050406030204" pitchFamily="18" charset="0"/>
              </a:rPr>
              <a:t>𝑚 </a:t>
            </a:r>
            <a:r>
              <a:rPr lang="en-US" sz="2800">
                <a:effectLst/>
                <a:latin typeface="Calibri" panose="020F0502020204030204" pitchFamily="34" charset="0"/>
                <a:ea typeface="游明朝" panose="02020400000000000000" pitchFamily="18" charset="-128"/>
                <a:cs typeface="Times New Roman" panose="02020603050405020304" pitchFamily="18" charset="0"/>
              </a:rPr>
              <a:t>+ </a:t>
            </a:r>
            <a:r>
              <a:rPr lang="en-US" sz="2800">
                <a:effectLst/>
                <a:latin typeface="Cambria Math" panose="02040503050406030204" pitchFamily="18" charset="0"/>
                <a:ea typeface="游明朝" panose="02020400000000000000" pitchFamily="18" charset="-128"/>
                <a:cs typeface="Cambria Math" panose="02040503050406030204" pitchFamily="18" charset="0"/>
              </a:rPr>
              <a:t>𝐽 </a:t>
            </a:r>
            <a:r>
              <a:rPr lang="en-US" sz="2800">
                <a:effectLst/>
                <a:latin typeface="Calibri" panose="020F0502020204030204" pitchFamily="34" charset="0"/>
                <a:ea typeface="游明朝" panose="02020400000000000000" pitchFamily="18" charset="-128"/>
                <a:cs typeface="Times New Roman" panose="02020603050405020304" pitchFamily="18" charset="0"/>
              </a:rPr>
              <a:t>−1)</a:t>
            </a:r>
            <a:r>
              <a:rPr lang="en-US" sz="2800">
                <a:solidFill>
                  <a:srgbClr val="000000"/>
                </a:solidFill>
                <a:effectLst/>
                <a:latin typeface="Arial" panose="020B0604020202020204" pitchFamily="34" charset="0"/>
                <a:ea typeface="游明朝" panose="02020400000000000000" pitchFamily="18" charset="-128"/>
              </a:rPr>
              <a:t> </a:t>
            </a:r>
            <a:r>
              <a:rPr lang="ja-JP" sz="2800">
                <a:solidFill>
                  <a:srgbClr val="000000"/>
                </a:solidFill>
                <a:effectLst/>
                <a:latin typeface="Arial" panose="020B0604020202020204" pitchFamily="34" charset="0"/>
                <a:ea typeface="游明朝" panose="02020400000000000000" pitchFamily="18" charset="-128"/>
                <a:cs typeface="Arial" panose="020B0604020202020204" pitchFamily="34" charset="0"/>
              </a:rPr>
              <a:t>に対して</a:t>
            </a:r>
            <a:r>
              <a:rPr lang="en-US" sz="2800">
                <a:solidFill>
                  <a:srgbClr val="000000"/>
                </a:solidFill>
                <a:effectLst/>
                <a:latin typeface="Arial" panose="020B0604020202020204" pitchFamily="34" charset="0"/>
                <a:ea typeface="游明朝" panose="02020400000000000000" pitchFamily="18" charset="-128"/>
              </a:rPr>
              <a:t>,</a:t>
            </a:r>
            <a:r>
              <a:rPr lang="ja-JP" sz="2800">
                <a:solidFill>
                  <a:srgbClr val="000000"/>
                </a:solidFill>
                <a:effectLst/>
                <a:latin typeface="Arial" panose="020B0604020202020204" pitchFamily="34" charset="0"/>
                <a:ea typeface="游明朝" panose="02020400000000000000" pitchFamily="18" charset="-128"/>
                <a:cs typeface="Arial" panose="020B0604020202020204" pitchFamily="34" charset="0"/>
              </a:rPr>
              <a:t>出力は</a:t>
            </a:r>
            <a:r>
              <a:rPr lang="en-US" sz="2800">
                <a:solidFill>
                  <a:srgbClr val="000000"/>
                </a:solidFill>
                <a:effectLst/>
                <a:latin typeface="Arial" panose="020B0604020202020204" pitchFamily="34" charset="0"/>
                <a:ea typeface="游明朝" panose="02020400000000000000" pitchFamily="18" charset="-128"/>
              </a:rPr>
              <a:t> </a:t>
            </a:r>
            <a:r>
              <a:rPr lang="en-US" sz="2800">
                <a:effectLst/>
                <a:latin typeface="Cambria Math" panose="02040503050406030204" pitchFamily="18" charset="0"/>
                <a:ea typeface="游明朝" panose="02020400000000000000" pitchFamily="18" charset="-128"/>
                <a:cs typeface="Cambria Math" panose="02040503050406030204" pitchFamily="18" charset="0"/>
              </a:rPr>
              <a:t>𝑦</a:t>
            </a:r>
            <a:r>
              <a:rPr lang="en-US" sz="2800" baseline="-25000">
                <a:effectLst/>
                <a:latin typeface="Cambria Math" panose="02040503050406030204" pitchFamily="18" charset="0"/>
                <a:ea typeface="游明朝" panose="02020400000000000000" pitchFamily="18" charset="-128"/>
                <a:cs typeface="Cambria Math" panose="02040503050406030204" pitchFamily="18" charset="0"/>
              </a:rPr>
              <a:t>𝑛 </a:t>
            </a:r>
            <a:r>
              <a:rPr lang="en-US" sz="2800">
                <a:effectLst/>
                <a:latin typeface="Calibri" panose="020F0502020204030204" pitchFamily="34" charset="0"/>
                <a:ea typeface="游明朝" panose="02020400000000000000" pitchFamily="18" charset="-128"/>
                <a:cs typeface="Times New Roman" panose="02020603050405020304" pitchFamily="18" charset="0"/>
              </a:rPr>
              <a:t>= </a:t>
            </a:r>
            <a:r>
              <a:rPr lang="en-US" sz="2800">
                <a:effectLst/>
                <a:latin typeface="Cambria Math" panose="02040503050406030204" pitchFamily="18" charset="0"/>
                <a:ea typeface="游明朝" panose="02020400000000000000" pitchFamily="18" charset="-128"/>
                <a:cs typeface="Cambria Math" panose="02040503050406030204" pitchFamily="18" charset="0"/>
              </a:rPr>
              <a:t>𝑏</a:t>
            </a:r>
            <a:r>
              <a:rPr lang="en-US" sz="2800" baseline="-25000">
                <a:effectLst/>
                <a:latin typeface="Cambria Math" panose="02040503050406030204" pitchFamily="18" charset="0"/>
                <a:ea typeface="游明朝" panose="02020400000000000000" pitchFamily="18" charset="-128"/>
                <a:cs typeface="Cambria Math" panose="02040503050406030204" pitchFamily="18" charset="0"/>
              </a:rPr>
              <a:t>𝑛 </a:t>
            </a:r>
            <a:r>
              <a:rPr lang="en-US" sz="2800">
                <a:effectLst/>
                <a:latin typeface="Calibri" panose="020F0502020204030204" pitchFamily="34" charset="0"/>
                <a:ea typeface="游明朝" panose="02020400000000000000" pitchFamily="18" charset="-128"/>
                <a:cs typeface="Times New Roman" panose="02020603050405020304" pitchFamily="18" charset="0"/>
              </a:rPr>
              <a:t>− </a:t>
            </a:r>
            <a:r>
              <a:rPr lang="en-US" sz="2800">
                <a:effectLst/>
                <a:latin typeface="Cambria Math" panose="02040503050406030204" pitchFamily="18" charset="0"/>
                <a:ea typeface="游明朝" panose="02020400000000000000" pitchFamily="18" charset="-128"/>
                <a:cs typeface="Cambria Math" panose="02040503050406030204" pitchFamily="18" charset="0"/>
              </a:rPr>
              <a:t>𝑚</a:t>
            </a:r>
            <a:r>
              <a:rPr lang="en-US" sz="2800" baseline="30000">
                <a:effectLst/>
                <a:latin typeface="Cambria Math" panose="02040503050406030204" pitchFamily="18" charset="0"/>
                <a:ea typeface="游明朝" panose="02020400000000000000" pitchFamily="18" charset="-128"/>
                <a:cs typeface="Cambria Math" panose="02040503050406030204" pitchFamily="18" charset="0"/>
              </a:rPr>
              <a:t>𝑥</a:t>
            </a:r>
            <a:r>
              <a:rPr lang="en-US" sz="2800">
                <a:effectLst/>
                <a:latin typeface="Cambria Math" panose="02040503050406030204" pitchFamily="18" charset="0"/>
                <a:ea typeface="游明朝" panose="02020400000000000000" pitchFamily="18" charset="-128"/>
                <a:cs typeface="Cambria Math" panose="02040503050406030204" pitchFamily="18" charset="0"/>
              </a:rPr>
              <a:t>𝑚</a:t>
            </a:r>
            <a:r>
              <a:rPr lang="en-US" sz="2800">
                <a:solidFill>
                  <a:srgbClr val="000000"/>
                </a:solidFill>
                <a:effectLst/>
                <a:latin typeface="Arial" panose="020B0604020202020204" pitchFamily="34" charset="0"/>
                <a:ea typeface="游明朝" panose="02020400000000000000" pitchFamily="18" charset="-128"/>
              </a:rPr>
              <a:t> </a:t>
            </a:r>
            <a:r>
              <a:rPr lang="ja-JP" sz="2800">
                <a:solidFill>
                  <a:srgbClr val="000000"/>
                </a:solidFill>
                <a:effectLst/>
                <a:latin typeface="Arial" panose="020B0604020202020204" pitchFamily="34" charset="0"/>
                <a:ea typeface="游明朝" panose="02020400000000000000" pitchFamily="18" charset="-128"/>
                <a:cs typeface="Arial" panose="020B0604020202020204" pitchFamily="34" charset="0"/>
              </a:rPr>
              <a:t>ということ</a:t>
            </a:r>
            <a:endParaRPr lang="en-US" altLang="ja-JP" sz="2800">
              <a:solidFill>
                <a:srgbClr val="000000"/>
              </a:solidFill>
              <a:effectLst/>
              <a:latin typeface="Arial" panose="020B0604020202020204" pitchFamily="34" charset="0"/>
              <a:ea typeface="游明朝" panose="02020400000000000000" pitchFamily="18" charset="-128"/>
              <a:cs typeface="Arial" panose="020B0604020202020204" pitchFamily="34" charset="0"/>
            </a:endParaRPr>
          </a:p>
          <a:p>
            <a:r>
              <a:rPr lang="en-US" sz="1200"/>
              <a:t>For time n  = m     </a:t>
            </a:r>
            <a:r>
              <a:rPr lang="ja-JP" altLang="en-US" sz="1200"/>
              <a:t> </a:t>
            </a:r>
            <a:r>
              <a:rPr lang="en-US" altLang="ja-JP" sz="1200"/>
              <a:t>〜 </a:t>
            </a:r>
            <a:r>
              <a:rPr lang="en-US" sz="1200">
                <a:effectLst/>
                <a:latin typeface="Calibri" panose="020F0502020204030204" pitchFamily="34" charset="0"/>
                <a:ea typeface="游明朝" panose="02020400000000000000" pitchFamily="18" charset="-128"/>
                <a:cs typeface="Times New Roman" panose="02020603050405020304" pitchFamily="18" charset="0"/>
              </a:rPr>
              <a:t>(</a:t>
            </a:r>
            <a:r>
              <a:rPr lang="en-US" sz="1200">
                <a:effectLst/>
                <a:latin typeface="Cambria Math" panose="02040503050406030204" pitchFamily="18" charset="0"/>
                <a:ea typeface="游明朝" panose="02020400000000000000" pitchFamily="18" charset="-128"/>
                <a:cs typeface="Cambria Math" panose="02040503050406030204" pitchFamily="18" charset="0"/>
              </a:rPr>
              <a:t>𝑚 </a:t>
            </a:r>
            <a:r>
              <a:rPr lang="en-US" sz="1200">
                <a:effectLst/>
                <a:latin typeface="Calibri" panose="020F0502020204030204" pitchFamily="34" charset="0"/>
                <a:ea typeface="游明朝" panose="02020400000000000000" pitchFamily="18" charset="-128"/>
                <a:cs typeface="Times New Roman" panose="02020603050405020304" pitchFamily="18" charset="0"/>
              </a:rPr>
              <a:t>+ </a:t>
            </a:r>
            <a:r>
              <a:rPr lang="en-US" sz="1200">
                <a:effectLst/>
                <a:latin typeface="Cambria Math" panose="02040503050406030204" pitchFamily="18" charset="0"/>
                <a:ea typeface="游明朝" panose="02020400000000000000" pitchFamily="18" charset="-128"/>
                <a:cs typeface="Cambria Math" panose="02040503050406030204" pitchFamily="18" charset="0"/>
              </a:rPr>
              <a:t>𝐽 </a:t>
            </a:r>
            <a:r>
              <a:rPr lang="en-US" sz="1200">
                <a:effectLst/>
                <a:latin typeface="Calibri" panose="020F0502020204030204" pitchFamily="34" charset="0"/>
                <a:ea typeface="游明朝" panose="02020400000000000000" pitchFamily="18" charset="-128"/>
                <a:cs typeface="Times New Roman" panose="02020603050405020304" pitchFamily="18" charset="0"/>
              </a:rPr>
              <a:t>−1)</a:t>
            </a:r>
            <a:r>
              <a:rPr lang="en-US" sz="1200">
                <a:solidFill>
                  <a:srgbClr val="000000"/>
                </a:solidFill>
                <a:effectLst/>
                <a:latin typeface="Arial" panose="020B0604020202020204" pitchFamily="34" charset="0"/>
                <a:ea typeface="游明朝" panose="02020400000000000000" pitchFamily="18" charset="-128"/>
              </a:rPr>
              <a:t>  the output is  </a:t>
            </a:r>
            <a:r>
              <a:rPr lang="en-US" sz="1200">
                <a:effectLst/>
                <a:latin typeface="Cambria Math" panose="02040503050406030204" pitchFamily="18" charset="0"/>
                <a:ea typeface="游明朝" panose="02020400000000000000" pitchFamily="18" charset="-128"/>
                <a:cs typeface="Cambria Math" panose="02040503050406030204" pitchFamily="18" charset="0"/>
              </a:rPr>
              <a:t>𝑦</a:t>
            </a:r>
            <a:r>
              <a:rPr lang="en-US" sz="1200" baseline="-25000">
                <a:effectLst/>
                <a:latin typeface="Cambria Math" panose="02040503050406030204" pitchFamily="18" charset="0"/>
                <a:ea typeface="游明朝" panose="02020400000000000000" pitchFamily="18" charset="-128"/>
                <a:cs typeface="Cambria Math" panose="02040503050406030204" pitchFamily="18" charset="0"/>
              </a:rPr>
              <a:t>𝑛</a:t>
            </a:r>
            <a:r>
              <a:rPr lang="en-US" sz="1200">
                <a:effectLst/>
                <a:latin typeface="Calibri" panose="020F0502020204030204" pitchFamily="34" charset="0"/>
                <a:ea typeface="游明朝" panose="02020400000000000000" pitchFamily="18" charset="-128"/>
                <a:cs typeface="Times New Roman" panose="02020603050405020304" pitchFamily="18" charset="0"/>
              </a:rPr>
              <a:t>=</a:t>
            </a:r>
            <a:r>
              <a:rPr lang="en-US" sz="1200">
                <a:effectLst/>
                <a:latin typeface="Cambria Math" panose="02040503050406030204" pitchFamily="18" charset="0"/>
                <a:ea typeface="游明朝" panose="02020400000000000000" pitchFamily="18" charset="-128"/>
                <a:cs typeface="Cambria Math" panose="02040503050406030204" pitchFamily="18" charset="0"/>
              </a:rPr>
              <a:t>𝑏</a:t>
            </a:r>
            <a:r>
              <a:rPr lang="en-US" sz="1200" baseline="-25000">
                <a:effectLst/>
                <a:latin typeface="Cambria Math" panose="02040503050406030204" pitchFamily="18" charset="0"/>
                <a:ea typeface="游明朝" panose="02020400000000000000" pitchFamily="18" charset="-128"/>
                <a:cs typeface="Cambria Math" panose="02040503050406030204" pitchFamily="18" charset="0"/>
              </a:rPr>
              <a:t>𝑛</a:t>
            </a:r>
            <a:r>
              <a:rPr lang="en-US" sz="1200">
                <a:effectLst/>
                <a:latin typeface="Calibri" panose="020F0502020204030204" pitchFamily="34" charset="0"/>
                <a:ea typeface="游明朝" panose="02020400000000000000" pitchFamily="18" charset="-128"/>
                <a:cs typeface="Times New Roman" panose="02020603050405020304" pitchFamily="18" charset="0"/>
              </a:rPr>
              <a:t>−</a:t>
            </a:r>
            <a:r>
              <a:rPr lang="en-US" sz="1200">
                <a:effectLst/>
                <a:latin typeface="Cambria Math" panose="02040503050406030204" pitchFamily="18" charset="0"/>
                <a:ea typeface="游明朝" panose="02020400000000000000" pitchFamily="18" charset="-128"/>
                <a:cs typeface="Cambria Math" panose="02040503050406030204" pitchFamily="18" charset="0"/>
              </a:rPr>
              <a:t>𝑚</a:t>
            </a:r>
            <a:r>
              <a:rPr lang="en-US" sz="1200" baseline="30000">
                <a:effectLst/>
                <a:latin typeface="Cambria Math" panose="02040503050406030204" pitchFamily="18" charset="0"/>
                <a:ea typeface="游明朝" panose="02020400000000000000" pitchFamily="18" charset="-128"/>
                <a:cs typeface="Cambria Math" panose="02040503050406030204" pitchFamily="18" charset="0"/>
              </a:rPr>
              <a:t>𝑥</a:t>
            </a:r>
            <a:r>
              <a:rPr lang="en-US" sz="1200">
                <a:effectLst/>
                <a:latin typeface="Cambria Math" panose="02040503050406030204" pitchFamily="18" charset="0"/>
                <a:ea typeface="游明朝" panose="02020400000000000000" pitchFamily="18" charset="-128"/>
                <a:cs typeface="Cambria Math" panose="02040503050406030204" pitchFamily="18" charset="0"/>
              </a:rPr>
              <a:t>𝑚</a:t>
            </a:r>
            <a:r>
              <a:rPr lang="en-US" sz="1200">
                <a:solidFill>
                  <a:srgbClr val="000000"/>
                </a:solidFill>
                <a:effectLst/>
                <a:latin typeface="Arial" panose="020B0604020202020204" pitchFamily="34" charset="0"/>
                <a:ea typeface="游明朝" panose="02020400000000000000" pitchFamily="18" charset="-128"/>
              </a:rPr>
              <a:t> </a:t>
            </a:r>
            <a:endParaRPr lang="en-US" sz="1200"/>
          </a:p>
        </p:txBody>
      </p:sp>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13" name="Rounded Rectangle 18">
            <a:extLst>
              <a:ext uri="{FF2B5EF4-FFF2-40B4-BE49-F238E27FC236}">
                <a16:creationId xmlns:a16="http://schemas.microsoft.com/office/drawing/2014/main" id="{E0DEF935-6EBE-CE85-7430-6DD6F529FFBE}"/>
              </a:ext>
            </a:extLst>
          </p:cNvPr>
          <p:cNvSpPr/>
          <p:nvPr/>
        </p:nvSpPr>
        <p:spPr>
          <a:xfrm>
            <a:off x="2676697" y="252943"/>
            <a:ext cx="6791499"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r>
              <a:rPr lang="ja-JP" altLang="en-US" sz="3200" b="1">
                <a:sym typeface="Wingdings" panose="05000000000000000000" pitchFamily="2" charset="2"/>
              </a:rPr>
              <a:t>         </a:t>
            </a:r>
            <a:r>
              <a:rPr lang="en-US" altLang="ja-JP" sz="3200" b="1">
                <a:solidFill>
                  <a:schemeClr val="tx1"/>
                </a:solidFill>
                <a:sym typeface="Wingdings" panose="05000000000000000000" pitchFamily="2" charset="2"/>
              </a:rPr>
              <a:t>FIR </a:t>
            </a:r>
            <a:r>
              <a:rPr lang="ja-JP" altLang="en-US" sz="3200" b="1">
                <a:solidFill>
                  <a:schemeClr val="tx1"/>
                </a:solidFill>
                <a:sym typeface="Wingdings" panose="05000000000000000000" pitchFamily="2" charset="2"/>
              </a:rPr>
              <a:t>フィルタの時間応答</a:t>
            </a:r>
            <a:r>
              <a:rPr lang="en-US" altLang="ja-JP" sz="1200" b="1">
                <a:solidFill>
                  <a:schemeClr val="tx1"/>
                </a:solidFill>
                <a:sym typeface="Wingdings" panose="05000000000000000000" pitchFamily="2" charset="2"/>
              </a:rPr>
              <a:t>Time response of FIR filter</a:t>
            </a:r>
            <a:endParaRPr lang="en-US" sz="3200" b="1">
              <a:solidFill>
                <a:schemeClr val="tx1"/>
              </a:solidFill>
            </a:endParaRPr>
          </a:p>
        </p:txBody>
      </p:sp>
      <p:pic>
        <p:nvPicPr>
          <p:cNvPr id="16" name="図 15"/>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8" name="図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88084" y="2792937"/>
            <a:ext cx="3335360" cy="2056805"/>
          </a:xfrm>
          <a:prstGeom prst="rect">
            <a:avLst/>
          </a:prstGeom>
        </p:spPr>
      </p:pic>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856AB1BD-0FA3-F21A-F6E9-8A84B90B057B}"/>
                  </a:ext>
                </a:extLst>
              </p14:cNvPr>
              <p14:cNvContentPartPr/>
              <p14:nvPr/>
            </p14:nvContentPartPr>
            <p14:xfrm>
              <a:off x="1205650" y="5472746"/>
              <a:ext cx="131400" cy="360"/>
            </p14:xfrm>
          </p:contentPart>
        </mc:Choice>
        <mc:Fallback>
          <p:pic>
            <p:nvPicPr>
              <p:cNvPr id="6" name="Ink 5">
                <a:extLst>
                  <a:ext uri="{FF2B5EF4-FFF2-40B4-BE49-F238E27FC236}">
                    <a16:creationId xmlns:a16="http://schemas.microsoft.com/office/drawing/2014/main" id="{856AB1BD-0FA3-F21A-F6E9-8A84B90B057B}"/>
                  </a:ext>
                </a:extLst>
              </p:cNvPr>
              <p:cNvPicPr/>
              <p:nvPr/>
            </p:nvPicPr>
            <p:blipFill>
              <a:blip r:embed="rId6"/>
              <a:stretch>
                <a:fillRect/>
              </a:stretch>
            </p:blipFill>
            <p:spPr>
              <a:xfrm>
                <a:off x="1196650" y="5463746"/>
                <a:ext cx="14904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7" name="Ink 6">
                <a:extLst>
                  <a:ext uri="{FF2B5EF4-FFF2-40B4-BE49-F238E27FC236}">
                    <a16:creationId xmlns:a16="http://schemas.microsoft.com/office/drawing/2014/main" id="{520F3D37-728F-C804-717D-CE77CD7C373F}"/>
                  </a:ext>
                </a:extLst>
              </p14:cNvPr>
              <p14:cNvContentPartPr/>
              <p14:nvPr/>
            </p14:nvContentPartPr>
            <p14:xfrm>
              <a:off x="1510570" y="3273146"/>
              <a:ext cx="360" cy="360"/>
            </p14:xfrm>
          </p:contentPart>
        </mc:Choice>
        <mc:Fallback>
          <p:pic>
            <p:nvPicPr>
              <p:cNvPr id="7" name="Ink 6">
                <a:extLst>
                  <a:ext uri="{FF2B5EF4-FFF2-40B4-BE49-F238E27FC236}">
                    <a16:creationId xmlns:a16="http://schemas.microsoft.com/office/drawing/2014/main" id="{520F3D37-728F-C804-717D-CE77CD7C373F}"/>
                  </a:ext>
                </a:extLst>
              </p:cNvPr>
              <p:cNvPicPr/>
              <p:nvPr/>
            </p:nvPicPr>
            <p:blipFill>
              <a:blip r:embed="rId8"/>
              <a:stretch>
                <a:fillRect/>
              </a:stretch>
            </p:blipFill>
            <p:spPr>
              <a:xfrm>
                <a:off x="1501570" y="3264146"/>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2" name="Ink 11">
                <a:extLst>
                  <a:ext uri="{FF2B5EF4-FFF2-40B4-BE49-F238E27FC236}">
                    <a16:creationId xmlns:a16="http://schemas.microsoft.com/office/drawing/2014/main" id="{FB4544C3-0513-4CCB-8E2E-FFA335A3B120}"/>
                  </a:ext>
                </a:extLst>
              </p14:cNvPr>
              <p14:cNvContentPartPr/>
              <p14:nvPr/>
            </p14:nvContentPartPr>
            <p14:xfrm>
              <a:off x="4359610" y="3577706"/>
              <a:ext cx="360" cy="360"/>
            </p14:xfrm>
          </p:contentPart>
        </mc:Choice>
        <mc:Fallback>
          <p:pic>
            <p:nvPicPr>
              <p:cNvPr id="12" name="Ink 11">
                <a:extLst>
                  <a:ext uri="{FF2B5EF4-FFF2-40B4-BE49-F238E27FC236}">
                    <a16:creationId xmlns:a16="http://schemas.microsoft.com/office/drawing/2014/main" id="{FB4544C3-0513-4CCB-8E2E-FFA335A3B120}"/>
                  </a:ext>
                </a:extLst>
              </p:cNvPr>
              <p:cNvPicPr/>
              <p:nvPr/>
            </p:nvPicPr>
            <p:blipFill>
              <a:blip r:embed="rId8"/>
              <a:stretch>
                <a:fillRect/>
              </a:stretch>
            </p:blipFill>
            <p:spPr>
              <a:xfrm>
                <a:off x="4350610" y="3568706"/>
                <a:ext cx="18000" cy="18000"/>
              </a:xfrm>
              <a:prstGeom prst="rect">
                <a:avLst/>
              </a:prstGeom>
            </p:spPr>
          </p:pic>
        </mc:Fallback>
      </mc:AlternateContent>
      <p:grpSp>
        <p:nvGrpSpPr>
          <p:cNvPr id="19" name="Group 18">
            <a:extLst>
              <a:ext uri="{FF2B5EF4-FFF2-40B4-BE49-F238E27FC236}">
                <a16:creationId xmlns:a16="http://schemas.microsoft.com/office/drawing/2014/main" id="{8E42D800-BC5C-845A-BEC0-4A2C18AC9222}"/>
              </a:ext>
            </a:extLst>
          </p:cNvPr>
          <p:cNvGrpSpPr/>
          <p:nvPr/>
        </p:nvGrpSpPr>
        <p:grpSpPr>
          <a:xfrm>
            <a:off x="4359610" y="3497786"/>
            <a:ext cx="360" cy="360"/>
            <a:chOff x="4359610" y="3497786"/>
            <a:chExt cx="360" cy="360"/>
          </a:xfrm>
        </p:grpSpPr>
        <mc:AlternateContent xmlns:mc="http://schemas.openxmlformats.org/markup-compatibility/2006">
          <mc:Choice xmlns:p14="http://schemas.microsoft.com/office/powerpoint/2010/main" Requires="p14">
            <p:contentPart p14:bwMode="auto" r:id="rId10">
              <p14:nvContentPartPr>
                <p14:cNvPr id="14" name="Ink 13">
                  <a:extLst>
                    <a:ext uri="{FF2B5EF4-FFF2-40B4-BE49-F238E27FC236}">
                      <a16:creationId xmlns:a16="http://schemas.microsoft.com/office/drawing/2014/main" id="{B37B79DE-3127-A2C3-FE3C-68B931E77692}"/>
                    </a:ext>
                  </a:extLst>
                </p14:cNvPr>
                <p14:cNvContentPartPr/>
                <p14:nvPr/>
              </p14:nvContentPartPr>
              <p14:xfrm>
                <a:off x="4359610" y="3497786"/>
                <a:ext cx="360" cy="360"/>
              </p14:xfrm>
            </p:contentPart>
          </mc:Choice>
          <mc:Fallback>
            <p:pic>
              <p:nvPicPr>
                <p:cNvPr id="14" name="Ink 13">
                  <a:extLst>
                    <a:ext uri="{FF2B5EF4-FFF2-40B4-BE49-F238E27FC236}">
                      <a16:creationId xmlns:a16="http://schemas.microsoft.com/office/drawing/2014/main" id="{B37B79DE-3127-A2C3-FE3C-68B931E77692}"/>
                    </a:ext>
                  </a:extLst>
                </p:cNvPr>
                <p:cNvPicPr/>
                <p:nvPr/>
              </p:nvPicPr>
              <p:blipFill>
                <a:blip r:embed="rId8"/>
                <a:stretch>
                  <a:fillRect/>
                </a:stretch>
              </p:blipFill>
              <p:spPr>
                <a:xfrm>
                  <a:off x="4350610" y="3488786"/>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5" name="Ink 14">
                  <a:extLst>
                    <a:ext uri="{FF2B5EF4-FFF2-40B4-BE49-F238E27FC236}">
                      <a16:creationId xmlns:a16="http://schemas.microsoft.com/office/drawing/2014/main" id="{EFD6425B-3621-24CA-33A1-0160EA4819F8}"/>
                    </a:ext>
                  </a:extLst>
                </p14:cNvPr>
                <p14:cNvContentPartPr/>
                <p14:nvPr/>
              </p14:nvContentPartPr>
              <p14:xfrm>
                <a:off x="4359610" y="3497786"/>
                <a:ext cx="360" cy="360"/>
              </p14:xfrm>
            </p:contentPart>
          </mc:Choice>
          <mc:Fallback>
            <p:pic>
              <p:nvPicPr>
                <p:cNvPr id="15" name="Ink 14">
                  <a:extLst>
                    <a:ext uri="{FF2B5EF4-FFF2-40B4-BE49-F238E27FC236}">
                      <a16:creationId xmlns:a16="http://schemas.microsoft.com/office/drawing/2014/main" id="{EFD6425B-3621-24CA-33A1-0160EA4819F8}"/>
                    </a:ext>
                  </a:extLst>
                </p:cNvPr>
                <p:cNvPicPr/>
                <p:nvPr/>
              </p:nvPicPr>
              <p:blipFill>
                <a:blip r:embed="rId8"/>
                <a:stretch>
                  <a:fillRect/>
                </a:stretch>
              </p:blipFill>
              <p:spPr>
                <a:xfrm>
                  <a:off x="4350610" y="3488786"/>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7" name="Ink 16">
                  <a:extLst>
                    <a:ext uri="{FF2B5EF4-FFF2-40B4-BE49-F238E27FC236}">
                      <a16:creationId xmlns:a16="http://schemas.microsoft.com/office/drawing/2014/main" id="{2C42574D-8A8B-E29A-C4B2-47D1E5F55917}"/>
                    </a:ext>
                  </a:extLst>
                </p14:cNvPr>
                <p14:cNvContentPartPr/>
                <p14:nvPr/>
              </p14:nvContentPartPr>
              <p14:xfrm>
                <a:off x="4359610" y="3497786"/>
                <a:ext cx="360" cy="360"/>
              </p14:xfrm>
            </p:contentPart>
          </mc:Choice>
          <mc:Fallback>
            <p:pic>
              <p:nvPicPr>
                <p:cNvPr id="17" name="Ink 16">
                  <a:extLst>
                    <a:ext uri="{FF2B5EF4-FFF2-40B4-BE49-F238E27FC236}">
                      <a16:creationId xmlns:a16="http://schemas.microsoft.com/office/drawing/2014/main" id="{2C42574D-8A8B-E29A-C4B2-47D1E5F55917}"/>
                    </a:ext>
                  </a:extLst>
                </p:cNvPr>
                <p:cNvPicPr/>
                <p:nvPr/>
              </p:nvPicPr>
              <p:blipFill>
                <a:blip r:embed="rId13"/>
                <a:stretch>
                  <a:fillRect/>
                </a:stretch>
              </p:blipFill>
              <p:spPr>
                <a:xfrm>
                  <a:off x="4350610" y="3488786"/>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8" name="Ink 17">
                  <a:extLst>
                    <a:ext uri="{FF2B5EF4-FFF2-40B4-BE49-F238E27FC236}">
                      <a16:creationId xmlns:a16="http://schemas.microsoft.com/office/drawing/2014/main" id="{BAC3EC9C-A475-36C3-A0A7-2D71913FA629}"/>
                    </a:ext>
                  </a:extLst>
                </p14:cNvPr>
                <p14:cNvContentPartPr/>
                <p14:nvPr/>
              </p14:nvContentPartPr>
              <p14:xfrm>
                <a:off x="4359610" y="3497786"/>
                <a:ext cx="360" cy="360"/>
              </p14:xfrm>
            </p:contentPart>
          </mc:Choice>
          <mc:Fallback>
            <p:pic>
              <p:nvPicPr>
                <p:cNvPr id="18" name="Ink 17">
                  <a:extLst>
                    <a:ext uri="{FF2B5EF4-FFF2-40B4-BE49-F238E27FC236}">
                      <a16:creationId xmlns:a16="http://schemas.microsoft.com/office/drawing/2014/main" id="{BAC3EC9C-A475-36C3-A0A7-2D71913FA629}"/>
                    </a:ext>
                  </a:extLst>
                </p:cNvPr>
                <p:cNvPicPr/>
                <p:nvPr/>
              </p:nvPicPr>
              <p:blipFill>
                <a:blip r:embed="rId8"/>
                <a:stretch>
                  <a:fillRect/>
                </a:stretch>
              </p:blipFill>
              <p:spPr>
                <a:xfrm>
                  <a:off x="4350610" y="3488786"/>
                  <a:ext cx="18000" cy="180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5">
            <p14:nvContentPartPr>
              <p14:cNvPr id="21" name="Ink 20">
                <a:extLst>
                  <a:ext uri="{FF2B5EF4-FFF2-40B4-BE49-F238E27FC236}">
                    <a16:creationId xmlns:a16="http://schemas.microsoft.com/office/drawing/2014/main" id="{FCB30E46-49CF-DF6B-AF73-F235F6E4350A}"/>
                  </a:ext>
                </a:extLst>
              </p14:cNvPr>
              <p14:cNvContentPartPr/>
              <p14:nvPr/>
            </p14:nvContentPartPr>
            <p14:xfrm>
              <a:off x="2278810" y="4452146"/>
              <a:ext cx="360" cy="360"/>
            </p14:xfrm>
          </p:contentPart>
        </mc:Choice>
        <mc:Fallback>
          <p:pic>
            <p:nvPicPr>
              <p:cNvPr id="21" name="Ink 20">
                <a:extLst>
                  <a:ext uri="{FF2B5EF4-FFF2-40B4-BE49-F238E27FC236}">
                    <a16:creationId xmlns:a16="http://schemas.microsoft.com/office/drawing/2014/main" id="{FCB30E46-49CF-DF6B-AF73-F235F6E4350A}"/>
                  </a:ext>
                </a:extLst>
              </p:cNvPr>
              <p:cNvPicPr/>
              <p:nvPr/>
            </p:nvPicPr>
            <p:blipFill>
              <a:blip r:embed="rId8"/>
              <a:stretch>
                <a:fillRect/>
              </a:stretch>
            </p:blipFill>
            <p:spPr>
              <a:xfrm>
                <a:off x="2269810" y="4443146"/>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2" name="Ink 21">
                <a:extLst>
                  <a:ext uri="{FF2B5EF4-FFF2-40B4-BE49-F238E27FC236}">
                    <a16:creationId xmlns:a16="http://schemas.microsoft.com/office/drawing/2014/main" id="{9E597459-F3F1-E37F-15D2-02A2991C1E40}"/>
                  </a:ext>
                </a:extLst>
              </p14:cNvPr>
              <p14:cNvContentPartPr/>
              <p14:nvPr/>
            </p14:nvContentPartPr>
            <p14:xfrm>
              <a:off x="1271530" y="3060746"/>
              <a:ext cx="360" cy="360"/>
            </p14:xfrm>
          </p:contentPart>
        </mc:Choice>
        <mc:Fallback>
          <p:pic>
            <p:nvPicPr>
              <p:cNvPr id="22" name="Ink 21">
                <a:extLst>
                  <a:ext uri="{FF2B5EF4-FFF2-40B4-BE49-F238E27FC236}">
                    <a16:creationId xmlns:a16="http://schemas.microsoft.com/office/drawing/2014/main" id="{9E597459-F3F1-E37F-15D2-02A2991C1E40}"/>
                  </a:ext>
                </a:extLst>
              </p:cNvPr>
              <p:cNvPicPr/>
              <p:nvPr/>
            </p:nvPicPr>
            <p:blipFill>
              <a:blip r:embed="rId8"/>
              <a:stretch>
                <a:fillRect/>
              </a:stretch>
            </p:blipFill>
            <p:spPr>
              <a:xfrm>
                <a:off x="1262530" y="3051746"/>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7" name="Ink 26">
                <a:extLst>
                  <a:ext uri="{FF2B5EF4-FFF2-40B4-BE49-F238E27FC236}">
                    <a16:creationId xmlns:a16="http://schemas.microsoft.com/office/drawing/2014/main" id="{16AD5644-73CB-DE43-1ED3-408C32A4E1EE}"/>
                  </a:ext>
                </a:extLst>
              </p14:cNvPr>
              <p14:cNvContentPartPr/>
              <p14:nvPr/>
            </p14:nvContentPartPr>
            <p14:xfrm>
              <a:off x="1244890" y="3723506"/>
              <a:ext cx="360" cy="360"/>
            </p14:xfrm>
          </p:contentPart>
        </mc:Choice>
        <mc:Fallback>
          <p:pic>
            <p:nvPicPr>
              <p:cNvPr id="27" name="Ink 26">
                <a:extLst>
                  <a:ext uri="{FF2B5EF4-FFF2-40B4-BE49-F238E27FC236}">
                    <a16:creationId xmlns:a16="http://schemas.microsoft.com/office/drawing/2014/main" id="{16AD5644-73CB-DE43-1ED3-408C32A4E1EE}"/>
                  </a:ext>
                </a:extLst>
              </p:cNvPr>
              <p:cNvPicPr/>
              <p:nvPr/>
            </p:nvPicPr>
            <p:blipFill>
              <a:blip r:embed="rId18"/>
              <a:stretch>
                <a:fillRect/>
              </a:stretch>
            </p:blipFill>
            <p:spPr>
              <a:xfrm>
                <a:off x="1235890" y="3714506"/>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28" name="Ink 27">
                <a:extLst>
                  <a:ext uri="{FF2B5EF4-FFF2-40B4-BE49-F238E27FC236}">
                    <a16:creationId xmlns:a16="http://schemas.microsoft.com/office/drawing/2014/main" id="{456462B9-3C26-F3AD-691D-141D0DDCFD1F}"/>
                  </a:ext>
                </a:extLst>
              </p14:cNvPr>
              <p14:cNvContentPartPr/>
              <p14:nvPr/>
            </p14:nvContentPartPr>
            <p14:xfrm>
              <a:off x="1722250" y="3803066"/>
              <a:ext cx="360" cy="360"/>
            </p14:xfrm>
          </p:contentPart>
        </mc:Choice>
        <mc:Fallback>
          <p:pic>
            <p:nvPicPr>
              <p:cNvPr id="28" name="Ink 27">
                <a:extLst>
                  <a:ext uri="{FF2B5EF4-FFF2-40B4-BE49-F238E27FC236}">
                    <a16:creationId xmlns:a16="http://schemas.microsoft.com/office/drawing/2014/main" id="{456462B9-3C26-F3AD-691D-141D0DDCFD1F}"/>
                  </a:ext>
                </a:extLst>
              </p:cNvPr>
              <p:cNvPicPr/>
              <p:nvPr/>
            </p:nvPicPr>
            <p:blipFill>
              <a:blip r:embed="rId8"/>
              <a:stretch>
                <a:fillRect/>
              </a:stretch>
            </p:blipFill>
            <p:spPr>
              <a:xfrm>
                <a:off x="1713250" y="3794066"/>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9" name="Ink 28">
                <a:extLst>
                  <a:ext uri="{FF2B5EF4-FFF2-40B4-BE49-F238E27FC236}">
                    <a16:creationId xmlns:a16="http://schemas.microsoft.com/office/drawing/2014/main" id="{BACF33D7-903A-2F53-D5D7-90D8F1625761}"/>
                  </a:ext>
                </a:extLst>
              </p14:cNvPr>
              <p14:cNvContentPartPr/>
              <p14:nvPr/>
            </p14:nvContentPartPr>
            <p14:xfrm>
              <a:off x="2857320" y="4331520"/>
              <a:ext cx="360" cy="360"/>
            </p14:xfrm>
          </p:contentPart>
        </mc:Choice>
        <mc:Fallback>
          <p:pic>
            <p:nvPicPr>
              <p:cNvPr id="29" name="Ink 28">
                <a:extLst>
                  <a:ext uri="{FF2B5EF4-FFF2-40B4-BE49-F238E27FC236}">
                    <a16:creationId xmlns:a16="http://schemas.microsoft.com/office/drawing/2014/main" id="{BACF33D7-903A-2F53-D5D7-90D8F1625761}"/>
                  </a:ext>
                </a:extLst>
              </p:cNvPr>
              <p:cNvPicPr/>
              <p:nvPr/>
            </p:nvPicPr>
            <p:blipFill>
              <a:blip r:embed="rId8"/>
              <a:stretch>
                <a:fillRect/>
              </a:stretch>
            </p:blipFill>
            <p:spPr>
              <a:xfrm>
                <a:off x="2848320" y="4322520"/>
                <a:ext cx="18000" cy="18000"/>
              </a:xfrm>
              <a:prstGeom prst="rect">
                <a:avLst/>
              </a:prstGeom>
            </p:spPr>
          </p:pic>
        </mc:Fallback>
      </mc:AlternateContent>
    </p:spTree>
    <p:extLst>
      <p:ext uri="{BB962C8B-B14F-4D97-AF65-F5344CB8AC3E}">
        <p14:creationId xmlns:p14="http://schemas.microsoft.com/office/powerpoint/2010/main" val="23101997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p:cNvSpPr txBox="1"/>
          <p:nvPr/>
        </p:nvSpPr>
        <p:spPr>
          <a:xfrm>
            <a:off x="0" y="2081203"/>
            <a:ext cx="12192000" cy="3214854"/>
          </a:xfrm>
          <a:prstGeom prst="rect">
            <a:avLst/>
          </a:prstGeom>
          <a:noFill/>
        </p:spPr>
        <p:txBody>
          <a:bodyPr wrap="square" rtlCol="0">
            <a:spAutoFit/>
          </a:bodyPr>
          <a:lstStyle/>
          <a:p>
            <a:pPr marL="0" marR="0">
              <a:lnSpc>
                <a:spcPct val="107000"/>
              </a:lnSpc>
              <a:spcBef>
                <a:spcPts val="0"/>
              </a:spcBef>
              <a:spcAft>
                <a:spcPts val="800"/>
              </a:spcAft>
            </a:pPr>
            <a:r>
              <a:rPr lang="ja-JP" sz="3200">
                <a:solidFill>
                  <a:srgbClr val="000000"/>
                </a:solidFill>
                <a:effectLst/>
                <a:latin typeface="Arial" panose="020B0604020202020204" pitchFamily="34" charset="0"/>
                <a:ea typeface="游明朝" panose="02020400000000000000" pitchFamily="18" charset="-128"/>
                <a:cs typeface="Arial" panose="020B0604020202020204" pitchFamily="34" charset="0"/>
              </a:rPr>
              <a:t>あるパルス波形の時間応答の例：（残響時間</a:t>
            </a:r>
            <a:r>
              <a:rPr lang="en-US" sz="3200">
                <a:solidFill>
                  <a:srgbClr val="000000"/>
                </a:solidFill>
                <a:effectLst/>
                <a:latin typeface="Arial" panose="020B0604020202020204" pitchFamily="34" charset="0"/>
                <a:ea typeface="游明朝" panose="02020400000000000000" pitchFamily="18" charset="-128"/>
                <a:cs typeface="Times New Roman" panose="02020603050405020304" pitchFamily="18" charset="0"/>
              </a:rPr>
              <a:t> </a:t>
            </a:r>
            <a:r>
              <a:rPr lang="en-US" sz="3200">
                <a:effectLst/>
                <a:latin typeface="Cambria Math" panose="02040503050406030204" pitchFamily="18" charset="0"/>
                <a:ea typeface="游明朝" panose="02020400000000000000" pitchFamily="18" charset="-128"/>
                <a:cs typeface="Cambria Math" panose="02040503050406030204" pitchFamily="18" charset="0"/>
              </a:rPr>
              <a:t>𝐽</a:t>
            </a:r>
            <a:r>
              <a:rPr lang="en-US" sz="3200">
                <a:effectLst/>
                <a:latin typeface="Calibri" panose="020F0502020204030204" pitchFamily="34" charset="0"/>
                <a:ea typeface="游明朝" panose="02020400000000000000" pitchFamily="18" charset="-128"/>
                <a:cs typeface="Times New Roman" panose="02020603050405020304" pitchFamily="18" charset="0"/>
              </a:rPr>
              <a:t>=3</a:t>
            </a:r>
            <a:r>
              <a:rPr lang="en-US" sz="3200">
                <a:solidFill>
                  <a:srgbClr val="000000"/>
                </a:solidFill>
                <a:effectLst/>
                <a:latin typeface="Arial" panose="020B0604020202020204" pitchFamily="34" charset="0"/>
                <a:ea typeface="游明朝" panose="02020400000000000000" pitchFamily="18" charset="-128"/>
                <a:cs typeface="Times New Roman" panose="02020603050405020304" pitchFamily="18" charset="0"/>
              </a:rPr>
              <a:t> </a:t>
            </a:r>
            <a:r>
              <a:rPr lang="ja-JP" sz="3200">
                <a:solidFill>
                  <a:srgbClr val="000000"/>
                </a:solidFill>
                <a:effectLst/>
                <a:latin typeface="Arial" panose="020B0604020202020204" pitchFamily="34" charset="0"/>
                <a:ea typeface="游明朝" panose="02020400000000000000" pitchFamily="18" charset="-128"/>
                <a:cs typeface="Arial" panose="020B0604020202020204" pitchFamily="34" charset="0"/>
              </a:rPr>
              <a:t>の場合</a:t>
            </a:r>
            <a:r>
              <a:rPr lang="ja-JP" sz="3200">
                <a:solidFill>
                  <a:srgbClr val="000000"/>
                </a:solidFill>
                <a:effectLst/>
                <a:latin typeface="Arial" panose="020B0604020202020204" pitchFamily="34" charset="0"/>
                <a:ea typeface="ＭＳ 明朝" panose="02020609040205080304" pitchFamily="17" charset="-128"/>
                <a:cs typeface="ＭＳ 明朝" panose="02020609040205080304" pitchFamily="17" charset="-128"/>
              </a:rPr>
              <a:t>）</a:t>
            </a:r>
            <a:endParaRPr lang="en-US" sz="3200">
              <a:effectLst/>
              <a:latin typeface="Calibri" panose="020F0502020204030204" pitchFamily="34" charset="0"/>
              <a:ea typeface="游明朝" panose="02020400000000000000" pitchFamily="18" charset="-128"/>
              <a:cs typeface="Times New Roman" panose="02020603050405020304" pitchFamily="18" charset="0"/>
            </a:endParaRPr>
          </a:p>
          <a:p>
            <a:r>
              <a:rPr lang="en-US" altLang="ja-JP" sz="1100" b="1">
                <a:sym typeface="Wingdings" panose="05000000000000000000" pitchFamily="2" charset="2"/>
              </a:rPr>
              <a:t>Example of time response of a pulse waveform: (for reverberation time </a:t>
            </a:r>
            <a:r>
              <a:rPr lang="ja-JP" altLang="en-US" sz="1100" b="1">
                <a:sym typeface="Wingdings" panose="05000000000000000000" pitchFamily="2" charset="2"/>
              </a:rPr>
              <a:t>𝐽</a:t>
            </a:r>
            <a:r>
              <a:rPr lang="en-US" altLang="ja-JP" sz="1100" b="1">
                <a:sym typeface="Wingdings" panose="05000000000000000000" pitchFamily="2" charset="2"/>
              </a:rPr>
              <a:t>=3)</a:t>
            </a:r>
          </a:p>
          <a:p>
            <a:endParaRPr lang="en-US" altLang="ja-JP" sz="1100" b="1">
              <a:sym typeface="Wingdings" panose="05000000000000000000" pitchFamily="2" charset="2"/>
            </a:endParaRPr>
          </a:p>
          <a:p>
            <a:endParaRPr lang="en-US" altLang="ja-JP" sz="1100" b="1">
              <a:sym typeface="Wingdings" panose="05000000000000000000" pitchFamily="2" charset="2"/>
            </a:endParaRPr>
          </a:p>
          <a:p>
            <a:endParaRPr lang="en-US" altLang="ja-JP" sz="1100" b="1">
              <a:sym typeface="Wingdings" panose="05000000000000000000" pitchFamily="2" charset="2"/>
            </a:endParaRPr>
          </a:p>
          <a:p>
            <a:endParaRPr lang="en-US" altLang="ja-JP" sz="1100" b="1">
              <a:sym typeface="Wingdings" panose="05000000000000000000" pitchFamily="2" charset="2"/>
            </a:endParaRPr>
          </a:p>
          <a:p>
            <a:r>
              <a:rPr lang="ja-JP" altLang="en-US" sz="3200" b="0" i="0">
                <a:solidFill>
                  <a:srgbClr val="000000"/>
                </a:solidFill>
                <a:effectLst/>
                <a:latin typeface="Arial" panose="020B0604020202020204" pitchFamily="34" charset="0"/>
              </a:rPr>
              <a:t>インパルス応答の重ね合わせの単純な例でした</a:t>
            </a:r>
            <a:r>
              <a:rPr lang="en-US" altLang="ja-JP" sz="3200">
                <a:latin typeface="+mn-ea"/>
                <a:ea typeface="+mn-ea"/>
                <a:sym typeface="Wingdings" panose="05000000000000000000" pitchFamily="2" charset="2"/>
              </a:rPr>
              <a:t>                            </a:t>
            </a:r>
            <a:endParaRPr lang="en-US" altLang="ja-JP" sz="3200">
              <a:latin typeface="+mn-ea"/>
              <a:ea typeface="+mn-ea"/>
            </a:endParaRPr>
          </a:p>
          <a:p>
            <a:endParaRPr lang="en-US" altLang="ja-JP" sz="1100"/>
          </a:p>
          <a:p>
            <a:r>
              <a:rPr lang="en-US" altLang="ja-JP" sz="1100"/>
              <a:t>This was a simple example of superposition of impulse responses.</a:t>
            </a:r>
            <a:endParaRPr lang="en-US" sz="2000"/>
          </a:p>
          <a:p>
            <a:r>
              <a:rPr lang="en-US" sz="1100"/>
              <a:t>  </a:t>
            </a:r>
          </a:p>
          <a:p>
            <a:endParaRPr lang="en-US" sz="1100"/>
          </a:p>
          <a:p>
            <a:endParaRPr lang="en-US" sz="1100"/>
          </a:p>
          <a:p>
            <a:r>
              <a:rPr lang="en-US" sz="2000">
                <a:solidFill>
                  <a:srgbClr val="FF0000"/>
                </a:solidFill>
              </a:rPr>
              <a:t>   </a:t>
            </a:r>
          </a:p>
        </p:txBody>
      </p:sp>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13" name="Rounded Rectangle 18">
            <a:extLst>
              <a:ext uri="{FF2B5EF4-FFF2-40B4-BE49-F238E27FC236}">
                <a16:creationId xmlns:a16="http://schemas.microsoft.com/office/drawing/2014/main" id="{E0DEF935-6EBE-CE85-7430-6DD6F529FFBE}"/>
              </a:ext>
            </a:extLst>
          </p:cNvPr>
          <p:cNvSpPr/>
          <p:nvPr/>
        </p:nvSpPr>
        <p:spPr>
          <a:xfrm>
            <a:off x="2676697" y="252943"/>
            <a:ext cx="6791499"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r>
              <a:rPr lang="ja-JP" altLang="en-US" sz="3200" b="1">
                <a:sym typeface="Wingdings" panose="05000000000000000000" pitchFamily="2" charset="2"/>
              </a:rPr>
              <a:t>         </a:t>
            </a:r>
            <a:r>
              <a:rPr lang="en-US" altLang="ja-JP" sz="3200" b="1">
                <a:solidFill>
                  <a:schemeClr val="tx1"/>
                </a:solidFill>
                <a:sym typeface="Wingdings" panose="05000000000000000000" pitchFamily="2" charset="2"/>
              </a:rPr>
              <a:t>FIR </a:t>
            </a:r>
            <a:r>
              <a:rPr lang="ja-JP" altLang="en-US" sz="3200" b="1">
                <a:solidFill>
                  <a:schemeClr val="tx1"/>
                </a:solidFill>
                <a:sym typeface="Wingdings" panose="05000000000000000000" pitchFamily="2" charset="2"/>
              </a:rPr>
              <a:t>フィルタの時間応答</a:t>
            </a:r>
            <a:r>
              <a:rPr lang="en-US" altLang="ja-JP" sz="1200" b="1">
                <a:solidFill>
                  <a:schemeClr val="tx1"/>
                </a:solidFill>
                <a:sym typeface="Wingdings" panose="05000000000000000000" pitchFamily="2" charset="2"/>
              </a:rPr>
              <a:t>Time response of FIR filter</a:t>
            </a:r>
            <a:endParaRPr lang="en-US" sz="3200" b="1">
              <a:solidFill>
                <a:schemeClr val="tx1"/>
              </a:solidFill>
            </a:endParaRPr>
          </a:p>
        </p:txBody>
      </p:sp>
      <p:pic>
        <p:nvPicPr>
          <p:cNvPr id="16" name="図 15"/>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9" name="図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42180" y="2600237"/>
            <a:ext cx="3127674" cy="1860250"/>
          </a:xfrm>
          <a:prstGeom prst="rect">
            <a:avLst/>
          </a:prstGeom>
        </p:spPr>
      </p:pic>
    </p:spTree>
    <p:extLst>
      <p:ext uri="{BB962C8B-B14F-4D97-AF65-F5344CB8AC3E}">
        <p14:creationId xmlns:p14="http://schemas.microsoft.com/office/powerpoint/2010/main" val="27659101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p:cNvSpPr txBox="1"/>
              <p:nvPr/>
            </p:nvSpPr>
            <p:spPr>
              <a:xfrm>
                <a:off x="0" y="2081203"/>
                <a:ext cx="12192000" cy="4719562"/>
              </a:xfrm>
              <a:prstGeom prst="rect">
                <a:avLst/>
              </a:prstGeom>
              <a:noFill/>
            </p:spPr>
            <p:txBody>
              <a:bodyPr wrap="square" rtlCol="0">
                <a:spAutoFit/>
              </a:bodyPr>
              <a:lstStyle/>
              <a:p>
                <a:r>
                  <a:rPr lang="ja-JP" altLang="en-US" sz="3200" b="0" i="0">
                    <a:solidFill>
                      <a:srgbClr val="000000"/>
                    </a:solidFill>
                    <a:effectLst/>
                    <a:latin typeface="Arial" panose="020B0604020202020204" pitchFamily="34" charset="0"/>
                  </a:rPr>
                  <a:t>任意波形に対する時間応答</a:t>
                </a:r>
                <a:endParaRPr lang="en-US" altLang="ja-JP" sz="3200" b="0" i="0">
                  <a:solidFill>
                    <a:srgbClr val="000000"/>
                  </a:solidFill>
                  <a:effectLst/>
                  <a:latin typeface="Arial" panose="020B0604020202020204" pitchFamily="34" charset="0"/>
                </a:endParaRPr>
              </a:p>
              <a:p>
                <a:r>
                  <a:rPr lang="en-US" altLang="ja-JP" sz="1100" b="1">
                    <a:sym typeface="Wingdings" panose="05000000000000000000" pitchFamily="2" charset="2"/>
                  </a:rPr>
                  <a:t>Time response to arbitrary waveforms</a:t>
                </a:r>
              </a:p>
              <a:p>
                <a:endParaRPr lang="en-US" altLang="ja-JP" sz="1100" b="1">
                  <a:sym typeface="Wingdings" panose="05000000000000000000" pitchFamily="2" charset="2"/>
                </a:endParaRPr>
              </a:p>
              <a:p>
                <a:r>
                  <a:rPr lang="ja-JP" sz="3200">
                    <a:solidFill>
                      <a:srgbClr val="000000"/>
                    </a:solidFill>
                    <a:effectLst/>
                    <a:latin typeface="+mj-ea"/>
                    <a:ea typeface="+mj-ea"/>
                    <a:cs typeface="Arial" panose="020B0604020202020204" pitchFamily="34" charset="0"/>
                  </a:rPr>
                  <a:t>現在の出力</a:t>
                </a:r>
                <a:r>
                  <a:rPr lang="en-US" sz="3200">
                    <a:solidFill>
                      <a:srgbClr val="000000"/>
                    </a:solidFill>
                    <a:effectLst/>
                    <a:latin typeface="+mj-ea"/>
                    <a:ea typeface="+mj-ea"/>
                    <a:cs typeface="Times New Roman" panose="02020603050405020304" pitchFamily="18" charset="0"/>
                  </a:rPr>
                  <a:t> </a:t>
                </a:r>
                <a:r>
                  <a:rPr lang="en-US" sz="3200">
                    <a:effectLst/>
                    <a:latin typeface="+mj-ea"/>
                    <a:ea typeface="+mj-ea"/>
                    <a:cs typeface="Cambria Math" panose="02040503050406030204" pitchFamily="18" charset="0"/>
                  </a:rPr>
                  <a:t>𝑦</a:t>
                </a:r>
                <a:r>
                  <a:rPr lang="en-US" sz="3200" baseline="-25000">
                    <a:effectLst/>
                    <a:latin typeface="+mj-ea"/>
                    <a:ea typeface="+mj-ea"/>
                    <a:cs typeface="Cambria Math" panose="02040503050406030204" pitchFamily="18" charset="0"/>
                  </a:rPr>
                  <a:t>𝑛</a:t>
                </a:r>
                <a:r>
                  <a:rPr lang="en-US" sz="3200">
                    <a:solidFill>
                      <a:srgbClr val="000000"/>
                    </a:solidFill>
                    <a:effectLst/>
                    <a:latin typeface="+mj-ea"/>
                    <a:ea typeface="+mj-ea"/>
                    <a:cs typeface="Times New Roman" panose="02020603050405020304" pitchFamily="18" charset="0"/>
                  </a:rPr>
                  <a:t> </a:t>
                </a:r>
                <a:r>
                  <a:rPr lang="ja-JP" sz="3200">
                    <a:solidFill>
                      <a:srgbClr val="000000"/>
                    </a:solidFill>
                    <a:effectLst/>
                    <a:latin typeface="+mj-ea"/>
                    <a:ea typeface="+mj-ea"/>
                    <a:cs typeface="Arial" panose="020B0604020202020204" pitchFamily="34" charset="0"/>
                  </a:rPr>
                  <a:t>に対して，</a:t>
                </a:r>
                <a:r>
                  <a:rPr lang="ja-JP" sz="3200">
                    <a:solidFill>
                      <a:srgbClr val="000000"/>
                    </a:solidFill>
                    <a:effectLst/>
                    <a:latin typeface="+mj-ea"/>
                    <a:ea typeface="+mj-ea"/>
                    <a:cs typeface="Times New Roman" panose="02020603050405020304" pitchFamily="18" charset="0"/>
                  </a:rPr>
                  <a:t> </a:t>
                </a:r>
                <a:r>
                  <a:rPr lang="ja-JP" sz="3200">
                    <a:solidFill>
                      <a:srgbClr val="000000"/>
                    </a:solidFill>
                    <a:effectLst/>
                    <a:latin typeface="+mj-ea"/>
                    <a:ea typeface="+mj-ea"/>
                    <a:cs typeface="Arial" panose="020B0604020202020204" pitchFamily="34" charset="0"/>
                  </a:rPr>
                  <a:t>過去の入力</a:t>
                </a:r>
                <a:r>
                  <a:rPr lang="en-US" sz="3200">
                    <a:solidFill>
                      <a:srgbClr val="000000"/>
                    </a:solidFill>
                    <a:effectLst/>
                    <a:latin typeface="+mj-ea"/>
                    <a:ea typeface="+mj-ea"/>
                    <a:cs typeface="Times New Roman" panose="02020603050405020304" pitchFamily="18" charset="0"/>
                  </a:rPr>
                  <a:t> </a:t>
                </a:r>
                <a:r>
                  <a:rPr lang="en-US" sz="3200">
                    <a:effectLst/>
                    <a:latin typeface="+mj-ea"/>
                    <a:ea typeface="+mj-ea"/>
                    <a:cs typeface="Cambria Math" panose="02040503050406030204" pitchFamily="18" charset="0"/>
                  </a:rPr>
                  <a:t>𝑥</a:t>
                </a:r>
                <a:r>
                  <a:rPr lang="en-US" sz="3200" baseline="-25000">
                    <a:effectLst/>
                    <a:latin typeface="+mj-ea"/>
                    <a:ea typeface="+mj-ea"/>
                    <a:cs typeface="Cambria Math" panose="02040503050406030204" pitchFamily="18" charset="0"/>
                  </a:rPr>
                  <a:t>𝑛</a:t>
                </a:r>
                <a:r>
                  <a:rPr lang="en-US" sz="3200" baseline="-25000">
                    <a:effectLst/>
                    <a:latin typeface="+mj-ea"/>
                    <a:ea typeface="+mj-ea"/>
                    <a:cs typeface="Times New Roman" panose="02020603050405020304" pitchFamily="18" charset="0"/>
                  </a:rPr>
                  <a:t>−</a:t>
                </a:r>
                <a:r>
                  <a:rPr lang="en-US" sz="3200" baseline="-25000">
                    <a:effectLst/>
                    <a:latin typeface="+mj-ea"/>
                    <a:ea typeface="+mj-ea"/>
                    <a:cs typeface="Cambria Math" panose="02040503050406030204" pitchFamily="18" charset="0"/>
                  </a:rPr>
                  <a:t>𝑚</a:t>
                </a:r>
                <a:r>
                  <a:rPr lang="en-US" sz="3200" baseline="-25000">
                    <a:solidFill>
                      <a:srgbClr val="000000"/>
                    </a:solidFill>
                    <a:effectLst/>
                    <a:latin typeface="+mj-ea"/>
                    <a:ea typeface="+mj-ea"/>
                    <a:cs typeface="Times New Roman" panose="02020603050405020304" pitchFamily="18" charset="0"/>
                  </a:rPr>
                  <a:t> </a:t>
                </a:r>
                <a:r>
                  <a:rPr lang="ja-JP" sz="4800" baseline="-25000">
                    <a:solidFill>
                      <a:srgbClr val="000000"/>
                    </a:solidFill>
                    <a:effectLst/>
                    <a:latin typeface="+mj-ea"/>
                    <a:ea typeface="+mj-ea"/>
                    <a:cs typeface="Arial" panose="020B0604020202020204" pitchFamily="34" charset="0"/>
                  </a:rPr>
                  <a:t>が比率</a:t>
                </a:r>
                <a:r>
                  <a:rPr lang="en-US" sz="4800" baseline="-25000">
                    <a:solidFill>
                      <a:srgbClr val="000000"/>
                    </a:solidFill>
                    <a:effectLst/>
                    <a:latin typeface="+mj-ea"/>
                    <a:ea typeface="+mj-ea"/>
                    <a:cs typeface="Times New Roman" panose="02020603050405020304" pitchFamily="18" charset="0"/>
                  </a:rPr>
                  <a:t> </a:t>
                </a:r>
                <a:r>
                  <a:rPr lang="en-US" sz="4800" baseline="-25000">
                    <a:effectLst/>
                    <a:latin typeface="+mj-ea"/>
                    <a:ea typeface="+mj-ea"/>
                    <a:cs typeface="Cambria Math" panose="02040503050406030204" pitchFamily="18" charset="0"/>
                  </a:rPr>
                  <a:t>𝑏𝑚</a:t>
                </a:r>
                <a:r>
                  <a:rPr lang="en-US" sz="4800" baseline="-25000">
                    <a:solidFill>
                      <a:srgbClr val="000000"/>
                    </a:solidFill>
                    <a:effectLst/>
                    <a:latin typeface="+mj-ea"/>
                    <a:ea typeface="+mj-ea"/>
                    <a:cs typeface="Times New Roman" panose="02020603050405020304" pitchFamily="18" charset="0"/>
                  </a:rPr>
                  <a:t> </a:t>
                </a:r>
                <a:r>
                  <a:rPr lang="ja-JP" sz="4800" baseline="-25000">
                    <a:solidFill>
                      <a:srgbClr val="000000"/>
                    </a:solidFill>
                    <a:effectLst/>
                    <a:latin typeface="+mj-ea"/>
                    <a:ea typeface="+mj-ea"/>
                    <a:cs typeface="Arial" panose="020B0604020202020204" pitchFamily="34" charset="0"/>
                  </a:rPr>
                  <a:t>だけ配分されている．</a:t>
                </a:r>
                <a:r>
                  <a:rPr lang="ja-JP" sz="4800" baseline="-25000">
                    <a:solidFill>
                      <a:srgbClr val="000000"/>
                    </a:solidFill>
                    <a:effectLst/>
                    <a:latin typeface="+mj-ea"/>
                    <a:ea typeface="+mj-ea"/>
                    <a:cs typeface="Times New Roman" panose="02020603050405020304" pitchFamily="18" charset="0"/>
                  </a:rPr>
                  <a:t> </a:t>
                </a:r>
                <a:r>
                  <a:rPr lang="ja-JP" sz="4800" baseline="-25000">
                    <a:solidFill>
                      <a:srgbClr val="000000"/>
                    </a:solidFill>
                    <a:effectLst/>
                    <a:latin typeface="+mj-ea"/>
                    <a:ea typeface="+mj-ea"/>
                    <a:cs typeface="Arial" panose="020B0604020202020204" pitchFamily="34" charset="0"/>
                  </a:rPr>
                  <a:t>これが，入力の波形</a:t>
                </a:r>
                <a:r>
                  <a:rPr lang="en-US" sz="4800" baseline="-25000">
                    <a:solidFill>
                      <a:srgbClr val="000000"/>
                    </a:solidFill>
                    <a:effectLst/>
                    <a:latin typeface="+mj-ea"/>
                    <a:ea typeface="+mj-ea"/>
                    <a:cs typeface="Times New Roman" panose="02020603050405020304" pitchFamily="18" charset="0"/>
                  </a:rPr>
                  <a:t> </a:t>
                </a:r>
                <a:r>
                  <a:rPr lang="en-US" sz="4800" baseline="-25000">
                    <a:effectLst/>
                    <a:latin typeface="+mj-ea"/>
                    <a:ea typeface="+mj-ea"/>
                    <a:cs typeface="Cambria Math" panose="02040503050406030204" pitchFamily="18" charset="0"/>
                  </a:rPr>
                  <a:t>𝑥 </a:t>
                </a:r>
                <a:r>
                  <a:rPr lang="ja-JP" sz="4800" baseline="-25000">
                    <a:solidFill>
                      <a:srgbClr val="000000"/>
                    </a:solidFill>
                    <a:effectLst/>
                    <a:latin typeface="+mj-ea"/>
                    <a:ea typeface="+mj-ea"/>
                    <a:cs typeface="Arial" panose="020B0604020202020204" pitchFamily="34" charset="0"/>
                  </a:rPr>
                  <a:t>と</a:t>
                </a:r>
                <a:r>
                  <a:rPr lang="ja-JP" sz="4800" baseline="-25000">
                    <a:solidFill>
                      <a:srgbClr val="000000"/>
                    </a:solidFill>
                    <a:effectLst/>
                    <a:latin typeface="+mj-ea"/>
                    <a:ea typeface="+mj-ea"/>
                    <a:cs typeface="Times New Roman" panose="02020603050405020304" pitchFamily="18" charset="0"/>
                  </a:rPr>
                  <a:t> </a:t>
                </a:r>
                <a:r>
                  <a:rPr lang="ja-JP" sz="4800" baseline="-25000">
                    <a:solidFill>
                      <a:srgbClr val="000000"/>
                    </a:solidFill>
                    <a:effectLst/>
                    <a:latin typeface="+mj-ea"/>
                    <a:ea typeface="+mj-ea"/>
                    <a:cs typeface="Arial" panose="020B0604020202020204" pitchFamily="34" charset="0"/>
                  </a:rPr>
                  <a:t>フィルタのインパルス応答</a:t>
                </a:r>
                <a:r>
                  <a:rPr lang="en-US" sz="4800" baseline="-25000">
                    <a:solidFill>
                      <a:srgbClr val="000000"/>
                    </a:solidFill>
                    <a:effectLst/>
                    <a:latin typeface="+mj-ea"/>
                    <a:ea typeface="+mj-ea"/>
                    <a:cs typeface="Times New Roman" panose="02020603050405020304" pitchFamily="18" charset="0"/>
                  </a:rPr>
                  <a:t> </a:t>
                </a:r>
                <a:r>
                  <a:rPr lang="en-US" sz="4800" baseline="-25000">
                    <a:effectLst/>
                    <a:latin typeface="+mj-ea"/>
                    <a:ea typeface="+mj-ea"/>
                    <a:cs typeface="Cambria Math" panose="02040503050406030204" pitchFamily="18" charset="0"/>
                  </a:rPr>
                  <a:t>𝑏 </a:t>
                </a:r>
                <a:r>
                  <a:rPr lang="ja-JP" sz="4800" baseline="-25000">
                    <a:solidFill>
                      <a:srgbClr val="000000"/>
                    </a:solidFill>
                    <a:effectLst/>
                    <a:latin typeface="+mj-ea"/>
                    <a:ea typeface="+mj-ea"/>
                    <a:cs typeface="Arial" panose="020B0604020202020204" pitchFamily="34" charset="0"/>
                  </a:rPr>
                  <a:t>との畳み込みで</a:t>
                </a:r>
                <a:r>
                  <a:rPr lang="ja-JP" sz="4800" baseline="-25000">
                    <a:solidFill>
                      <a:srgbClr val="000000"/>
                    </a:solidFill>
                    <a:effectLst/>
                    <a:latin typeface="+mj-ea"/>
                    <a:ea typeface="+mj-ea"/>
                    <a:cs typeface="ＭＳ 明朝" panose="02020609040205080304" pitchFamily="17" charset="-128"/>
                  </a:rPr>
                  <a:t>す</a:t>
                </a:r>
                <a:r>
                  <a:rPr lang="en-US" sz="4800" baseline="-25000">
                    <a:effectLst/>
                    <a:latin typeface="+mj-ea"/>
                    <a:ea typeface="+mj-ea"/>
                    <a:cs typeface="Times New Roman" panose="02020603050405020304" pitchFamily="18" charset="0"/>
                  </a:rPr>
                  <a:t> </a:t>
                </a:r>
              </a:p>
              <a:p>
                <a:r>
                  <a:rPr lang="en-US" sz="1200">
                    <a:latin typeface="+mn-ea"/>
                    <a:ea typeface="+mn-ea"/>
                  </a:rPr>
                  <a:t>For the current output </a:t>
                </a:r>
                <a:r>
                  <a:rPr lang="en-US" sz="1200">
                    <a:effectLst/>
                    <a:latin typeface="+mj-ea"/>
                    <a:ea typeface="+mj-ea"/>
                    <a:cs typeface="Cambria Math" panose="02040503050406030204" pitchFamily="18" charset="0"/>
                  </a:rPr>
                  <a:t>𝑦</a:t>
                </a:r>
                <a:r>
                  <a:rPr lang="en-US" sz="1200" baseline="-25000">
                    <a:effectLst/>
                    <a:latin typeface="+mj-ea"/>
                    <a:ea typeface="+mj-ea"/>
                    <a:cs typeface="Cambria Math" panose="02040503050406030204" pitchFamily="18" charset="0"/>
                  </a:rPr>
                  <a:t>𝑛  </a:t>
                </a:r>
                <a:r>
                  <a:rPr lang="en-US" sz="1200">
                    <a:latin typeface="+mn-ea"/>
                    <a:ea typeface="+mn-ea"/>
                  </a:rPr>
                  <a:t>the past input </a:t>
                </a:r>
                <a:r>
                  <a:rPr lang="en-US" sz="1200">
                    <a:effectLst/>
                    <a:latin typeface="+mj-ea"/>
                    <a:ea typeface="+mj-ea"/>
                    <a:cs typeface="Cambria Math" panose="02040503050406030204" pitchFamily="18" charset="0"/>
                  </a:rPr>
                  <a:t>𝑥</a:t>
                </a:r>
                <a:r>
                  <a:rPr lang="en-US" sz="1200" baseline="-25000">
                    <a:effectLst/>
                    <a:latin typeface="+mj-ea"/>
                    <a:ea typeface="+mj-ea"/>
                    <a:cs typeface="Cambria Math" panose="02040503050406030204" pitchFamily="18" charset="0"/>
                  </a:rPr>
                  <a:t>𝑛</a:t>
                </a:r>
                <a:r>
                  <a:rPr lang="en-US" sz="1200" baseline="-25000">
                    <a:effectLst/>
                    <a:latin typeface="+mj-ea"/>
                    <a:ea typeface="+mj-ea"/>
                    <a:cs typeface="Times New Roman" panose="02020603050405020304" pitchFamily="18" charset="0"/>
                  </a:rPr>
                  <a:t>−</a:t>
                </a:r>
                <a:r>
                  <a:rPr lang="en-US" sz="1200" baseline="-25000">
                    <a:effectLst/>
                    <a:latin typeface="+mj-ea"/>
                    <a:ea typeface="+mj-ea"/>
                    <a:cs typeface="Cambria Math" panose="02040503050406030204" pitchFamily="18" charset="0"/>
                  </a:rPr>
                  <a:t>𝑚</a:t>
                </a:r>
                <a:r>
                  <a:rPr lang="en-US" sz="1200" baseline="-25000">
                    <a:solidFill>
                      <a:srgbClr val="000000"/>
                    </a:solidFill>
                    <a:effectLst/>
                    <a:latin typeface="+mj-ea"/>
                    <a:ea typeface="+mj-ea"/>
                    <a:cs typeface="Times New Roman" panose="02020603050405020304" pitchFamily="18" charset="0"/>
                  </a:rPr>
                  <a:t>  </a:t>
                </a:r>
                <a:r>
                  <a:rPr lang="en-US" sz="1200">
                    <a:latin typeface="+mn-ea"/>
                    <a:ea typeface="+mn-ea"/>
                  </a:rPr>
                  <a:t>is allocated by a ratio </a:t>
                </a:r>
                <a:r>
                  <a:rPr lang="en-US" sz="1200" baseline="-25000">
                    <a:solidFill>
                      <a:srgbClr val="000000"/>
                    </a:solidFill>
                    <a:effectLst/>
                    <a:latin typeface="+mj-ea"/>
                    <a:ea typeface="+mj-ea"/>
                    <a:cs typeface="Times New Roman" panose="02020603050405020304" pitchFamily="18" charset="0"/>
                  </a:rPr>
                  <a:t> </a:t>
                </a:r>
                <a:r>
                  <a:rPr lang="en-US" sz="1200" baseline="-25000">
                    <a:effectLst/>
                    <a:latin typeface="+mj-ea"/>
                    <a:ea typeface="+mj-ea"/>
                    <a:cs typeface="Cambria Math" panose="02040503050406030204" pitchFamily="18" charset="0"/>
                  </a:rPr>
                  <a:t>𝑏𝑚</a:t>
                </a:r>
                <a:r>
                  <a:rPr lang="en-US" sz="1200" baseline="-25000">
                    <a:solidFill>
                      <a:srgbClr val="000000"/>
                    </a:solidFill>
                    <a:effectLst/>
                    <a:latin typeface="+mj-ea"/>
                    <a:ea typeface="+mj-ea"/>
                    <a:cs typeface="Times New Roman" panose="02020603050405020304" pitchFamily="18" charset="0"/>
                  </a:rPr>
                  <a:t> </a:t>
                </a:r>
                <a:r>
                  <a:rPr lang="en-US" sz="1200">
                    <a:latin typeface="+mn-ea"/>
                    <a:ea typeface="+mn-ea"/>
                  </a:rPr>
                  <a:t>This is the convolution of the input waveform </a:t>
                </a:r>
                <a:r>
                  <a:rPr lang="en-US" sz="1200" baseline="-25000">
                    <a:effectLst/>
                    <a:latin typeface="+mj-ea"/>
                    <a:ea typeface="+mj-ea"/>
                    <a:cs typeface="Cambria Math" panose="02040503050406030204" pitchFamily="18" charset="0"/>
                  </a:rPr>
                  <a:t>𝑥 </a:t>
                </a:r>
                <a:r>
                  <a:rPr lang="en-US" sz="1200">
                    <a:latin typeface="+mn-ea"/>
                    <a:ea typeface="+mn-ea"/>
                  </a:rPr>
                  <a:t> with the filter impulse response </a:t>
                </a:r>
                <a:r>
                  <a:rPr lang="en-US" sz="1200" baseline="-25000">
                    <a:effectLst/>
                    <a:latin typeface="+mj-ea"/>
                    <a:ea typeface="+mj-ea"/>
                    <a:cs typeface="Cambria Math" panose="02040503050406030204" pitchFamily="18" charset="0"/>
                  </a:rPr>
                  <a:t>𝑏</a:t>
                </a:r>
                <a:r>
                  <a:rPr lang="en-US" sz="3200">
                    <a:solidFill>
                      <a:srgbClr val="FF0000"/>
                    </a:solidFill>
                  </a:rPr>
                  <a:t>  </a:t>
                </a:r>
              </a:p>
              <a:p>
                <a:pPr marL="0" marR="0">
                  <a:lnSpc>
                    <a:spcPct val="107000"/>
                  </a:lnSpc>
                  <a:spcBef>
                    <a:spcPts val="0"/>
                  </a:spcBef>
                  <a:spcAft>
                    <a:spcPts val="600"/>
                  </a:spcAft>
                </a:pPr>
                <a:r>
                  <a:rPr lang="ja-JP" sz="2800">
                    <a:solidFill>
                      <a:srgbClr val="000000"/>
                    </a:solidFill>
                    <a:effectLst/>
                    <a:latin typeface="+mn-ea"/>
                    <a:ea typeface="+mn-ea"/>
                    <a:cs typeface="ＭＳ 明朝" panose="02020609040205080304" pitchFamily="17" charset="-128"/>
                  </a:rPr>
                  <a:t>残響の標本数</a:t>
                </a:r>
                <a:r>
                  <a:rPr lang="en-US" sz="2800">
                    <a:solidFill>
                      <a:srgbClr val="000000"/>
                    </a:solidFill>
                    <a:effectLst/>
                    <a:latin typeface="+mn-ea"/>
                    <a:ea typeface="+mn-ea"/>
                    <a:cs typeface="Times New Roman" panose="02020603050405020304" pitchFamily="18" charset="0"/>
                  </a:rPr>
                  <a:t> </a:t>
                </a:r>
                <a:r>
                  <a:rPr lang="en-US" sz="2800">
                    <a:solidFill>
                      <a:srgbClr val="000000"/>
                    </a:solidFill>
                    <a:effectLst/>
                    <a:latin typeface="+mn-ea"/>
                    <a:ea typeface="+mn-ea"/>
                    <a:cs typeface="Cambria Math" panose="02040503050406030204" pitchFamily="18" charset="0"/>
                  </a:rPr>
                  <a:t>𝐽</a:t>
                </a:r>
                <a:r>
                  <a:rPr lang="en-US" sz="2800">
                    <a:solidFill>
                      <a:srgbClr val="000000"/>
                    </a:solidFill>
                    <a:effectLst/>
                    <a:latin typeface="+mn-ea"/>
                    <a:ea typeface="+mn-ea"/>
                    <a:cs typeface="Times New Roman" panose="02020603050405020304" pitchFamily="18" charset="0"/>
                  </a:rPr>
                  <a:t> </a:t>
                </a:r>
                <a:r>
                  <a:rPr lang="ja-JP" sz="2800">
                    <a:solidFill>
                      <a:srgbClr val="000000"/>
                    </a:solidFill>
                    <a:effectLst/>
                    <a:latin typeface="+mn-ea"/>
                    <a:ea typeface="+mn-ea"/>
                    <a:cs typeface="ＭＳ 明朝" panose="02020609040205080304" pitchFamily="17" charset="-128"/>
                  </a:rPr>
                  <a:t>の場合，</a:t>
                </a:r>
                <a:r>
                  <a:rPr lang="ja-JP" sz="2800">
                    <a:solidFill>
                      <a:srgbClr val="000000"/>
                    </a:solidFill>
                    <a:effectLst/>
                    <a:latin typeface="+mn-ea"/>
                    <a:ea typeface="+mn-ea"/>
                    <a:cs typeface="Times New Roman" panose="02020603050405020304" pitchFamily="18" charset="0"/>
                  </a:rPr>
                  <a:t> </a:t>
                </a:r>
                <a:r>
                  <a:rPr lang="ja-JP" sz="2800">
                    <a:solidFill>
                      <a:srgbClr val="000000"/>
                    </a:solidFill>
                    <a:effectLst/>
                    <a:latin typeface="+mn-ea"/>
                    <a:ea typeface="+mn-ea"/>
                    <a:cs typeface="ＭＳ 明朝" panose="02020609040205080304" pitchFamily="17" charset="-128"/>
                  </a:rPr>
                  <a:t>総和の遅延番号</a:t>
                </a:r>
                <a:r>
                  <a:rPr lang="en-US" sz="2800">
                    <a:solidFill>
                      <a:srgbClr val="000000"/>
                    </a:solidFill>
                    <a:effectLst/>
                    <a:latin typeface="+mn-ea"/>
                    <a:ea typeface="+mn-ea"/>
                    <a:cs typeface="Times New Roman" panose="02020603050405020304" pitchFamily="18" charset="0"/>
                  </a:rPr>
                  <a:t> </a:t>
                </a:r>
                <a:r>
                  <a:rPr lang="en-US" sz="2800">
                    <a:solidFill>
                      <a:srgbClr val="000000"/>
                    </a:solidFill>
                    <a:effectLst/>
                    <a:latin typeface="+mn-ea"/>
                    <a:ea typeface="+mn-ea"/>
                    <a:cs typeface="Cambria Math" panose="02040503050406030204" pitchFamily="18" charset="0"/>
                  </a:rPr>
                  <a:t>𝑚</a:t>
                </a:r>
                <a:r>
                  <a:rPr lang="en-US" sz="2800">
                    <a:solidFill>
                      <a:srgbClr val="000000"/>
                    </a:solidFill>
                    <a:effectLst/>
                    <a:latin typeface="+mn-ea"/>
                    <a:ea typeface="+mn-ea"/>
                    <a:cs typeface="Times New Roman" panose="02020603050405020304" pitchFamily="18" charset="0"/>
                  </a:rPr>
                  <a:t> </a:t>
                </a:r>
                <a:r>
                  <a:rPr lang="ja-JP" sz="2800">
                    <a:solidFill>
                      <a:srgbClr val="000000"/>
                    </a:solidFill>
                    <a:effectLst/>
                    <a:latin typeface="+mn-ea"/>
                    <a:ea typeface="+mn-ea"/>
                    <a:cs typeface="ＭＳ 明朝" panose="02020609040205080304" pitchFamily="17" charset="-128"/>
                  </a:rPr>
                  <a:t>の範囲は</a:t>
                </a:r>
                <a:r>
                  <a:rPr lang="en-US" sz="2800">
                    <a:solidFill>
                      <a:srgbClr val="000000"/>
                    </a:solidFill>
                    <a:effectLst/>
                    <a:latin typeface="+mn-ea"/>
                    <a:ea typeface="+mn-ea"/>
                    <a:cs typeface="Times New Roman" panose="02020603050405020304" pitchFamily="18" charset="0"/>
                  </a:rPr>
                  <a:t> 0</a:t>
                </a:r>
                <a:r>
                  <a:rPr lang="en-US" sz="2800">
                    <a:solidFill>
                      <a:srgbClr val="000000"/>
                    </a:solidFill>
                    <a:effectLst/>
                    <a:ea typeface="+mn-ea"/>
                  </a:rPr>
                  <a:t> </a:t>
                </a:r>
                <a14:m>
                  <m:oMath xmlns:m="http://schemas.openxmlformats.org/officeDocument/2006/math">
                    <m:r>
                      <a:rPr lang="en-US" sz="2800" smtClean="0">
                        <a:solidFill>
                          <a:srgbClr val="000000"/>
                        </a:solidFill>
                        <a:effectLst/>
                        <a:latin typeface="Cambria Math" panose="02040503050406030204" pitchFamily="18" charset="0"/>
                        <a:ea typeface="+mn-ea"/>
                      </a:rPr>
                      <m:t>≈</m:t>
                    </m:r>
                  </m:oMath>
                </a14:m>
                <a:r>
                  <a:rPr lang="en-US" sz="2800">
                    <a:solidFill>
                      <a:srgbClr val="000000"/>
                    </a:solidFill>
                    <a:effectLst/>
                    <a:latin typeface="+mn-ea"/>
                    <a:ea typeface="+mn-ea"/>
                    <a:cs typeface="Times New Roman" panose="02020603050405020304" pitchFamily="18" charset="0"/>
                  </a:rPr>
                  <a:t> (</a:t>
                </a:r>
                <a:r>
                  <a:rPr lang="en-US" sz="2800">
                    <a:solidFill>
                      <a:srgbClr val="000000"/>
                    </a:solidFill>
                    <a:effectLst/>
                    <a:latin typeface="+mn-ea"/>
                    <a:ea typeface="+mn-ea"/>
                    <a:cs typeface="Cambria Math" panose="02040503050406030204" pitchFamily="18" charset="0"/>
                  </a:rPr>
                  <a:t>𝐽</a:t>
                </a:r>
                <a:r>
                  <a:rPr lang="en-US" sz="2800">
                    <a:solidFill>
                      <a:srgbClr val="000000"/>
                    </a:solidFill>
                    <a:effectLst/>
                    <a:latin typeface="+mn-ea"/>
                    <a:ea typeface="+mn-ea"/>
                    <a:cs typeface="Times New Roman" panose="02020603050405020304" pitchFamily="18" charset="0"/>
                  </a:rPr>
                  <a:t>−1) </a:t>
                </a:r>
                <a:r>
                  <a:rPr lang="ja-JP" sz="2800">
                    <a:solidFill>
                      <a:srgbClr val="000000"/>
                    </a:solidFill>
                    <a:effectLst/>
                    <a:latin typeface="+mn-ea"/>
                    <a:ea typeface="+mn-ea"/>
                    <a:cs typeface="ＭＳ 明朝" panose="02020609040205080304" pitchFamily="17" charset="-128"/>
                  </a:rPr>
                  <a:t>です．</a:t>
                </a:r>
                <a:endParaRPr lang="en-US" sz="2800">
                  <a:effectLst/>
                  <a:latin typeface="+mn-ea"/>
                  <a:ea typeface="+mn-ea"/>
                  <a:cs typeface="Times New Roman" panose="02020603050405020304" pitchFamily="18" charset="0"/>
                </a:endParaRPr>
              </a:p>
              <a:p>
                <a:pPr marL="0" marR="0">
                  <a:lnSpc>
                    <a:spcPct val="107000"/>
                  </a:lnSpc>
                  <a:spcBef>
                    <a:spcPts val="0"/>
                  </a:spcBef>
                  <a:spcAft>
                    <a:spcPts val="600"/>
                  </a:spcAft>
                </a:pPr>
                <a:r>
                  <a:rPr lang="ja-JP" sz="2800">
                    <a:solidFill>
                      <a:srgbClr val="000000"/>
                    </a:solidFill>
                    <a:effectLst/>
                    <a:latin typeface="+mn-ea"/>
                    <a:ea typeface="+mn-ea"/>
                    <a:cs typeface="ＭＳ 明朝" panose="02020609040205080304" pitchFamily="17" charset="-128"/>
                  </a:rPr>
                  <a:t>プログラミング的には，</a:t>
                </a:r>
                <a:r>
                  <a:rPr lang="en-US" sz="2800">
                    <a:solidFill>
                      <a:srgbClr val="000000"/>
                    </a:solidFill>
                    <a:effectLst/>
                    <a:latin typeface="+mn-ea"/>
                    <a:ea typeface="+mn-ea"/>
                    <a:cs typeface="Times New Roman" panose="02020603050405020304" pitchFamily="18" charset="0"/>
                  </a:rPr>
                  <a:t> </a:t>
                </a:r>
                <a:r>
                  <a:rPr lang="en-US" sz="2800">
                    <a:solidFill>
                      <a:srgbClr val="000000"/>
                    </a:solidFill>
                    <a:effectLst/>
                    <a:latin typeface="+mn-ea"/>
                    <a:ea typeface="+mn-ea"/>
                    <a:cs typeface="Cambria Math" panose="02040503050406030204" pitchFamily="18" charset="0"/>
                  </a:rPr>
                  <a:t>𝑥𝑛</a:t>
                </a:r>
                <a:r>
                  <a:rPr lang="en-US" sz="2800">
                    <a:solidFill>
                      <a:srgbClr val="000000"/>
                    </a:solidFill>
                    <a:effectLst/>
                    <a:latin typeface="+mn-ea"/>
                    <a:ea typeface="+mn-ea"/>
                    <a:cs typeface="Times New Roman" panose="02020603050405020304" pitchFamily="18" charset="0"/>
                  </a:rPr>
                  <a:t> </a:t>
                </a:r>
                <a:r>
                  <a:rPr lang="ja-JP" sz="2800">
                    <a:solidFill>
                      <a:srgbClr val="000000"/>
                    </a:solidFill>
                    <a:effectLst/>
                    <a:latin typeface="+mn-ea"/>
                    <a:ea typeface="+mn-ea"/>
                    <a:cs typeface="ＭＳ 明朝" panose="02020609040205080304" pitchFamily="17" charset="-128"/>
                  </a:rPr>
                  <a:t>とかの添字付き変数は配列要素</a:t>
                </a:r>
                <a:r>
                  <a:rPr lang="en-US" sz="2800">
                    <a:solidFill>
                      <a:srgbClr val="000000"/>
                    </a:solidFill>
                    <a:effectLst/>
                    <a:latin typeface="+mn-ea"/>
                    <a:ea typeface="+mn-ea"/>
                    <a:cs typeface="Times New Roman" panose="02020603050405020304" pitchFamily="18" charset="0"/>
                  </a:rPr>
                  <a:t> x[n] </a:t>
                </a:r>
                <a:r>
                  <a:rPr lang="ja-JP" sz="2800">
                    <a:solidFill>
                      <a:srgbClr val="000000"/>
                    </a:solidFill>
                    <a:effectLst/>
                    <a:latin typeface="+mn-ea"/>
                    <a:ea typeface="+mn-ea"/>
                    <a:cs typeface="ＭＳ 明朝" panose="02020609040205080304" pitchFamily="17" charset="-128"/>
                  </a:rPr>
                  <a:t>とかですよ</a:t>
                </a:r>
                <a:endParaRPr lang="en-US" altLang="ja-JP" sz="2800">
                  <a:solidFill>
                    <a:srgbClr val="000000"/>
                  </a:solidFill>
                  <a:effectLst/>
                  <a:latin typeface="+mn-ea"/>
                  <a:ea typeface="+mn-ea"/>
                  <a:cs typeface="ＭＳ 明朝" panose="02020609040205080304" pitchFamily="17" charset="-128"/>
                </a:endParaRPr>
              </a:p>
              <a:p>
                <a:pPr marL="0" marR="0">
                  <a:lnSpc>
                    <a:spcPct val="107000"/>
                  </a:lnSpc>
                  <a:spcBef>
                    <a:spcPts val="0"/>
                  </a:spcBef>
                  <a:spcAft>
                    <a:spcPts val="600"/>
                  </a:spcAft>
                </a:pPr>
                <a:r>
                  <a:rPr lang="en-US" sz="1100">
                    <a:effectLst/>
                    <a:latin typeface="+mn-ea"/>
                    <a:ea typeface="+mn-ea"/>
                    <a:cs typeface="Times New Roman" panose="02020603050405020304" pitchFamily="18" charset="0"/>
                  </a:rPr>
                  <a:t>For the number of reverberation samples 𝐽, the sum delay number 𝑚 is in the range 0 ≈ (𝐽−1). In programming terms, subscripted variables such as 𝑥𝑛 are array elements such as x[n]</a:t>
                </a:r>
              </a:p>
              <a:p>
                <a:r>
                  <a:rPr lang="en-US" sz="3200">
                    <a:solidFill>
                      <a:srgbClr val="FF0000"/>
                    </a:solidFill>
                  </a:rPr>
                  <a:t> </a:t>
                </a:r>
              </a:p>
            </p:txBody>
          </p:sp>
        </mc:Choice>
        <mc:Fallback>
          <p:sp>
            <p:nvSpPr>
              <p:cNvPr id="5" name="TextBox 4"/>
              <p:cNvSpPr txBox="1">
                <a:spLocks noRot="1" noChangeAspect="1" noMove="1" noResize="1" noEditPoints="1" noAdjustHandles="1" noChangeArrowheads="1" noChangeShapeType="1" noTextEdit="1"/>
              </p:cNvSpPr>
              <p:nvPr/>
            </p:nvSpPr>
            <p:spPr>
              <a:xfrm>
                <a:off x="0" y="2081203"/>
                <a:ext cx="12192000" cy="4719562"/>
              </a:xfrm>
              <a:prstGeom prst="rect">
                <a:avLst/>
              </a:prstGeom>
              <a:blipFill>
                <a:blip r:embed="rId3"/>
                <a:stretch>
                  <a:fillRect l="-1250" t="-2065"/>
                </a:stretch>
              </a:blipFill>
            </p:spPr>
            <p:txBody>
              <a:bodyPr/>
              <a:lstStyle/>
              <a:p>
                <a:r>
                  <a:rPr lang="en-US">
                    <a:noFill/>
                  </a:rPr>
                  <a:t> </a:t>
                </a:r>
              </a:p>
            </p:txBody>
          </p:sp>
        </mc:Fallback>
      </mc:AlternateContent>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13" name="Rounded Rectangle 18">
            <a:extLst>
              <a:ext uri="{FF2B5EF4-FFF2-40B4-BE49-F238E27FC236}">
                <a16:creationId xmlns:a16="http://schemas.microsoft.com/office/drawing/2014/main" id="{E0DEF935-6EBE-CE85-7430-6DD6F529FFBE}"/>
              </a:ext>
            </a:extLst>
          </p:cNvPr>
          <p:cNvSpPr/>
          <p:nvPr/>
        </p:nvSpPr>
        <p:spPr>
          <a:xfrm>
            <a:off x="2676697" y="252943"/>
            <a:ext cx="6791499"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r>
              <a:rPr lang="ja-JP" altLang="en-US" sz="3200" b="1">
                <a:sym typeface="Wingdings" panose="05000000000000000000" pitchFamily="2" charset="2"/>
              </a:rPr>
              <a:t>         </a:t>
            </a:r>
            <a:r>
              <a:rPr lang="en-US" altLang="ja-JP" sz="3200" b="1">
                <a:solidFill>
                  <a:schemeClr val="tx1"/>
                </a:solidFill>
                <a:sym typeface="Wingdings" panose="05000000000000000000" pitchFamily="2" charset="2"/>
              </a:rPr>
              <a:t>FIR </a:t>
            </a:r>
            <a:r>
              <a:rPr lang="ja-JP" altLang="en-US" sz="3200" b="1">
                <a:solidFill>
                  <a:schemeClr val="tx1"/>
                </a:solidFill>
                <a:sym typeface="Wingdings" panose="05000000000000000000" pitchFamily="2" charset="2"/>
              </a:rPr>
              <a:t>フィルタの時間応答</a:t>
            </a:r>
            <a:r>
              <a:rPr lang="en-US" altLang="ja-JP" sz="1200" b="1">
                <a:solidFill>
                  <a:schemeClr val="tx1"/>
                </a:solidFill>
                <a:sym typeface="Wingdings" panose="05000000000000000000" pitchFamily="2" charset="2"/>
              </a:rPr>
              <a:t>Time response of FIR filter</a:t>
            </a:r>
            <a:endParaRPr lang="en-US" sz="3200" b="1">
              <a:solidFill>
                <a:schemeClr val="tx1"/>
              </a:solidFill>
            </a:endParaRPr>
          </a:p>
        </p:txBody>
      </p:sp>
      <p:pic>
        <p:nvPicPr>
          <p:cNvPr id="16" name="図 15"/>
          <p:cNvPicPr/>
          <p:nvPr/>
        </p:nvPicPr>
        <p:blipFill>
          <a:blip r:embed="rId4">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1" name="図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71447" y="1667781"/>
            <a:ext cx="2955680" cy="1130113"/>
          </a:xfrm>
          <a:prstGeom prst="rect">
            <a:avLst/>
          </a:prstGeom>
        </p:spPr>
      </p:pic>
    </p:spTree>
    <p:extLst>
      <p:ext uri="{BB962C8B-B14F-4D97-AF65-F5344CB8AC3E}">
        <p14:creationId xmlns:p14="http://schemas.microsoft.com/office/powerpoint/2010/main" val="28600158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031873"/>
          </a:xfrm>
          <a:prstGeom prst="rect">
            <a:avLst/>
          </a:prstGeom>
          <a:noFill/>
        </p:spPr>
        <p:txBody>
          <a:bodyPr wrap="square" rtlCol="0">
            <a:spAutoFit/>
          </a:bodyPr>
          <a:lstStyle/>
          <a:p>
            <a:pPr algn="just"/>
            <a:r>
              <a:rPr lang="en-US" altLang="ja-JP" sz="3200" b="1">
                <a:latin typeface="+mj-ea"/>
                <a:ea typeface="+mj-ea"/>
                <a:cs typeface="Times New Roman" panose="02020603050405020304" pitchFamily="18" charset="0"/>
              </a:rPr>
              <a:t>Z </a:t>
            </a:r>
            <a:r>
              <a:rPr lang="ja-JP" altLang="en-US" sz="3200" b="1">
                <a:latin typeface="+mj-ea"/>
                <a:ea typeface="+mj-ea"/>
                <a:cs typeface="Times New Roman" panose="02020603050405020304" pitchFamily="18" charset="0"/>
              </a:rPr>
              <a:t>変換（</a:t>
            </a:r>
            <a:r>
              <a:rPr lang="en-US" altLang="ja-JP" sz="3200" b="1">
                <a:latin typeface="+mj-ea"/>
                <a:ea typeface="+mj-ea"/>
                <a:cs typeface="Times New Roman" panose="02020603050405020304" pitchFamily="18" charset="0"/>
              </a:rPr>
              <a:t>ZT</a:t>
            </a:r>
            <a:r>
              <a:rPr lang="ja-JP" altLang="en-US" sz="3200" b="1">
                <a:latin typeface="+mj-ea"/>
                <a:ea typeface="+mj-ea"/>
                <a:cs typeface="Times New Roman" panose="02020603050405020304" pitchFamily="18" charset="0"/>
              </a:rPr>
              <a:t>）</a:t>
            </a:r>
            <a:r>
              <a:rPr lang="en-US" altLang="ja-JP" sz="3200" b="1">
                <a:latin typeface="+mj-ea"/>
                <a:ea typeface="+mj-ea"/>
                <a:cs typeface="Times New Roman" panose="02020603050405020304" pitchFamily="18" charset="0"/>
              </a:rPr>
              <a:t>“Z transform” </a:t>
            </a:r>
            <a:r>
              <a:rPr lang="ja-JP" altLang="en-US" sz="3200" b="1">
                <a:latin typeface="+mj-ea"/>
                <a:ea typeface="+mj-ea"/>
                <a:cs typeface="Times New Roman" panose="02020603050405020304" pitchFamily="18" charset="0"/>
              </a:rPr>
              <a:t>は</a:t>
            </a:r>
            <a:r>
              <a:rPr lang="en-US" altLang="ja-JP" sz="3200" b="1">
                <a:latin typeface="+mj-ea"/>
                <a:ea typeface="+mj-ea"/>
                <a:cs typeface="Times New Roman" panose="02020603050405020304" pitchFamily="18" charset="0"/>
              </a:rPr>
              <a:t>DFT </a:t>
            </a:r>
            <a:r>
              <a:rPr lang="ja-JP" altLang="en-US" sz="3200" b="1">
                <a:latin typeface="+mj-ea"/>
                <a:ea typeface="+mj-ea"/>
                <a:cs typeface="Times New Roman" panose="02020603050405020304" pitchFamily="18" charset="0"/>
              </a:rPr>
              <a:t>の変種 </a:t>
            </a:r>
            <a:r>
              <a:rPr lang="en-US" altLang="ja-JP" sz="1200">
                <a:latin typeface="Arial" panose="020B0604020202020204" pitchFamily="34" charset="0"/>
                <a:ea typeface="+mj-ea"/>
                <a:cs typeface="Arial" panose="020B0604020202020204" pitchFamily="34" charset="0"/>
              </a:rPr>
              <a:t>The Z transform (ZT) is a variant of the DFT</a:t>
            </a:r>
          </a:p>
          <a:p>
            <a:pPr algn="just"/>
            <a:endParaRPr lang="en-US" altLang="ja-JP" sz="1200">
              <a:latin typeface="Arial" panose="020B0604020202020204" pitchFamily="34" charset="0"/>
              <a:ea typeface="+mj-ea"/>
              <a:cs typeface="Arial" panose="020B0604020202020204" pitchFamily="34" charset="0"/>
            </a:endParaRPr>
          </a:p>
          <a:p>
            <a:pPr marL="457200" indent="-457200" algn="just">
              <a:buFont typeface="Wingdings" panose="05000000000000000000" pitchFamily="2" charset="2"/>
              <a:buChar char="à"/>
            </a:pPr>
            <a:r>
              <a:rPr lang="en-US" altLang="ja-JP" sz="2800" b="1">
                <a:latin typeface="+mj-ea"/>
                <a:ea typeface="+mj-ea"/>
                <a:cs typeface="Times New Roman" panose="02020603050405020304" pitchFamily="18" charset="0"/>
              </a:rPr>
              <a:t>DFT:</a:t>
            </a:r>
            <a:endParaRPr lang="en-US" altLang="ja-JP" sz="1100" b="1">
              <a:latin typeface="+mj-ea"/>
              <a:ea typeface="+mj-ea"/>
              <a:cs typeface="Times New Roman" panose="02020603050405020304" pitchFamily="18" charset="0"/>
            </a:endParaRPr>
          </a:p>
          <a:p>
            <a:pPr algn="just"/>
            <a:endParaRPr lang="en-US" altLang="ja-JP" sz="1100" b="1">
              <a:latin typeface="+mj-ea"/>
              <a:ea typeface="+mj-ea"/>
              <a:cs typeface="Times New Roman" panose="02020603050405020304" pitchFamily="18" charset="0"/>
            </a:endParaRPr>
          </a:p>
          <a:p>
            <a:pPr algn="just"/>
            <a:endParaRPr lang="en-US" altLang="ja-JP" sz="1100" b="1">
              <a:latin typeface="+mj-ea"/>
              <a:ea typeface="+mj-ea"/>
              <a:cs typeface="Times New Roman" panose="02020603050405020304" pitchFamily="18" charset="0"/>
            </a:endParaRPr>
          </a:p>
          <a:p>
            <a:pPr algn="just"/>
            <a:endParaRPr lang="en-US" altLang="ja-JP" sz="1100" b="1">
              <a:latin typeface="+mj-ea"/>
              <a:ea typeface="+mj-ea"/>
              <a:cs typeface="Times New Roman" panose="02020603050405020304" pitchFamily="18" charset="0"/>
            </a:endParaRPr>
          </a:p>
          <a:p>
            <a:pPr algn="just"/>
            <a:endParaRPr lang="en-US" altLang="ja-JP" sz="3200" b="1">
              <a:latin typeface="+mj-ea"/>
              <a:cs typeface="Times New Roman" panose="02020603050405020304" pitchFamily="18" charset="0"/>
            </a:endParaRPr>
          </a:p>
          <a:p>
            <a:pPr algn="just"/>
            <a:r>
              <a:rPr lang="ja-JP" altLang="en-US" sz="3200" b="0" i="0">
                <a:solidFill>
                  <a:srgbClr val="000000"/>
                </a:solidFill>
                <a:effectLst/>
                <a:latin typeface="Arial" panose="020B0604020202020204" pitchFamily="34" charset="0"/>
              </a:rPr>
              <a:t>複素変数 </a:t>
            </a:r>
            <a:r>
              <a:rPr lang="ja-JP" altLang="en-US" sz="3200"/>
              <a:t>𝑧</a:t>
            </a:r>
            <a:r>
              <a:rPr lang="ja-JP" altLang="en-US" sz="3200" b="0" i="0">
                <a:solidFill>
                  <a:srgbClr val="000000"/>
                </a:solidFill>
                <a:effectLst/>
                <a:latin typeface="Arial" panose="020B0604020202020204" pitchFamily="34" charset="0"/>
              </a:rPr>
              <a:t> の導入</a:t>
            </a:r>
            <a:r>
              <a:rPr lang="en-US" altLang="ja-JP" sz="1100" b="1" i="0">
                <a:solidFill>
                  <a:srgbClr val="000000"/>
                </a:solidFill>
                <a:effectLst/>
                <a:latin typeface="+mj-ea"/>
                <a:cs typeface="Times New Roman" panose="02020603050405020304" pitchFamily="18" charset="0"/>
              </a:rPr>
              <a:t>Introduction of complex variables</a:t>
            </a:r>
            <a:endParaRPr lang="en-US" altLang="ja-JP" sz="1100" b="1">
              <a:latin typeface="+mj-ea"/>
              <a:cs typeface="Times New Roman" panose="02020603050405020304" pitchFamily="18" charset="0"/>
            </a:endParaRPr>
          </a:p>
          <a:p>
            <a:pPr algn="just"/>
            <a:r>
              <a:rPr lang="en-US" altLang="ja-JP" sz="2800" b="1">
                <a:latin typeface="+mj-ea"/>
                <a:cs typeface="Times New Roman" panose="02020603050405020304" pitchFamily="18" charset="0"/>
                <a:sym typeface="Wingdings" panose="05000000000000000000" pitchFamily="2" charset="2"/>
              </a:rPr>
              <a:t></a:t>
            </a:r>
            <a:r>
              <a:rPr lang="ja-JP" sz="3200">
                <a:solidFill>
                  <a:srgbClr val="000000"/>
                </a:solidFill>
                <a:effectLst/>
                <a:latin typeface="+mn-ea"/>
                <a:ea typeface="+mn-ea"/>
                <a:cs typeface="Arial" panose="020B0604020202020204" pitchFamily="34" charset="0"/>
              </a:rPr>
              <a:t>この</a:t>
            </a:r>
            <a:r>
              <a:rPr lang="en-US" sz="3200">
                <a:solidFill>
                  <a:srgbClr val="000000"/>
                </a:solidFill>
                <a:effectLst/>
                <a:latin typeface="+mn-ea"/>
                <a:ea typeface="+mn-ea"/>
                <a:cs typeface="Times New Roman" panose="02020603050405020304" pitchFamily="18" charset="0"/>
              </a:rPr>
              <a:t> </a:t>
            </a:r>
            <a:r>
              <a:rPr lang="en-US" sz="3200">
                <a:effectLst/>
                <a:latin typeface="+mn-ea"/>
                <a:ea typeface="+mn-ea"/>
                <a:cs typeface="Cambria Math" panose="02040503050406030204" pitchFamily="18" charset="0"/>
              </a:rPr>
              <a:t>𝑧</a:t>
            </a:r>
            <a:r>
              <a:rPr lang="en-US" sz="3200">
                <a:solidFill>
                  <a:srgbClr val="000000"/>
                </a:solidFill>
                <a:effectLst/>
                <a:latin typeface="+mn-ea"/>
                <a:ea typeface="+mn-ea"/>
                <a:cs typeface="Times New Roman" panose="02020603050405020304" pitchFamily="18" charset="0"/>
              </a:rPr>
              <a:t> </a:t>
            </a:r>
            <a:r>
              <a:rPr lang="ja-JP" sz="3200">
                <a:solidFill>
                  <a:srgbClr val="000000"/>
                </a:solidFill>
                <a:effectLst/>
                <a:latin typeface="+mn-ea"/>
                <a:ea typeface="+mn-ea"/>
                <a:cs typeface="Arial" panose="020B0604020202020204" pitchFamily="34" charset="0"/>
              </a:rPr>
              <a:t>は，本来は任意の複素数なんですが</a:t>
            </a:r>
            <a:r>
              <a:rPr lang="en-US" sz="3200">
                <a:solidFill>
                  <a:srgbClr val="000000"/>
                </a:solidFill>
                <a:effectLst/>
                <a:latin typeface="+mn-ea"/>
                <a:ea typeface="+mn-ea"/>
                <a:cs typeface="Times New Roman" panose="02020603050405020304" pitchFamily="18" charset="0"/>
              </a:rPr>
              <a:t>.. </a:t>
            </a:r>
            <a:r>
              <a:rPr lang="ja-JP" sz="3200">
                <a:solidFill>
                  <a:srgbClr val="000000"/>
                </a:solidFill>
                <a:effectLst/>
                <a:latin typeface="+mn-ea"/>
                <a:ea typeface="+mn-ea"/>
                <a:cs typeface="Arial" panose="020B0604020202020204" pitchFamily="34" charset="0"/>
              </a:rPr>
              <a:t>とりあえず，回転子</a:t>
            </a:r>
            <a:r>
              <a:rPr lang="en-US" sz="3200">
                <a:solidFill>
                  <a:srgbClr val="000000"/>
                </a:solidFill>
                <a:effectLst/>
                <a:latin typeface="+mn-ea"/>
                <a:ea typeface="+mn-ea"/>
                <a:cs typeface="Times New Roman" panose="02020603050405020304" pitchFamily="18" charset="0"/>
              </a:rPr>
              <a:t> </a:t>
            </a:r>
            <a:r>
              <a:rPr lang="en-US" sz="3200">
                <a:effectLst/>
                <a:latin typeface="+mn-ea"/>
                <a:ea typeface="+mn-ea"/>
                <a:cs typeface="Cambria Math" panose="02040503050406030204" pitchFamily="18" charset="0"/>
              </a:rPr>
              <a:t>𝑊𝑁</a:t>
            </a:r>
            <a:r>
              <a:rPr lang="en-US" sz="3200">
                <a:solidFill>
                  <a:srgbClr val="000000"/>
                </a:solidFill>
                <a:effectLst/>
                <a:latin typeface="+mn-ea"/>
                <a:ea typeface="+mn-ea"/>
                <a:cs typeface="Times New Roman" panose="02020603050405020304" pitchFamily="18" charset="0"/>
              </a:rPr>
              <a:t> </a:t>
            </a:r>
            <a:r>
              <a:rPr lang="ja-JP" sz="3200">
                <a:solidFill>
                  <a:srgbClr val="000000"/>
                </a:solidFill>
                <a:effectLst/>
                <a:latin typeface="+mn-ea"/>
                <a:ea typeface="+mn-ea"/>
                <a:cs typeface="Arial" panose="020B0604020202020204" pitchFamily="34" charset="0"/>
              </a:rPr>
              <a:t>の更なる短縮記法と思えばヨ</a:t>
            </a:r>
            <a:r>
              <a:rPr lang="ja-JP" sz="3200">
                <a:solidFill>
                  <a:srgbClr val="000000"/>
                </a:solidFill>
                <a:effectLst/>
                <a:latin typeface="+mn-ea"/>
                <a:ea typeface="+mn-ea"/>
                <a:cs typeface="ＭＳ 明朝" panose="02020609040205080304" pitchFamily="17" charset="-128"/>
              </a:rPr>
              <a:t>シ</a:t>
            </a:r>
            <a:endParaRPr lang="en-US" sz="3200">
              <a:effectLst/>
              <a:latin typeface="+mn-ea"/>
              <a:ea typeface="+mn-ea"/>
              <a:cs typeface="Times New Roman" panose="02020603050405020304" pitchFamily="18" charset="0"/>
            </a:endParaRPr>
          </a:p>
          <a:p>
            <a:pPr algn="just"/>
            <a:r>
              <a:rPr lang="en-US" altLang="ja-JP" sz="1200">
                <a:latin typeface="Arial" panose="020B0604020202020204" pitchFamily="34" charset="0"/>
                <a:cs typeface="Arial" panose="020B0604020202020204" pitchFamily="34" charset="0"/>
              </a:rPr>
              <a:t>This </a:t>
            </a:r>
            <a:r>
              <a:rPr lang="ja-JP" altLang="en-US" sz="1200">
                <a:latin typeface="Arial" panose="020B0604020202020204" pitchFamily="34" charset="0"/>
                <a:cs typeface="Arial" panose="020B0604020202020204" pitchFamily="34" charset="0"/>
              </a:rPr>
              <a:t>𝑧 </a:t>
            </a:r>
            <a:r>
              <a:rPr lang="en-US" altLang="ja-JP" sz="1200">
                <a:latin typeface="Arial" panose="020B0604020202020204" pitchFamily="34" charset="0"/>
                <a:cs typeface="Arial" panose="020B0604020202020204" pitchFamily="34" charset="0"/>
              </a:rPr>
              <a:t>is actually an arbitrary complex number, but for now, you can think of it as a further abbreviation for the rotator </a:t>
            </a:r>
            <a:r>
              <a:rPr lang="ja-JP" altLang="en-US" sz="1200">
                <a:latin typeface="Arial" panose="020B0604020202020204" pitchFamily="34" charset="0"/>
                <a:cs typeface="Arial" panose="020B0604020202020204" pitchFamily="34" charset="0"/>
              </a:rPr>
              <a:t>𝑊𝑁</a:t>
            </a:r>
            <a:endParaRPr lang="en-US" altLang="ja-JP" sz="1200">
              <a:latin typeface="Arial" panose="020B0604020202020204" pitchFamily="34" charset="0"/>
              <a:cs typeface="Arial" panose="020B0604020202020204" pitchFamily="34" charset="0"/>
            </a:endParaRPr>
          </a:p>
          <a:p>
            <a:pPr algn="just"/>
            <a:endParaRPr lang="en-US" altLang="ja-JP" sz="1200" b="1">
              <a:latin typeface="+mj-ea"/>
              <a:ea typeface="+mj-ea"/>
              <a:cs typeface="Times New Roman" panose="02020603050405020304" pitchFamily="18"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3114261" y="252943"/>
            <a:ext cx="7911548"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a:solidFill>
                  <a:schemeClr val="tx1"/>
                </a:solidFill>
              </a:rPr>
              <a:t>Z </a:t>
            </a:r>
            <a:r>
              <a:rPr lang="ja-JP" altLang="en-US" sz="3200">
                <a:solidFill>
                  <a:schemeClr val="tx1"/>
                </a:solidFill>
              </a:rPr>
              <a:t>変換</a:t>
            </a:r>
            <a:r>
              <a:rPr lang="en-US" altLang="ja-JP" sz="1100" b="1">
                <a:solidFill>
                  <a:schemeClr val="tx1"/>
                </a:solidFill>
              </a:rPr>
              <a:t>Z Transform</a:t>
            </a:r>
            <a:r>
              <a:rPr lang="ja-JP" altLang="en-US" sz="3200" b="1">
                <a:solidFill>
                  <a:srgbClr val="FF0000"/>
                </a:solidFill>
              </a:rPr>
              <a:t> </a:t>
            </a:r>
            <a:endParaRPr lang="en-US" sz="3200">
              <a:solidFill>
                <a:srgbClr val="FF0000"/>
              </a:solidFill>
            </a:endParaRPr>
          </a:p>
        </p:txBody>
      </p:sp>
      <p:pic>
        <p:nvPicPr>
          <p:cNvPr id="3" name="図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14999" y="2788948"/>
            <a:ext cx="3867690" cy="847843"/>
          </a:xfrm>
          <a:prstGeom prst="rect">
            <a:avLst/>
          </a:prstGeom>
        </p:spPr>
      </p:pic>
      <p:pic>
        <p:nvPicPr>
          <p:cNvPr id="6" name="図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00058" y="4047424"/>
            <a:ext cx="2670225" cy="683505"/>
          </a:xfrm>
          <a:prstGeom prst="rect">
            <a:avLst/>
          </a:prstGeom>
        </p:spPr>
      </p:pic>
    </p:spTree>
    <p:extLst>
      <p:ext uri="{BB962C8B-B14F-4D97-AF65-F5344CB8AC3E}">
        <p14:creationId xmlns:p14="http://schemas.microsoft.com/office/powerpoint/2010/main" val="2186475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150623"/>
          </a:xfrm>
          <a:prstGeom prst="rect">
            <a:avLst/>
          </a:prstGeom>
          <a:noFill/>
        </p:spPr>
        <p:txBody>
          <a:bodyPr wrap="square" rtlCol="0">
            <a:spAutoFit/>
          </a:bodyPr>
          <a:lstStyle/>
          <a:p>
            <a:pPr algn="just"/>
            <a:r>
              <a:rPr lang="en-US" altLang="ja-JP" sz="3200" b="1">
                <a:latin typeface="+mj-ea"/>
                <a:ea typeface="+mj-ea"/>
                <a:cs typeface="Times New Roman" panose="02020603050405020304" pitchFamily="18" charset="0"/>
              </a:rPr>
              <a:t>ZT :</a:t>
            </a:r>
          </a:p>
          <a:p>
            <a:pPr algn="just"/>
            <a:endParaRPr lang="en-US" altLang="ja-JP" sz="1100" b="1">
              <a:latin typeface="+mj-ea"/>
              <a:ea typeface="+mj-ea"/>
              <a:cs typeface="Times New Roman" panose="02020603050405020304" pitchFamily="18" charset="0"/>
            </a:endParaRPr>
          </a:p>
          <a:p>
            <a:pPr algn="just"/>
            <a:r>
              <a:rPr lang="ja-JP" altLang="en-US" sz="3200" b="0" i="0">
                <a:solidFill>
                  <a:srgbClr val="000000"/>
                </a:solidFill>
                <a:effectLst/>
                <a:latin typeface="Arial" panose="020B0604020202020204" pitchFamily="34" charset="0"/>
              </a:rPr>
              <a:t>本来は，関数の多項式展開（テイラー展開とか）の複素数版なんですが</a:t>
            </a:r>
            <a:r>
              <a:rPr lang="en-US" altLang="ja-JP" sz="3200" b="0" i="0">
                <a:solidFill>
                  <a:srgbClr val="000000"/>
                </a:solidFill>
                <a:effectLst/>
                <a:latin typeface="Arial" panose="020B0604020202020204" pitchFamily="34" charset="0"/>
              </a:rPr>
              <a:t>... </a:t>
            </a:r>
            <a:r>
              <a:rPr lang="ja-JP" altLang="en-US" sz="3200" b="0" i="0">
                <a:solidFill>
                  <a:srgbClr val="000000"/>
                </a:solidFill>
                <a:effectLst/>
                <a:latin typeface="Arial" panose="020B0604020202020204" pitchFamily="34" charset="0"/>
              </a:rPr>
              <a:t>とりあえず，シンプルな数式だなーと思えばヨシ</a:t>
            </a:r>
            <a:endParaRPr lang="en-US" altLang="ja-JP" sz="3200">
              <a:solidFill>
                <a:srgbClr val="000000"/>
              </a:solidFill>
              <a:latin typeface="Arial" panose="020B0604020202020204" pitchFamily="34" charset="0"/>
            </a:endParaRPr>
          </a:p>
          <a:p>
            <a:pPr algn="just"/>
            <a:r>
              <a:rPr lang="en-US" altLang="ja-JP" sz="1100" b="1" i="0">
                <a:solidFill>
                  <a:srgbClr val="000000"/>
                </a:solidFill>
                <a:effectLst/>
                <a:latin typeface="+mj-ea"/>
                <a:cs typeface="Times New Roman" panose="02020603050405020304" pitchFamily="18" charset="0"/>
              </a:rPr>
              <a:t>Originally, it is a complex version of polynomial expansion of a function (such as Taylor expansion), but for now, it's fine if you think it's a simple formula</a:t>
            </a:r>
          </a:p>
          <a:p>
            <a:pPr algn="just"/>
            <a:endParaRPr lang="en-US" altLang="ja-JP" sz="1100" b="1" i="0">
              <a:solidFill>
                <a:srgbClr val="000000"/>
              </a:solidFill>
              <a:effectLst/>
              <a:latin typeface="+mj-ea"/>
              <a:cs typeface="Times New Roman" panose="02020603050405020304" pitchFamily="18" charset="0"/>
            </a:endParaRPr>
          </a:p>
          <a:p>
            <a:pPr marL="0" marR="0">
              <a:lnSpc>
                <a:spcPct val="107000"/>
              </a:lnSpc>
              <a:spcBef>
                <a:spcPts val="0"/>
              </a:spcBef>
              <a:spcAft>
                <a:spcPts val="800"/>
              </a:spcAft>
            </a:pPr>
            <a:r>
              <a:rPr lang="ja-JP" sz="2800">
                <a:solidFill>
                  <a:srgbClr val="000000"/>
                </a:solidFill>
                <a:effectLst/>
                <a:latin typeface="+mn-ea"/>
                <a:ea typeface="+mn-ea"/>
                <a:cs typeface="Arial" panose="020B0604020202020204" pitchFamily="34" charset="0"/>
              </a:rPr>
              <a:t>謎の変数</a:t>
            </a:r>
            <a:r>
              <a:rPr lang="en-US" sz="2800">
                <a:solidFill>
                  <a:srgbClr val="000000"/>
                </a:solidFill>
                <a:effectLst/>
                <a:latin typeface="+mn-ea"/>
                <a:ea typeface="+mn-ea"/>
                <a:cs typeface="Times New Roman" panose="02020603050405020304" pitchFamily="18" charset="0"/>
              </a:rPr>
              <a:t> </a:t>
            </a:r>
            <a:r>
              <a:rPr lang="en-US" sz="2800">
                <a:effectLst/>
                <a:latin typeface="+mn-ea"/>
                <a:ea typeface="+mn-ea"/>
                <a:cs typeface="Cambria Math" panose="02040503050406030204" pitchFamily="18" charset="0"/>
              </a:rPr>
              <a:t>𝑧</a:t>
            </a:r>
            <a:r>
              <a:rPr lang="en-US" sz="2800">
                <a:solidFill>
                  <a:srgbClr val="000000"/>
                </a:solidFill>
                <a:effectLst/>
                <a:latin typeface="+mn-ea"/>
                <a:ea typeface="+mn-ea"/>
                <a:cs typeface="Times New Roman" panose="02020603050405020304" pitchFamily="18" charset="0"/>
              </a:rPr>
              <a:t> </a:t>
            </a:r>
            <a:r>
              <a:rPr lang="ja-JP" sz="2800">
                <a:solidFill>
                  <a:srgbClr val="000000"/>
                </a:solidFill>
                <a:effectLst/>
                <a:latin typeface="+mn-ea"/>
                <a:ea typeface="+mn-ea"/>
                <a:cs typeface="Arial" panose="020B0604020202020204" pitchFamily="34" charset="0"/>
              </a:rPr>
              <a:t>を使ってはいますが，</a:t>
            </a:r>
            <a:r>
              <a:rPr lang="ja-JP" sz="2800">
                <a:solidFill>
                  <a:srgbClr val="000000"/>
                </a:solidFill>
                <a:effectLst/>
                <a:latin typeface="+mn-ea"/>
                <a:ea typeface="+mn-ea"/>
                <a:cs typeface="Times New Roman" panose="02020603050405020304" pitchFamily="18" charset="0"/>
              </a:rPr>
              <a:t> </a:t>
            </a:r>
            <a:r>
              <a:rPr lang="ja-JP" sz="2800">
                <a:solidFill>
                  <a:srgbClr val="000000"/>
                </a:solidFill>
                <a:effectLst/>
                <a:latin typeface="+mn-ea"/>
                <a:ea typeface="+mn-ea"/>
                <a:cs typeface="Arial" panose="020B0604020202020204" pitchFamily="34" charset="0"/>
              </a:rPr>
              <a:t>周波数</a:t>
            </a:r>
            <a:r>
              <a:rPr lang="en-US" sz="2800">
                <a:solidFill>
                  <a:srgbClr val="000000"/>
                </a:solidFill>
                <a:effectLst/>
                <a:latin typeface="+mn-ea"/>
                <a:ea typeface="+mn-ea"/>
                <a:cs typeface="Times New Roman" panose="02020603050405020304" pitchFamily="18" charset="0"/>
              </a:rPr>
              <a:t> </a:t>
            </a:r>
            <a:r>
              <a:rPr lang="en-US" sz="2800">
                <a:effectLst/>
                <a:latin typeface="+mn-ea"/>
                <a:ea typeface="+mn-ea"/>
                <a:cs typeface="Cambria Math" panose="02040503050406030204" pitchFamily="18" charset="0"/>
              </a:rPr>
              <a:t>𝜔</a:t>
            </a:r>
            <a:r>
              <a:rPr lang="en-US" sz="2800">
                <a:solidFill>
                  <a:srgbClr val="000000"/>
                </a:solidFill>
                <a:effectLst/>
                <a:latin typeface="+mn-ea"/>
                <a:ea typeface="+mn-ea"/>
                <a:cs typeface="Times New Roman" panose="02020603050405020304" pitchFamily="18" charset="0"/>
              </a:rPr>
              <a:t> </a:t>
            </a:r>
            <a:r>
              <a:rPr lang="ja-JP" sz="2800">
                <a:solidFill>
                  <a:srgbClr val="000000"/>
                </a:solidFill>
                <a:effectLst/>
                <a:latin typeface="+mn-ea"/>
                <a:ea typeface="+mn-ea"/>
                <a:cs typeface="Arial" panose="020B0604020202020204" pitchFamily="34" charset="0"/>
              </a:rPr>
              <a:t>とか</a:t>
            </a:r>
            <a:r>
              <a:rPr lang="en-US" sz="2800">
                <a:solidFill>
                  <a:srgbClr val="000000"/>
                </a:solidFill>
                <a:effectLst/>
                <a:latin typeface="+mn-ea"/>
                <a:ea typeface="+mn-ea"/>
                <a:cs typeface="Times New Roman" panose="02020603050405020304" pitchFamily="18" charset="0"/>
              </a:rPr>
              <a:t> </a:t>
            </a:r>
            <a:r>
              <a:rPr lang="en-US" sz="2800">
                <a:effectLst/>
                <a:latin typeface="+mn-ea"/>
                <a:ea typeface="+mn-ea"/>
                <a:cs typeface="Cambria Math" panose="02040503050406030204" pitchFamily="18" charset="0"/>
              </a:rPr>
              <a:t>𝑓</a:t>
            </a:r>
            <a:r>
              <a:rPr lang="en-US" sz="2800">
                <a:solidFill>
                  <a:srgbClr val="000000"/>
                </a:solidFill>
                <a:effectLst/>
                <a:latin typeface="+mn-ea"/>
                <a:ea typeface="+mn-ea"/>
                <a:cs typeface="Times New Roman" panose="02020603050405020304" pitchFamily="18" charset="0"/>
              </a:rPr>
              <a:t> </a:t>
            </a:r>
            <a:r>
              <a:rPr lang="ja-JP" sz="2800">
                <a:solidFill>
                  <a:srgbClr val="000000"/>
                </a:solidFill>
                <a:effectLst/>
                <a:latin typeface="+mn-ea"/>
                <a:ea typeface="+mn-ea"/>
                <a:cs typeface="Arial" panose="020B0604020202020204" pitchFamily="34" charset="0"/>
              </a:rPr>
              <a:t>とか</a:t>
            </a:r>
            <a:r>
              <a:rPr lang="en-US" sz="2800">
                <a:solidFill>
                  <a:srgbClr val="000000"/>
                </a:solidFill>
                <a:effectLst/>
                <a:latin typeface="+mn-ea"/>
                <a:ea typeface="+mn-ea"/>
                <a:cs typeface="Times New Roman" panose="02020603050405020304" pitchFamily="18" charset="0"/>
              </a:rPr>
              <a:t> </a:t>
            </a:r>
            <a:r>
              <a:rPr lang="en-US" sz="2800">
                <a:effectLst/>
                <a:latin typeface="+mn-ea"/>
                <a:ea typeface="+mn-ea"/>
                <a:cs typeface="Cambria Math" panose="02040503050406030204" pitchFamily="18" charset="0"/>
              </a:rPr>
              <a:t>𝑘</a:t>
            </a:r>
            <a:r>
              <a:rPr lang="en-US" sz="2800">
                <a:solidFill>
                  <a:srgbClr val="000000"/>
                </a:solidFill>
                <a:effectLst/>
                <a:latin typeface="+mn-ea"/>
                <a:ea typeface="+mn-ea"/>
                <a:cs typeface="Times New Roman" panose="02020603050405020304" pitchFamily="18" charset="0"/>
              </a:rPr>
              <a:t> </a:t>
            </a:r>
            <a:r>
              <a:rPr lang="ja-JP" sz="2800">
                <a:solidFill>
                  <a:srgbClr val="000000"/>
                </a:solidFill>
                <a:effectLst/>
                <a:latin typeface="+mn-ea"/>
                <a:ea typeface="+mn-ea"/>
                <a:cs typeface="Arial" panose="020B0604020202020204" pitchFamily="34" charset="0"/>
              </a:rPr>
              <a:t>の関数と思えば，</a:t>
            </a:r>
            <a:r>
              <a:rPr lang="ja-JP" sz="2800">
                <a:solidFill>
                  <a:srgbClr val="000000"/>
                </a:solidFill>
                <a:effectLst/>
                <a:latin typeface="+mn-ea"/>
                <a:ea typeface="+mn-ea"/>
                <a:cs typeface="Times New Roman" panose="02020603050405020304" pitchFamily="18" charset="0"/>
              </a:rPr>
              <a:t> </a:t>
            </a:r>
            <a:r>
              <a:rPr lang="ja-JP" sz="2800">
                <a:solidFill>
                  <a:srgbClr val="000000"/>
                </a:solidFill>
                <a:effectLst/>
                <a:latin typeface="+mn-ea"/>
                <a:ea typeface="+mn-ea"/>
                <a:cs typeface="Arial" panose="020B0604020202020204" pitchFamily="34" charset="0"/>
              </a:rPr>
              <a:t>この</a:t>
            </a:r>
            <a:r>
              <a:rPr lang="en-US" sz="2800">
                <a:solidFill>
                  <a:srgbClr val="000000"/>
                </a:solidFill>
                <a:effectLst/>
                <a:latin typeface="+mn-ea"/>
                <a:ea typeface="+mn-ea"/>
                <a:cs typeface="Times New Roman" panose="02020603050405020304" pitchFamily="18" charset="0"/>
              </a:rPr>
              <a:t> </a:t>
            </a:r>
            <a:r>
              <a:rPr lang="en-US" sz="2800">
                <a:effectLst/>
                <a:latin typeface="+mn-ea"/>
                <a:ea typeface="+mn-ea"/>
                <a:cs typeface="Cambria Math" panose="02040503050406030204" pitchFamily="18" charset="0"/>
              </a:rPr>
              <a:t>𝑋</a:t>
            </a:r>
            <a:r>
              <a:rPr lang="en-US" sz="2800">
                <a:effectLst/>
                <a:latin typeface="+mn-ea"/>
                <a:ea typeface="+mn-ea"/>
                <a:cs typeface="Times New Roman" panose="02020603050405020304" pitchFamily="18" charset="0"/>
              </a:rPr>
              <a:t>(</a:t>
            </a:r>
            <a:r>
              <a:rPr lang="en-US" sz="2800">
                <a:effectLst/>
                <a:latin typeface="+mn-ea"/>
                <a:ea typeface="+mn-ea"/>
                <a:cs typeface="Cambria Math" panose="02040503050406030204" pitchFamily="18" charset="0"/>
              </a:rPr>
              <a:t>𝑧</a:t>
            </a:r>
            <a:r>
              <a:rPr lang="en-US" sz="2800">
                <a:effectLst/>
                <a:latin typeface="+mn-ea"/>
                <a:ea typeface="+mn-ea"/>
                <a:cs typeface="Times New Roman" panose="02020603050405020304" pitchFamily="18" charset="0"/>
              </a:rPr>
              <a:t>)</a:t>
            </a:r>
            <a:r>
              <a:rPr lang="en-US" sz="2800">
                <a:solidFill>
                  <a:srgbClr val="000000"/>
                </a:solidFill>
                <a:effectLst/>
                <a:latin typeface="+mn-ea"/>
                <a:ea typeface="+mn-ea"/>
                <a:cs typeface="Times New Roman" panose="02020603050405020304" pitchFamily="18" charset="0"/>
              </a:rPr>
              <a:t> </a:t>
            </a:r>
            <a:r>
              <a:rPr lang="ja-JP" sz="2800">
                <a:solidFill>
                  <a:srgbClr val="000000"/>
                </a:solidFill>
                <a:effectLst/>
                <a:latin typeface="+mn-ea"/>
                <a:ea typeface="+mn-ea"/>
                <a:cs typeface="Arial" panose="020B0604020202020204" pitchFamily="34" charset="0"/>
              </a:rPr>
              <a:t>もスペクトルです</a:t>
            </a:r>
            <a:r>
              <a:rPr lang="ja-JP" sz="2800">
                <a:solidFill>
                  <a:srgbClr val="000000"/>
                </a:solidFill>
                <a:effectLst/>
                <a:latin typeface="+mn-ea"/>
                <a:ea typeface="+mn-ea"/>
                <a:cs typeface="ＭＳ 明朝" panose="02020609040205080304" pitchFamily="17" charset="-128"/>
              </a:rPr>
              <a:t>よ</a:t>
            </a:r>
            <a:endParaRPr lang="en-US" altLang="ja-JP" sz="2800">
              <a:solidFill>
                <a:srgbClr val="000000"/>
              </a:solidFill>
              <a:effectLst/>
              <a:latin typeface="+mn-ea"/>
              <a:ea typeface="+mn-ea"/>
              <a:cs typeface="ＭＳ 明朝" panose="02020609040205080304" pitchFamily="17" charset="-128"/>
            </a:endParaRPr>
          </a:p>
          <a:p>
            <a:pPr marL="0" marR="0">
              <a:lnSpc>
                <a:spcPct val="107000"/>
              </a:lnSpc>
              <a:spcBef>
                <a:spcPts val="0"/>
              </a:spcBef>
              <a:spcAft>
                <a:spcPts val="800"/>
              </a:spcAft>
            </a:pPr>
            <a:r>
              <a:rPr lang="en-US" sz="1200">
                <a:effectLst/>
                <a:latin typeface="+mn-ea"/>
                <a:ea typeface="+mn-ea"/>
                <a:cs typeface="Times New Roman" panose="02020603050405020304" pitchFamily="18" charset="0"/>
              </a:rPr>
              <a:t>Although we use the mysterious variable 𝑧, if we think of it as a function of frequency 𝜔, 𝑓, or 𝑘, then this 𝑋(𝑧) is also a spectrum</a:t>
            </a:r>
          </a:p>
          <a:p>
            <a:pPr marL="0" marR="0">
              <a:lnSpc>
                <a:spcPct val="107000"/>
              </a:lnSpc>
              <a:spcBef>
                <a:spcPts val="0"/>
              </a:spcBef>
              <a:spcAft>
                <a:spcPts val="800"/>
              </a:spcAft>
            </a:pPr>
            <a:r>
              <a:rPr lang="ja-JP" sz="2800">
                <a:solidFill>
                  <a:srgbClr val="000000"/>
                </a:solidFill>
                <a:effectLst/>
                <a:latin typeface="+mn-ea"/>
                <a:ea typeface="+mn-ea"/>
                <a:cs typeface="Arial" panose="020B0604020202020204" pitchFamily="34" charset="0"/>
              </a:rPr>
              <a:t>総和の標本番号</a:t>
            </a:r>
            <a:r>
              <a:rPr lang="en-US" sz="2800">
                <a:solidFill>
                  <a:srgbClr val="000000"/>
                </a:solidFill>
                <a:effectLst/>
                <a:latin typeface="+mn-ea"/>
                <a:ea typeface="+mn-ea"/>
                <a:cs typeface="Times New Roman" panose="02020603050405020304" pitchFamily="18" charset="0"/>
              </a:rPr>
              <a:t> </a:t>
            </a:r>
            <a:r>
              <a:rPr lang="en-US" sz="2800">
                <a:effectLst/>
                <a:latin typeface="+mn-ea"/>
                <a:ea typeface="+mn-ea"/>
                <a:cs typeface="Cambria Math" panose="02040503050406030204" pitchFamily="18" charset="0"/>
              </a:rPr>
              <a:t>𝑛</a:t>
            </a:r>
            <a:r>
              <a:rPr lang="en-US" sz="2800">
                <a:solidFill>
                  <a:srgbClr val="000000"/>
                </a:solidFill>
                <a:effectLst/>
                <a:latin typeface="+mn-ea"/>
                <a:ea typeface="+mn-ea"/>
                <a:cs typeface="Times New Roman" panose="02020603050405020304" pitchFamily="18" charset="0"/>
              </a:rPr>
              <a:t> </a:t>
            </a:r>
            <a:r>
              <a:rPr lang="ja-JP" sz="2800">
                <a:solidFill>
                  <a:srgbClr val="000000"/>
                </a:solidFill>
                <a:effectLst/>
                <a:latin typeface="+mn-ea"/>
                <a:ea typeface="+mn-ea"/>
                <a:cs typeface="Arial" panose="020B0604020202020204" pitchFamily="34" charset="0"/>
              </a:rPr>
              <a:t>の範囲は</a:t>
            </a:r>
            <a:r>
              <a:rPr lang="en-US" sz="2800">
                <a:solidFill>
                  <a:srgbClr val="000000"/>
                </a:solidFill>
                <a:effectLst/>
                <a:latin typeface="+mn-ea"/>
                <a:ea typeface="+mn-ea"/>
                <a:cs typeface="Times New Roman" panose="02020603050405020304" pitchFamily="18" charset="0"/>
              </a:rPr>
              <a:t> </a:t>
            </a:r>
            <a:r>
              <a:rPr lang="en-US" sz="2800">
                <a:effectLst/>
                <a:latin typeface="+mn-ea"/>
                <a:ea typeface="+mn-ea"/>
                <a:cs typeface="Times New Roman" panose="02020603050405020304" pitchFamily="18" charset="0"/>
              </a:rPr>
              <a:t>0</a:t>
            </a:r>
            <a:r>
              <a:rPr lang="ja-JP" sz="2800">
                <a:effectLst/>
                <a:latin typeface="+mn-ea"/>
                <a:ea typeface="+mn-ea"/>
                <a:cs typeface="Times New Roman" panose="02020603050405020304" pitchFamily="18" charset="0"/>
              </a:rPr>
              <a:t>〜</a:t>
            </a:r>
            <a:r>
              <a:rPr lang="en-US" sz="2800">
                <a:effectLst/>
                <a:latin typeface="+mn-ea"/>
                <a:ea typeface="+mn-ea"/>
                <a:cs typeface="Times New Roman" panose="02020603050405020304" pitchFamily="18" charset="0"/>
              </a:rPr>
              <a:t>(</a:t>
            </a:r>
            <a:r>
              <a:rPr lang="en-US" sz="2800">
                <a:effectLst/>
                <a:latin typeface="+mn-ea"/>
                <a:ea typeface="+mn-ea"/>
                <a:cs typeface="Cambria Math" panose="02040503050406030204" pitchFamily="18" charset="0"/>
              </a:rPr>
              <a:t>𝑁</a:t>
            </a:r>
            <a:r>
              <a:rPr lang="en-US" sz="2800">
                <a:effectLst/>
                <a:latin typeface="+mn-ea"/>
                <a:ea typeface="+mn-ea"/>
                <a:cs typeface="Times New Roman" panose="02020603050405020304" pitchFamily="18" charset="0"/>
              </a:rPr>
              <a:t>−1)</a:t>
            </a:r>
            <a:r>
              <a:rPr lang="en-US" sz="2800">
                <a:solidFill>
                  <a:srgbClr val="000000"/>
                </a:solidFill>
                <a:effectLst/>
                <a:latin typeface="+mn-ea"/>
                <a:ea typeface="+mn-ea"/>
                <a:cs typeface="Times New Roman" panose="02020603050405020304" pitchFamily="18" charset="0"/>
              </a:rPr>
              <a:t> </a:t>
            </a:r>
            <a:r>
              <a:rPr lang="ja-JP" sz="2800">
                <a:solidFill>
                  <a:srgbClr val="000000"/>
                </a:solidFill>
                <a:effectLst/>
                <a:latin typeface="+mn-ea"/>
                <a:ea typeface="+mn-ea"/>
                <a:cs typeface="Arial" panose="020B0604020202020204" pitchFamily="34" charset="0"/>
              </a:rPr>
              <a:t>です．</a:t>
            </a:r>
            <a:r>
              <a:rPr lang="ja-JP" sz="2800">
                <a:solidFill>
                  <a:srgbClr val="000000"/>
                </a:solidFill>
                <a:effectLst/>
                <a:latin typeface="+mn-ea"/>
                <a:ea typeface="+mn-ea"/>
                <a:cs typeface="Times New Roman" panose="02020603050405020304" pitchFamily="18" charset="0"/>
              </a:rPr>
              <a:t> </a:t>
            </a:r>
            <a:r>
              <a:rPr lang="ja-JP" sz="2800">
                <a:solidFill>
                  <a:srgbClr val="000000"/>
                </a:solidFill>
                <a:effectLst/>
                <a:latin typeface="+mn-ea"/>
                <a:ea typeface="+mn-ea"/>
                <a:cs typeface="Arial" panose="020B0604020202020204" pitchFamily="34" charset="0"/>
              </a:rPr>
              <a:t>また，</a:t>
            </a:r>
            <a:r>
              <a:rPr lang="en-US" sz="2800">
                <a:effectLst/>
                <a:latin typeface="+mn-ea"/>
                <a:ea typeface="+mn-ea"/>
                <a:cs typeface="Cambria Math" panose="02040503050406030204" pitchFamily="18" charset="0"/>
              </a:rPr>
              <a:t>𝑁</a:t>
            </a:r>
            <a:r>
              <a:rPr lang="en-US" sz="2800">
                <a:solidFill>
                  <a:srgbClr val="000000"/>
                </a:solidFill>
                <a:effectLst/>
                <a:latin typeface="+mn-ea"/>
                <a:ea typeface="+mn-ea"/>
                <a:cs typeface="Times New Roman" panose="02020603050405020304" pitchFamily="18" charset="0"/>
              </a:rPr>
              <a:t> </a:t>
            </a:r>
            <a:r>
              <a:rPr lang="ja-JP" sz="2800">
                <a:solidFill>
                  <a:srgbClr val="000000"/>
                </a:solidFill>
                <a:effectLst/>
                <a:latin typeface="+mn-ea"/>
                <a:ea typeface="+mn-ea"/>
                <a:cs typeface="Arial" panose="020B0604020202020204" pitchFamily="34" charset="0"/>
              </a:rPr>
              <a:t>は標本数でし</a:t>
            </a:r>
            <a:r>
              <a:rPr lang="ja-JP" sz="2800">
                <a:solidFill>
                  <a:srgbClr val="000000"/>
                </a:solidFill>
                <a:effectLst/>
                <a:latin typeface="+mn-ea"/>
                <a:ea typeface="+mn-ea"/>
                <a:cs typeface="ＭＳ 明朝" panose="02020609040205080304" pitchFamily="17" charset="-128"/>
              </a:rPr>
              <a:t>た</a:t>
            </a:r>
            <a:endParaRPr lang="en-US" sz="2800">
              <a:effectLst/>
              <a:latin typeface="+mn-ea"/>
              <a:ea typeface="+mn-ea"/>
              <a:cs typeface="Times New Roman" panose="02020603050405020304" pitchFamily="18" charset="0"/>
            </a:endParaRPr>
          </a:p>
          <a:p>
            <a:pPr algn="just"/>
            <a:r>
              <a:rPr lang="en-US" altLang="ja-JP" sz="1200">
                <a:latin typeface="Arial" panose="020B0604020202020204" pitchFamily="34" charset="0"/>
                <a:cs typeface="Arial" panose="020B0604020202020204" pitchFamily="34" charset="0"/>
              </a:rPr>
              <a:t>The range of the sample number </a:t>
            </a:r>
            <a:r>
              <a:rPr lang="ja-JP" altLang="en-US" sz="1200">
                <a:latin typeface="Arial" panose="020B0604020202020204" pitchFamily="34" charset="0"/>
                <a:cs typeface="Arial" panose="020B0604020202020204" pitchFamily="34" charset="0"/>
              </a:rPr>
              <a:t>𝑛 </a:t>
            </a:r>
            <a:r>
              <a:rPr lang="en-US" altLang="ja-JP" sz="1200">
                <a:latin typeface="Arial" panose="020B0604020202020204" pitchFamily="34" charset="0"/>
                <a:cs typeface="Arial" panose="020B0604020202020204" pitchFamily="34" charset="0"/>
              </a:rPr>
              <a:t>of the summation is 〜0〜(</a:t>
            </a:r>
            <a:r>
              <a:rPr lang="ja-JP" altLang="en-US" sz="1200">
                <a:latin typeface="Arial" panose="020B0604020202020204" pitchFamily="34" charset="0"/>
                <a:cs typeface="Arial" panose="020B0604020202020204" pitchFamily="34" charset="0"/>
              </a:rPr>
              <a:t>𝑁−</a:t>
            </a:r>
            <a:r>
              <a:rPr lang="en-US" altLang="ja-JP" sz="1200">
                <a:latin typeface="Arial" panose="020B0604020202020204" pitchFamily="34" charset="0"/>
                <a:cs typeface="Arial" panose="020B0604020202020204" pitchFamily="34" charset="0"/>
              </a:rPr>
              <a:t>1). Also, </a:t>
            </a:r>
            <a:r>
              <a:rPr lang="ja-JP" altLang="en-US" sz="1200">
                <a:latin typeface="Arial" panose="020B0604020202020204" pitchFamily="34" charset="0"/>
                <a:cs typeface="Arial" panose="020B0604020202020204" pitchFamily="34" charset="0"/>
              </a:rPr>
              <a:t>𝑁 </a:t>
            </a:r>
            <a:r>
              <a:rPr lang="en-US" altLang="ja-JP" sz="1200">
                <a:latin typeface="Arial" panose="020B0604020202020204" pitchFamily="34" charset="0"/>
                <a:cs typeface="Arial" panose="020B0604020202020204" pitchFamily="34" charset="0"/>
              </a:rPr>
              <a:t>is the number of samples</a:t>
            </a:r>
            <a:endParaRPr lang="en-US" altLang="ja-JP" sz="1200" b="1">
              <a:latin typeface="+mj-ea"/>
              <a:ea typeface="+mj-ea"/>
              <a:cs typeface="Times New Roman" panose="02020603050405020304" pitchFamily="18"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3114261" y="252943"/>
            <a:ext cx="7911548"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a:solidFill>
                  <a:schemeClr val="tx1"/>
                </a:solidFill>
              </a:rPr>
              <a:t>Z </a:t>
            </a:r>
            <a:r>
              <a:rPr lang="ja-JP" altLang="en-US" sz="3200">
                <a:solidFill>
                  <a:schemeClr val="tx1"/>
                </a:solidFill>
              </a:rPr>
              <a:t>変換</a:t>
            </a:r>
            <a:r>
              <a:rPr lang="en-US" altLang="ja-JP" sz="1100" b="1">
                <a:solidFill>
                  <a:schemeClr val="tx1"/>
                </a:solidFill>
              </a:rPr>
              <a:t>Z Transform</a:t>
            </a:r>
            <a:r>
              <a:rPr lang="ja-JP" altLang="en-US" sz="3200" b="1">
                <a:solidFill>
                  <a:srgbClr val="FF0000"/>
                </a:solidFill>
              </a:rPr>
              <a:t> </a:t>
            </a:r>
            <a:endParaRPr lang="en-US" sz="3200">
              <a:solidFill>
                <a:srgbClr val="FF0000"/>
              </a:solidFill>
            </a:endParaRPr>
          </a:p>
        </p:txBody>
      </p:sp>
      <p:pic>
        <p:nvPicPr>
          <p:cNvPr id="3" name="図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51453" y="1996537"/>
            <a:ext cx="2191056" cy="828791"/>
          </a:xfrm>
          <a:prstGeom prst="rect">
            <a:avLst/>
          </a:prstGeom>
        </p:spPr>
      </p:pic>
    </p:spTree>
    <p:extLst>
      <p:ext uri="{BB962C8B-B14F-4D97-AF65-F5344CB8AC3E}">
        <p14:creationId xmlns:p14="http://schemas.microsoft.com/office/powerpoint/2010/main" val="2383453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324261"/>
          </a:xfrm>
          <a:prstGeom prst="rect">
            <a:avLst/>
          </a:prstGeom>
          <a:noFill/>
        </p:spPr>
        <p:txBody>
          <a:bodyPr wrap="square" rtlCol="0">
            <a:spAutoFit/>
          </a:bodyPr>
          <a:lstStyle/>
          <a:p>
            <a:pPr algn="just"/>
            <a:r>
              <a:rPr lang="ja-JP" altLang="en-US" sz="3200" b="1">
                <a:latin typeface="+mn-ea"/>
                <a:ea typeface="+mn-ea"/>
                <a:cs typeface="Times New Roman" panose="02020603050405020304" pitchFamily="18" charset="0"/>
              </a:rPr>
              <a:t>時間応答を元にして，</a:t>
            </a:r>
            <a:r>
              <a:rPr lang="en-US" altLang="ja-JP" sz="3200" b="1">
                <a:latin typeface="+mn-ea"/>
                <a:ea typeface="+mn-ea"/>
                <a:cs typeface="Times New Roman" panose="02020603050405020304" pitchFamily="18" charset="0"/>
              </a:rPr>
              <a:t>FIR </a:t>
            </a:r>
            <a:r>
              <a:rPr lang="ja-JP" altLang="en-US" sz="3200" b="1">
                <a:latin typeface="+mn-ea"/>
                <a:ea typeface="+mn-ea"/>
                <a:cs typeface="Times New Roman" panose="02020603050405020304" pitchFamily="18" charset="0"/>
              </a:rPr>
              <a:t>の周波数応答を導出してみる</a:t>
            </a:r>
            <a:endParaRPr lang="en-US" altLang="ja-JP" sz="3200" b="1">
              <a:latin typeface="+mn-ea"/>
              <a:ea typeface="+mn-ea"/>
              <a:cs typeface="Times New Roman" panose="02020603050405020304" pitchFamily="18" charset="0"/>
            </a:endParaRPr>
          </a:p>
          <a:p>
            <a:pPr algn="just"/>
            <a:r>
              <a:rPr lang="en-US" altLang="ja-JP" sz="1200"/>
              <a:t>Based on the time response, let's derive the frequency response of an FIR filter</a:t>
            </a:r>
          </a:p>
          <a:p>
            <a:pPr algn="just"/>
            <a:endParaRPr lang="en-US" altLang="ja-JP" sz="1200" b="1">
              <a:latin typeface="+mn-ea"/>
              <a:ea typeface="+mn-ea"/>
              <a:cs typeface="Times New Roman" panose="02020603050405020304" pitchFamily="18" charset="0"/>
            </a:endParaRPr>
          </a:p>
          <a:p>
            <a:pPr algn="just"/>
            <a:r>
              <a:rPr lang="ja-JP" altLang="en-US" sz="2800">
                <a:latin typeface="+mn-ea"/>
                <a:ea typeface="+mn-ea"/>
              </a:rPr>
              <a:t>時間応答 </a:t>
            </a:r>
            <a:r>
              <a:rPr lang="en-US" altLang="ja-JP" sz="2800">
                <a:latin typeface="+mn-ea"/>
                <a:ea typeface="+mn-ea"/>
              </a:rPr>
              <a:t>: </a:t>
            </a:r>
          </a:p>
          <a:p>
            <a:pPr algn="just"/>
            <a:r>
              <a:rPr lang="en-US" altLang="ja-JP" sz="1200">
                <a:latin typeface="Arial" panose="020B0604020202020204" pitchFamily="34" charset="0"/>
                <a:ea typeface="+mn-ea"/>
                <a:cs typeface="Arial" panose="020B0604020202020204" pitchFamily="34" charset="0"/>
              </a:rPr>
              <a:t>Time Response</a:t>
            </a:r>
          </a:p>
          <a:p>
            <a:pPr algn="just"/>
            <a:endParaRPr lang="en-US" altLang="ja-JP" sz="1200" b="1">
              <a:latin typeface="Arial" panose="020B0604020202020204" pitchFamily="34" charset="0"/>
              <a:ea typeface="+mn-ea"/>
              <a:cs typeface="Arial" panose="020B0604020202020204" pitchFamily="34" charset="0"/>
            </a:endParaRPr>
          </a:p>
          <a:p>
            <a:pPr algn="just"/>
            <a:r>
              <a:rPr lang="en-US" altLang="ja-JP" sz="2800"/>
              <a:t>                                Z </a:t>
            </a:r>
            <a:r>
              <a:rPr lang="ja-JP" altLang="en-US" sz="2800"/>
              <a:t>変換 </a:t>
            </a:r>
            <a:r>
              <a:rPr lang="en-US" altLang="ja-JP" sz="2800"/>
              <a:t>:  </a:t>
            </a:r>
            <a:endParaRPr lang="en-US" altLang="ja-JP" sz="2800" b="1">
              <a:latin typeface="+mn-ea"/>
              <a:ea typeface="+mn-ea"/>
              <a:cs typeface="Times New Roman" panose="02020603050405020304" pitchFamily="18" charset="0"/>
            </a:endParaRPr>
          </a:p>
          <a:p>
            <a:pPr algn="just"/>
            <a:r>
              <a:rPr lang="en-US" altLang="ja-JP" sz="1200">
                <a:latin typeface="Arial" panose="020B0604020202020204" pitchFamily="34" charset="0"/>
                <a:ea typeface="+mn-ea"/>
                <a:cs typeface="Arial" panose="020B0604020202020204" pitchFamily="34" charset="0"/>
              </a:rPr>
              <a:t>                                                                            Z Transform</a:t>
            </a:r>
          </a:p>
          <a:p>
            <a:pPr algn="just"/>
            <a:endParaRPr lang="en-US" altLang="ja-JP" sz="1200">
              <a:latin typeface="Arial" panose="020B0604020202020204" pitchFamily="34" charset="0"/>
              <a:ea typeface="+mn-ea"/>
              <a:cs typeface="Arial" panose="020B0604020202020204" pitchFamily="34" charset="0"/>
            </a:endParaRPr>
          </a:p>
          <a:p>
            <a:pPr algn="just"/>
            <a:endParaRPr lang="en-US" altLang="ja-JP" sz="1200">
              <a:latin typeface="Arial" panose="020B0604020202020204" pitchFamily="34" charset="0"/>
              <a:ea typeface="+mn-ea"/>
              <a:cs typeface="Arial" panose="020B0604020202020204" pitchFamily="34" charset="0"/>
            </a:endParaRPr>
          </a:p>
          <a:p>
            <a:pPr algn="just"/>
            <a:endParaRPr lang="en-US" altLang="ja-JP" sz="1200">
              <a:latin typeface="Arial" panose="020B0604020202020204" pitchFamily="34" charset="0"/>
              <a:ea typeface="+mn-ea"/>
              <a:cs typeface="Arial" panose="020B0604020202020204" pitchFamily="34" charset="0"/>
            </a:endParaRPr>
          </a:p>
          <a:p>
            <a:r>
              <a:rPr lang="ja-JP" altLang="ja-JP" sz="2800">
                <a:latin typeface="+mn-ea"/>
                <a:ea typeface="+mn-ea"/>
              </a:rPr>
              <a:t>ここで，</a:t>
            </a:r>
            <a:r>
              <a:rPr lang="en-US" altLang="ja-JP" sz="2800">
                <a:latin typeface="+mn-ea"/>
                <a:ea typeface="+mn-ea"/>
              </a:rPr>
              <a:t>∑</a:t>
            </a:r>
            <a:r>
              <a:rPr lang="en-US" altLang="ja-JP" sz="2800" baseline="-25000">
                <a:latin typeface="+mn-ea"/>
                <a:ea typeface="+mn-ea"/>
              </a:rPr>
              <a:t>𝑛</a:t>
            </a:r>
            <a:r>
              <a:rPr lang="en-US" altLang="ja-JP" sz="2800">
                <a:latin typeface="+mn-ea"/>
                <a:ea typeface="+mn-ea"/>
              </a:rPr>
              <a:t> </a:t>
            </a:r>
            <a:r>
              <a:rPr lang="en-US" altLang="ja-JP" sz="2800" err="1">
                <a:latin typeface="+mn-ea"/>
                <a:ea typeface="+mn-ea"/>
              </a:rPr>
              <a:t>は全標本値に対する総和だよね</a:t>
            </a:r>
            <a:r>
              <a:rPr lang="en-US" altLang="ja-JP" sz="2800">
                <a:latin typeface="+mn-ea"/>
                <a:ea typeface="+mn-ea"/>
              </a:rPr>
              <a:t>？ </a:t>
            </a:r>
            <a:r>
              <a:rPr lang="en-US" altLang="ja-JP" sz="2800" err="1">
                <a:latin typeface="+mn-ea"/>
                <a:ea typeface="+mn-ea"/>
              </a:rPr>
              <a:t>そして</a:t>
            </a:r>
            <a:r>
              <a:rPr lang="en-US" altLang="ja-JP" sz="2800">
                <a:latin typeface="+mn-ea"/>
                <a:ea typeface="+mn-ea"/>
              </a:rPr>
              <a:t>，𝑥</a:t>
            </a:r>
            <a:r>
              <a:rPr lang="en-US" altLang="ja-JP" sz="2800" baseline="-25000">
                <a:latin typeface="+mn-ea"/>
                <a:ea typeface="+mn-ea"/>
              </a:rPr>
              <a:t>𝑛−𝑚</a:t>
            </a:r>
            <a:r>
              <a:rPr lang="en-US" altLang="ja-JP" sz="2800">
                <a:latin typeface="+mn-ea"/>
                <a:ea typeface="+mn-ea"/>
              </a:rPr>
              <a:t> と 𝑧</a:t>
            </a:r>
            <a:r>
              <a:rPr lang="en-US" altLang="ja-JP" sz="2800" baseline="30000">
                <a:latin typeface="+mn-ea"/>
                <a:ea typeface="+mn-ea"/>
              </a:rPr>
              <a:t>−(𝑛−𝑚)</a:t>
            </a:r>
            <a:r>
              <a:rPr lang="en-US" altLang="ja-JP" sz="2800">
                <a:latin typeface="+mn-ea"/>
                <a:ea typeface="+mn-ea"/>
              </a:rPr>
              <a:t> </a:t>
            </a:r>
            <a:r>
              <a:rPr lang="en-US" altLang="ja-JP" sz="2800" err="1">
                <a:latin typeface="+mn-ea"/>
                <a:ea typeface="+mn-ea"/>
              </a:rPr>
              <a:t>は周期的なので，添字</a:t>
            </a:r>
            <a:r>
              <a:rPr lang="en-US" altLang="ja-JP" sz="2800">
                <a:latin typeface="+mn-ea"/>
                <a:ea typeface="+mn-ea"/>
              </a:rPr>
              <a:t> 𝑛 − 𝑚 </a:t>
            </a:r>
            <a:r>
              <a:rPr lang="en-US" altLang="ja-JP" sz="2800" err="1">
                <a:latin typeface="+mn-ea"/>
                <a:ea typeface="+mn-ea"/>
              </a:rPr>
              <a:t>をズラし</a:t>
            </a:r>
            <a:r>
              <a:rPr lang="en-US" altLang="ja-JP" sz="2800">
                <a:latin typeface="+mn-ea"/>
                <a:ea typeface="+mn-ea"/>
              </a:rPr>
              <a:t>，𝑛 </a:t>
            </a:r>
            <a:r>
              <a:rPr lang="en-US" altLang="ja-JP" sz="2800" err="1">
                <a:latin typeface="+mn-ea"/>
                <a:ea typeface="+mn-ea"/>
              </a:rPr>
              <a:t>にしても</a:t>
            </a:r>
            <a:r>
              <a:rPr lang="en-US" altLang="ja-JP" sz="2800">
                <a:latin typeface="+mn-ea"/>
                <a:ea typeface="+mn-ea"/>
              </a:rPr>
              <a:t>， </a:t>
            </a:r>
            <a:r>
              <a:rPr lang="en-US" altLang="ja-JP" sz="2800" err="1">
                <a:latin typeface="+mn-ea"/>
                <a:ea typeface="+mn-ea"/>
              </a:rPr>
              <a:t>総和の値は不変なので無問題</a:t>
            </a:r>
            <a:endParaRPr lang="ja-JP" altLang="ja-JP" sz="2800">
              <a:latin typeface="+mn-ea"/>
              <a:ea typeface="+mn-ea"/>
            </a:endParaRPr>
          </a:p>
          <a:p>
            <a:pPr algn="just"/>
            <a:r>
              <a:rPr lang="en-US" altLang="ja-JP" sz="1200">
                <a:latin typeface="Arial" panose="020B0604020202020204" pitchFamily="34" charset="0"/>
                <a:cs typeface="Arial" panose="020B0604020202020204" pitchFamily="34" charset="0"/>
              </a:rPr>
              <a:t>Here, </a:t>
            </a:r>
            <a:r>
              <a:rPr lang="en-US" altLang="ja-JP" sz="1200" b="1">
                <a:latin typeface="Arial" panose="020B0604020202020204" pitchFamily="34" charset="0"/>
                <a:cs typeface="Arial" panose="020B0604020202020204" pitchFamily="34" charset="0"/>
              </a:rPr>
              <a:t>∑</a:t>
            </a:r>
            <a:r>
              <a:rPr lang="en-US" altLang="ja-JP" sz="1200" b="1" baseline="-25000">
                <a:latin typeface="Arial" panose="020B0604020202020204" pitchFamily="34" charset="0"/>
                <a:cs typeface="Arial" panose="020B0604020202020204" pitchFamily="34" charset="0"/>
              </a:rPr>
              <a:t>𝑛 </a:t>
            </a:r>
            <a:r>
              <a:rPr lang="en-US" altLang="ja-JP" sz="1200">
                <a:latin typeface="Arial" panose="020B0604020202020204" pitchFamily="34" charset="0"/>
                <a:cs typeface="Arial" panose="020B0604020202020204" pitchFamily="34" charset="0"/>
              </a:rPr>
              <a:t>is the sum over all sample values, right? And since </a:t>
            </a:r>
            <a:r>
              <a:rPr lang="en-US" altLang="ja-JP" sz="1200" b="1">
                <a:latin typeface="Arial" panose="020B0604020202020204" pitchFamily="34" charset="0"/>
                <a:cs typeface="Arial" panose="020B0604020202020204" pitchFamily="34" charset="0"/>
              </a:rPr>
              <a:t>𝑥</a:t>
            </a:r>
            <a:r>
              <a:rPr lang="en-US" altLang="ja-JP" sz="1200" b="1" baseline="-25000">
                <a:latin typeface="Arial" panose="020B0604020202020204" pitchFamily="34" charset="0"/>
                <a:cs typeface="Arial" panose="020B0604020202020204" pitchFamily="34" charset="0"/>
              </a:rPr>
              <a:t>𝑛−𝑚 </a:t>
            </a:r>
            <a:r>
              <a:rPr lang="en-US" altLang="ja-JP" sz="1200">
                <a:latin typeface="Arial" panose="020B0604020202020204" pitchFamily="34" charset="0"/>
                <a:cs typeface="Arial" panose="020B0604020202020204" pitchFamily="34" charset="0"/>
              </a:rPr>
              <a:t>and </a:t>
            </a:r>
            <a:r>
              <a:rPr lang="en-US" altLang="ja-JP" sz="1200" b="1">
                <a:latin typeface="Arial" panose="020B0604020202020204" pitchFamily="34" charset="0"/>
                <a:cs typeface="Arial" panose="020B0604020202020204" pitchFamily="34" charset="0"/>
              </a:rPr>
              <a:t>𝑧</a:t>
            </a:r>
            <a:r>
              <a:rPr lang="en-US" altLang="ja-JP" sz="1200" b="1" baseline="30000">
                <a:latin typeface="Arial" panose="020B0604020202020204" pitchFamily="34" charset="0"/>
                <a:cs typeface="Arial" panose="020B0604020202020204" pitchFamily="34" charset="0"/>
              </a:rPr>
              <a:t>−(𝑛−𝑚) </a:t>
            </a:r>
            <a:r>
              <a:rPr lang="en-US" altLang="ja-JP" sz="1200">
                <a:latin typeface="Arial" panose="020B0604020202020204" pitchFamily="34" charset="0"/>
                <a:cs typeface="Arial" panose="020B0604020202020204" pitchFamily="34" charset="0"/>
              </a:rPr>
              <a:t>are periodic, even if we shift the subscript </a:t>
            </a:r>
            <a:r>
              <a:rPr lang="ja-JP" altLang="en-US" sz="1200" b="1">
                <a:latin typeface="Arial" panose="020B0604020202020204" pitchFamily="34" charset="0"/>
                <a:cs typeface="Arial" panose="020B0604020202020204" pitchFamily="34" charset="0"/>
              </a:rPr>
              <a:t>𝑛−𝑚 </a:t>
            </a:r>
            <a:r>
              <a:rPr lang="en-US" altLang="ja-JP" sz="1200">
                <a:latin typeface="Arial" panose="020B0604020202020204" pitchFamily="34" charset="0"/>
                <a:cs typeface="Arial" panose="020B0604020202020204" pitchFamily="34" charset="0"/>
              </a:rPr>
              <a:t>to </a:t>
            </a:r>
            <a:r>
              <a:rPr lang="ja-JP" altLang="en-US" sz="1200" b="1">
                <a:latin typeface="Arial" panose="020B0604020202020204" pitchFamily="34" charset="0"/>
                <a:cs typeface="Arial" panose="020B0604020202020204" pitchFamily="34" charset="0"/>
              </a:rPr>
              <a:t>𝑛</a:t>
            </a:r>
            <a:r>
              <a:rPr lang="en-US" altLang="ja-JP" sz="1200">
                <a:latin typeface="Arial" panose="020B0604020202020204" pitchFamily="34" charset="0"/>
                <a:cs typeface="Arial" panose="020B0604020202020204" pitchFamily="34" charset="0"/>
              </a:rPr>
              <a:t>, the value of the sum remains unchanged, so there is no problem</a:t>
            </a:r>
            <a:r>
              <a:rPr lang="en-US" altLang="ja-JP" sz="1200"/>
              <a:t>.</a:t>
            </a:r>
            <a:endParaRPr lang="en-US" altLang="ja-JP" sz="1200">
              <a:latin typeface="Arial" panose="020B0604020202020204" pitchFamily="34" charset="0"/>
              <a:ea typeface="+mn-ea"/>
              <a:cs typeface="Arial" panose="020B0604020202020204" pitchFamily="34" charset="0"/>
            </a:endParaRPr>
          </a:p>
          <a:p>
            <a:pPr algn="just"/>
            <a:endParaRPr lang="en-US" altLang="ja-JP" sz="1100" b="1">
              <a:latin typeface="+mn-ea"/>
              <a:ea typeface="+mn-ea"/>
              <a:cs typeface="Times New Roman" panose="02020603050405020304" pitchFamily="18"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3114261" y="252943"/>
            <a:ext cx="7911548"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a:solidFill>
                  <a:schemeClr val="tx1"/>
                </a:solidFill>
              </a:rPr>
              <a:t>FIR </a:t>
            </a:r>
            <a:r>
              <a:rPr lang="ja-JP" altLang="en-US" sz="3200">
                <a:solidFill>
                  <a:schemeClr val="tx1"/>
                </a:solidFill>
              </a:rPr>
              <a:t>フィルタの周波数応答</a:t>
            </a:r>
            <a:r>
              <a:rPr lang="en-US" altLang="ja-JP" sz="1100" b="1">
                <a:solidFill>
                  <a:schemeClr val="tx1"/>
                </a:solidFill>
              </a:rPr>
              <a:t>Frequency response of an FIR filter</a:t>
            </a:r>
            <a:r>
              <a:rPr lang="ja-JP" altLang="en-US" sz="3200" b="1">
                <a:solidFill>
                  <a:srgbClr val="FF0000"/>
                </a:solidFill>
              </a:rPr>
              <a:t> </a:t>
            </a:r>
            <a:endParaRPr lang="en-US" sz="3200">
              <a:solidFill>
                <a:srgbClr val="FF0000"/>
              </a:solidFill>
            </a:endParaRPr>
          </a:p>
        </p:txBody>
      </p:sp>
      <p:pic>
        <p:nvPicPr>
          <p:cNvPr id="6" name="図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93772" y="2924611"/>
            <a:ext cx="1876687" cy="724001"/>
          </a:xfrm>
          <a:prstGeom prst="rect">
            <a:avLst/>
          </a:prstGeom>
        </p:spPr>
      </p:pic>
      <p:pic>
        <p:nvPicPr>
          <p:cNvPr id="7" name="図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16654" y="3042459"/>
            <a:ext cx="3451539" cy="1717472"/>
          </a:xfrm>
          <a:prstGeom prst="rect">
            <a:avLst/>
          </a:prstGeom>
        </p:spPr>
      </p:pic>
    </p:spTree>
    <p:extLst>
      <p:ext uri="{BB962C8B-B14F-4D97-AF65-F5344CB8AC3E}">
        <p14:creationId xmlns:p14="http://schemas.microsoft.com/office/powerpoint/2010/main" val="2279349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016484"/>
          </a:xfrm>
          <a:prstGeom prst="rect">
            <a:avLst/>
          </a:prstGeom>
          <a:noFill/>
        </p:spPr>
        <p:txBody>
          <a:bodyPr wrap="square" rtlCol="0">
            <a:spAutoFit/>
          </a:bodyPr>
          <a:lstStyle/>
          <a:p>
            <a:pPr algn="just"/>
            <a:r>
              <a:rPr lang="zh-TW" altLang="en-US" sz="3200"/>
              <a:t>伝達関数（𝑧 領域）</a:t>
            </a:r>
            <a:endParaRPr lang="en-US" altLang="zh-TW" sz="3200"/>
          </a:p>
          <a:p>
            <a:pPr algn="just"/>
            <a:r>
              <a:rPr lang="en-US" altLang="ja-JP" sz="1200"/>
              <a:t>Transfer Function (</a:t>
            </a:r>
            <a:r>
              <a:rPr lang="zh-TW" altLang="en-US" sz="1200"/>
              <a:t>𝑧  </a:t>
            </a:r>
            <a:r>
              <a:rPr lang="en-US" altLang="ja-JP" sz="1200"/>
              <a:t>Domain)</a:t>
            </a:r>
            <a:endParaRPr lang="en-US" altLang="ja-JP" sz="1200" b="1">
              <a:latin typeface="+mn-ea"/>
              <a:ea typeface="+mn-ea"/>
              <a:cs typeface="Times New Roman" panose="02020603050405020304" pitchFamily="18" charset="0"/>
            </a:endParaRPr>
          </a:p>
          <a:p>
            <a:pPr algn="just"/>
            <a:endParaRPr lang="en-US" altLang="ja-JP" sz="2800">
              <a:latin typeface="+mn-ea"/>
              <a:ea typeface="+mn-ea"/>
            </a:endParaRPr>
          </a:p>
          <a:p>
            <a:pPr algn="just"/>
            <a:endParaRPr lang="en-US" altLang="ja-JP" sz="2800">
              <a:latin typeface="+mn-ea"/>
              <a:ea typeface="+mn-ea"/>
            </a:endParaRPr>
          </a:p>
          <a:p>
            <a:r>
              <a:rPr lang="en-US" altLang="ja-JP" sz="2800"/>
              <a:t>𝑧</a:t>
            </a:r>
            <a:r>
              <a:rPr lang="en-US" altLang="ja-JP" sz="2800" baseline="30000"/>
              <a:t>−𝑚</a:t>
            </a:r>
            <a:r>
              <a:rPr lang="ja-JP" altLang="ja-JP" sz="2800"/>
              <a:t>： 入力に対する時間</a:t>
            </a:r>
            <a:r>
              <a:rPr lang="en-US" altLang="ja-JP" sz="2800"/>
              <a:t> 𝑚 </a:t>
            </a:r>
            <a:r>
              <a:rPr lang="ja-JP" altLang="ja-JP" sz="2800" err="1"/>
              <a:t>の遅</a:t>
            </a:r>
            <a:r>
              <a:rPr lang="ja-JP" altLang="ja-JP" sz="2800"/>
              <a:t>延子</a:t>
            </a:r>
            <a:r>
              <a:rPr lang="en-US" altLang="ja-JP" sz="2800"/>
              <a:t> "</a:t>
            </a:r>
            <a:r>
              <a:rPr lang="en-US" altLang="ja-JP" sz="2800">
                <a:solidFill>
                  <a:srgbClr val="FF0000"/>
                </a:solidFill>
              </a:rPr>
              <a:t>delay operator</a:t>
            </a:r>
            <a:r>
              <a:rPr lang="en-US" altLang="ja-JP" sz="2800"/>
              <a:t>“</a:t>
            </a:r>
          </a:p>
          <a:p>
            <a:r>
              <a:rPr lang="en-US" altLang="ja-JP" sz="1200">
                <a:latin typeface="Arial" panose="020B0604020202020204" pitchFamily="34" charset="0"/>
                <a:cs typeface="Arial" panose="020B0604020202020204" pitchFamily="34" charset="0"/>
              </a:rPr>
              <a:t>𝑧</a:t>
            </a:r>
            <a:r>
              <a:rPr lang="en-US" altLang="ja-JP" sz="1200" baseline="30000">
                <a:latin typeface="Arial" panose="020B0604020202020204" pitchFamily="34" charset="0"/>
                <a:cs typeface="Arial" panose="020B0604020202020204" pitchFamily="34" charset="0"/>
              </a:rPr>
              <a:t>−𝑚 </a:t>
            </a:r>
            <a:r>
              <a:rPr lang="en-US" altLang="ja-JP" sz="1200">
                <a:latin typeface="Arial" panose="020B0604020202020204" pitchFamily="34" charset="0"/>
                <a:cs typeface="Arial" panose="020B0604020202020204" pitchFamily="34" charset="0"/>
              </a:rPr>
              <a:t>: A </a:t>
            </a:r>
            <a:r>
              <a:rPr lang="en-US" altLang="ja-JP" sz="1200" b="1">
                <a:latin typeface="Arial" panose="020B0604020202020204" pitchFamily="34" charset="0"/>
                <a:cs typeface="Arial" panose="020B0604020202020204" pitchFamily="34" charset="0"/>
              </a:rPr>
              <a:t>delay operator </a:t>
            </a:r>
            <a:r>
              <a:rPr lang="en-US" altLang="ja-JP" sz="1200">
                <a:latin typeface="Arial" panose="020B0604020202020204" pitchFamily="34" charset="0"/>
                <a:cs typeface="Arial" panose="020B0604020202020204" pitchFamily="34" charset="0"/>
              </a:rPr>
              <a:t>of time </a:t>
            </a:r>
            <a:r>
              <a:rPr lang="ja-JP" altLang="en-US" sz="1200">
                <a:latin typeface="Arial" panose="020B0604020202020204" pitchFamily="34" charset="0"/>
                <a:cs typeface="Arial" panose="020B0604020202020204" pitchFamily="34" charset="0"/>
              </a:rPr>
              <a:t>𝑚 </a:t>
            </a:r>
            <a:r>
              <a:rPr lang="en-US" altLang="ja-JP" sz="1200">
                <a:latin typeface="Arial" panose="020B0604020202020204" pitchFamily="34" charset="0"/>
                <a:cs typeface="Arial" panose="020B0604020202020204" pitchFamily="34" charset="0"/>
              </a:rPr>
              <a:t>for the input</a:t>
            </a:r>
          </a:p>
          <a:p>
            <a:endParaRPr lang="ja-JP" altLang="ja-JP"/>
          </a:p>
          <a:p>
            <a:r>
              <a:rPr lang="en-US" altLang="ja-JP"/>
              <a:t>or </a:t>
            </a:r>
            <a:r>
              <a:rPr lang="ja-JP" altLang="ja-JP" sz="2800"/>
              <a:t>遅延演算子． 単なる複素数に見えますが，回転子と同様に， 演算子と見なされます</a:t>
            </a:r>
            <a:endParaRPr lang="en-US" altLang="ja-JP" sz="2800">
              <a:latin typeface="Arial" panose="020B0604020202020204" pitchFamily="34" charset="0"/>
              <a:ea typeface="+mn-ea"/>
              <a:cs typeface="Arial" panose="020B0604020202020204" pitchFamily="34" charset="0"/>
            </a:endParaRPr>
          </a:p>
          <a:p>
            <a:pPr algn="just"/>
            <a:r>
              <a:rPr lang="en-US" altLang="ja-JP" sz="1200"/>
              <a:t>or Delay operator. It looks like a simple complex number, but like the rotator, it is considered an operator</a:t>
            </a:r>
            <a:endParaRPr lang="en-US" altLang="ja-JP" sz="1200">
              <a:latin typeface="Arial" panose="020B0604020202020204" pitchFamily="34" charset="0"/>
              <a:ea typeface="+mn-ea"/>
              <a:cs typeface="Arial" panose="020B0604020202020204" pitchFamily="34" charset="0"/>
            </a:endParaRPr>
          </a:p>
          <a:p>
            <a:pPr algn="just"/>
            <a:endParaRPr lang="en-US" altLang="ja-JP" sz="1200">
              <a:latin typeface="Arial" panose="020B0604020202020204" pitchFamily="34" charset="0"/>
              <a:ea typeface="+mn-ea"/>
              <a:cs typeface="Arial" panose="020B0604020202020204" pitchFamily="34" charset="0"/>
            </a:endParaRPr>
          </a:p>
          <a:p>
            <a:pPr algn="just"/>
            <a:endParaRPr lang="en-US" altLang="ja-JP" sz="1100" b="1">
              <a:latin typeface="+mn-ea"/>
              <a:ea typeface="+mn-ea"/>
              <a:cs typeface="Times New Roman" panose="02020603050405020304" pitchFamily="18"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3114261" y="252943"/>
            <a:ext cx="7911548"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a:solidFill>
                  <a:schemeClr val="tx1"/>
                </a:solidFill>
              </a:rPr>
              <a:t>FIR </a:t>
            </a:r>
            <a:r>
              <a:rPr lang="ja-JP" altLang="en-US" sz="3200">
                <a:solidFill>
                  <a:schemeClr val="tx1"/>
                </a:solidFill>
              </a:rPr>
              <a:t>フィルタの周波数応答</a:t>
            </a:r>
            <a:r>
              <a:rPr lang="en-US" altLang="ja-JP" sz="1100" b="1">
                <a:solidFill>
                  <a:schemeClr val="tx1"/>
                </a:solidFill>
              </a:rPr>
              <a:t>Frequency response of an FIR filter</a:t>
            </a:r>
            <a:r>
              <a:rPr lang="ja-JP" altLang="en-US" sz="3200" b="1">
                <a:solidFill>
                  <a:srgbClr val="FF0000"/>
                </a:solidFill>
              </a:rPr>
              <a:t> </a:t>
            </a:r>
            <a:endParaRPr lang="en-US" sz="3200">
              <a:solidFill>
                <a:srgbClr val="FF0000"/>
              </a:solidFill>
            </a:endParaRPr>
          </a:p>
        </p:txBody>
      </p:sp>
      <p:pic>
        <p:nvPicPr>
          <p:cNvPr id="3" name="図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50159" y="1098079"/>
            <a:ext cx="3810532" cy="2324424"/>
          </a:xfrm>
          <a:prstGeom prst="rect">
            <a:avLst/>
          </a:prstGeom>
        </p:spPr>
      </p:pic>
    </p:spTree>
    <p:extLst>
      <p:ext uri="{BB962C8B-B14F-4D97-AF65-F5344CB8AC3E}">
        <p14:creationId xmlns:p14="http://schemas.microsoft.com/office/powerpoint/2010/main" val="24920177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3724096"/>
          </a:xfrm>
          <a:prstGeom prst="rect">
            <a:avLst/>
          </a:prstGeom>
          <a:noFill/>
        </p:spPr>
        <p:txBody>
          <a:bodyPr wrap="square" rtlCol="0">
            <a:spAutoFit/>
          </a:bodyPr>
          <a:lstStyle/>
          <a:p>
            <a:pPr lvl="0"/>
            <a:endParaRPr lang="en-US" altLang="ja-JP" sz="2800">
              <a:latin typeface="+mn-ea"/>
              <a:ea typeface="+mn-ea"/>
            </a:endParaRPr>
          </a:p>
          <a:p>
            <a:pPr lvl="0"/>
            <a:r>
              <a:rPr lang="en-US" altLang="ja-JP" sz="2800">
                <a:latin typeface="+mn-ea"/>
                <a:ea typeface="+mn-ea"/>
              </a:rPr>
              <a:t>𝑏</a:t>
            </a:r>
            <a:r>
              <a:rPr lang="en-US" altLang="ja-JP" sz="2800" baseline="-25000">
                <a:latin typeface="+mn-ea"/>
                <a:ea typeface="+mn-ea"/>
              </a:rPr>
              <a:t>𝑚</a:t>
            </a:r>
            <a:r>
              <a:rPr lang="ja-JP" altLang="ja-JP" sz="2800">
                <a:latin typeface="+mn-ea"/>
                <a:ea typeface="+mn-ea"/>
              </a:rPr>
              <a:t>： 遅延された入力</a:t>
            </a:r>
            <a:r>
              <a:rPr lang="en-US" altLang="ja-JP" sz="2800">
                <a:latin typeface="+mn-ea"/>
                <a:ea typeface="+mn-ea"/>
              </a:rPr>
              <a:t> 𝑥</a:t>
            </a:r>
            <a:r>
              <a:rPr lang="en-US" altLang="ja-JP" sz="2800" baseline="-25000">
                <a:latin typeface="+mn-ea"/>
                <a:ea typeface="+mn-ea"/>
              </a:rPr>
              <a:t>𝑛−𝑚</a:t>
            </a:r>
            <a:r>
              <a:rPr lang="en-US" altLang="ja-JP" sz="2800">
                <a:latin typeface="+mn-ea"/>
                <a:ea typeface="+mn-ea"/>
              </a:rPr>
              <a:t> </a:t>
            </a:r>
            <a:r>
              <a:rPr lang="ja-JP" altLang="ja-JP" sz="2800">
                <a:latin typeface="+mn-ea"/>
                <a:ea typeface="+mn-ea"/>
              </a:rPr>
              <a:t>に対するフィルタ係数</a:t>
            </a:r>
            <a:r>
              <a:rPr lang="en-US" altLang="ja-JP" sz="2800">
                <a:latin typeface="+mn-ea"/>
                <a:ea typeface="+mn-ea"/>
              </a:rPr>
              <a:t> "filter coefficient"</a:t>
            </a:r>
          </a:p>
          <a:p>
            <a:pPr lvl="0"/>
            <a:r>
              <a:rPr lang="en-US" altLang="ja-JP" sz="1200">
                <a:latin typeface="Arial" panose="020B0604020202020204" pitchFamily="34" charset="0"/>
                <a:cs typeface="Arial" panose="020B0604020202020204" pitchFamily="34" charset="0"/>
              </a:rPr>
              <a:t>𝑏</a:t>
            </a:r>
            <a:r>
              <a:rPr lang="en-US" altLang="ja-JP" sz="1200" baseline="-25000">
                <a:latin typeface="Arial" panose="020B0604020202020204" pitchFamily="34" charset="0"/>
                <a:cs typeface="Arial" panose="020B0604020202020204" pitchFamily="34" charset="0"/>
              </a:rPr>
              <a:t>𝑚 </a:t>
            </a:r>
            <a:r>
              <a:rPr lang="en-US" altLang="ja-JP" sz="1200">
                <a:latin typeface="Arial" panose="020B0604020202020204" pitchFamily="34" charset="0"/>
                <a:cs typeface="Arial" panose="020B0604020202020204" pitchFamily="34" charset="0"/>
              </a:rPr>
              <a:t>: Filter coefficient for the delayed input 𝑥</a:t>
            </a:r>
            <a:r>
              <a:rPr lang="en-US" altLang="ja-JP" sz="1200" baseline="-25000">
                <a:latin typeface="Arial" panose="020B0604020202020204" pitchFamily="34" charset="0"/>
                <a:cs typeface="Arial" panose="020B0604020202020204" pitchFamily="34" charset="0"/>
              </a:rPr>
              <a:t>𝑛−𝑚</a:t>
            </a:r>
            <a:endParaRPr lang="en-US" altLang="ja-JP" sz="1200">
              <a:latin typeface="Arial" panose="020B0604020202020204" pitchFamily="34" charset="0"/>
              <a:cs typeface="Arial" panose="020B0604020202020204" pitchFamily="34" charset="0"/>
            </a:endParaRPr>
          </a:p>
          <a:p>
            <a:pPr lvl="0"/>
            <a:endParaRPr lang="ja-JP" altLang="ja-JP" sz="1200">
              <a:latin typeface="Arial" panose="020B0604020202020204" pitchFamily="34" charset="0"/>
              <a:cs typeface="Arial" panose="020B0604020202020204" pitchFamily="34" charset="0"/>
            </a:endParaRPr>
          </a:p>
          <a:p>
            <a:r>
              <a:rPr lang="ja-JP" altLang="ja-JP" sz="2800"/>
              <a:t>伝達関数と云いつつ</a:t>
            </a:r>
            <a:r>
              <a:rPr lang="en-US" altLang="ja-JP" sz="2800"/>
              <a:t> 𝑧 </a:t>
            </a:r>
            <a:r>
              <a:rPr lang="ja-JP" altLang="ja-JP" sz="2800"/>
              <a:t>領域では，周波数応答だけでなく，時間応答も表現している？</a:t>
            </a:r>
            <a:endParaRPr lang="ja-JP" altLang="ja-JP" sz="2800">
              <a:latin typeface="Arial" panose="020B0604020202020204" pitchFamily="34" charset="0"/>
              <a:cs typeface="Arial" panose="020B0604020202020204" pitchFamily="34" charset="0"/>
            </a:endParaRPr>
          </a:p>
          <a:p>
            <a:pPr algn="just"/>
            <a:r>
              <a:rPr lang="en-US" altLang="ja-JP" sz="1200">
                <a:latin typeface="Arial" panose="020B0604020202020204" pitchFamily="34" charset="0"/>
                <a:cs typeface="Arial" panose="020B0604020202020204" pitchFamily="34" charset="0"/>
              </a:rPr>
              <a:t>Although it is called a transfer function, in the </a:t>
            </a:r>
            <a:r>
              <a:rPr lang="ja-JP" altLang="en-US" sz="1200">
                <a:latin typeface="Arial" panose="020B0604020202020204" pitchFamily="34" charset="0"/>
                <a:cs typeface="Arial" panose="020B0604020202020204" pitchFamily="34" charset="0"/>
              </a:rPr>
              <a:t>𝑧 </a:t>
            </a:r>
            <a:r>
              <a:rPr lang="en-US" altLang="ja-JP" sz="1200">
                <a:latin typeface="Arial" panose="020B0604020202020204" pitchFamily="34" charset="0"/>
                <a:cs typeface="Arial" panose="020B0604020202020204" pitchFamily="34" charset="0"/>
              </a:rPr>
              <a:t>domain, does it express not only the frequency response but also the</a:t>
            </a:r>
          </a:p>
          <a:p>
            <a:pPr algn="just"/>
            <a:r>
              <a:rPr lang="en-US" altLang="ja-JP" sz="1200">
                <a:latin typeface="Arial" panose="020B0604020202020204" pitchFamily="34" charset="0"/>
                <a:cs typeface="Arial" panose="020B0604020202020204" pitchFamily="34" charset="0"/>
              </a:rPr>
              <a:t> time response</a:t>
            </a:r>
          </a:p>
          <a:p>
            <a:pPr algn="just"/>
            <a:endParaRPr lang="en-US" altLang="ja-JP" sz="1200" b="1">
              <a:latin typeface="Arial" panose="020B0604020202020204" pitchFamily="34" charset="0"/>
              <a:ea typeface="+mn-ea"/>
              <a:cs typeface="Arial" panose="020B0604020202020204" pitchFamily="34" charset="0"/>
            </a:endParaRPr>
          </a:p>
          <a:p>
            <a:pPr algn="just"/>
            <a:r>
              <a:rPr lang="ja-JP" altLang="en-US" sz="2800">
                <a:latin typeface="+mn-ea"/>
                <a:ea typeface="+mn-ea"/>
                <a:cs typeface="Arial" panose="020B0604020202020204" pitchFamily="34" charset="0"/>
              </a:rPr>
              <a:t>伝達関数の図式表現：ブロック図 </a:t>
            </a:r>
            <a:r>
              <a:rPr lang="en-US" altLang="ja-JP" sz="2800">
                <a:latin typeface="+mn-ea"/>
                <a:ea typeface="+mn-ea"/>
                <a:cs typeface="Arial" panose="020B0604020202020204" pitchFamily="34" charset="0"/>
              </a:rPr>
              <a:t>"block diagram“</a:t>
            </a:r>
          </a:p>
          <a:p>
            <a:pPr algn="just"/>
            <a:r>
              <a:rPr lang="en-US" altLang="ja-JP" sz="1200"/>
              <a:t>Diagrammatic representation of transfer function: Block diagram "block diagram“</a:t>
            </a:r>
          </a:p>
          <a:p>
            <a:pPr algn="just"/>
            <a:endParaRPr lang="en-US" altLang="ja-JP" sz="1200">
              <a:latin typeface="+mn-ea"/>
              <a:ea typeface="+mn-ea"/>
              <a:cs typeface="Arial" panose="020B0604020202020204" pitchFamily="34" charset="0"/>
            </a:endParaRPr>
          </a:p>
          <a:p>
            <a:pPr algn="just"/>
            <a:endParaRPr lang="en-US" altLang="ja-JP" sz="1200">
              <a:latin typeface="+mn-ea"/>
              <a:ea typeface="+mn-ea"/>
              <a:cs typeface="Arial" panose="020B0604020202020204" pitchFamily="34"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3114261" y="252943"/>
            <a:ext cx="7911548"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a:solidFill>
                  <a:schemeClr val="tx1"/>
                </a:solidFill>
              </a:rPr>
              <a:t>FIR </a:t>
            </a:r>
            <a:r>
              <a:rPr lang="ja-JP" altLang="en-US" sz="3200">
                <a:solidFill>
                  <a:schemeClr val="tx1"/>
                </a:solidFill>
              </a:rPr>
              <a:t>フィルタの周波数応答</a:t>
            </a:r>
            <a:r>
              <a:rPr lang="en-US" altLang="ja-JP" sz="1100" b="1">
                <a:solidFill>
                  <a:schemeClr val="tx1"/>
                </a:solidFill>
              </a:rPr>
              <a:t>Frequency response of an FIR filter</a:t>
            </a:r>
            <a:r>
              <a:rPr lang="ja-JP" altLang="en-US" sz="3200" b="1">
                <a:solidFill>
                  <a:srgbClr val="FF0000"/>
                </a:solidFill>
              </a:rPr>
              <a:t> </a:t>
            </a:r>
            <a:endParaRPr lang="en-US" sz="3200">
              <a:solidFill>
                <a:srgbClr val="FF0000"/>
              </a:solidFill>
            </a:endParaRPr>
          </a:p>
        </p:txBody>
      </p:sp>
      <p:pic>
        <p:nvPicPr>
          <p:cNvPr id="13" name="図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77056" y="4076217"/>
            <a:ext cx="3470910" cy="2117254"/>
          </a:xfrm>
          <a:prstGeom prst="rect">
            <a:avLst/>
          </a:prstGeom>
        </p:spPr>
      </p:pic>
      <p:pic>
        <p:nvPicPr>
          <p:cNvPr id="3" name="Picture 2">
            <a:extLst>
              <a:ext uri="{FF2B5EF4-FFF2-40B4-BE49-F238E27FC236}">
                <a16:creationId xmlns:a16="http://schemas.microsoft.com/office/drawing/2014/main" id="{68D5D758-6631-F7BA-B544-4D5933446E84}"/>
              </a:ext>
            </a:extLst>
          </p:cNvPr>
          <p:cNvPicPr>
            <a:picLocks noChangeAspect="1"/>
          </p:cNvPicPr>
          <p:nvPr/>
        </p:nvPicPr>
        <p:blipFill>
          <a:blip r:embed="rId6"/>
          <a:stretch>
            <a:fillRect/>
          </a:stretch>
        </p:blipFill>
        <p:spPr>
          <a:xfrm>
            <a:off x="8671366" y="1077479"/>
            <a:ext cx="3192974" cy="1421530"/>
          </a:xfrm>
          <a:prstGeom prst="rect">
            <a:avLst/>
          </a:prstGeom>
        </p:spPr>
      </p:pic>
    </p:spTree>
    <p:extLst>
      <p:ext uri="{BB962C8B-B14F-4D97-AF65-F5344CB8AC3E}">
        <p14:creationId xmlns:p14="http://schemas.microsoft.com/office/powerpoint/2010/main" val="10434433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216539"/>
          </a:xfrm>
          <a:prstGeom prst="rect">
            <a:avLst/>
          </a:prstGeom>
          <a:noFill/>
        </p:spPr>
        <p:txBody>
          <a:bodyPr wrap="square" rtlCol="0">
            <a:spAutoFit/>
          </a:bodyPr>
          <a:lstStyle/>
          <a:p>
            <a:r>
              <a:rPr lang="ja-JP" altLang="ja-JP" sz="2800"/>
              <a:t>遅延素子</a:t>
            </a:r>
            <a:r>
              <a:rPr lang="en-US" altLang="ja-JP" sz="2800"/>
              <a:t> "delay element"</a:t>
            </a:r>
            <a:r>
              <a:rPr lang="ja-JP" altLang="ja-JP" sz="2800"/>
              <a:t>：</a:t>
            </a:r>
            <a:r>
              <a:rPr lang="en-US" altLang="ja-JP" sz="2800"/>
              <a:t> 𝑧</a:t>
            </a:r>
            <a:r>
              <a:rPr lang="en-US" altLang="ja-JP" sz="2800" baseline="30000"/>
              <a:t>−1</a:t>
            </a:r>
            <a:r>
              <a:rPr lang="en-US" altLang="ja-JP" sz="2800"/>
              <a:t> </a:t>
            </a:r>
            <a:r>
              <a:rPr lang="ja-JP" altLang="ja-JP" sz="2800"/>
              <a:t>は，現在の入力</a:t>
            </a:r>
            <a:r>
              <a:rPr lang="en-US" altLang="ja-JP" sz="2800"/>
              <a:t> 𝑥</a:t>
            </a:r>
            <a:r>
              <a:rPr lang="en-US" altLang="ja-JP" sz="2800" baseline="-25000"/>
              <a:t>𝑛</a:t>
            </a:r>
            <a:r>
              <a:rPr lang="en-US" altLang="ja-JP" sz="2800"/>
              <a:t> </a:t>
            </a:r>
            <a:r>
              <a:rPr lang="ja-JP" altLang="ja-JP" sz="2800"/>
              <a:t>に対して， 過去の入力</a:t>
            </a:r>
            <a:r>
              <a:rPr lang="en-US" altLang="ja-JP" sz="2800"/>
              <a:t> 𝑥</a:t>
            </a:r>
            <a:r>
              <a:rPr lang="en-US" altLang="ja-JP" sz="2800" baseline="-25000"/>
              <a:t>𝑛−1</a:t>
            </a:r>
            <a:r>
              <a:rPr lang="en-US" altLang="ja-JP" sz="2800"/>
              <a:t> </a:t>
            </a:r>
            <a:r>
              <a:rPr lang="ja-JP" altLang="ja-JP" sz="2800"/>
              <a:t>を出力</a:t>
            </a:r>
            <a:endParaRPr lang="en-US" altLang="ja-JP" sz="2800"/>
          </a:p>
          <a:p>
            <a:r>
              <a:rPr lang="en-US" altLang="ja-JP" sz="1200">
                <a:latin typeface="Arial" panose="020B0604020202020204" pitchFamily="34" charset="0"/>
                <a:cs typeface="Arial" panose="020B0604020202020204" pitchFamily="34" charset="0"/>
              </a:rPr>
              <a:t>The delay element </a:t>
            </a:r>
            <a:r>
              <a:rPr lang="ja-JP" altLang="en-US" sz="1200">
                <a:latin typeface="Arial" panose="020B0604020202020204" pitchFamily="34" charset="0"/>
                <a:cs typeface="Arial" panose="020B0604020202020204" pitchFamily="34" charset="0"/>
              </a:rPr>
              <a:t>𝑧−</a:t>
            </a:r>
            <a:r>
              <a:rPr lang="en-US" altLang="ja-JP" sz="1200">
                <a:latin typeface="Arial" panose="020B0604020202020204" pitchFamily="34" charset="0"/>
                <a:cs typeface="Arial" panose="020B0604020202020204" pitchFamily="34" charset="0"/>
              </a:rPr>
              <a:t>1 outputs the past input </a:t>
            </a:r>
            <a:r>
              <a:rPr lang="ja-JP" altLang="en-US" sz="1200">
                <a:latin typeface="Arial" panose="020B0604020202020204" pitchFamily="34" charset="0"/>
                <a:cs typeface="Arial" panose="020B0604020202020204" pitchFamily="34" charset="0"/>
              </a:rPr>
              <a:t>𝑥𝑛−</a:t>
            </a:r>
            <a:r>
              <a:rPr lang="en-US" altLang="ja-JP" sz="1200">
                <a:latin typeface="Arial" panose="020B0604020202020204" pitchFamily="34" charset="0"/>
                <a:cs typeface="Arial" panose="020B0604020202020204" pitchFamily="34" charset="0"/>
              </a:rPr>
              <a:t>1 for the current input </a:t>
            </a:r>
            <a:r>
              <a:rPr lang="ja-JP" altLang="en-US" sz="1200">
                <a:latin typeface="Arial" panose="020B0604020202020204" pitchFamily="34" charset="0"/>
                <a:cs typeface="Arial" panose="020B0604020202020204" pitchFamily="34" charset="0"/>
              </a:rPr>
              <a:t>𝑥𝑛</a:t>
            </a:r>
            <a:endParaRPr lang="ja-JP" altLang="ja-JP" sz="1200">
              <a:latin typeface="Arial" panose="020B0604020202020204" pitchFamily="34" charset="0"/>
              <a:cs typeface="Arial" panose="020B0604020202020204" pitchFamily="34" charset="0"/>
            </a:endParaRPr>
          </a:p>
          <a:p>
            <a:r>
              <a:rPr lang="ja-JP" altLang="ja-JP" sz="2800"/>
              <a:t>メモリみたいなものですね． 過去の入力を１個しか保存できませんが</a:t>
            </a:r>
            <a:endParaRPr lang="en-US" altLang="ja-JP" sz="2800"/>
          </a:p>
          <a:p>
            <a:r>
              <a:rPr lang="en-US" altLang="ja-JP" sz="1200"/>
              <a:t>It's like a memory. It can only store one past input</a:t>
            </a:r>
          </a:p>
          <a:p>
            <a:endParaRPr lang="en-US" altLang="ja-JP" sz="1200"/>
          </a:p>
          <a:p>
            <a:pPr lvl="0"/>
            <a:r>
              <a:rPr lang="ja-JP" altLang="ja-JP" sz="2800">
                <a:latin typeface="+mn-ea"/>
                <a:ea typeface="+mn-ea"/>
              </a:rPr>
              <a:t>乗算器</a:t>
            </a:r>
            <a:r>
              <a:rPr lang="en-US" altLang="ja-JP" sz="2800">
                <a:latin typeface="+mn-ea"/>
                <a:ea typeface="+mn-ea"/>
              </a:rPr>
              <a:t> "multiplier"</a:t>
            </a:r>
            <a:r>
              <a:rPr lang="ja-JP" altLang="ja-JP" sz="2800">
                <a:latin typeface="+mn-ea"/>
                <a:ea typeface="+mn-ea"/>
              </a:rPr>
              <a:t>： 入力を</a:t>
            </a:r>
            <a:r>
              <a:rPr lang="en-US" altLang="ja-JP" sz="2800">
                <a:latin typeface="+mn-ea"/>
                <a:ea typeface="+mn-ea"/>
              </a:rPr>
              <a:t> 𝑏</a:t>
            </a:r>
            <a:r>
              <a:rPr lang="en-US" altLang="ja-JP" sz="2800" baseline="-25000">
                <a:latin typeface="+mn-ea"/>
                <a:ea typeface="+mn-ea"/>
              </a:rPr>
              <a:t>𝑚</a:t>
            </a:r>
            <a:r>
              <a:rPr lang="en-US" altLang="ja-JP" sz="2800">
                <a:latin typeface="+mn-ea"/>
                <a:ea typeface="+mn-ea"/>
              </a:rPr>
              <a:t> </a:t>
            </a:r>
            <a:r>
              <a:rPr lang="ja-JP" altLang="ja-JP" sz="2800">
                <a:latin typeface="+mn-ea"/>
                <a:ea typeface="+mn-ea"/>
              </a:rPr>
              <a:t>倍して</a:t>
            </a:r>
            <a:r>
              <a:rPr lang="ja-JP" altLang="ja-JP" sz="2800">
                <a:latin typeface="+mn-ea"/>
                <a:ea typeface="+mn-ea"/>
                <a:cs typeface="Arial" panose="020B0604020202020204" pitchFamily="34" charset="0"/>
              </a:rPr>
              <a:t>出力</a:t>
            </a:r>
            <a:r>
              <a:rPr lang="en-US" altLang="ja-JP" sz="2800">
                <a:latin typeface="+mn-ea"/>
                <a:ea typeface="+mn-ea"/>
                <a:cs typeface="Arial" panose="020B0604020202020204" pitchFamily="34" charset="0"/>
              </a:rPr>
              <a:t> </a:t>
            </a:r>
          </a:p>
          <a:p>
            <a:pPr lvl="0"/>
            <a:r>
              <a:rPr lang="en-US" altLang="ja-JP" sz="1200">
                <a:latin typeface="Arial" panose="020B0604020202020204" pitchFamily="34" charset="0"/>
                <a:cs typeface="Arial" panose="020B0604020202020204" pitchFamily="34" charset="0"/>
              </a:rPr>
              <a:t>Multiplier: Multiplies the input by </a:t>
            </a:r>
            <a:r>
              <a:rPr lang="ja-JP" altLang="en-US" sz="1200">
                <a:latin typeface="Arial" panose="020B0604020202020204" pitchFamily="34" charset="0"/>
                <a:cs typeface="Arial" panose="020B0604020202020204" pitchFamily="34" charset="0"/>
              </a:rPr>
              <a:t>𝑏𝑚 </a:t>
            </a:r>
            <a:r>
              <a:rPr lang="en-US" altLang="ja-JP" sz="1200">
                <a:latin typeface="Arial" panose="020B0604020202020204" pitchFamily="34" charset="0"/>
                <a:cs typeface="Arial" panose="020B0604020202020204" pitchFamily="34" charset="0"/>
              </a:rPr>
              <a:t>and outputs it</a:t>
            </a:r>
            <a:endParaRPr lang="ja-JP" altLang="ja-JP" sz="1200">
              <a:latin typeface="Arial" panose="020B0604020202020204" pitchFamily="34" charset="0"/>
              <a:ea typeface="+mn-ea"/>
              <a:cs typeface="Arial" panose="020B0604020202020204" pitchFamily="34" charset="0"/>
            </a:endParaRPr>
          </a:p>
          <a:p>
            <a:pPr lvl="0"/>
            <a:r>
              <a:rPr lang="ja-JP" altLang="ja-JP" sz="2800">
                <a:latin typeface="+mn-ea"/>
                <a:ea typeface="+mn-ea"/>
              </a:rPr>
              <a:t>加算器</a:t>
            </a:r>
            <a:r>
              <a:rPr lang="en-US" altLang="ja-JP" sz="2800">
                <a:latin typeface="+mn-ea"/>
                <a:ea typeface="+mn-ea"/>
              </a:rPr>
              <a:t> "adder"</a:t>
            </a:r>
            <a:r>
              <a:rPr lang="ja-JP" altLang="ja-JP" sz="2800">
                <a:latin typeface="+mn-ea"/>
                <a:ea typeface="+mn-ea"/>
              </a:rPr>
              <a:t>： 複数の入力を合計し出力</a:t>
            </a:r>
            <a:endParaRPr lang="en-US" altLang="ja-JP" sz="2800">
              <a:latin typeface="+mn-ea"/>
              <a:ea typeface="+mn-ea"/>
            </a:endParaRPr>
          </a:p>
          <a:p>
            <a:pPr lvl="0"/>
            <a:r>
              <a:rPr lang="en-US" altLang="ja-JP" sz="1200">
                <a:latin typeface="Arial" panose="020B0604020202020204" pitchFamily="34" charset="0"/>
                <a:cs typeface="Arial" panose="020B0604020202020204" pitchFamily="34" charset="0"/>
              </a:rPr>
              <a:t>Adder: Adds multiple inputs and outputs them</a:t>
            </a:r>
            <a:endParaRPr lang="ja-JP" altLang="ja-JP" sz="1200">
              <a:latin typeface="Arial" panose="020B0604020202020204" pitchFamily="34" charset="0"/>
              <a:ea typeface="+mn-ea"/>
              <a:cs typeface="Arial" panose="020B0604020202020204" pitchFamily="34" charset="0"/>
            </a:endParaRPr>
          </a:p>
          <a:p>
            <a:r>
              <a:rPr lang="ja-JP" altLang="ja-JP" sz="2800">
                <a:latin typeface="+mn-ea"/>
                <a:ea typeface="+mn-ea"/>
              </a:rPr>
              <a:t>ブロック図では，</a:t>
            </a:r>
            <a:r>
              <a:rPr lang="en-US" altLang="ja-JP" sz="2800">
                <a:latin typeface="+mn-ea"/>
                <a:ea typeface="+mn-ea"/>
              </a:rPr>
              <a:t>Z </a:t>
            </a:r>
            <a:r>
              <a:rPr lang="ja-JP" altLang="ja-JP" sz="2800">
                <a:latin typeface="+mn-ea"/>
                <a:ea typeface="+mn-ea"/>
              </a:rPr>
              <a:t>変換のフィルタと時間領域の信号とが混在</a:t>
            </a:r>
          </a:p>
          <a:p>
            <a:r>
              <a:rPr lang="en-US" altLang="ja-JP" sz="1200">
                <a:latin typeface="Arial" panose="020B0604020202020204" pitchFamily="34" charset="0"/>
                <a:cs typeface="Arial" panose="020B0604020202020204" pitchFamily="34" charset="0"/>
              </a:rPr>
              <a:t>The block diagram shows a mixture of Z-transform filters and time-domain signals</a:t>
            </a:r>
            <a:endParaRPr lang="ja-JP" altLang="ja-JP" sz="1200">
              <a:latin typeface="Arial" panose="020B0604020202020204" pitchFamily="34" charset="0"/>
              <a:cs typeface="Arial" panose="020B0604020202020204" pitchFamily="34" charset="0"/>
            </a:endParaRPr>
          </a:p>
          <a:p>
            <a:endParaRPr lang="ja-JP" altLang="ja-JP" sz="2800"/>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3114261" y="252943"/>
            <a:ext cx="7911548"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a:solidFill>
                  <a:schemeClr val="tx1"/>
                </a:solidFill>
              </a:rPr>
              <a:t>FIR </a:t>
            </a:r>
            <a:r>
              <a:rPr lang="ja-JP" altLang="en-US" sz="3200">
                <a:solidFill>
                  <a:schemeClr val="tx1"/>
                </a:solidFill>
              </a:rPr>
              <a:t>フィルタの周波数応答</a:t>
            </a:r>
            <a:r>
              <a:rPr lang="en-US" altLang="ja-JP" sz="1100" b="1">
                <a:solidFill>
                  <a:schemeClr val="tx1"/>
                </a:solidFill>
              </a:rPr>
              <a:t>Frequency response of an FIR filter</a:t>
            </a:r>
            <a:r>
              <a:rPr lang="ja-JP" altLang="en-US" sz="3200" b="1">
                <a:solidFill>
                  <a:srgbClr val="FF0000"/>
                </a:solidFill>
              </a:rPr>
              <a:t> </a:t>
            </a:r>
            <a:endParaRPr lang="en-US" sz="3200">
              <a:solidFill>
                <a:srgbClr val="FF0000"/>
              </a:solidFill>
            </a:endParaRPr>
          </a:p>
        </p:txBody>
      </p:sp>
      <p:pic>
        <p:nvPicPr>
          <p:cNvPr id="13" name="図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35220" y="4440542"/>
            <a:ext cx="2873654" cy="1752929"/>
          </a:xfrm>
          <a:prstGeom prst="rect">
            <a:avLst/>
          </a:prstGeom>
        </p:spPr>
      </p:pic>
    </p:spTree>
    <p:extLst>
      <p:ext uri="{BB962C8B-B14F-4D97-AF65-F5344CB8AC3E}">
        <p14:creationId xmlns:p14="http://schemas.microsoft.com/office/powerpoint/2010/main" val="3470427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2492990"/>
          </a:xfrm>
          <a:prstGeom prst="rect">
            <a:avLst/>
          </a:prstGeom>
          <a:noFill/>
        </p:spPr>
        <p:txBody>
          <a:bodyPr wrap="square" rtlCol="0">
            <a:spAutoFit/>
          </a:bodyPr>
          <a:lstStyle/>
          <a:p>
            <a:r>
              <a:rPr lang="zh-TW" altLang="en-US" sz="2800"/>
              <a:t>伝達関数（周波数領域）</a:t>
            </a:r>
            <a:r>
              <a:rPr lang="en-US" altLang="zh-TW" sz="2800"/>
              <a:t>:</a:t>
            </a:r>
          </a:p>
          <a:p>
            <a:r>
              <a:rPr lang="en-US" altLang="ja-JP" sz="1200"/>
              <a:t>Transfer Function (Frequency Domain)</a:t>
            </a:r>
          </a:p>
          <a:p>
            <a:endParaRPr lang="en-US" altLang="ja-JP" sz="1200"/>
          </a:p>
          <a:p>
            <a:endParaRPr lang="en-US" altLang="ja-JP" sz="1200"/>
          </a:p>
          <a:p>
            <a:r>
              <a:rPr lang="en-US" altLang="ja-JP" sz="2800">
                <a:latin typeface="+mn-ea"/>
                <a:ea typeface="+mn-ea"/>
              </a:rPr>
              <a:t>FIR </a:t>
            </a:r>
            <a:r>
              <a:rPr lang="ja-JP" altLang="en-US" sz="2800">
                <a:latin typeface="+mn-ea"/>
                <a:ea typeface="+mn-ea"/>
              </a:rPr>
              <a:t>の場合，伝達関数の変数変換（</a:t>
            </a:r>
            <a:r>
              <a:rPr lang="en-US" altLang="ja-JP" sz="2800">
                <a:latin typeface="+mn-ea"/>
                <a:ea typeface="+mn-ea"/>
              </a:rPr>
              <a:t>Z → </a:t>
            </a:r>
            <a:r>
              <a:rPr lang="ja-JP" altLang="en-US" sz="2800">
                <a:latin typeface="+mn-ea"/>
                <a:ea typeface="+mn-ea"/>
              </a:rPr>
              <a:t>周波数領域）は単純に， 𝑧 を </a:t>
            </a:r>
            <a:r>
              <a:rPr lang="en-US" altLang="ja-JP" sz="2800" err="1">
                <a:latin typeface="+mn-ea"/>
                <a:ea typeface="+mn-ea"/>
              </a:rPr>
              <a:t>exp</a:t>
            </a:r>
            <a:r>
              <a:rPr lang="en-US" altLang="ja-JP" sz="2800">
                <a:latin typeface="+mn-ea"/>
                <a:ea typeface="+mn-ea"/>
              </a:rPr>
              <a:t>⁡⋯</a:t>
            </a:r>
            <a:r>
              <a:rPr lang="ja-JP" altLang="en-US" sz="2800">
                <a:latin typeface="+mn-ea"/>
                <a:ea typeface="+mn-ea"/>
              </a:rPr>
              <a:t> へ置き換えるだけで </a:t>
            </a:r>
            <a:r>
              <a:rPr lang="en-US" altLang="ja-JP" sz="2800">
                <a:latin typeface="+mn-ea"/>
                <a:ea typeface="+mn-ea"/>
              </a:rPr>
              <a:t>OK</a:t>
            </a:r>
            <a:r>
              <a:rPr lang="ja-JP" altLang="en-US" sz="2800" err="1">
                <a:latin typeface="+mn-ea"/>
                <a:ea typeface="+mn-ea"/>
              </a:rPr>
              <a:t>．</a:t>
            </a:r>
            <a:r>
              <a:rPr lang="ja-JP" altLang="en-US" sz="2800">
                <a:latin typeface="+mn-ea"/>
                <a:ea typeface="+mn-ea"/>
              </a:rPr>
              <a:t> 次回の </a:t>
            </a:r>
            <a:r>
              <a:rPr lang="en-US" altLang="ja-JP" sz="2800">
                <a:latin typeface="+mn-ea"/>
                <a:ea typeface="+mn-ea"/>
              </a:rPr>
              <a:t>IIR </a:t>
            </a:r>
            <a:r>
              <a:rPr lang="ja-JP" altLang="en-US" sz="2800">
                <a:latin typeface="+mn-ea"/>
                <a:ea typeface="+mn-ea"/>
              </a:rPr>
              <a:t>の場合，単純ではない</a:t>
            </a:r>
            <a:endParaRPr lang="en-US" altLang="ja-JP" sz="2800">
              <a:latin typeface="+mn-ea"/>
              <a:ea typeface="+mn-ea"/>
            </a:endParaRPr>
          </a:p>
          <a:p>
            <a:endParaRPr lang="en-US" altLang="ja-JP" sz="1200"/>
          </a:p>
          <a:p>
            <a:r>
              <a:rPr lang="en-US" altLang="ja-JP" sz="1200"/>
              <a:t>In the case of FIR, the variable transformation of the transfer function (Z → frequency domain) is simply to replace </a:t>
            </a:r>
            <a:r>
              <a:rPr lang="ja-JP" altLang="en-US" sz="1200"/>
              <a:t>𝑧 </a:t>
            </a:r>
            <a:r>
              <a:rPr lang="en-US" altLang="ja-JP" sz="1200"/>
              <a:t>with </a:t>
            </a:r>
            <a:r>
              <a:rPr lang="en-US" altLang="ja-JP" sz="1200" err="1"/>
              <a:t>exp</a:t>
            </a:r>
            <a:r>
              <a:rPr lang="en-US" altLang="ja-JP" sz="1200"/>
              <a:t> ... </a:t>
            </a:r>
          </a:p>
          <a:p>
            <a:r>
              <a:rPr lang="en-US" altLang="ja-JP" sz="1200"/>
              <a:t>In the case of IIR, it is not so simple</a:t>
            </a:r>
            <a:endParaRPr lang="ja-JP" altLang="ja-JP" sz="1200"/>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3114261" y="252943"/>
            <a:ext cx="7911548"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a:solidFill>
                  <a:schemeClr val="tx1"/>
                </a:solidFill>
              </a:rPr>
              <a:t>FIR </a:t>
            </a:r>
            <a:r>
              <a:rPr lang="ja-JP" altLang="en-US" sz="3200">
                <a:solidFill>
                  <a:schemeClr val="tx1"/>
                </a:solidFill>
              </a:rPr>
              <a:t>フィルタの周波数応答</a:t>
            </a:r>
            <a:r>
              <a:rPr lang="en-US" altLang="ja-JP" sz="1100" b="1">
                <a:solidFill>
                  <a:schemeClr val="tx1"/>
                </a:solidFill>
              </a:rPr>
              <a:t>Frequency response of an FIR filter</a:t>
            </a:r>
            <a:r>
              <a:rPr lang="ja-JP" altLang="en-US" sz="3200" b="1">
                <a:solidFill>
                  <a:srgbClr val="FF0000"/>
                </a:solidFill>
              </a:rPr>
              <a:t> </a:t>
            </a:r>
            <a:endParaRPr lang="en-US" sz="3200">
              <a:solidFill>
                <a:srgbClr val="FF0000"/>
              </a:solidFill>
            </a:endParaRPr>
          </a:p>
        </p:txBody>
      </p:sp>
      <p:pic>
        <p:nvPicPr>
          <p:cNvPr id="3" name="図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74031" y="1890307"/>
            <a:ext cx="2896004" cy="752580"/>
          </a:xfrm>
          <a:prstGeom prst="rect">
            <a:avLst/>
          </a:prstGeom>
        </p:spPr>
      </p:pic>
      <p:pic>
        <p:nvPicPr>
          <p:cNvPr id="6" name="図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18568" y="3543328"/>
            <a:ext cx="2685014" cy="2650143"/>
          </a:xfrm>
          <a:prstGeom prst="rect">
            <a:avLst/>
          </a:prstGeom>
        </p:spPr>
      </p:pic>
    </p:spTree>
    <p:extLst>
      <p:ext uri="{BB962C8B-B14F-4D97-AF65-F5344CB8AC3E}">
        <p14:creationId xmlns:p14="http://schemas.microsoft.com/office/powerpoint/2010/main" val="32537789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397422"/>
              </a:xfrm>
              <a:prstGeom prst="rect">
                <a:avLst/>
              </a:prstGeom>
              <a:noFill/>
            </p:spPr>
            <p:txBody>
              <a:bodyPr wrap="square" rtlCol="0">
                <a:spAutoFit/>
              </a:bodyPr>
              <a:lstStyle/>
              <a:p>
                <a:endParaRPr lang="en-US" altLang="ja-JP" sz="1200"/>
              </a:p>
              <a:p>
                <a:endParaRPr lang="en-US" altLang="ja-JP" sz="2800"/>
              </a:p>
              <a:p>
                <a:r>
                  <a:rPr lang="ja-JP" altLang="en-US" sz="2800"/>
                  <a:t>図示してみれば，まあ，低域通過フィルタ（</a:t>
                </a:r>
                <a:r>
                  <a:rPr lang="en-US" altLang="ja-JP" sz="2800"/>
                  <a:t>LPF</a:t>
                </a:r>
                <a:r>
                  <a:rPr lang="ja-JP" altLang="en-US" sz="2800"/>
                  <a:t>）と云えるでしょう</a:t>
                </a:r>
                <a:endParaRPr lang="en-US" altLang="ja-JP" sz="1200"/>
              </a:p>
              <a:p>
                <a:r>
                  <a:rPr lang="en-US" altLang="ja-JP" sz="1200"/>
                  <a:t>If we draw it graphically, we can say that it is a low-pass filter (LPF)</a:t>
                </a:r>
              </a:p>
              <a:p>
                <a:endParaRPr lang="en-US" altLang="ja-JP" sz="1200"/>
              </a:p>
              <a:p>
                <a:endParaRPr lang="en-US" altLang="ja-JP" sz="1200"/>
              </a:p>
              <a:p>
                <a:r>
                  <a:rPr lang="ja-JP" altLang="ja-JP" sz="2800"/>
                  <a:t>なお，グラフは周波数番号</a:t>
                </a:r>
                <a:r>
                  <a:rPr lang="en-US" altLang="ja-JP" sz="2800"/>
                  <a:t> 𝑘=𝑁/2 </a:t>
                </a:r>
                <a:r>
                  <a:rPr lang="ja-JP" altLang="ja-JP" sz="2800"/>
                  <a:t>を中心として対称形で， 右半分（高域側）も極大となっているので，</a:t>
                </a:r>
                <a:r>
                  <a:rPr lang="en-US" altLang="ja-JP" sz="2800"/>
                  <a:t> BEF </a:t>
                </a:r>
                <a:r>
                  <a:rPr lang="ja-JP" altLang="ja-JP" sz="2800" err="1"/>
                  <a:t>のようにも</a:t>
                </a:r>
                <a:r>
                  <a:rPr lang="ja-JP" altLang="ja-JP" sz="2800"/>
                  <a:t>見えますね． しかし，右半分は高域ではなく， 負の周波数の折返しなので無視するんですよ</a:t>
                </a:r>
                <a:endParaRPr lang="en-US" altLang="ja-JP" sz="2800"/>
              </a:p>
              <a:p>
                <a:r>
                  <a:rPr lang="en-US" altLang="ja-JP" sz="1200">
                    <a:latin typeface="Arial" panose="020B0604020202020204" pitchFamily="34" charset="0"/>
                    <a:cs typeface="Arial" panose="020B0604020202020204" pitchFamily="34" charset="0"/>
                  </a:rPr>
                  <a:t>The graph is symmetrical around the frequency number </a:t>
                </a:r>
                <a:r>
                  <a:rPr lang="ja-JP" altLang="en-US" sz="1200">
                    <a:latin typeface="Arial" panose="020B0604020202020204" pitchFamily="34" charset="0"/>
                    <a:cs typeface="Arial" panose="020B0604020202020204" pitchFamily="34" charset="0"/>
                  </a:rPr>
                  <a:t>𝑘 </a:t>
                </a:r>
                <a:r>
                  <a:rPr lang="en-US" altLang="ja-JP" sz="1200">
                    <a:latin typeface="Arial" panose="020B0604020202020204" pitchFamily="34" charset="0"/>
                    <a:cs typeface="Arial" panose="020B0604020202020204" pitchFamily="34" charset="0"/>
                  </a:rPr>
                  <a:t>= </a:t>
                </a:r>
                <a:r>
                  <a:rPr lang="ja-JP" altLang="en-US" sz="1200">
                    <a:latin typeface="Arial" panose="020B0604020202020204" pitchFamily="34" charset="0"/>
                    <a:cs typeface="Arial" panose="020B0604020202020204" pitchFamily="34" charset="0"/>
                  </a:rPr>
                  <a:t>𝑁</a:t>
                </a:r>
                <a:r>
                  <a:rPr lang="en-US" altLang="ja-JP" sz="1200">
                    <a:latin typeface="Arial" panose="020B0604020202020204" pitchFamily="34" charset="0"/>
                    <a:cs typeface="Arial" panose="020B0604020202020204" pitchFamily="34" charset="0"/>
                  </a:rPr>
                  <a:t>/2, and the right half (high frequency side) also has a maximum, so it looks like a BEF. However, the right half is not a high frequency, but a negative frequency wraparound, so we can ignore it.</a:t>
                </a:r>
              </a:p>
              <a:p>
                <a:endParaRPr lang="en-US" altLang="ja-JP" sz="1200">
                  <a:latin typeface="Arial" panose="020B0604020202020204" pitchFamily="34" charset="0"/>
                  <a:cs typeface="Arial" panose="020B0604020202020204" pitchFamily="34" charset="0"/>
                </a:endParaRPr>
              </a:p>
              <a:p>
                <a:r>
                  <a:rPr lang="ja-JP" altLang="ja-JP" sz="2000">
                    <a:solidFill>
                      <a:srgbClr val="FF0000"/>
                    </a:solidFill>
                  </a:rPr>
                  <a:t>遮断周波数は</a:t>
                </a:r>
                <a:r>
                  <a:rPr lang="ja-JP" altLang="ja-JP" sz="2000"/>
                  <a:t>？ 伝達関数の最大値の</a:t>
                </a:r>
                <a:r>
                  <a:rPr lang="en-US" altLang="ja-JP" sz="2000"/>
                  <a:t> 1/ </a:t>
                </a:r>
                <a14:m>
                  <m:oMath xmlns:m="http://schemas.openxmlformats.org/officeDocument/2006/math">
                    <m:rad>
                      <m:radPr>
                        <m:degHide m:val="on"/>
                        <m:ctrlPr>
                          <a:rPr lang="ja-JP" altLang="ja-JP" sz="2000" i="1">
                            <a:latin typeface="Cambria Math" panose="02040503050406030204" pitchFamily="18" charset="0"/>
                          </a:rPr>
                        </m:ctrlPr>
                      </m:radPr>
                      <m:deg/>
                      <m:e>
                        <m:r>
                          <a:rPr lang="en-US" altLang="ja-JP" sz="2000" i="1">
                            <a:latin typeface="Cambria Math" panose="02040503050406030204" pitchFamily="18" charset="0"/>
                          </a:rPr>
                          <m:t>2</m:t>
                        </m:r>
                      </m:e>
                    </m:rad>
                  </m:oMath>
                </a14:m>
                <a:r>
                  <a:rPr lang="en-US" altLang="ja-JP" sz="2000"/>
                  <a:t>  </a:t>
                </a:r>
                <a:r>
                  <a:rPr lang="ja-JP" altLang="ja-JP" sz="2000"/>
                  <a:t>となる 周波数番号が</a:t>
                </a:r>
                <a:r>
                  <a:rPr lang="en-US" altLang="ja-JP" sz="2000"/>
                  <a:t> 𝑘=𝑁/4 </a:t>
                </a:r>
                <a:r>
                  <a:rPr lang="ja-JP" altLang="ja-JP" sz="2000"/>
                  <a:t>なので，</a:t>
                </a:r>
                <a:r>
                  <a:rPr lang="en-US" altLang="ja-JP" sz="2000"/>
                  <a:t> 𝑓0=𝑓s/4 </a:t>
                </a:r>
                <a:r>
                  <a:rPr lang="ja-JP" altLang="ja-JP" sz="2000"/>
                  <a:t>ということです</a:t>
                </a:r>
                <a:endParaRPr lang="en-US" altLang="ja-JP" sz="2000"/>
              </a:p>
              <a:p>
                <a:r>
                  <a:rPr lang="en-US" altLang="ja-JP" sz="1200"/>
                  <a:t>  What is the cutoff frequency? The frequency number where the transfer function has a maximum value of 1/√2 is </a:t>
                </a:r>
                <a:r>
                  <a:rPr lang="ja-JP" altLang="en-US" sz="1200"/>
                  <a:t>𝑘</a:t>
                </a:r>
                <a:r>
                  <a:rPr lang="en-US" altLang="ja-JP" sz="1200"/>
                  <a:t>=</a:t>
                </a:r>
                <a:r>
                  <a:rPr lang="ja-JP" altLang="en-US" sz="1200"/>
                  <a:t>𝑁</a:t>
                </a:r>
                <a:r>
                  <a:rPr lang="en-US" altLang="ja-JP" sz="1200"/>
                  <a:t>/4, so </a:t>
                </a:r>
                <a:r>
                  <a:rPr lang="ja-JP" altLang="en-US" sz="1200"/>
                  <a:t>𝑓</a:t>
                </a:r>
                <a:r>
                  <a:rPr lang="en-US" altLang="ja-JP" sz="1200"/>
                  <a:t>0=</a:t>
                </a:r>
                <a:r>
                  <a:rPr lang="ja-JP" altLang="en-US" sz="1200"/>
                  <a:t>𝑓</a:t>
                </a:r>
                <a:r>
                  <a:rPr lang="en-US" altLang="ja-JP" sz="1200"/>
                  <a:t>s/4.</a:t>
                </a:r>
              </a:p>
              <a:p>
                <a:br>
                  <a:rPr lang="en-US" altLang="ja-JP" sz="1200"/>
                </a:br>
                <a:endParaRPr lang="ja-JP" altLang="ja-JP" sz="1200">
                  <a:latin typeface="Arial" panose="020B0604020202020204" pitchFamily="34" charset="0"/>
                  <a:cs typeface="Arial" panose="020B0604020202020204" pitchFamily="34" charset="0"/>
                </a:endParaRPr>
              </a:p>
            </p:txBody>
          </p:sp>
        </mc:Choice>
        <mc:Fallback>
          <p:sp>
            <p:nvSpPr>
              <p:cNvPr id="5" name="TextBox 4">
                <a:extLst>
                  <a:ext uri="{FF2B5EF4-FFF2-40B4-BE49-F238E27FC236}">
                    <a16:creationId xmlns:a16="http://schemas.microsoft.com/office/drawing/2014/main" id="{88691852-EBDF-5437-AAAB-F1BF4AA1F280}"/>
                  </a:ext>
                </a:extLst>
              </p:cNvPr>
              <p:cNvSpPr txBox="1">
                <a:spLocks noRot="1" noChangeAspect="1" noMove="1" noResize="1" noEditPoints="1" noAdjustHandles="1" noChangeArrowheads="1" noChangeShapeType="1" noTextEdit="1"/>
              </p:cNvSpPr>
              <p:nvPr/>
            </p:nvSpPr>
            <p:spPr>
              <a:xfrm>
                <a:off x="0" y="2081203"/>
                <a:ext cx="12192000" cy="4397422"/>
              </a:xfrm>
              <a:prstGeom prst="rect">
                <a:avLst/>
              </a:prstGeom>
              <a:blipFill>
                <a:blip r:embed="rId3"/>
                <a:stretch>
                  <a:fillRect l="-1000" r="-300"/>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4">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3114261" y="252943"/>
            <a:ext cx="7911548"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a:solidFill>
                  <a:schemeClr val="tx1"/>
                </a:solidFill>
              </a:rPr>
              <a:t>FIR </a:t>
            </a:r>
            <a:r>
              <a:rPr lang="ja-JP" altLang="en-US" sz="3200">
                <a:solidFill>
                  <a:schemeClr val="tx1"/>
                </a:solidFill>
              </a:rPr>
              <a:t>フィルタの周波数応答</a:t>
            </a:r>
            <a:r>
              <a:rPr lang="en-US" altLang="ja-JP" sz="1100" b="1">
                <a:solidFill>
                  <a:schemeClr val="tx1"/>
                </a:solidFill>
              </a:rPr>
              <a:t>Frequency response of an FIR filter</a:t>
            </a:r>
            <a:r>
              <a:rPr lang="ja-JP" altLang="en-US" sz="3200" b="1">
                <a:solidFill>
                  <a:srgbClr val="FF0000"/>
                </a:solidFill>
              </a:rPr>
              <a:t> </a:t>
            </a:r>
            <a:endParaRPr lang="en-US" sz="3200">
              <a:solidFill>
                <a:srgbClr val="FF0000"/>
              </a:solidFill>
            </a:endParaRPr>
          </a:p>
        </p:txBody>
      </p:sp>
    </p:spTree>
    <p:extLst>
      <p:ext uri="{BB962C8B-B14F-4D97-AF65-F5344CB8AC3E}">
        <p14:creationId xmlns:p14="http://schemas.microsoft.com/office/powerpoint/2010/main" val="4511215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1077218"/>
          </a:xfrm>
          <a:prstGeom prst="rect">
            <a:avLst/>
          </a:prstGeom>
          <a:noFill/>
        </p:spPr>
        <p:txBody>
          <a:bodyPr wrap="square" rtlCol="0">
            <a:spAutoFit/>
          </a:bodyPr>
          <a:lstStyle/>
          <a:p>
            <a:endParaRPr lang="en-US" altLang="ja-JP" sz="1200"/>
          </a:p>
          <a:p>
            <a:endParaRPr lang="en-US" altLang="ja-JP" sz="2800"/>
          </a:p>
          <a:p>
            <a:br>
              <a:rPr lang="en-US" altLang="ja-JP" sz="1200"/>
            </a:br>
            <a:endParaRPr lang="ja-JP" altLang="ja-JP" sz="1200">
              <a:latin typeface="Arial" panose="020B0604020202020204" pitchFamily="34" charset="0"/>
              <a:cs typeface="Arial" panose="020B0604020202020204" pitchFamily="34"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5">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3114261" y="252943"/>
            <a:ext cx="7911548"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a:solidFill>
                  <a:schemeClr val="tx1"/>
                </a:solidFill>
              </a:rPr>
              <a:t>FIR </a:t>
            </a:r>
            <a:r>
              <a:rPr lang="ja-JP" altLang="en-US" sz="3200">
                <a:solidFill>
                  <a:schemeClr val="tx1"/>
                </a:solidFill>
              </a:rPr>
              <a:t>フィルタの周波数応答</a:t>
            </a:r>
            <a:r>
              <a:rPr lang="en-US" altLang="ja-JP" sz="1100" b="1">
                <a:solidFill>
                  <a:schemeClr val="tx1"/>
                </a:solidFill>
              </a:rPr>
              <a:t>Frequency response of an FIR filter</a:t>
            </a:r>
            <a:r>
              <a:rPr lang="ja-JP" altLang="en-US" sz="3200" b="1">
                <a:solidFill>
                  <a:srgbClr val="FF0000"/>
                </a:solidFill>
              </a:rPr>
              <a:t> </a:t>
            </a:r>
            <a:endParaRPr lang="en-US" sz="3200">
              <a:solidFill>
                <a:srgbClr val="FF0000"/>
              </a:solidFill>
            </a:endParaRPr>
          </a:p>
        </p:txBody>
      </p:sp>
      <p:pic>
        <p:nvPicPr>
          <p:cNvPr id="3" name="file">
            <a:hlinkClick r:id="" action="ppaction://media"/>
            <a:extLst>
              <a:ext uri="{FF2B5EF4-FFF2-40B4-BE49-F238E27FC236}">
                <a16:creationId xmlns:a16="http://schemas.microsoft.com/office/drawing/2014/main" id="{11FDFEB2-BC51-905D-C7A4-5B8A74B07571}"/>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258445" y="1425847"/>
            <a:ext cx="7011035" cy="4006306"/>
          </a:xfrm>
          <a:prstGeom prst="rect">
            <a:avLst/>
          </a:prstGeom>
        </p:spPr>
      </p:pic>
    </p:spTree>
    <p:extLst>
      <p:ext uri="{BB962C8B-B14F-4D97-AF65-F5344CB8AC3E}">
        <p14:creationId xmlns:p14="http://schemas.microsoft.com/office/powerpoint/2010/main" val="3418929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76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3996159"/>
          </a:xfrm>
          <a:prstGeom prst="rect">
            <a:avLst/>
          </a:prstGeom>
          <a:noFill/>
        </p:spPr>
        <p:txBody>
          <a:bodyPr wrap="square" rtlCol="0">
            <a:spAutoFit/>
          </a:bodyPr>
          <a:lstStyle/>
          <a:p>
            <a:pPr algn="just"/>
            <a:r>
              <a:rPr lang="en-US" sz="2800">
                <a:effectLst/>
                <a:latin typeface="+mn-ea"/>
                <a:ea typeface="+mn-ea"/>
                <a:cs typeface="Cambria Math" panose="02040503050406030204" pitchFamily="18" charset="0"/>
              </a:rPr>
              <a:t>𝑓</a:t>
            </a:r>
            <a:r>
              <a:rPr lang="en-US" sz="2800">
                <a:effectLst/>
                <a:latin typeface="+mn-ea"/>
                <a:ea typeface="+mn-ea"/>
              </a:rPr>
              <a:t>′max&gt;</a:t>
            </a:r>
            <a:r>
              <a:rPr lang="en-US" sz="2800">
                <a:effectLst/>
                <a:latin typeface="+mn-ea"/>
                <a:ea typeface="+mn-ea"/>
                <a:cs typeface="Cambria Math" panose="02040503050406030204" pitchFamily="18" charset="0"/>
              </a:rPr>
              <a:t> 𝑓</a:t>
            </a:r>
            <a:r>
              <a:rPr lang="en-US" sz="2800">
                <a:effectLst/>
                <a:latin typeface="+mn-ea"/>
                <a:ea typeface="+mn-ea"/>
              </a:rPr>
              <a:t>s /2 → </a:t>
            </a:r>
            <a:r>
              <a:rPr lang="ja-JP" sz="2800">
                <a:effectLst/>
                <a:latin typeface="+mn-ea"/>
                <a:ea typeface="+mn-ea"/>
                <a:cs typeface="ＭＳ 明朝" panose="02020609040205080304" pitchFamily="17" charset="-128"/>
              </a:rPr>
              <a:t>明らかに折返し成分だとわかるので無視して</a:t>
            </a:r>
            <a:r>
              <a:rPr lang="en-US" sz="2800">
                <a:effectLst/>
                <a:latin typeface="+mn-ea"/>
                <a:ea typeface="+mn-ea"/>
              </a:rPr>
              <a:t>OK</a:t>
            </a:r>
          </a:p>
          <a:p>
            <a:pPr algn="just"/>
            <a:r>
              <a:rPr lang="en-US" altLang="ja-JP">
                <a:latin typeface="+mn-ea"/>
                <a:ea typeface="+mn-ea"/>
                <a:cs typeface="ＭＳ 明朝" panose="02020609040205080304" pitchFamily="17" charset="-128"/>
              </a:rPr>
              <a:t>    </a:t>
            </a:r>
            <a:r>
              <a:rPr lang="en-US" altLang="ja-JP">
                <a:latin typeface="+mn-ea"/>
                <a:ea typeface="+mn-ea"/>
                <a:cs typeface="ＭＳ 明朝" panose="02020609040205080304" pitchFamily="17" charset="-128"/>
                <a:sym typeface="Wingdings" panose="05000000000000000000" pitchFamily="2" charset="2"/>
              </a:rPr>
              <a:t> </a:t>
            </a:r>
            <a:r>
              <a:rPr lang="ja-JP" sz="2400">
                <a:effectLst/>
                <a:latin typeface="+mn-ea"/>
                <a:ea typeface="+mn-ea"/>
                <a:cs typeface="ＭＳ 明朝" panose="02020609040205080304" pitchFamily="17" charset="-128"/>
              </a:rPr>
              <a:t>スペクトル分布グラフの右半分は負のスペクトルの折返し．</a:t>
            </a:r>
            <a:endParaRPr lang="en-US" sz="2400">
              <a:effectLst/>
              <a:latin typeface="+mn-ea"/>
              <a:ea typeface="+mn-ea"/>
              <a:cs typeface="Times New Roman" panose="02020603050405020304" pitchFamily="18" charset="0"/>
            </a:endParaRPr>
          </a:p>
          <a:p>
            <a:pPr marL="1143000" marR="0">
              <a:lnSpc>
                <a:spcPct val="107000"/>
              </a:lnSpc>
              <a:spcBef>
                <a:spcPts val="0"/>
              </a:spcBef>
              <a:spcAft>
                <a:spcPts val="600"/>
              </a:spcAft>
            </a:pPr>
            <a:r>
              <a:rPr lang="en-US" sz="2400">
                <a:effectLst/>
                <a:latin typeface="+mn-ea"/>
                <a:ea typeface="+mn-ea"/>
                <a:cs typeface="Cambria Math" panose="02040503050406030204" pitchFamily="18" charset="0"/>
              </a:rPr>
              <a:t>𝑓</a:t>
            </a:r>
            <a:r>
              <a:rPr lang="en-US" sz="2400">
                <a:effectLst/>
                <a:latin typeface="+mn-ea"/>
                <a:ea typeface="+mn-ea"/>
              </a:rPr>
              <a:t>s </a:t>
            </a:r>
            <a:r>
              <a:rPr lang="en-US" sz="2400">
                <a:effectLst/>
                <a:latin typeface="+mn-ea"/>
                <a:ea typeface="+mn-ea"/>
                <a:cs typeface="Times New Roman" panose="02020603050405020304" pitchFamily="18" charset="0"/>
              </a:rPr>
              <a:t>/2 </a:t>
            </a:r>
            <a:r>
              <a:rPr lang="ja-JP" sz="2400">
                <a:effectLst/>
                <a:latin typeface="+mn-ea"/>
                <a:ea typeface="+mn-ea"/>
                <a:cs typeface="ＭＳ 明朝" panose="02020609040205080304" pitchFamily="17" charset="-128"/>
              </a:rPr>
              <a:t>：ナイキスト周波数</a:t>
            </a:r>
            <a:r>
              <a:rPr lang="en-US" altLang="ja-JP" sz="2400">
                <a:latin typeface="+mn-ea"/>
                <a:ea typeface="+mn-ea"/>
                <a:cs typeface="Times New Roman" panose="02020603050405020304" pitchFamily="18" charset="0"/>
              </a:rPr>
              <a:t> </a:t>
            </a:r>
            <a:r>
              <a:rPr lang="en-US" altLang="ja-JP" sz="1100">
                <a:latin typeface="+mn-ea"/>
                <a:ea typeface="+mn-ea"/>
                <a:cs typeface="Times New Roman" panose="02020603050405020304" pitchFamily="18" charset="0"/>
              </a:rPr>
              <a:t>The right half of the spectrum distribution graph is the folding back to negative spectrum.</a:t>
            </a:r>
            <a:endParaRPr lang="en-US" altLang="ja-JP" sz="3200" b="1">
              <a:latin typeface="+mn-ea"/>
              <a:ea typeface="+mn-ea"/>
              <a:cs typeface="Times New Roman" panose="02020603050405020304" pitchFamily="18" charset="0"/>
            </a:endParaRPr>
          </a:p>
          <a:p>
            <a:pPr marL="285750" indent="-285750" algn="just">
              <a:buFont typeface="Wingdings" panose="05000000000000000000" pitchFamily="2" charset="2"/>
              <a:buChar char="à"/>
            </a:pPr>
            <a:r>
              <a:rPr lang="en-US" sz="2800">
                <a:effectLst/>
                <a:latin typeface="+mn-ea"/>
                <a:ea typeface="+mn-ea"/>
                <a:cs typeface="Cambria Math" panose="02040503050406030204" pitchFamily="18" charset="0"/>
              </a:rPr>
              <a:t>𝑓</a:t>
            </a:r>
            <a:r>
              <a:rPr lang="en-US" sz="2800">
                <a:effectLst/>
                <a:latin typeface="+mn-ea"/>
                <a:ea typeface="+mn-ea"/>
              </a:rPr>
              <a:t>′max &lt; </a:t>
            </a:r>
            <a:r>
              <a:rPr lang="en-US" sz="2800">
                <a:effectLst/>
                <a:latin typeface="+mn-ea"/>
                <a:ea typeface="+mn-ea"/>
                <a:cs typeface="Cambria Math" panose="02040503050406030204" pitchFamily="18" charset="0"/>
              </a:rPr>
              <a:t>𝑓</a:t>
            </a:r>
            <a:r>
              <a:rPr lang="en-US" sz="2800">
                <a:effectLst/>
                <a:latin typeface="+mn-ea"/>
                <a:ea typeface="+mn-ea"/>
              </a:rPr>
              <a:t>s/2 → </a:t>
            </a:r>
            <a:r>
              <a:rPr lang="ja-JP" sz="2800">
                <a:effectLst/>
                <a:latin typeface="+mn-ea"/>
                <a:ea typeface="+mn-ea"/>
                <a:cs typeface="ＭＳ 明朝" panose="02020609040205080304" pitchFamily="17" charset="-128"/>
              </a:rPr>
              <a:t>正の成分と負の成分とが重なり合い，分別不可能</a:t>
            </a:r>
            <a:endParaRPr lang="en-US" altLang="ja-JP" sz="2800">
              <a:effectLst/>
              <a:latin typeface="+mn-ea"/>
              <a:ea typeface="+mn-ea"/>
              <a:cs typeface="ＭＳ 明朝" panose="02020609040205080304" pitchFamily="17" charset="-128"/>
            </a:endParaRPr>
          </a:p>
          <a:p>
            <a:pPr algn="just"/>
            <a:r>
              <a:rPr lang="en-US">
                <a:latin typeface="+mn-ea"/>
                <a:ea typeface="+mn-ea"/>
                <a:cs typeface="Cambria Math" panose="02040503050406030204" pitchFamily="18" charset="0"/>
              </a:rPr>
              <a:t> </a:t>
            </a:r>
            <a:r>
              <a:rPr lang="en-US" sz="1100">
                <a:latin typeface="+mn-ea"/>
                <a:ea typeface="+mn-ea"/>
                <a:cs typeface="Cambria Math" panose="02040503050406030204" pitchFamily="18" charset="0"/>
              </a:rPr>
              <a:t>The positive and negative components overlap and cannot be separated.</a:t>
            </a:r>
          </a:p>
          <a:p>
            <a:pPr algn="just"/>
            <a:endParaRPr lang="en-US" altLang="ja-JP" sz="1100">
              <a:effectLst/>
              <a:latin typeface="+mn-ea"/>
              <a:ea typeface="+mn-ea"/>
              <a:cs typeface="ＭＳ 明朝" panose="02020609040205080304" pitchFamily="17" charset="-128"/>
            </a:endParaRPr>
          </a:p>
          <a:p>
            <a:pPr algn="just"/>
            <a:r>
              <a:rPr lang="ja-JP" sz="3200">
                <a:effectLst/>
                <a:latin typeface="+mn-ea"/>
                <a:ea typeface="+mn-ea"/>
                <a:cs typeface="ＭＳ 明朝" panose="02020609040205080304" pitchFamily="17" charset="-128"/>
              </a:rPr>
              <a:t>折返し雑音</a:t>
            </a:r>
            <a:r>
              <a:rPr lang="en-US" sz="3200">
                <a:effectLst/>
                <a:latin typeface="+mn-ea"/>
                <a:ea typeface="+mn-ea"/>
                <a:cs typeface="Times New Roman" panose="02020603050405020304" pitchFamily="18" charset="0"/>
              </a:rPr>
              <a:t> "folding noise" or </a:t>
            </a:r>
            <a:r>
              <a:rPr lang="ja-JP" sz="3200">
                <a:effectLst/>
                <a:latin typeface="+mn-ea"/>
                <a:ea typeface="+mn-ea"/>
                <a:cs typeface="ＭＳ 明朝" panose="02020609040205080304" pitchFamily="17" charset="-128"/>
              </a:rPr>
              <a:t>偽信号</a:t>
            </a:r>
            <a:r>
              <a:rPr lang="en-US" sz="3200">
                <a:effectLst/>
                <a:latin typeface="+mn-ea"/>
                <a:ea typeface="+mn-ea"/>
                <a:cs typeface="Times New Roman" panose="02020603050405020304" pitchFamily="18" charset="0"/>
              </a:rPr>
              <a:t> "alias" </a:t>
            </a:r>
            <a:r>
              <a:rPr lang="ja-JP" sz="3200">
                <a:effectLst/>
                <a:latin typeface="+mn-ea"/>
                <a:ea typeface="+mn-ea"/>
                <a:cs typeface="ＭＳ 明朝" panose="02020609040205080304" pitchFamily="17" charset="-128"/>
              </a:rPr>
              <a:t>が発生</a:t>
            </a:r>
            <a:r>
              <a:rPr lang="en-US" altLang="ja-JP" sz="1100">
                <a:effectLst/>
                <a:latin typeface="+mn-ea"/>
                <a:ea typeface="+mn-ea"/>
                <a:cs typeface="ＭＳ 明朝" panose="02020609040205080304" pitchFamily="17" charset="-128"/>
              </a:rPr>
              <a:t>Folding noise or false signal alias occurs</a:t>
            </a:r>
            <a:endParaRPr lang="en-US" sz="3200">
              <a:effectLst/>
              <a:latin typeface="+mn-ea"/>
              <a:ea typeface="+mn-ea"/>
              <a:cs typeface="Times New Roman" panose="02020603050405020304" pitchFamily="18" charset="0"/>
            </a:endParaRPr>
          </a:p>
          <a:p>
            <a:r>
              <a:rPr lang="ja-JP" sz="2400">
                <a:effectLst/>
                <a:latin typeface="+mn-ea"/>
                <a:ea typeface="+mn-ea"/>
                <a:cs typeface="ＭＳ 明朝" panose="02020609040205080304" pitchFamily="17" charset="-128"/>
              </a:rPr>
              <a:t>標本化周波数が低いと，隣接標本間の間隔が広く，</a:t>
            </a:r>
            <a:r>
              <a:rPr lang="ja-JP" sz="2400">
                <a:effectLst/>
                <a:latin typeface="+mn-ea"/>
                <a:ea typeface="+mn-ea"/>
              </a:rPr>
              <a:t> </a:t>
            </a:r>
            <a:r>
              <a:rPr lang="ja-JP" sz="2400">
                <a:effectLst/>
                <a:latin typeface="+mn-ea"/>
                <a:ea typeface="+mn-ea"/>
                <a:cs typeface="ＭＳ 明朝" panose="02020609040205080304" pitchFamily="17" charset="-128"/>
              </a:rPr>
              <a:t>そこにあった情報が失われてしまうことが原因．</a:t>
            </a:r>
            <a:r>
              <a:rPr lang="ja-JP" sz="2400">
                <a:effectLst/>
                <a:latin typeface="+mn-ea"/>
                <a:ea typeface="+mn-ea"/>
              </a:rPr>
              <a:t> </a:t>
            </a:r>
            <a:r>
              <a:rPr lang="ja-JP" sz="2400">
                <a:effectLst/>
                <a:latin typeface="+mn-ea"/>
                <a:ea typeface="+mn-ea"/>
                <a:cs typeface="ＭＳ 明朝" panose="02020609040205080304" pitchFamily="17" charset="-128"/>
              </a:rPr>
              <a:t>スペクトルの解像度も低く，分布も広い</a:t>
            </a:r>
            <a:endParaRPr lang="en-US" altLang="ja-JP" sz="2400">
              <a:effectLst/>
              <a:latin typeface="+mn-ea"/>
              <a:ea typeface="+mn-ea"/>
              <a:cs typeface="ＭＳ 明朝" panose="02020609040205080304" pitchFamily="17" charset="-128"/>
            </a:endParaRPr>
          </a:p>
          <a:p>
            <a:r>
              <a:rPr lang="en-US" altLang="ja-JP" sz="1200" b="1">
                <a:latin typeface="+mn-ea"/>
                <a:ea typeface="+mn-ea"/>
                <a:cs typeface="Times New Roman" panose="02020603050405020304" pitchFamily="18" charset="0"/>
              </a:rPr>
              <a:t>Low sampling frequency results in a large spacing between </a:t>
            </a:r>
            <a:r>
              <a:rPr lang="en-US" altLang="ja-JP" sz="1200" b="1" err="1">
                <a:latin typeface="+mn-ea"/>
                <a:ea typeface="+mn-ea"/>
                <a:cs typeface="Times New Roman" panose="02020603050405020304" pitchFamily="18" charset="0"/>
              </a:rPr>
              <a:t>neighbouring</a:t>
            </a:r>
            <a:r>
              <a:rPr lang="en-US" altLang="ja-JP" sz="1200" b="1">
                <a:latin typeface="+mn-ea"/>
                <a:ea typeface="+mn-ea"/>
                <a:cs typeface="Times New Roman" panose="02020603050405020304" pitchFamily="18" charset="0"/>
              </a:rPr>
              <a:t> samples, causing information to be lost. Spectral resolution is also low and the distribution is wide.</a:t>
            </a:r>
          </a:p>
          <a:p>
            <a:pPr algn="just"/>
            <a:endParaRPr lang="en-US" altLang="ja-JP" sz="1100" b="1">
              <a:latin typeface="+mn-ea"/>
              <a:ea typeface="+mn-ea"/>
              <a:cs typeface="Times New Roman" panose="02020603050405020304" pitchFamily="18" charset="0"/>
            </a:endParaRPr>
          </a:p>
          <a:p>
            <a:pPr algn="just"/>
            <a:endParaRPr lang="en-US" altLang="ja-JP" sz="1100" b="1">
              <a:latin typeface="+mn-ea"/>
              <a:ea typeface="+mn-ea"/>
              <a:cs typeface="Times New Roman" panose="02020603050405020304" pitchFamily="18"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3114261" y="252943"/>
            <a:ext cx="7911548"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altLang="en-US" sz="3200">
                <a:solidFill>
                  <a:schemeClr val="tx1"/>
                </a:solidFill>
              </a:rPr>
              <a:t>ディジタル信号処理との関係</a:t>
            </a:r>
            <a:r>
              <a:rPr lang="en-US" altLang="ja-JP" sz="1100" b="1">
                <a:solidFill>
                  <a:schemeClr val="tx1"/>
                </a:solidFill>
              </a:rPr>
              <a:t> Relationship with DSP</a:t>
            </a:r>
            <a:r>
              <a:rPr lang="ja-JP" altLang="en-US" sz="3200" b="1">
                <a:solidFill>
                  <a:srgbClr val="FF0000"/>
                </a:solidFill>
              </a:rPr>
              <a:t> </a:t>
            </a:r>
            <a:endParaRPr lang="en-US" sz="3200">
              <a:solidFill>
                <a:srgbClr val="FF0000"/>
              </a:solidFill>
            </a:endParaRPr>
          </a:p>
        </p:txBody>
      </p:sp>
    </p:spTree>
    <p:extLst>
      <p:ext uri="{BB962C8B-B14F-4D97-AF65-F5344CB8AC3E}">
        <p14:creationId xmlns:p14="http://schemas.microsoft.com/office/powerpoint/2010/main" val="3343202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3131114"/>
          </a:xfrm>
          <a:prstGeom prst="rect">
            <a:avLst/>
          </a:prstGeom>
          <a:noFill/>
        </p:spPr>
        <p:txBody>
          <a:bodyPr wrap="square" rtlCol="0">
            <a:spAutoFit/>
          </a:bodyPr>
          <a:lstStyle/>
          <a:p>
            <a:pPr marR="0" lvl="1">
              <a:lnSpc>
                <a:spcPct val="107000"/>
              </a:lnSpc>
              <a:spcBef>
                <a:spcPts val="450"/>
              </a:spcBef>
              <a:spcAft>
                <a:spcPts val="450"/>
              </a:spcAft>
              <a:buSzPts val="1000"/>
              <a:tabLst>
                <a:tab pos="914400" algn="l"/>
              </a:tabLst>
            </a:pPr>
            <a:r>
              <a:rPr lang="ja-JP" sz="3200">
                <a:solidFill>
                  <a:srgbClr val="000000"/>
                </a:solidFill>
                <a:effectLst/>
                <a:latin typeface="+mn-ea"/>
                <a:ea typeface="+mn-ea"/>
                <a:cs typeface="ＭＳ 明朝" panose="02020609040205080304" pitchFamily="17" charset="-128"/>
              </a:rPr>
              <a:t>標本化定理</a:t>
            </a:r>
            <a:r>
              <a:rPr lang="en-US" sz="3200">
                <a:solidFill>
                  <a:srgbClr val="000000"/>
                </a:solidFill>
                <a:effectLst/>
                <a:latin typeface="+mn-ea"/>
                <a:ea typeface="+mn-ea"/>
                <a:cs typeface="Times New Roman" panose="02020603050405020304" pitchFamily="18" charset="0"/>
              </a:rPr>
              <a:t> "sampling theorem"</a:t>
            </a:r>
            <a:r>
              <a:rPr lang="ja-JP" sz="3200">
                <a:solidFill>
                  <a:srgbClr val="000000"/>
                </a:solidFill>
                <a:effectLst/>
                <a:latin typeface="+mn-ea"/>
                <a:ea typeface="+mn-ea"/>
                <a:cs typeface="ＭＳ 明朝" panose="02020609040205080304" pitchFamily="17" charset="-128"/>
              </a:rPr>
              <a:t>：</a:t>
            </a:r>
            <a:r>
              <a:rPr lang="en-US" sz="3200">
                <a:solidFill>
                  <a:srgbClr val="000000"/>
                </a:solidFill>
                <a:effectLst/>
                <a:latin typeface="+mn-ea"/>
                <a:ea typeface="+mn-ea"/>
                <a:cs typeface="Times New Roman" panose="02020603050405020304" pitchFamily="18" charset="0"/>
              </a:rPr>
              <a:t> </a:t>
            </a:r>
            <a:r>
              <a:rPr lang="en-US" sz="3200">
                <a:solidFill>
                  <a:srgbClr val="000000"/>
                </a:solidFill>
                <a:effectLst/>
                <a:latin typeface="+mn-ea"/>
                <a:ea typeface="+mn-ea"/>
                <a:cs typeface="Cambria Math" panose="02040503050406030204" pitchFamily="18" charset="0"/>
              </a:rPr>
              <a:t>𝑓</a:t>
            </a:r>
            <a:r>
              <a:rPr lang="en-US" sz="3200">
                <a:solidFill>
                  <a:srgbClr val="000000"/>
                </a:solidFill>
                <a:effectLst/>
                <a:latin typeface="+mn-ea"/>
                <a:ea typeface="+mn-ea"/>
                <a:cs typeface="Times New Roman" panose="02020603050405020304" pitchFamily="18" charset="0"/>
              </a:rPr>
              <a:t>s&gt;2</a:t>
            </a:r>
            <a:r>
              <a:rPr lang="en-US" sz="3200">
                <a:solidFill>
                  <a:srgbClr val="000000"/>
                </a:solidFill>
                <a:effectLst/>
                <a:latin typeface="+mn-ea"/>
                <a:ea typeface="+mn-ea"/>
                <a:cs typeface="Cambria Math" panose="02040503050406030204" pitchFamily="18" charset="0"/>
              </a:rPr>
              <a:t>𝑓</a:t>
            </a:r>
            <a:r>
              <a:rPr lang="en-US" sz="3200">
                <a:solidFill>
                  <a:srgbClr val="000000"/>
                </a:solidFill>
                <a:effectLst/>
                <a:latin typeface="+mn-ea"/>
                <a:ea typeface="+mn-ea"/>
                <a:cs typeface="Times New Roman" panose="02020603050405020304" pitchFamily="18" charset="0"/>
              </a:rPr>
              <a:t>max </a:t>
            </a:r>
            <a:r>
              <a:rPr lang="ja-JP" sz="3200">
                <a:solidFill>
                  <a:srgbClr val="000000"/>
                </a:solidFill>
                <a:effectLst/>
                <a:latin typeface="+mn-ea"/>
                <a:ea typeface="+mn-ea"/>
                <a:cs typeface="ＭＳ 明朝" panose="02020609040205080304" pitchFamily="17" charset="-128"/>
              </a:rPr>
              <a:t>にしなさい．でないと，原信号を復元できないぞ</a:t>
            </a:r>
            <a:r>
              <a:rPr lang="en-US" altLang="ja-JP" sz="3200">
                <a:solidFill>
                  <a:srgbClr val="000000"/>
                </a:solidFill>
                <a:effectLst/>
                <a:latin typeface="+mn-ea"/>
                <a:ea typeface="+mn-ea"/>
                <a:cs typeface="ＭＳ 明朝" panose="02020609040205080304" pitchFamily="17" charset="-128"/>
              </a:rPr>
              <a:t> </a:t>
            </a:r>
            <a:r>
              <a:rPr lang="en-US" altLang="ja-JP" sz="1200">
                <a:solidFill>
                  <a:srgbClr val="000000"/>
                </a:solidFill>
                <a:effectLst/>
                <a:latin typeface="+mn-ea"/>
                <a:ea typeface="+mn-ea"/>
                <a:cs typeface="ＭＳ 明朝" panose="02020609040205080304" pitchFamily="17" charset="-128"/>
              </a:rPr>
              <a:t>Sampling theorem set fs &gt; 2fmax. Otherwise, the original signal cannot be recovered. </a:t>
            </a:r>
            <a:endParaRPr lang="en-US" altLang="ja-JP" sz="3200">
              <a:solidFill>
                <a:srgbClr val="000000"/>
              </a:solidFill>
              <a:effectLst/>
              <a:latin typeface="+mn-ea"/>
              <a:ea typeface="+mn-ea"/>
              <a:cs typeface="ＭＳ 明朝" panose="02020609040205080304" pitchFamily="17" charset="-128"/>
            </a:endParaRPr>
          </a:p>
          <a:p>
            <a:pPr marR="0" lvl="1">
              <a:lnSpc>
                <a:spcPct val="107000"/>
              </a:lnSpc>
              <a:spcBef>
                <a:spcPts val="450"/>
              </a:spcBef>
              <a:spcAft>
                <a:spcPts val="450"/>
              </a:spcAft>
              <a:buSzPts val="1000"/>
              <a:tabLst>
                <a:tab pos="914400" algn="l"/>
              </a:tabLst>
            </a:pPr>
            <a:endParaRPr lang="en-US" sz="3200">
              <a:solidFill>
                <a:srgbClr val="000000"/>
              </a:solidFill>
              <a:effectLst/>
              <a:latin typeface="+mn-ea"/>
              <a:ea typeface="+mn-ea"/>
              <a:cs typeface="Times New Roman" panose="02020603050405020304" pitchFamily="18" charset="0"/>
            </a:endParaRPr>
          </a:p>
          <a:p>
            <a:pPr marL="1143000" marR="0">
              <a:lnSpc>
                <a:spcPct val="107000"/>
              </a:lnSpc>
              <a:spcBef>
                <a:spcPts val="0"/>
              </a:spcBef>
              <a:spcAft>
                <a:spcPts val="600"/>
              </a:spcAft>
            </a:pPr>
            <a:r>
              <a:rPr lang="ja-JP" sz="3200">
                <a:solidFill>
                  <a:srgbClr val="000000"/>
                </a:solidFill>
                <a:effectLst/>
                <a:latin typeface="+mn-ea"/>
                <a:ea typeface="+mn-ea"/>
                <a:cs typeface="ＭＳ 明朝" panose="02020609040205080304" pitchFamily="17" charset="-128"/>
              </a:rPr>
              <a:t>これは「</a:t>
            </a:r>
            <a:r>
              <a:rPr lang="en-US" sz="3200">
                <a:solidFill>
                  <a:srgbClr val="000000"/>
                </a:solidFill>
                <a:effectLst/>
                <a:latin typeface="+mn-ea"/>
                <a:ea typeface="+mn-ea"/>
                <a:cs typeface="Cambria Math" panose="02040503050406030204" pitchFamily="18" charset="0"/>
              </a:rPr>
              <a:t>𝑓</a:t>
            </a:r>
            <a:r>
              <a:rPr lang="en-US" sz="3200">
                <a:solidFill>
                  <a:srgbClr val="000000"/>
                </a:solidFill>
                <a:effectLst/>
                <a:latin typeface="+mn-ea"/>
                <a:ea typeface="+mn-ea"/>
                <a:cs typeface="Times New Roman" panose="02020603050405020304" pitchFamily="18" charset="0"/>
              </a:rPr>
              <a:t>max&lt;</a:t>
            </a:r>
            <a:r>
              <a:rPr lang="en-US" sz="3200">
                <a:solidFill>
                  <a:srgbClr val="000000"/>
                </a:solidFill>
                <a:effectLst/>
                <a:latin typeface="+mn-ea"/>
                <a:ea typeface="+mn-ea"/>
                <a:cs typeface="Cambria Math" panose="02040503050406030204" pitchFamily="18" charset="0"/>
              </a:rPr>
              <a:t>𝑓</a:t>
            </a:r>
            <a:r>
              <a:rPr lang="en-US" sz="3200">
                <a:solidFill>
                  <a:srgbClr val="000000"/>
                </a:solidFill>
                <a:effectLst/>
                <a:latin typeface="+mn-ea"/>
                <a:ea typeface="+mn-ea"/>
                <a:cs typeface="Times New Roman" panose="02020603050405020304" pitchFamily="18" charset="0"/>
              </a:rPr>
              <a:t>s/2 </a:t>
            </a:r>
            <a:r>
              <a:rPr lang="ja-JP" sz="3200">
                <a:solidFill>
                  <a:srgbClr val="000000"/>
                </a:solidFill>
                <a:effectLst/>
                <a:latin typeface="+mn-ea"/>
                <a:ea typeface="+mn-ea"/>
                <a:cs typeface="ＭＳ 明朝" panose="02020609040205080304" pitchFamily="17" charset="-128"/>
              </a:rPr>
              <a:t>にしなさい」と同義．</a:t>
            </a:r>
            <a:r>
              <a:rPr lang="en-US" altLang="ja-JP" sz="1200">
                <a:solidFill>
                  <a:srgbClr val="000000"/>
                </a:solidFill>
                <a:effectLst/>
                <a:latin typeface="+mn-ea"/>
                <a:ea typeface="+mn-ea"/>
                <a:cs typeface="ＭＳ 明朝" panose="02020609040205080304" pitchFamily="17" charset="-128"/>
              </a:rPr>
              <a:t>This is equivalent to Let fmax&lt;fs/2</a:t>
            </a:r>
            <a:endParaRPr lang="en-US" sz="3200">
              <a:effectLst/>
              <a:latin typeface="+mn-ea"/>
              <a:ea typeface="+mn-ea"/>
              <a:cs typeface="Times New Roman" panose="02020603050405020304" pitchFamily="18" charset="0"/>
            </a:endParaRPr>
          </a:p>
          <a:p>
            <a:pPr algn="just"/>
            <a:endParaRPr lang="en-US" altLang="ja-JP" sz="3200" b="1">
              <a:latin typeface="+mn-ea"/>
              <a:ea typeface="+mn-ea"/>
              <a:cs typeface="Times New Roman" panose="02020603050405020304" pitchFamily="18" charset="0"/>
            </a:endParaRPr>
          </a:p>
          <a:p>
            <a:pPr algn="just"/>
            <a:endParaRPr lang="en-US" altLang="ja-JP" sz="1100" b="1">
              <a:latin typeface="+mn-ea"/>
              <a:ea typeface="+mn-ea"/>
              <a:cs typeface="Times New Roman" panose="02020603050405020304" pitchFamily="18"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3114261" y="252943"/>
            <a:ext cx="7911548"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altLang="en-US" sz="3200">
                <a:solidFill>
                  <a:schemeClr val="tx1"/>
                </a:solidFill>
              </a:rPr>
              <a:t>ディジタル信号処理との関係</a:t>
            </a:r>
            <a:r>
              <a:rPr lang="en-US" altLang="ja-JP" sz="1100" b="1">
                <a:solidFill>
                  <a:schemeClr val="tx1"/>
                </a:solidFill>
              </a:rPr>
              <a:t> Relationship with DSP</a:t>
            </a:r>
            <a:r>
              <a:rPr lang="ja-JP" altLang="en-US" sz="3200" b="1">
                <a:solidFill>
                  <a:srgbClr val="FF0000"/>
                </a:solidFill>
              </a:rPr>
              <a:t> </a:t>
            </a:r>
            <a:endParaRPr lang="en-US" sz="3200">
              <a:solidFill>
                <a:srgbClr val="FF0000"/>
              </a:solidFill>
            </a:endParaRPr>
          </a:p>
        </p:txBody>
      </p:sp>
    </p:spTree>
    <p:extLst>
      <p:ext uri="{BB962C8B-B14F-4D97-AF65-F5344CB8AC3E}">
        <p14:creationId xmlns:p14="http://schemas.microsoft.com/office/powerpoint/2010/main" val="24050080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3740383"/>
          </a:xfrm>
          <a:prstGeom prst="rect">
            <a:avLst/>
          </a:prstGeom>
          <a:noFill/>
        </p:spPr>
        <p:txBody>
          <a:bodyPr wrap="square" rtlCol="0">
            <a:spAutoFit/>
          </a:bodyPr>
          <a:lstStyle/>
          <a:p>
            <a:pPr marR="0" lvl="1">
              <a:lnSpc>
                <a:spcPct val="107000"/>
              </a:lnSpc>
              <a:spcBef>
                <a:spcPts val="450"/>
              </a:spcBef>
              <a:spcAft>
                <a:spcPts val="450"/>
              </a:spcAft>
              <a:buSzPts val="1000"/>
              <a:tabLst>
                <a:tab pos="914400" algn="l"/>
              </a:tabLst>
            </a:pPr>
            <a:r>
              <a:rPr lang="ja-JP" altLang="en-US" sz="3200">
                <a:solidFill>
                  <a:srgbClr val="000000"/>
                </a:solidFill>
                <a:effectLst/>
                <a:latin typeface="+mn-ea"/>
                <a:ea typeface="+mn-ea"/>
                <a:cs typeface="ＭＳ 明朝" panose="02020609040205080304" pitchFamily="17" charset="-128"/>
              </a:rPr>
              <a:t>という訳で，ディジタル化の前処理として， アナログ原信号に対して低域通過フィルタ </a:t>
            </a:r>
            <a:r>
              <a:rPr lang="en-US" altLang="ja-JP" sz="3200" b="1">
                <a:solidFill>
                  <a:srgbClr val="000000"/>
                </a:solidFill>
                <a:effectLst/>
                <a:latin typeface="+mn-ea"/>
                <a:ea typeface="+mn-ea"/>
                <a:cs typeface="ＭＳ 明朝" panose="02020609040205080304" pitchFamily="17" charset="-128"/>
              </a:rPr>
              <a:t>LPF</a:t>
            </a:r>
            <a:r>
              <a:rPr lang="en-US" altLang="ja-JP" sz="3200">
                <a:solidFill>
                  <a:srgbClr val="000000"/>
                </a:solidFill>
                <a:effectLst/>
                <a:latin typeface="+mn-ea"/>
                <a:ea typeface="+mn-ea"/>
                <a:cs typeface="ＭＳ 明朝" panose="02020609040205080304" pitchFamily="17" charset="-128"/>
              </a:rPr>
              <a:t> </a:t>
            </a:r>
            <a:r>
              <a:rPr lang="ja-JP" altLang="en-US" sz="3200">
                <a:solidFill>
                  <a:srgbClr val="000000"/>
                </a:solidFill>
                <a:effectLst/>
                <a:latin typeface="+mn-ea"/>
                <a:ea typeface="+mn-ea"/>
                <a:cs typeface="ＭＳ 明朝" panose="02020609040205080304" pitchFamily="17" charset="-128"/>
              </a:rPr>
              <a:t>の適用が必要</a:t>
            </a:r>
            <a:endParaRPr lang="en-US" altLang="ja-JP" sz="3200">
              <a:solidFill>
                <a:srgbClr val="000000"/>
              </a:solidFill>
              <a:effectLst/>
              <a:latin typeface="+mn-ea"/>
              <a:ea typeface="+mn-ea"/>
              <a:cs typeface="ＭＳ 明朝" panose="02020609040205080304" pitchFamily="17" charset="-128"/>
            </a:endParaRPr>
          </a:p>
          <a:p>
            <a:pPr marR="0" lvl="1">
              <a:lnSpc>
                <a:spcPct val="107000"/>
              </a:lnSpc>
              <a:spcBef>
                <a:spcPts val="450"/>
              </a:spcBef>
              <a:spcAft>
                <a:spcPts val="450"/>
              </a:spcAft>
              <a:buSzPts val="1000"/>
              <a:tabLst>
                <a:tab pos="914400" algn="l"/>
              </a:tabLst>
            </a:pPr>
            <a:r>
              <a:rPr lang="en-US" altLang="ja-JP" sz="1200" b="1">
                <a:latin typeface="+mn-ea"/>
                <a:ea typeface="+mn-ea"/>
                <a:cs typeface="Times New Roman" panose="02020603050405020304" pitchFamily="18" charset="0"/>
              </a:rPr>
              <a:t>Therefore, a low-pass filter LPF must be applied to the original analogue signal as a pre-processing step before </a:t>
            </a:r>
            <a:r>
              <a:rPr lang="en-US" altLang="ja-JP" sz="1200" b="1" err="1">
                <a:latin typeface="+mn-ea"/>
                <a:ea typeface="+mn-ea"/>
                <a:cs typeface="Times New Roman" panose="02020603050405020304" pitchFamily="18" charset="0"/>
              </a:rPr>
              <a:t>digitisation</a:t>
            </a:r>
            <a:endParaRPr lang="en-US" altLang="ja-JP" sz="1200">
              <a:solidFill>
                <a:srgbClr val="000000"/>
              </a:solidFill>
              <a:latin typeface="+mn-ea"/>
              <a:ea typeface="+mn-ea"/>
              <a:cs typeface="ＭＳ 明朝" panose="02020609040205080304" pitchFamily="17" charset="-128"/>
            </a:endParaRPr>
          </a:p>
          <a:p>
            <a:pPr marR="0" lvl="1">
              <a:lnSpc>
                <a:spcPct val="107000"/>
              </a:lnSpc>
              <a:spcBef>
                <a:spcPts val="450"/>
              </a:spcBef>
              <a:spcAft>
                <a:spcPts val="450"/>
              </a:spcAft>
              <a:buSzPts val="1000"/>
              <a:tabLst>
                <a:tab pos="914400" algn="l"/>
              </a:tabLst>
            </a:pPr>
            <a:r>
              <a:rPr lang="en-US" altLang="ja-JP" sz="3200">
                <a:solidFill>
                  <a:srgbClr val="000000"/>
                </a:solidFill>
                <a:effectLst/>
                <a:latin typeface="+mn-ea"/>
                <a:ea typeface="+mn-ea"/>
                <a:cs typeface="ＭＳ 明朝" panose="02020609040205080304" pitchFamily="17" charset="-128"/>
                <a:sym typeface="Wingdings" panose="05000000000000000000" pitchFamily="2" charset="2"/>
              </a:rPr>
              <a:t> </a:t>
            </a:r>
            <a:r>
              <a:rPr lang="ja-JP" altLang="en-US" sz="3200">
                <a:solidFill>
                  <a:srgbClr val="000000"/>
                </a:solidFill>
                <a:effectLst/>
                <a:latin typeface="+mn-ea"/>
                <a:ea typeface="+mn-ea"/>
                <a:cs typeface="ＭＳ 明朝" panose="02020609040205080304" pitchFamily="17" charset="-128"/>
              </a:rPr>
              <a:t>ディジタルフィルタにも </a:t>
            </a:r>
            <a:r>
              <a:rPr lang="en-US" altLang="ja-JP" sz="3200">
                <a:solidFill>
                  <a:srgbClr val="000000"/>
                </a:solidFill>
                <a:effectLst/>
                <a:latin typeface="+mn-ea"/>
                <a:ea typeface="+mn-ea"/>
                <a:cs typeface="ＭＳ 明朝" panose="02020609040205080304" pitchFamily="17" charset="-128"/>
              </a:rPr>
              <a:t>LPF </a:t>
            </a:r>
            <a:r>
              <a:rPr lang="ja-JP" altLang="en-US" sz="3200">
                <a:solidFill>
                  <a:srgbClr val="000000"/>
                </a:solidFill>
                <a:effectLst/>
                <a:latin typeface="+mn-ea"/>
                <a:ea typeface="+mn-ea"/>
                <a:cs typeface="ＭＳ 明朝" panose="02020609040205080304" pitchFamily="17" charset="-128"/>
              </a:rPr>
              <a:t>はあります． しかし，ディジタル化の前にアナログ処理しておかないと， 信号が劣化してしまうので， ディジタル化の意義自体が失われてしまう．</a:t>
            </a:r>
            <a:endParaRPr lang="en-US" altLang="ja-JP" sz="3200">
              <a:solidFill>
                <a:srgbClr val="000000"/>
              </a:solidFill>
              <a:effectLst/>
              <a:latin typeface="+mn-ea"/>
              <a:ea typeface="+mn-ea"/>
              <a:cs typeface="ＭＳ 明朝" panose="02020609040205080304" pitchFamily="17" charset="-128"/>
            </a:endParaRPr>
          </a:p>
          <a:p>
            <a:pPr marR="0" lvl="1">
              <a:lnSpc>
                <a:spcPct val="107000"/>
              </a:lnSpc>
              <a:spcBef>
                <a:spcPts val="450"/>
              </a:spcBef>
              <a:spcAft>
                <a:spcPts val="450"/>
              </a:spcAft>
              <a:buSzPts val="1000"/>
              <a:tabLst>
                <a:tab pos="914400" algn="l"/>
              </a:tabLst>
            </a:pPr>
            <a:r>
              <a:rPr lang="en-US" altLang="ja-JP" sz="1200" b="1">
                <a:latin typeface="+mn-ea"/>
                <a:ea typeface="+mn-ea"/>
                <a:cs typeface="Times New Roman" panose="02020603050405020304" pitchFamily="18" charset="0"/>
              </a:rPr>
              <a:t>.Digital filters also have an LPF. However, if analogue processing is not carried out before digitization, the signal is degraded and the significance of </a:t>
            </a:r>
            <a:r>
              <a:rPr lang="en-US" altLang="ja-JP" sz="1200" b="1" err="1">
                <a:latin typeface="+mn-ea"/>
                <a:ea typeface="+mn-ea"/>
                <a:cs typeface="Times New Roman" panose="02020603050405020304" pitchFamily="18" charset="0"/>
              </a:rPr>
              <a:t>digitisation</a:t>
            </a:r>
            <a:r>
              <a:rPr lang="en-US" altLang="ja-JP" sz="1200" b="1">
                <a:latin typeface="+mn-ea"/>
                <a:ea typeface="+mn-ea"/>
                <a:cs typeface="Times New Roman" panose="02020603050405020304" pitchFamily="18" charset="0"/>
              </a:rPr>
              <a:t> itself is lost.</a:t>
            </a:r>
          </a:p>
          <a:p>
            <a:pPr algn="just"/>
            <a:endParaRPr lang="en-US" altLang="ja-JP" sz="1100" b="1">
              <a:latin typeface="+mn-ea"/>
              <a:ea typeface="+mn-ea"/>
              <a:cs typeface="Times New Roman" panose="02020603050405020304" pitchFamily="18"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3114261" y="252943"/>
            <a:ext cx="7911548"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altLang="en-US" sz="3200">
                <a:solidFill>
                  <a:schemeClr val="tx1"/>
                </a:solidFill>
              </a:rPr>
              <a:t>ディジタル信号処理との関係</a:t>
            </a:r>
            <a:r>
              <a:rPr lang="en-US" altLang="ja-JP" sz="1100" b="1">
                <a:solidFill>
                  <a:schemeClr val="tx1"/>
                </a:solidFill>
              </a:rPr>
              <a:t> Relationship with DSP</a:t>
            </a:r>
            <a:r>
              <a:rPr lang="ja-JP" altLang="en-US" sz="3200" b="1">
                <a:solidFill>
                  <a:srgbClr val="FF0000"/>
                </a:solidFill>
              </a:rPr>
              <a:t> </a:t>
            </a:r>
            <a:endParaRPr lang="en-US" sz="3200">
              <a:solidFill>
                <a:srgbClr val="FF0000"/>
              </a:solidFill>
            </a:endParaRPr>
          </a:p>
        </p:txBody>
      </p:sp>
    </p:spTree>
    <p:extLst>
      <p:ext uri="{BB962C8B-B14F-4D97-AF65-F5344CB8AC3E}">
        <p14:creationId xmlns:p14="http://schemas.microsoft.com/office/powerpoint/2010/main" val="7182373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3831818"/>
          </a:xfrm>
          <a:prstGeom prst="rect">
            <a:avLst/>
          </a:prstGeom>
          <a:noFill/>
        </p:spPr>
        <p:txBody>
          <a:bodyPr wrap="square" rtlCol="0">
            <a:spAutoFit/>
          </a:bodyPr>
          <a:lstStyle/>
          <a:p>
            <a:pPr algn="just"/>
            <a:r>
              <a:rPr lang="ja-JP" sz="3200" b="1">
                <a:solidFill>
                  <a:schemeClr val="tx1"/>
                </a:solidFill>
                <a:effectLst/>
                <a:latin typeface="Calibri" panose="020F0502020204030204" pitchFamily="34" charset="0"/>
                <a:ea typeface="ＭＳ 明朝" panose="02020609040205080304" pitchFamily="17" charset="-128"/>
                <a:cs typeface="ＭＳ 明朝" panose="02020609040205080304" pitchFamily="17" charset="-128"/>
              </a:rPr>
              <a:t>伝達関数</a:t>
            </a:r>
            <a:r>
              <a:rPr lang="en-US" altLang="ja-JP" sz="1100" b="1">
                <a:latin typeface="+mj-ea"/>
                <a:ea typeface="+mj-ea"/>
                <a:cs typeface="Times New Roman" panose="02020603050405020304" pitchFamily="18" charset="0"/>
              </a:rPr>
              <a:t>Transfer Function</a:t>
            </a:r>
          </a:p>
          <a:p>
            <a:pPr algn="just"/>
            <a:endParaRPr lang="en-US" altLang="ja-JP" sz="1100" b="1">
              <a:latin typeface="+mj-ea"/>
              <a:ea typeface="+mj-ea"/>
              <a:cs typeface="Times New Roman" panose="02020603050405020304" pitchFamily="18" charset="0"/>
            </a:endParaRPr>
          </a:p>
          <a:p>
            <a:pPr algn="l"/>
            <a:r>
              <a:rPr lang="ja-JP" altLang="en-US" sz="3200" b="0" i="0">
                <a:solidFill>
                  <a:srgbClr val="000000"/>
                </a:solidFill>
                <a:effectLst/>
                <a:latin typeface="Arial" panose="020B0604020202020204" pitchFamily="34" charset="0"/>
              </a:rPr>
              <a:t>アナログフィルタは，要するに，実体としては交流電気回路であり， その入出力特性は伝達関数として定義される</a:t>
            </a:r>
            <a:endParaRPr lang="en-US" altLang="ja-JP" sz="3200" b="0" i="0">
              <a:solidFill>
                <a:srgbClr val="000000"/>
              </a:solidFill>
              <a:effectLst/>
              <a:latin typeface="Arial" panose="020B0604020202020204" pitchFamily="34" charset="0"/>
            </a:endParaRPr>
          </a:p>
          <a:p>
            <a:pPr algn="l"/>
            <a:r>
              <a:rPr lang="en-US" altLang="ja-JP" sz="1200">
                <a:solidFill>
                  <a:srgbClr val="000000"/>
                </a:solidFill>
                <a:latin typeface="Arial" panose="020B0604020202020204" pitchFamily="34" charset="0"/>
              </a:rPr>
              <a:t>Analog filters are, in essence, AC electrical circuits in substance and their input-output characteristics are defined as transfer functions.</a:t>
            </a:r>
          </a:p>
          <a:p>
            <a:pPr algn="l"/>
            <a:endParaRPr lang="ja-JP" altLang="en-US" sz="1200" b="0" i="0">
              <a:solidFill>
                <a:srgbClr val="000000"/>
              </a:solidFill>
              <a:effectLst/>
              <a:latin typeface="Arial" panose="020B0604020202020204" pitchFamily="34" charset="0"/>
            </a:endParaRPr>
          </a:p>
          <a:p>
            <a:pPr algn="l"/>
            <a:r>
              <a:rPr lang="ja-JP" altLang="en-US" sz="3200" b="0" i="0">
                <a:solidFill>
                  <a:srgbClr val="000000"/>
                </a:solidFill>
                <a:effectLst/>
                <a:latin typeface="Arial" panose="020B0604020202020204" pitchFamily="34" charset="0"/>
              </a:rPr>
              <a:t>伝達関数は「ディジタルフィルタ」でも共通概念として利用されますよ</a:t>
            </a:r>
            <a:endParaRPr lang="en-US" altLang="ja-JP" sz="3200" b="0" i="0">
              <a:solidFill>
                <a:srgbClr val="000000"/>
              </a:solidFill>
              <a:effectLst/>
              <a:latin typeface="Arial" panose="020B0604020202020204" pitchFamily="34" charset="0"/>
            </a:endParaRPr>
          </a:p>
          <a:p>
            <a:pPr algn="l"/>
            <a:r>
              <a:rPr lang="en-US" altLang="ja-JP" sz="1200">
                <a:solidFill>
                  <a:srgbClr val="000000"/>
                </a:solidFill>
                <a:latin typeface="Arial" panose="020B0604020202020204" pitchFamily="34" charset="0"/>
              </a:rPr>
              <a:t>The transfer function is also used as a common concept in digital filters</a:t>
            </a:r>
          </a:p>
          <a:p>
            <a:pPr algn="l"/>
            <a:endParaRPr lang="ja-JP" altLang="en-US" sz="1200" b="0" i="0">
              <a:solidFill>
                <a:srgbClr val="000000"/>
              </a:solidFill>
              <a:effectLst/>
              <a:latin typeface="Arial" panose="020B0604020202020204" pitchFamily="34" charset="0"/>
            </a:endParaRPr>
          </a:p>
          <a:p>
            <a:pPr algn="l"/>
            <a:r>
              <a:rPr lang="ja-JP" altLang="en-US" sz="3200" b="0" i="0">
                <a:solidFill>
                  <a:srgbClr val="000000"/>
                </a:solidFill>
                <a:effectLst/>
                <a:latin typeface="Arial" panose="020B0604020202020204" pitchFamily="34" charset="0"/>
              </a:rPr>
              <a:t>伝達関数 </a:t>
            </a:r>
            <a:r>
              <a:rPr lang="en-US" altLang="ja-JP" sz="3200" b="0" i="0">
                <a:solidFill>
                  <a:srgbClr val="000000"/>
                </a:solidFill>
                <a:effectLst/>
                <a:latin typeface="Arial" panose="020B0604020202020204" pitchFamily="34" charset="0"/>
              </a:rPr>
              <a:t>"transfer function"</a:t>
            </a:r>
            <a:r>
              <a:rPr lang="ja-JP" altLang="en-US" sz="3200" b="0" i="0">
                <a:solidFill>
                  <a:srgbClr val="000000"/>
                </a:solidFill>
                <a:effectLst/>
                <a:latin typeface="Arial" panose="020B0604020202020204" pitchFamily="34" charset="0"/>
              </a:rPr>
              <a:t>： 周波数領域における入出力の比率</a:t>
            </a:r>
            <a:endParaRPr lang="en-US" altLang="ja-JP" sz="3200" b="0" i="0">
              <a:solidFill>
                <a:srgbClr val="000000"/>
              </a:solidFill>
              <a:effectLst/>
              <a:latin typeface="Arial" panose="020B0604020202020204" pitchFamily="34" charset="0"/>
            </a:endParaRPr>
          </a:p>
          <a:p>
            <a:pPr algn="l"/>
            <a:r>
              <a:rPr lang="en-US" altLang="ja-JP" sz="1200" b="0" i="0">
                <a:solidFill>
                  <a:srgbClr val="000000"/>
                </a:solidFill>
                <a:effectLst/>
                <a:latin typeface="Arial" panose="020B0604020202020204" pitchFamily="34" charset="0"/>
              </a:rPr>
              <a:t>Transfer function </a:t>
            </a:r>
            <a:r>
              <a:rPr lang="en-US" altLang="ja-JP" sz="1200" b="0" i="0">
                <a:solidFill>
                  <a:srgbClr val="000000"/>
                </a:solidFill>
                <a:effectLst/>
                <a:latin typeface="Arial" panose="020B0604020202020204" pitchFamily="34" charset="0"/>
                <a:sym typeface="Wingdings" panose="05000000000000000000" pitchFamily="2" charset="2"/>
              </a:rPr>
              <a:t> Is the ratio of input and output in the frequency domain</a:t>
            </a:r>
            <a:endParaRPr lang="ja-JP" altLang="en-US" sz="1200" b="0" i="0">
              <a:solidFill>
                <a:srgbClr val="000000"/>
              </a:solidFill>
              <a:effectLst/>
              <a:latin typeface="Arial" panose="020B0604020202020204" pitchFamily="34" charset="0"/>
            </a:endParaRPr>
          </a:p>
          <a:p>
            <a:pPr algn="just"/>
            <a:endParaRPr lang="en-US" altLang="ja-JP" sz="1200" b="1">
              <a:latin typeface="+mj-ea"/>
              <a:ea typeface="+mj-ea"/>
              <a:cs typeface="Times New Roman" panose="02020603050405020304" pitchFamily="18"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4072546" y="252943"/>
            <a:ext cx="4773270"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sz="3200" b="1">
                <a:solidFill>
                  <a:schemeClr val="tx1"/>
                </a:solidFill>
                <a:effectLst/>
                <a:latin typeface="Calibri" panose="020F0502020204030204" pitchFamily="34" charset="0"/>
                <a:ea typeface="ＭＳ 明朝" panose="02020609040205080304" pitchFamily="17" charset="-128"/>
                <a:cs typeface="ＭＳ 明朝" panose="02020609040205080304" pitchFamily="17" charset="-128"/>
              </a:rPr>
              <a:t>伝達関数</a:t>
            </a:r>
            <a:r>
              <a:rPr lang="en-US" altLang="ja-JP" sz="1200" b="1">
                <a:solidFill>
                  <a:schemeClr val="tx1"/>
                </a:solidFill>
                <a:effectLst/>
                <a:latin typeface="Calibri" panose="020F0502020204030204" pitchFamily="34" charset="0"/>
                <a:ea typeface="ＭＳ 明朝" panose="02020609040205080304" pitchFamily="17" charset="-128"/>
                <a:cs typeface="ＭＳ 明朝" panose="02020609040205080304" pitchFamily="17" charset="-128"/>
              </a:rPr>
              <a:t>T</a:t>
            </a:r>
            <a:r>
              <a:rPr lang="en-US" altLang="ja-JP" sz="1100" b="1">
                <a:solidFill>
                  <a:schemeClr val="tx1"/>
                </a:solidFill>
                <a:effectLst/>
                <a:latin typeface="Calibri" panose="020F0502020204030204" pitchFamily="34" charset="0"/>
                <a:ea typeface="ＭＳ 明朝" panose="02020609040205080304" pitchFamily="17" charset="-128"/>
                <a:cs typeface="ＭＳ 明朝" panose="02020609040205080304" pitchFamily="17" charset="-128"/>
              </a:rPr>
              <a:t>ransfer Function</a:t>
            </a:r>
            <a:r>
              <a:rPr lang="ja-JP" altLang="en-US" sz="3200" b="1">
                <a:solidFill>
                  <a:srgbClr val="FF0000"/>
                </a:solidFill>
              </a:rPr>
              <a:t> </a:t>
            </a:r>
            <a:endParaRPr lang="en-US" sz="3200">
              <a:solidFill>
                <a:srgbClr val="FF0000"/>
              </a:solidFill>
            </a:endParaRPr>
          </a:p>
        </p:txBody>
      </p:sp>
      <p:pic>
        <p:nvPicPr>
          <p:cNvPr id="3" name="図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22449" y="1190439"/>
            <a:ext cx="2876951" cy="1143160"/>
          </a:xfrm>
          <a:prstGeom prst="rect">
            <a:avLst/>
          </a:prstGeom>
        </p:spPr>
      </p:pic>
    </p:spTree>
    <p:extLst>
      <p:ext uri="{BB962C8B-B14F-4D97-AF65-F5344CB8AC3E}">
        <p14:creationId xmlns:p14="http://schemas.microsoft.com/office/powerpoint/2010/main" val="19281136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057201"/>
          </a:xfrm>
          <a:prstGeom prst="rect">
            <a:avLst/>
          </a:prstGeom>
          <a:noFill/>
        </p:spPr>
        <p:txBody>
          <a:bodyPr wrap="square" rtlCol="0">
            <a:spAutoFit/>
          </a:bodyPr>
          <a:lstStyle/>
          <a:p>
            <a:pPr algn="just"/>
            <a:r>
              <a:rPr lang="ja-JP" sz="3200" b="1">
                <a:solidFill>
                  <a:schemeClr val="tx1"/>
                </a:solidFill>
                <a:effectLst/>
                <a:latin typeface="Calibri" panose="020F0502020204030204" pitchFamily="34" charset="0"/>
                <a:ea typeface="ＭＳ 明朝" panose="02020609040205080304" pitchFamily="17" charset="-128"/>
                <a:cs typeface="ＭＳ 明朝" panose="02020609040205080304" pitchFamily="17" charset="-128"/>
              </a:rPr>
              <a:t>伝達関数</a:t>
            </a:r>
            <a:r>
              <a:rPr lang="en-US" altLang="ja-JP" sz="1100" b="1">
                <a:latin typeface="+mj-ea"/>
                <a:ea typeface="+mj-ea"/>
                <a:cs typeface="Times New Roman" panose="02020603050405020304" pitchFamily="18" charset="0"/>
              </a:rPr>
              <a:t>Transfer Function</a:t>
            </a:r>
          </a:p>
          <a:p>
            <a:pPr algn="just"/>
            <a:endParaRPr lang="en-US" altLang="ja-JP" sz="1100" b="1">
              <a:latin typeface="+mj-ea"/>
              <a:ea typeface="+mj-ea"/>
              <a:cs typeface="Times New Roman" panose="02020603050405020304" pitchFamily="18" charset="0"/>
            </a:endParaRPr>
          </a:p>
          <a:p>
            <a:pPr algn="just"/>
            <a:endParaRPr lang="en-US" altLang="ja-JP" sz="1200" b="1">
              <a:latin typeface="+mj-ea"/>
              <a:ea typeface="+mj-ea"/>
              <a:cs typeface="Times New Roman" panose="02020603050405020304" pitchFamily="18" charset="0"/>
            </a:endParaRPr>
          </a:p>
          <a:p>
            <a:pPr algn="just"/>
            <a:endParaRPr lang="en-US" altLang="ja-JP" sz="1200" b="1">
              <a:latin typeface="+mj-ea"/>
              <a:ea typeface="+mj-ea"/>
              <a:cs typeface="Times New Roman" panose="02020603050405020304" pitchFamily="18" charset="0"/>
            </a:endParaRPr>
          </a:p>
          <a:p>
            <a:pPr marL="342900" marR="0" lvl="0" indent="-342900">
              <a:lnSpc>
                <a:spcPct val="107000"/>
              </a:lnSpc>
              <a:spcBef>
                <a:spcPts val="450"/>
              </a:spcBef>
              <a:spcAft>
                <a:spcPts val="450"/>
              </a:spcAft>
              <a:buSzPts val="1000"/>
              <a:buFont typeface="Symbol" panose="05050102010706020507" pitchFamily="18" charset="2"/>
              <a:buChar char=""/>
              <a:tabLst>
                <a:tab pos="457200" algn="l"/>
              </a:tabLst>
            </a:pPr>
            <a:r>
              <a:rPr lang="en-US" sz="1800">
                <a:effectLst/>
                <a:latin typeface="Cambria Math" panose="02040503050406030204" pitchFamily="18" charset="0"/>
                <a:ea typeface="Times New Roman" panose="02020603050405020304" pitchFamily="18" charset="0"/>
                <a:cs typeface="Cambria Math" panose="02040503050406030204" pitchFamily="18" charset="0"/>
              </a:rPr>
              <a:t>𝐻</a:t>
            </a:r>
            <a:r>
              <a:rPr lang="en-US" sz="180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a:effectLst/>
                <a:latin typeface="Cambria Math" panose="02040503050406030204" pitchFamily="18" charset="0"/>
                <a:ea typeface="Times New Roman" panose="02020603050405020304" pitchFamily="18" charset="0"/>
                <a:cs typeface="Cambria Math" panose="02040503050406030204" pitchFamily="18" charset="0"/>
              </a:rPr>
              <a:t>𝜔</a:t>
            </a:r>
            <a:r>
              <a:rPr lang="en-US" sz="1800">
                <a:effectLst/>
                <a:latin typeface="Times New Roman" panose="02020603050405020304" pitchFamily="18" charset="0"/>
                <a:ea typeface="Times New Roman" panose="02020603050405020304" pitchFamily="18" charset="0"/>
                <a:cs typeface="Times New Roman" panose="02020603050405020304" pitchFamily="18" charset="0"/>
              </a:rPr>
              <a:t>) = </a:t>
            </a:r>
            <a:r>
              <a:rPr lang="en-US" sz="1800">
                <a:effectLst/>
                <a:latin typeface="Cambria Math" panose="02040503050406030204" pitchFamily="18" charset="0"/>
                <a:ea typeface="Times New Roman" panose="02020603050405020304" pitchFamily="18" charset="0"/>
                <a:cs typeface="Cambria Math" panose="02040503050406030204" pitchFamily="18" charset="0"/>
              </a:rPr>
              <a:t>𝑉</a:t>
            </a: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out</a:t>
            </a:r>
            <a:r>
              <a:rPr lang="en-US" sz="180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a:effectLst/>
                <a:latin typeface="Cambria Math" panose="02040503050406030204" pitchFamily="18" charset="0"/>
                <a:ea typeface="Times New Roman" panose="02020603050405020304" pitchFamily="18" charset="0"/>
                <a:cs typeface="Cambria Math" panose="02040503050406030204" pitchFamily="18" charset="0"/>
              </a:rPr>
              <a:t>𝜔</a:t>
            </a:r>
            <a:r>
              <a:rPr lang="en-US" sz="1800">
                <a:effectLst/>
                <a:latin typeface="Times New Roman" panose="02020603050405020304" pitchFamily="18" charset="0"/>
                <a:ea typeface="Times New Roman" panose="02020603050405020304" pitchFamily="18" charset="0"/>
                <a:cs typeface="Times New Roman" panose="02020603050405020304" pitchFamily="18" charset="0"/>
              </a:rPr>
              <a:t>)  /  </a:t>
            </a:r>
            <a:r>
              <a:rPr lang="en-US" sz="1800">
                <a:effectLst/>
                <a:latin typeface="Cambria Math" panose="02040503050406030204" pitchFamily="18" charset="0"/>
                <a:ea typeface="Times New Roman" panose="02020603050405020304" pitchFamily="18" charset="0"/>
                <a:cs typeface="Cambria Math" panose="02040503050406030204" pitchFamily="18" charset="0"/>
              </a:rPr>
              <a:t>𝑉</a:t>
            </a: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in</a:t>
            </a:r>
            <a:r>
              <a:rPr lang="en-US" sz="180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a:effectLst/>
                <a:latin typeface="Cambria Math" panose="02040503050406030204" pitchFamily="18" charset="0"/>
                <a:ea typeface="Times New Roman" panose="02020603050405020304" pitchFamily="18" charset="0"/>
                <a:cs typeface="Cambria Math" panose="02040503050406030204" pitchFamily="18" charset="0"/>
              </a:rPr>
              <a:t>𝜔</a:t>
            </a:r>
            <a:r>
              <a:rPr lang="en-US" sz="1800">
                <a:effectLst/>
                <a:latin typeface="Times New Roman" panose="02020603050405020304" pitchFamily="18" charset="0"/>
                <a:ea typeface="Times New Roman" panose="02020603050405020304" pitchFamily="18" charset="0"/>
                <a:cs typeface="Times New Roman" panose="02020603050405020304" pitchFamily="18" charset="0"/>
              </a:rPr>
              <a:t>) </a:t>
            </a:r>
          </a:p>
          <a:p>
            <a:pPr marL="342900" marR="0" lvl="0" indent="-342900">
              <a:lnSpc>
                <a:spcPct val="107000"/>
              </a:lnSpc>
              <a:spcBef>
                <a:spcPts val="450"/>
              </a:spcBef>
              <a:spcAft>
                <a:spcPts val="450"/>
              </a:spcAft>
              <a:buSzPts val="1000"/>
              <a:buFont typeface="Symbol" panose="05050102010706020507" pitchFamily="18" charset="2"/>
              <a:buChar char=""/>
              <a:tabLst>
                <a:tab pos="457200" algn="l"/>
              </a:tabLst>
            </a:pPr>
            <a:endParaRPr lang="en-US">
              <a:latin typeface="Times New Roman" panose="02020603050405020304" pitchFamily="18" charset="0"/>
              <a:ea typeface="游明朝" panose="02020400000000000000" pitchFamily="18" charset="-128"/>
              <a:cs typeface="Times New Roman" panose="02020603050405020304" pitchFamily="18" charset="0"/>
            </a:endParaRPr>
          </a:p>
          <a:p>
            <a:pPr marR="0" lvl="0">
              <a:lnSpc>
                <a:spcPct val="107000"/>
              </a:lnSpc>
              <a:spcBef>
                <a:spcPts val="450"/>
              </a:spcBef>
              <a:spcAft>
                <a:spcPts val="450"/>
              </a:spcAft>
              <a:buSzPts val="1000"/>
              <a:tabLst>
                <a:tab pos="457200" algn="l"/>
              </a:tabLst>
            </a:pPr>
            <a:r>
              <a:rPr lang="ja-JP" sz="2800">
                <a:effectLst/>
                <a:latin typeface="+mn-ea"/>
                <a:ea typeface="+mn-ea"/>
                <a:cs typeface="ＭＳ 明朝" panose="02020609040205080304" pitchFamily="17" charset="-128"/>
              </a:rPr>
              <a:t>ここで，</a:t>
            </a:r>
            <a:r>
              <a:rPr lang="en-US" sz="2800">
                <a:effectLst/>
                <a:latin typeface="+mn-ea"/>
                <a:ea typeface="+mn-ea"/>
                <a:cs typeface="Cambria Math" panose="02040503050406030204" pitchFamily="18" charset="0"/>
              </a:rPr>
              <a:t>𝑉</a:t>
            </a:r>
            <a:r>
              <a:rPr lang="en-US" sz="2800">
                <a:effectLst/>
                <a:latin typeface="+mn-ea"/>
                <a:ea typeface="+mn-ea"/>
              </a:rPr>
              <a:t>(</a:t>
            </a:r>
            <a:r>
              <a:rPr lang="en-US" sz="2800">
                <a:effectLst/>
                <a:latin typeface="+mn-ea"/>
                <a:ea typeface="+mn-ea"/>
                <a:cs typeface="Cambria Math" panose="02040503050406030204" pitchFamily="18" charset="0"/>
              </a:rPr>
              <a:t>𝜔</a:t>
            </a:r>
            <a:r>
              <a:rPr lang="en-US" sz="2800">
                <a:effectLst/>
                <a:latin typeface="+mn-ea"/>
                <a:ea typeface="+mn-ea"/>
              </a:rPr>
              <a:t>) </a:t>
            </a:r>
            <a:r>
              <a:rPr lang="ja-JP" sz="2800">
                <a:effectLst/>
                <a:latin typeface="+mn-ea"/>
                <a:ea typeface="+mn-ea"/>
                <a:cs typeface="ＭＳ 明朝" panose="02020609040205080304" pitchFamily="17" charset="-128"/>
              </a:rPr>
              <a:t>は，交流電気回路における電圧フェーザですが，</a:t>
            </a:r>
            <a:r>
              <a:rPr lang="ja-JP" sz="2800">
                <a:effectLst/>
                <a:latin typeface="+mn-ea"/>
                <a:ea typeface="+mn-ea"/>
              </a:rPr>
              <a:t> </a:t>
            </a:r>
            <a:r>
              <a:rPr lang="ja-JP" sz="2800">
                <a:effectLst/>
                <a:latin typeface="+mn-ea"/>
                <a:ea typeface="+mn-ea"/>
                <a:cs typeface="ＭＳ 明朝" panose="02020609040205080304" pitchFamily="17" charset="-128"/>
              </a:rPr>
              <a:t>信号処理におけるスペクトル成分</a:t>
            </a:r>
            <a:r>
              <a:rPr lang="en-US" sz="2800">
                <a:effectLst/>
                <a:latin typeface="+mn-ea"/>
                <a:ea typeface="+mn-ea"/>
              </a:rPr>
              <a:t> </a:t>
            </a:r>
            <a:r>
              <a:rPr lang="en-US" sz="2800">
                <a:effectLst/>
                <a:latin typeface="+mn-ea"/>
                <a:ea typeface="+mn-ea"/>
                <a:cs typeface="Cambria Math" panose="02040503050406030204" pitchFamily="18" charset="0"/>
              </a:rPr>
              <a:t>𝑋</a:t>
            </a:r>
            <a:r>
              <a:rPr lang="en-US" sz="2800">
                <a:effectLst/>
                <a:latin typeface="+mn-ea"/>
                <a:ea typeface="+mn-ea"/>
              </a:rPr>
              <a:t>(</a:t>
            </a:r>
            <a:r>
              <a:rPr lang="en-US" sz="2800">
                <a:effectLst/>
                <a:latin typeface="+mn-ea"/>
                <a:ea typeface="+mn-ea"/>
                <a:cs typeface="Cambria Math" panose="02040503050406030204" pitchFamily="18" charset="0"/>
              </a:rPr>
              <a:t>𝜔</a:t>
            </a:r>
            <a:r>
              <a:rPr lang="en-US" sz="2800">
                <a:effectLst/>
                <a:latin typeface="+mn-ea"/>
                <a:ea typeface="+mn-ea"/>
              </a:rPr>
              <a:t>) </a:t>
            </a:r>
            <a:r>
              <a:rPr lang="ja-JP" sz="2800">
                <a:effectLst/>
                <a:latin typeface="+mn-ea"/>
                <a:ea typeface="+mn-ea"/>
                <a:cs typeface="ＭＳ 明朝" panose="02020609040205080304" pitchFamily="17" charset="-128"/>
              </a:rPr>
              <a:t>とか</a:t>
            </a:r>
            <a:r>
              <a:rPr lang="en-US" sz="2800">
                <a:effectLst/>
                <a:latin typeface="+mn-ea"/>
                <a:ea typeface="+mn-ea"/>
              </a:rPr>
              <a:t> </a:t>
            </a:r>
            <a:r>
              <a:rPr lang="en-US" sz="2800">
                <a:effectLst/>
                <a:latin typeface="+mn-ea"/>
                <a:ea typeface="+mn-ea"/>
                <a:cs typeface="Cambria Math" panose="02040503050406030204" pitchFamily="18" charset="0"/>
              </a:rPr>
              <a:t>𝑋</a:t>
            </a:r>
            <a:r>
              <a:rPr lang="en-US">
                <a:effectLst/>
                <a:latin typeface="+mn-ea"/>
                <a:ea typeface="+mn-ea"/>
                <a:cs typeface="Cambria Math" panose="02040503050406030204" pitchFamily="18" charset="0"/>
              </a:rPr>
              <a:t>𝑘</a:t>
            </a:r>
            <a:r>
              <a:rPr lang="en-US" sz="2800">
                <a:effectLst/>
                <a:latin typeface="+mn-ea"/>
                <a:ea typeface="+mn-ea"/>
              </a:rPr>
              <a:t> </a:t>
            </a:r>
            <a:r>
              <a:rPr lang="ja-JP" sz="2800">
                <a:effectLst/>
                <a:latin typeface="+mn-ea"/>
                <a:ea typeface="+mn-ea"/>
                <a:cs typeface="ＭＳ 明朝" panose="02020609040205080304" pitchFamily="17" charset="-128"/>
              </a:rPr>
              <a:t>と同義ですよ．</a:t>
            </a:r>
            <a:r>
              <a:rPr lang="ja-JP" sz="2800">
                <a:effectLst/>
                <a:latin typeface="+mn-ea"/>
                <a:ea typeface="+mn-ea"/>
              </a:rPr>
              <a:t> </a:t>
            </a:r>
            <a:r>
              <a:rPr lang="ja-JP" sz="2800">
                <a:effectLst/>
                <a:latin typeface="+mn-ea"/>
                <a:ea typeface="+mn-ea"/>
                <a:cs typeface="ＭＳ 明朝" panose="02020609040205080304" pitchFamily="17" charset="-128"/>
              </a:rPr>
              <a:t>また，角周波数</a:t>
            </a:r>
            <a:r>
              <a:rPr lang="en-US" sz="2800">
                <a:effectLst/>
                <a:latin typeface="+mn-ea"/>
                <a:ea typeface="+mn-ea"/>
              </a:rPr>
              <a:t> </a:t>
            </a:r>
            <a:r>
              <a:rPr lang="en-US" sz="2800">
                <a:effectLst/>
                <a:latin typeface="+mn-ea"/>
                <a:ea typeface="+mn-ea"/>
                <a:cs typeface="Cambria Math" panose="02040503050406030204" pitchFamily="18" charset="0"/>
              </a:rPr>
              <a:t>𝜔</a:t>
            </a:r>
            <a:r>
              <a:rPr lang="en-US" sz="2800">
                <a:effectLst/>
                <a:latin typeface="+mn-ea"/>
                <a:ea typeface="+mn-ea"/>
              </a:rPr>
              <a:t> </a:t>
            </a:r>
            <a:r>
              <a:rPr lang="ja-JP" sz="2800">
                <a:effectLst/>
                <a:latin typeface="+mn-ea"/>
                <a:ea typeface="+mn-ea"/>
                <a:cs typeface="ＭＳ 明朝" panose="02020609040205080304" pitchFamily="17" charset="-128"/>
              </a:rPr>
              <a:t>は，周波数</a:t>
            </a:r>
            <a:r>
              <a:rPr lang="en-US" sz="2800">
                <a:effectLst/>
                <a:latin typeface="+mn-ea"/>
                <a:ea typeface="+mn-ea"/>
              </a:rPr>
              <a:t> </a:t>
            </a:r>
            <a:r>
              <a:rPr lang="en-US" sz="2800">
                <a:effectLst/>
                <a:latin typeface="+mn-ea"/>
                <a:ea typeface="+mn-ea"/>
                <a:cs typeface="Cambria Math" panose="02040503050406030204" pitchFamily="18" charset="0"/>
              </a:rPr>
              <a:t>𝑓</a:t>
            </a:r>
            <a:r>
              <a:rPr lang="en-US" sz="2800">
                <a:effectLst/>
                <a:latin typeface="+mn-ea"/>
                <a:ea typeface="+mn-ea"/>
              </a:rPr>
              <a:t> </a:t>
            </a:r>
            <a:r>
              <a:rPr lang="ja-JP" sz="2800">
                <a:effectLst/>
                <a:latin typeface="+mn-ea"/>
                <a:ea typeface="+mn-ea"/>
                <a:cs typeface="ＭＳ 明朝" panose="02020609040205080304" pitchFamily="17" charset="-128"/>
              </a:rPr>
              <a:t>に読替えても</a:t>
            </a:r>
            <a:r>
              <a:rPr lang="en-US" sz="2800">
                <a:effectLst/>
                <a:latin typeface="+mn-ea"/>
                <a:ea typeface="+mn-ea"/>
              </a:rPr>
              <a:t> OK</a:t>
            </a:r>
          </a:p>
          <a:p>
            <a:pPr marR="0" lvl="0">
              <a:lnSpc>
                <a:spcPct val="107000"/>
              </a:lnSpc>
              <a:spcBef>
                <a:spcPts val="450"/>
              </a:spcBef>
              <a:spcAft>
                <a:spcPts val="450"/>
              </a:spcAft>
              <a:buSzPts val="1000"/>
              <a:tabLst>
                <a:tab pos="457200" algn="l"/>
              </a:tabLst>
            </a:pPr>
            <a:r>
              <a:rPr lang="en-US" sz="1200">
                <a:latin typeface="+mn-ea"/>
                <a:ea typeface="+mn-ea"/>
                <a:cs typeface="Times New Roman" panose="02020603050405020304" pitchFamily="18" charset="0"/>
              </a:rPr>
              <a:t>Where  </a:t>
            </a:r>
            <a:r>
              <a:rPr lang="en-US" sz="1200">
                <a:effectLst/>
                <a:latin typeface="+mn-ea"/>
                <a:ea typeface="+mn-ea"/>
                <a:cs typeface="Cambria Math" panose="02040503050406030204" pitchFamily="18" charset="0"/>
              </a:rPr>
              <a:t>𝑉</a:t>
            </a:r>
            <a:r>
              <a:rPr lang="en-US" sz="1200">
                <a:effectLst/>
                <a:latin typeface="+mn-ea"/>
                <a:ea typeface="+mn-ea"/>
              </a:rPr>
              <a:t>(</a:t>
            </a:r>
            <a:r>
              <a:rPr lang="en-US" sz="1200">
                <a:effectLst/>
                <a:latin typeface="+mn-ea"/>
                <a:ea typeface="+mn-ea"/>
                <a:cs typeface="Cambria Math" panose="02040503050406030204" pitchFamily="18" charset="0"/>
              </a:rPr>
              <a:t>𝜔</a:t>
            </a:r>
            <a:r>
              <a:rPr lang="en-US" sz="1200">
                <a:effectLst/>
                <a:latin typeface="+mn-ea"/>
                <a:ea typeface="+mn-ea"/>
              </a:rPr>
              <a:t>) is the voltage phasor in AC electrical circuits, but is synonymous with the spectral component  </a:t>
            </a:r>
            <a:r>
              <a:rPr lang="en-US" sz="1200">
                <a:effectLst/>
                <a:latin typeface="+mn-ea"/>
                <a:ea typeface="+mn-ea"/>
                <a:cs typeface="Cambria Math" panose="02040503050406030204" pitchFamily="18" charset="0"/>
              </a:rPr>
              <a:t>𝑋</a:t>
            </a:r>
            <a:r>
              <a:rPr lang="en-US" sz="1200">
                <a:effectLst/>
                <a:latin typeface="+mn-ea"/>
                <a:ea typeface="+mn-ea"/>
              </a:rPr>
              <a:t>(</a:t>
            </a:r>
            <a:r>
              <a:rPr lang="en-US" sz="1200">
                <a:effectLst/>
                <a:latin typeface="+mn-ea"/>
                <a:ea typeface="+mn-ea"/>
                <a:cs typeface="Cambria Math" panose="02040503050406030204" pitchFamily="18" charset="0"/>
              </a:rPr>
              <a:t>𝜔</a:t>
            </a:r>
            <a:r>
              <a:rPr lang="en-US" sz="1200">
                <a:effectLst/>
                <a:latin typeface="+mn-ea"/>
                <a:ea typeface="+mn-ea"/>
              </a:rPr>
              <a:t>) or </a:t>
            </a:r>
            <a:r>
              <a:rPr lang="en-US" sz="1200">
                <a:effectLst/>
                <a:latin typeface="+mn-ea"/>
                <a:ea typeface="+mn-ea"/>
                <a:cs typeface="Cambria Math" panose="02040503050406030204" pitchFamily="18" charset="0"/>
              </a:rPr>
              <a:t>𝑋𝑘</a:t>
            </a:r>
            <a:r>
              <a:rPr lang="en-US" sz="1200">
                <a:effectLst/>
                <a:latin typeface="+mn-ea"/>
                <a:ea typeface="+mn-ea"/>
              </a:rPr>
              <a:t> in signal processing. Also, the angular frequency </a:t>
            </a:r>
            <a:r>
              <a:rPr lang="en-US" sz="1200">
                <a:effectLst/>
                <a:latin typeface="+mn-ea"/>
                <a:ea typeface="+mn-ea"/>
                <a:cs typeface="Cambria Math" panose="02040503050406030204" pitchFamily="18" charset="0"/>
              </a:rPr>
              <a:t>𝜔</a:t>
            </a:r>
          </a:p>
          <a:p>
            <a:pPr marR="0" lvl="0">
              <a:lnSpc>
                <a:spcPct val="107000"/>
              </a:lnSpc>
              <a:spcBef>
                <a:spcPts val="450"/>
              </a:spcBef>
              <a:spcAft>
                <a:spcPts val="450"/>
              </a:spcAft>
              <a:buSzPts val="1000"/>
              <a:tabLst>
                <a:tab pos="457200" algn="l"/>
              </a:tabLst>
            </a:pPr>
            <a:r>
              <a:rPr lang="en-US" sz="1200">
                <a:latin typeface="+mn-ea"/>
                <a:ea typeface="+mn-ea"/>
                <a:cs typeface="Times New Roman" panose="02020603050405020304" pitchFamily="18" charset="0"/>
              </a:rPr>
              <a:t>Can be replaced by the frequency </a:t>
            </a:r>
            <a:r>
              <a:rPr lang="en-US" sz="1200">
                <a:effectLst/>
                <a:latin typeface="+mn-ea"/>
                <a:ea typeface="+mn-ea"/>
              </a:rPr>
              <a:t> </a:t>
            </a:r>
            <a:r>
              <a:rPr lang="en-US" sz="1200">
                <a:effectLst/>
                <a:latin typeface="+mn-ea"/>
                <a:ea typeface="+mn-ea"/>
                <a:cs typeface="Cambria Math" panose="02040503050406030204" pitchFamily="18" charset="0"/>
              </a:rPr>
              <a:t>𝑓</a:t>
            </a:r>
            <a:r>
              <a:rPr lang="en-US" sz="1200">
                <a:effectLst/>
                <a:latin typeface="+mn-ea"/>
                <a:ea typeface="+mn-ea"/>
              </a:rPr>
              <a:t> </a:t>
            </a:r>
            <a:endParaRPr lang="en-US" sz="1200">
              <a:effectLst/>
              <a:latin typeface="+mn-ea"/>
              <a:ea typeface="+mn-ea"/>
              <a:cs typeface="Times New Roman" panose="02020603050405020304" pitchFamily="18"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4072546" y="252943"/>
            <a:ext cx="4773270"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sz="3200" b="1">
                <a:solidFill>
                  <a:schemeClr val="tx1"/>
                </a:solidFill>
                <a:effectLst/>
                <a:latin typeface="Calibri" panose="020F0502020204030204" pitchFamily="34" charset="0"/>
                <a:ea typeface="ＭＳ 明朝" panose="02020609040205080304" pitchFamily="17" charset="-128"/>
                <a:cs typeface="ＭＳ 明朝" panose="02020609040205080304" pitchFamily="17" charset="-128"/>
              </a:rPr>
              <a:t>伝達関数</a:t>
            </a:r>
            <a:r>
              <a:rPr lang="en-US" altLang="ja-JP" sz="1200" b="1">
                <a:solidFill>
                  <a:schemeClr val="tx1"/>
                </a:solidFill>
                <a:effectLst/>
                <a:latin typeface="Calibri" panose="020F0502020204030204" pitchFamily="34" charset="0"/>
                <a:ea typeface="ＭＳ 明朝" panose="02020609040205080304" pitchFamily="17" charset="-128"/>
                <a:cs typeface="ＭＳ 明朝" panose="02020609040205080304" pitchFamily="17" charset="-128"/>
              </a:rPr>
              <a:t>T</a:t>
            </a:r>
            <a:r>
              <a:rPr lang="en-US" altLang="ja-JP" sz="1100" b="1">
                <a:solidFill>
                  <a:schemeClr val="tx1"/>
                </a:solidFill>
                <a:effectLst/>
                <a:latin typeface="Calibri" panose="020F0502020204030204" pitchFamily="34" charset="0"/>
                <a:ea typeface="ＭＳ 明朝" panose="02020609040205080304" pitchFamily="17" charset="-128"/>
                <a:cs typeface="ＭＳ 明朝" panose="02020609040205080304" pitchFamily="17" charset="-128"/>
              </a:rPr>
              <a:t>ransfer Function</a:t>
            </a:r>
            <a:r>
              <a:rPr lang="ja-JP" altLang="en-US" sz="3200" b="1">
                <a:solidFill>
                  <a:srgbClr val="FF0000"/>
                </a:solidFill>
              </a:rPr>
              <a:t> </a:t>
            </a:r>
            <a:endParaRPr lang="en-US" sz="3200">
              <a:solidFill>
                <a:srgbClr val="FF0000"/>
              </a:solidFill>
            </a:endParaRPr>
          </a:p>
        </p:txBody>
      </p:sp>
      <p:pic>
        <p:nvPicPr>
          <p:cNvPr id="6" name="図 2">
            <a:extLst>
              <a:ext uri="{FF2B5EF4-FFF2-40B4-BE49-F238E27FC236}">
                <a16:creationId xmlns:a16="http://schemas.microsoft.com/office/drawing/2014/main" id="{C2CEF599-82ED-7A0C-31CE-C795A956D18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22449" y="1190439"/>
            <a:ext cx="2876951" cy="1143160"/>
          </a:xfrm>
          <a:prstGeom prst="rect">
            <a:avLst/>
          </a:prstGeom>
        </p:spPr>
      </p:pic>
    </p:spTree>
    <p:extLst>
      <p:ext uri="{BB962C8B-B14F-4D97-AF65-F5344CB8AC3E}">
        <p14:creationId xmlns:p14="http://schemas.microsoft.com/office/powerpoint/2010/main" val="10594820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3492816"/>
              </a:xfrm>
              <a:prstGeom prst="rect">
                <a:avLst/>
              </a:prstGeom>
              <a:noFill/>
            </p:spPr>
            <p:txBody>
              <a:bodyPr wrap="square" rtlCol="0">
                <a:spAutoFit/>
              </a:bodyPr>
              <a:lstStyle/>
              <a:p>
                <a:pPr algn="just"/>
                <a:r>
                  <a:rPr lang="ja-JP" sz="3200">
                    <a:effectLst/>
                    <a:latin typeface="+mn-ea"/>
                    <a:ea typeface="+mn-ea"/>
                    <a:cs typeface="ＭＳ 明朝" panose="02020609040205080304" pitchFamily="17" charset="-128"/>
                  </a:rPr>
                  <a:t>単純な例：</a:t>
                </a:r>
                <a:r>
                  <a:rPr lang="en-US" sz="3200">
                    <a:effectLst/>
                    <a:latin typeface="+mn-ea"/>
                    <a:ea typeface="+mn-ea"/>
                    <a:cs typeface="Cambria Math" panose="02040503050406030204" pitchFamily="18" charset="0"/>
                  </a:rPr>
                  <a:t>𝑅𝐿</a:t>
                </a:r>
                <a:r>
                  <a:rPr lang="en-US" sz="3200">
                    <a:effectLst/>
                    <a:latin typeface="+mn-ea"/>
                    <a:ea typeface="+mn-ea"/>
                  </a:rPr>
                  <a:t> </a:t>
                </a:r>
                <a:r>
                  <a:rPr lang="ja-JP" sz="3200">
                    <a:effectLst/>
                    <a:latin typeface="+mn-ea"/>
                    <a:ea typeface="+mn-ea"/>
                    <a:cs typeface="ＭＳ 明朝" panose="02020609040205080304" pitchFamily="17" charset="-128"/>
                  </a:rPr>
                  <a:t>直列回路の伝達関数の絶対値</a:t>
                </a:r>
                <a:r>
                  <a:rPr lang="en-US" altLang="ja-JP" sz="1100" b="1">
                    <a:latin typeface="+mn-ea"/>
                    <a:ea typeface="+mn-ea"/>
                    <a:cs typeface="Times New Roman" panose="02020603050405020304" pitchFamily="18" charset="0"/>
                  </a:rPr>
                  <a:t>Ex.</a:t>
                </a:r>
                <a:r>
                  <a:rPr lang="en-US" altLang="ja-JP" sz="1100" b="1">
                    <a:effectLst/>
                    <a:latin typeface="+mn-ea"/>
                    <a:ea typeface="+mn-ea"/>
                    <a:cs typeface="Times New Roman" panose="02020603050405020304" pitchFamily="18" charset="0"/>
                  </a:rPr>
                  <a:t>: </a:t>
                </a:r>
                <a:r>
                  <a:rPr lang="en-US" altLang="ja-JP" sz="1100" b="1">
                    <a:latin typeface="+mn-ea"/>
                    <a:ea typeface="+mn-ea"/>
                    <a:cs typeface="Times New Roman" panose="02020603050405020304" pitchFamily="18" charset="0"/>
                  </a:rPr>
                  <a:t>RL Absolute value of the transfer function of a series circuit.</a:t>
                </a:r>
              </a:p>
              <a:p>
                <a:pPr algn="just"/>
                <a:endParaRPr lang="en-US" altLang="ja-JP" sz="1100" b="1">
                  <a:latin typeface="+mn-ea"/>
                  <a:ea typeface="+mn-ea"/>
                  <a:cs typeface="Times New Roman" panose="02020603050405020304" pitchFamily="18" charset="0"/>
                </a:endParaRPr>
              </a:p>
              <a:p>
                <a:pPr algn="just"/>
                <a:endParaRPr lang="en-US" altLang="ja-JP" sz="1200" b="1">
                  <a:latin typeface="+mn-ea"/>
                  <a:ea typeface="+mn-ea"/>
                  <a:cs typeface="Times New Roman" panose="02020603050405020304" pitchFamily="18" charset="0"/>
                </a:endParaRPr>
              </a:p>
              <a:p>
                <a:pPr marL="342900" marR="0" lvl="0" indent="-342900">
                  <a:lnSpc>
                    <a:spcPct val="107000"/>
                  </a:lnSpc>
                  <a:spcBef>
                    <a:spcPts val="450"/>
                  </a:spcBef>
                  <a:spcAft>
                    <a:spcPts val="450"/>
                  </a:spcAft>
                  <a:buSzPts val="1000"/>
                  <a:buFont typeface="Symbol" panose="05050102010706020507" pitchFamily="18" charset="2"/>
                  <a:buChar char=""/>
                  <a:tabLst>
                    <a:tab pos="457200" algn="l"/>
                  </a:tabLst>
                </a:pPr>
                <a:r>
                  <a:rPr lang="en-US" sz="3200">
                    <a:effectLst/>
                    <a:latin typeface="+mn-ea"/>
                    <a:ea typeface="+mn-ea"/>
                    <a:cs typeface="Times New Roman" panose="02020603050405020304" pitchFamily="18" charset="0"/>
                  </a:rPr>
                  <a:t>|</a:t>
                </a:r>
                <a:r>
                  <a:rPr lang="en-US" sz="3200">
                    <a:effectLst/>
                    <a:latin typeface="+mn-ea"/>
                    <a:ea typeface="+mn-ea"/>
                    <a:cs typeface="Cambria Math" panose="02040503050406030204" pitchFamily="18" charset="0"/>
                  </a:rPr>
                  <a:t>𝐻</a:t>
                </a:r>
                <a:r>
                  <a:rPr lang="en-US" sz="3200">
                    <a:effectLst/>
                    <a:latin typeface="+mn-ea"/>
                    <a:ea typeface="+mn-ea"/>
                    <a:cs typeface="Times New Roman" panose="02020603050405020304" pitchFamily="18" charset="0"/>
                  </a:rPr>
                  <a:t>(</a:t>
                </a:r>
                <a:r>
                  <a:rPr lang="en-US" sz="3200">
                    <a:effectLst/>
                    <a:latin typeface="+mn-ea"/>
                    <a:ea typeface="+mn-ea"/>
                    <a:cs typeface="Cambria Math" panose="02040503050406030204" pitchFamily="18" charset="0"/>
                  </a:rPr>
                  <a:t>𝜔</a:t>
                </a:r>
                <a:r>
                  <a:rPr lang="en-US" sz="3200">
                    <a:effectLst/>
                    <a:latin typeface="+mn-ea"/>
                    <a:ea typeface="+mn-ea"/>
                    <a:cs typeface="Times New Roman" panose="02020603050405020304" pitchFamily="18" charset="0"/>
                  </a:rPr>
                  <a:t>)| = | </a:t>
                </a:r>
                <a:r>
                  <a:rPr lang="en-US" sz="3200">
                    <a:effectLst/>
                    <a:latin typeface="+mn-ea"/>
                    <a:ea typeface="+mn-ea"/>
                    <a:cs typeface="Cambria Math" panose="02040503050406030204" pitchFamily="18" charset="0"/>
                  </a:rPr>
                  <a:t>𝑉</a:t>
                </a:r>
                <a:r>
                  <a:rPr lang="en-US" sz="1600">
                    <a:effectLst/>
                    <a:latin typeface="+mn-ea"/>
                    <a:ea typeface="+mn-ea"/>
                    <a:cs typeface="Cambria Math" panose="02040503050406030204" pitchFamily="18" charset="0"/>
                  </a:rPr>
                  <a:t>𝑅</a:t>
                </a:r>
                <a:r>
                  <a:rPr lang="en-US" sz="3200">
                    <a:effectLst/>
                    <a:latin typeface="+mn-ea"/>
                    <a:ea typeface="+mn-ea"/>
                    <a:cs typeface="Times New Roman" panose="02020603050405020304" pitchFamily="18" charset="0"/>
                  </a:rPr>
                  <a:t> / </a:t>
                </a:r>
                <a:r>
                  <a:rPr lang="en-US" sz="3200">
                    <a:effectLst/>
                    <a:latin typeface="+mn-ea"/>
                    <a:ea typeface="+mn-ea"/>
                    <a:cs typeface="Cambria Math" panose="02040503050406030204" pitchFamily="18" charset="0"/>
                  </a:rPr>
                  <a:t>𝑉</a:t>
                </a:r>
                <a:r>
                  <a:rPr lang="en-US" sz="1600">
                    <a:effectLst/>
                    <a:latin typeface="+mn-ea"/>
                    <a:ea typeface="+mn-ea"/>
                    <a:cs typeface="Times New Roman" panose="02020603050405020304" pitchFamily="18" charset="0"/>
                  </a:rPr>
                  <a:t>in</a:t>
                </a:r>
                <a:r>
                  <a:rPr lang="en-US" sz="3200">
                    <a:effectLst/>
                    <a:latin typeface="+mn-ea"/>
                    <a:ea typeface="+mn-ea"/>
                    <a:cs typeface="Times New Roman" panose="02020603050405020304" pitchFamily="18" charset="0"/>
                  </a:rPr>
                  <a:t> | = | </a:t>
                </a:r>
                <a:r>
                  <a:rPr lang="en-US" sz="3200">
                    <a:effectLst/>
                    <a:latin typeface="+mn-ea"/>
                    <a:ea typeface="+mn-ea"/>
                    <a:cs typeface="Cambria Math" panose="02040503050406030204" pitchFamily="18" charset="0"/>
                  </a:rPr>
                  <a:t>𝑍</a:t>
                </a:r>
                <a:r>
                  <a:rPr lang="en-US" sz="1600">
                    <a:effectLst/>
                    <a:latin typeface="+mn-ea"/>
                    <a:ea typeface="+mn-ea"/>
                    <a:cs typeface="Cambria Math" panose="02040503050406030204" pitchFamily="18" charset="0"/>
                  </a:rPr>
                  <a:t>𝑅</a:t>
                </a:r>
                <a:r>
                  <a:rPr lang="en-US" sz="3200">
                    <a:effectLst/>
                    <a:latin typeface="+mn-ea"/>
                    <a:ea typeface="+mn-ea"/>
                    <a:cs typeface="Times New Roman" panose="02020603050405020304" pitchFamily="18" charset="0"/>
                  </a:rPr>
                  <a:t> / </a:t>
                </a:r>
                <a:r>
                  <a:rPr lang="en-US" sz="3200">
                    <a:effectLst/>
                    <a:latin typeface="+mn-ea"/>
                    <a:ea typeface="+mn-ea"/>
                    <a:cs typeface="Cambria Math" panose="02040503050406030204" pitchFamily="18" charset="0"/>
                  </a:rPr>
                  <a:t>𝑍</a:t>
                </a:r>
                <a:r>
                  <a:rPr lang="en-US" sz="3200">
                    <a:effectLst/>
                    <a:latin typeface="+mn-ea"/>
                    <a:ea typeface="+mn-ea"/>
                    <a:cs typeface="Times New Roman" panose="02020603050405020304" pitchFamily="18" charset="0"/>
                  </a:rPr>
                  <a:t> | = </a:t>
                </a:r>
                <a:r>
                  <a:rPr lang="en-US" sz="3200">
                    <a:effectLst/>
                    <a:latin typeface="+mn-ea"/>
                    <a:ea typeface="+mn-ea"/>
                    <a:cs typeface="Cambria Math" panose="02040503050406030204" pitchFamily="18" charset="0"/>
                  </a:rPr>
                  <a:t>𝑅</a:t>
                </a:r>
                <a:r>
                  <a:rPr lang="en-US" sz="3200">
                    <a:effectLst/>
                    <a:latin typeface="+mn-ea"/>
                    <a:ea typeface="+mn-ea"/>
                    <a:cs typeface="Times New Roman" panose="02020603050405020304" pitchFamily="18" charset="0"/>
                  </a:rPr>
                  <a:t> / </a:t>
                </a:r>
                <a14:m>
                  <m:oMath xmlns:m="http://schemas.openxmlformats.org/officeDocument/2006/math">
                    <m:rad>
                      <m:radPr>
                        <m:degHide m:val="on"/>
                        <m:ctrlPr>
                          <a:rPr lang="en-US" sz="3200" i="1" smtClean="0">
                            <a:solidFill>
                              <a:srgbClr val="836967"/>
                            </a:solidFill>
                            <a:effectLst/>
                            <a:latin typeface="Cambria Math" panose="02040503050406030204" pitchFamily="18" charset="0"/>
                            <a:ea typeface="+mn-ea"/>
                          </a:rPr>
                        </m:ctrlPr>
                      </m:radPr>
                      <m:deg/>
                      <m:e>
                        <m:sSup>
                          <m:sSupPr>
                            <m:ctrlPr>
                              <a:rPr lang="en-US" sz="3200" b="0" i="1" smtClean="0">
                                <a:effectLst/>
                                <a:latin typeface="Cambria Math" panose="02040503050406030204" pitchFamily="18" charset="0"/>
                                <a:ea typeface="+mn-ea"/>
                              </a:rPr>
                            </m:ctrlPr>
                          </m:sSupPr>
                          <m:e>
                            <m:r>
                              <a:rPr lang="en-US" sz="3200" b="0" i="1" smtClean="0">
                                <a:effectLst/>
                                <a:latin typeface="Cambria Math" panose="02040503050406030204" pitchFamily="18" charset="0"/>
                                <a:ea typeface="+mn-ea"/>
                              </a:rPr>
                              <m:t>𝑅</m:t>
                            </m:r>
                          </m:e>
                          <m:sup>
                            <m:r>
                              <a:rPr lang="en-US" sz="3200" b="0" i="1" smtClean="0">
                                <a:effectLst/>
                                <a:latin typeface="Cambria Math" panose="02040503050406030204" pitchFamily="18" charset="0"/>
                                <a:ea typeface="+mn-ea"/>
                              </a:rPr>
                              <m:t>2</m:t>
                            </m:r>
                          </m:sup>
                        </m:sSup>
                        <m:r>
                          <a:rPr lang="en-US" sz="3200" b="0" i="1" smtClean="0">
                            <a:effectLst/>
                            <a:latin typeface="Cambria Math" panose="02040503050406030204" pitchFamily="18" charset="0"/>
                            <a:ea typeface="+mn-ea"/>
                          </a:rPr>
                          <m:t>+</m:t>
                        </m:r>
                        <m:sSup>
                          <m:sSupPr>
                            <m:ctrlPr>
                              <a:rPr lang="en-US" sz="3200" i="1">
                                <a:latin typeface="Cambria Math" panose="02040503050406030204" pitchFamily="18" charset="0"/>
                                <a:ea typeface="+mn-ea"/>
                              </a:rPr>
                            </m:ctrlPr>
                          </m:sSupPr>
                          <m:e>
                            <m:r>
                              <m:rPr>
                                <m:nor/>
                              </m:rPr>
                              <a:rPr lang="en-US" sz="3200" dirty="0">
                                <a:latin typeface="+mn-ea"/>
                                <a:ea typeface="+mn-ea"/>
                                <a:cs typeface="Cambria Math" panose="02040503050406030204" pitchFamily="18" charset="0"/>
                              </a:rPr>
                              <m:t>𝜔</m:t>
                            </m:r>
                          </m:e>
                          <m:sup>
                            <m:r>
                              <a:rPr lang="en-US" sz="3200" i="1">
                                <a:latin typeface="Cambria Math" panose="02040503050406030204" pitchFamily="18" charset="0"/>
                                <a:ea typeface="+mn-ea"/>
                              </a:rPr>
                              <m:t>2</m:t>
                            </m:r>
                          </m:sup>
                        </m:sSup>
                        <m:sSup>
                          <m:sSupPr>
                            <m:ctrlPr>
                              <a:rPr lang="en-US" sz="3200" i="1">
                                <a:latin typeface="Cambria Math" panose="02040503050406030204" pitchFamily="18" charset="0"/>
                                <a:ea typeface="+mn-ea"/>
                              </a:rPr>
                            </m:ctrlPr>
                          </m:sSupPr>
                          <m:e>
                            <m:r>
                              <m:rPr>
                                <m:nor/>
                              </m:rPr>
                              <a:rPr lang="en-US" sz="3200" dirty="0">
                                <a:latin typeface="+mn-ea"/>
                                <a:ea typeface="+mn-ea"/>
                                <a:cs typeface="Cambria Math" panose="02040503050406030204" pitchFamily="18" charset="0"/>
                              </a:rPr>
                              <m:t>𝐿</m:t>
                            </m:r>
                          </m:e>
                          <m:sup>
                            <m:r>
                              <a:rPr lang="en-US" sz="3200" i="1">
                                <a:latin typeface="Cambria Math" panose="02040503050406030204" pitchFamily="18" charset="0"/>
                                <a:ea typeface="+mn-ea"/>
                              </a:rPr>
                              <m:t>2</m:t>
                            </m:r>
                          </m:sup>
                        </m:sSup>
                        <m:r>
                          <a:rPr lang="en-US" sz="3200" b="0" i="1" smtClean="0">
                            <a:latin typeface="Cambria Math" panose="02040503050406030204" pitchFamily="18" charset="0"/>
                            <a:ea typeface="+mn-ea"/>
                          </a:rPr>
                          <m:t> </m:t>
                        </m:r>
                      </m:e>
                    </m:rad>
                  </m:oMath>
                </a14:m>
                <a:r>
                  <a:rPr lang="en-US" sz="3200">
                    <a:effectLst/>
                    <a:latin typeface="+mn-ea"/>
                    <a:ea typeface="+mn-ea"/>
                    <a:cs typeface="Times New Roman" panose="02020603050405020304" pitchFamily="18" charset="0"/>
                  </a:rPr>
                  <a:t> </a:t>
                </a:r>
                <a:endParaRPr lang="en-US" sz="3200">
                  <a:latin typeface="+mn-ea"/>
                  <a:ea typeface="+mn-ea"/>
                  <a:cs typeface="Times New Roman" panose="02020603050405020304" pitchFamily="18" charset="0"/>
                </a:endParaRPr>
              </a:p>
              <a:p>
                <a:pPr marR="0" lvl="0">
                  <a:lnSpc>
                    <a:spcPct val="107000"/>
                  </a:lnSpc>
                  <a:spcBef>
                    <a:spcPts val="450"/>
                  </a:spcBef>
                  <a:spcAft>
                    <a:spcPts val="450"/>
                  </a:spcAft>
                  <a:buSzPts val="1000"/>
                  <a:tabLst>
                    <a:tab pos="457200" algn="l"/>
                  </a:tabLst>
                </a:pPr>
                <a:r>
                  <a:rPr lang="ja-JP" sz="2400">
                    <a:solidFill>
                      <a:srgbClr val="000000"/>
                    </a:solidFill>
                    <a:effectLst/>
                    <a:latin typeface="+mn-ea"/>
                    <a:ea typeface="+mn-ea"/>
                    <a:cs typeface="ＭＳ 明朝" panose="02020609040205080304" pitchFamily="17" charset="-128"/>
                  </a:rPr>
                  <a:t>抵抗</a:t>
                </a:r>
                <a:r>
                  <a:rPr lang="en-US" sz="2400">
                    <a:solidFill>
                      <a:srgbClr val="000000"/>
                    </a:solidFill>
                    <a:effectLst/>
                    <a:latin typeface="+mn-ea"/>
                    <a:ea typeface="+mn-ea"/>
                    <a:cs typeface="Times New Roman" panose="02020603050405020304" pitchFamily="18" charset="0"/>
                  </a:rPr>
                  <a:t> </a:t>
                </a:r>
                <a:r>
                  <a:rPr lang="en-US" sz="2400">
                    <a:solidFill>
                      <a:srgbClr val="000000"/>
                    </a:solidFill>
                    <a:effectLst/>
                    <a:latin typeface="+mn-ea"/>
                    <a:ea typeface="+mn-ea"/>
                    <a:cs typeface="Cambria Math" panose="02040503050406030204" pitchFamily="18" charset="0"/>
                  </a:rPr>
                  <a:t>𝑅</a:t>
                </a:r>
                <a:r>
                  <a:rPr lang="en-US" sz="2400">
                    <a:solidFill>
                      <a:srgbClr val="000000"/>
                    </a:solidFill>
                    <a:effectLst/>
                    <a:latin typeface="+mn-ea"/>
                    <a:ea typeface="+mn-ea"/>
                    <a:cs typeface="Times New Roman" panose="02020603050405020304" pitchFamily="18" charset="0"/>
                  </a:rPr>
                  <a:t> </a:t>
                </a:r>
                <a:r>
                  <a:rPr lang="ja-JP" sz="2400">
                    <a:solidFill>
                      <a:srgbClr val="000000"/>
                    </a:solidFill>
                    <a:effectLst/>
                    <a:latin typeface="+mn-ea"/>
                    <a:ea typeface="+mn-ea"/>
                    <a:cs typeface="ＭＳ 明朝" panose="02020609040205080304" pitchFamily="17" charset="-128"/>
                  </a:rPr>
                  <a:t>の電圧</a:t>
                </a:r>
                <a:r>
                  <a:rPr lang="en-US" sz="2400">
                    <a:solidFill>
                      <a:srgbClr val="000000"/>
                    </a:solidFill>
                    <a:effectLst/>
                    <a:latin typeface="+mn-ea"/>
                    <a:ea typeface="+mn-ea"/>
                    <a:cs typeface="Times New Roman" panose="02020603050405020304" pitchFamily="18" charset="0"/>
                  </a:rPr>
                  <a:t> </a:t>
                </a:r>
                <a:r>
                  <a:rPr lang="en-US" sz="2400">
                    <a:solidFill>
                      <a:srgbClr val="000000"/>
                    </a:solidFill>
                    <a:effectLst/>
                    <a:latin typeface="+mn-ea"/>
                    <a:ea typeface="+mn-ea"/>
                    <a:cs typeface="Cambria Math" panose="02040503050406030204" pitchFamily="18" charset="0"/>
                  </a:rPr>
                  <a:t>𝑉𝑅</a:t>
                </a:r>
                <a:r>
                  <a:rPr lang="en-US" sz="2400">
                    <a:solidFill>
                      <a:srgbClr val="000000"/>
                    </a:solidFill>
                    <a:effectLst/>
                    <a:latin typeface="+mn-ea"/>
                    <a:ea typeface="+mn-ea"/>
                    <a:cs typeface="Times New Roman" panose="02020603050405020304" pitchFamily="18" charset="0"/>
                  </a:rPr>
                  <a:t> </a:t>
                </a:r>
                <a:r>
                  <a:rPr lang="ja-JP" sz="2400">
                    <a:solidFill>
                      <a:srgbClr val="000000"/>
                    </a:solidFill>
                    <a:effectLst/>
                    <a:latin typeface="+mn-ea"/>
                    <a:ea typeface="+mn-ea"/>
                    <a:cs typeface="ＭＳ 明朝" panose="02020609040205080304" pitchFamily="17" charset="-128"/>
                  </a:rPr>
                  <a:t>を出力とした場合ですよ</a:t>
                </a:r>
                <a:r>
                  <a:rPr lang="en-US" altLang="ja-JP" sz="1200">
                    <a:solidFill>
                      <a:srgbClr val="000000"/>
                    </a:solidFill>
                    <a:effectLst/>
                    <a:latin typeface="+mn-ea"/>
                    <a:ea typeface="+mn-ea"/>
                    <a:cs typeface="ＭＳ 明朝" panose="02020609040205080304" pitchFamily="17" charset="-128"/>
                  </a:rPr>
                  <a:t> Voltage VR across a resistance R as an output</a:t>
                </a:r>
                <a:endParaRPr lang="en-US" sz="2400">
                  <a:effectLst/>
                  <a:latin typeface="+mn-ea"/>
                  <a:ea typeface="+mn-ea"/>
                  <a:cs typeface="Times New Roman" panose="02020603050405020304" pitchFamily="18" charset="0"/>
                </a:endParaRPr>
              </a:p>
              <a:p>
                <a:pPr marL="742950" marR="0" lvl="1" indent="-285750">
                  <a:lnSpc>
                    <a:spcPct val="107000"/>
                  </a:lnSpc>
                  <a:spcBef>
                    <a:spcPts val="450"/>
                  </a:spcBef>
                  <a:spcAft>
                    <a:spcPts val="450"/>
                  </a:spcAft>
                  <a:buSzPts val="1000"/>
                  <a:buFont typeface="Courier New" panose="02070309020205020404" pitchFamily="49" charset="0"/>
                  <a:buChar char="o"/>
                  <a:tabLst>
                    <a:tab pos="914400" algn="l"/>
                  </a:tabLst>
                </a:pPr>
                <a:r>
                  <a:rPr lang="ja-JP" sz="2400">
                    <a:effectLst/>
                    <a:latin typeface="+mn-ea"/>
                    <a:ea typeface="+mn-ea"/>
                    <a:cs typeface="ＭＳ 明朝" panose="02020609040205080304" pitchFamily="17" charset="-128"/>
                  </a:rPr>
                  <a:t>グラフの概形：低域</a:t>
                </a:r>
                <a:r>
                  <a:rPr lang="en-US" sz="2400">
                    <a:effectLst/>
                    <a:latin typeface="+mn-ea"/>
                    <a:ea typeface="+mn-ea"/>
                    <a:cs typeface="Times New Roman" panose="02020603050405020304" pitchFamily="18" charset="0"/>
                  </a:rPr>
                  <a:t> </a:t>
                </a:r>
                <a:r>
                  <a:rPr lang="en-US" sz="2400">
                    <a:effectLst/>
                    <a:latin typeface="+mn-ea"/>
                    <a:ea typeface="+mn-ea"/>
                    <a:cs typeface="Cambria Math" panose="02040503050406030204" pitchFamily="18" charset="0"/>
                  </a:rPr>
                  <a:t>𝜔≃</a:t>
                </a:r>
                <a:r>
                  <a:rPr lang="en-US" sz="2400">
                    <a:effectLst/>
                    <a:latin typeface="+mn-ea"/>
                    <a:ea typeface="+mn-ea"/>
                    <a:cs typeface="Times New Roman" panose="02020603050405020304" pitchFamily="18" charset="0"/>
                  </a:rPr>
                  <a:t>0</a:t>
                </a:r>
                <a:r>
                  <a:rPr lang="ja-JP" sz="2400">
                    <a:effectLst/>
                    <a:latin typeface="+mn-ea"/>
                    <a:ea typeface="+mn-ea"/>
                    <a:cs typeface="ＭＳ 明朝" panose="02020609040205080304" pitchFamily="17" charset="-128"/>
                  </a:rPr>
                  <a:t>で</a:t>
                </a:r>
                <a:r>
                  <a:rPr lang="en-US" sz="2400">
                    <a:effectLst/>
                    <a:latin typeface="+mn-ea"/>
                    <a:ea typeface="+mn-ea"/>
                    <a:cs typeface="Times New Roman" panose="02020603050405020304" pitchFamily="18" charset="0"/>
                  </a:rPr>
                  <a:t> |</a:t>
                </a:r>
                <a:r>
                  <a:rPr lang="en-US" sz="2400">
                    <a:effectLst/>
                    <a:latin typeface="+mn-ea"/>
                    <a:ea typeface="+mn-ea"/>
                    <a:cs typeface="Cambria Math" panose="02040503050406030204" pitchFamily="18" charset="0"/>
                  </a:rPr>
                  <a:t>𝐻</a:t>
                </a:r>
                <a:r>
                  <a:rPr lang="en-US" sz="2400">
                    <a:effectLst/>
                    <a:latin typeface="+mn-ea"/>
                    <a:ea typeface="+mn-ea"/>
                    <a:cs typeface="Times New Roman" panose="02020603050405020304" pitchFamily="18" charset="0"/>
                  </a:rPr>
                  <a:t>|</a:t>
                </a:r>
                <a:r>
                  <a:rPr lang="en-US" sz="2400">
                    <a:effectLst/>
                    <a:latin typeface="+mn-ea"/>
                    <a:ea typeface="+mn-ea"/>
                    <a:cs typeface="Cambria Math" panose="02040503050406030204" pitchFamily="18" charset="0"/>
                  </a:rPr>
                  <a:t>≃</a:t>
                </a:r>
                <a:r>
                  <a:rPr lang="en-US" sz="2400">
                    <a:effectLst/>
                    <a:latin typeface="+mn-ea"/>
                    <a:ea typeface="+mn-ea"/>
                    <a:cs typeface="Times New Roman" panose="02020603050405020304" pitchFamily="18" charset="0"/>
                  </a:rPr>
                  <a:t>1.0</a:t>
                </a:r>
                <a:r>
                  <a:rPr lang="ja-JP" sz="2400">
                    <a:effectLst/>
                    <a:latin typeface="+mn-ea"/>
                    <a:ea typeface="+mn-ea"/>
                    <a:cs typeface="ＭＳ 明朝" panose="02020609040205080304" pitchFamily="17" charset="-128"/>
                  </a:rPr>
                  <a:t>，</a:t>
                </a:r>
                <a:r>
                  <a:rPr lang="ja-JP" sz="2400">
                    <a:effectLst/>
                    <a:latin typeface="+mn-ea"/>
                    <a:ea typeface="+mn-ea"/>
                    <a:cs typeface="Times New Roman" panose="02020603050405020304" pitchFamily="18" charset="0"/>
                  </a:rPr>
                  <a:t> </a:t>
                </a:r>
                <a:r>
                  <a:rPr lang="ja-JP" sz="2400">
                    <a:effectLst/>
                    <a:latin typeface="+mn-ea"/>
                    <a:ea typeface="+mn-ea"/>
                    <a:cs typeface="ＭＳ 明朝" panose="02020609040205080304" pitchFamily="17" charset="-128"/>
                  </a:rPr>
                  <a:t>高域</a:t>
                </a:r>
                <a:r>
                  <a:rPr lang="en-US" sz="2400">
                    <a:effectLst/>
                    <a:latin typeface="+mn-ea"/>
                    <a:ea typeface="+mn-ea"/>
                    <a:cs typeface="Times New Roman" panose="02020603050405020304" pitchFamily="18" charset="0"/>
                  </a:rPr>
                  <a:t> </a:t>
                </a:r>
                <a:r>
                  <a:rPr lang="en-US" sz="2400">
                    <a:effectLst/>
                    <a:latin typeface="+mn-ea"/>
                    <a:ea typeface="+mn-ea"/>
                    <a:cs typeface="Cambria Math" panose="02040503050406030204" pitchFamily="18" charset="0"/>
                  </a:rPr>
                  <a:t>𝜔</a:t>
                </a:r>
                <a:r>
                  <a:rPr lang="en-US" sz="2400">
                    <a:effectLst/>
                    <a:latin typeface="+mn-ea"/>
                    <a:ea typeface="+mn-ea"/>
                    <a:cs typeface="Times New Roman" panose="02020603050405020304" pitchFamily="18" charset="0"/>
                  </a:rPr>
                  <a:t>→∞ </a:t>
                </a:r>
                <a:r>
                  <a:rPr lang="ja-JP" sz="2400">
                    <a:effectLst/>
                    <a:latin typeface="+mn-ea"/>
                    <a:ea typeface="+mn-ea"/>
                    <a:cs typeface="ＭＳ 明朝" panose="02020609040205080304" pitchFamily="17" charset="-128"/>
                  </a:rPr>
                  <a:t>で</a:t>
                </a:r>
                <a:r>
                  <a:rPr lang="en-US" sz="2400">
                    <a:effectLst/>
                    <a:latin typeface="+mn-ea"/>
                    <a:ea typeface="+mn-ea"/>
                    <a:cs typeface="Times New Roman" panose="02020603050405020304" pitchFamily="18" charset="0"/>
                  </a:rPr>
                  <a:t> |</a:t>
                </a:r>
                <a:r>
                  <a:rPr lang="en-US" sz="2400">
                    <a:effectLst/>
                    <a:latin typeface="+mn-ea"/>
                    <a:ea typeface="+mn-ea"/>
                    <a:cs typeface="Cambria Math" panose="02040503050406030204" pitchFamily="18" charset="0"/>
                  </a:rPr>
                  <a:t>𝐻</a:t>
                </a:r>
                <a:r>
                  <a:rPr lang="en-US" sz="2400">
                    <a:effectLst/>
                    <a:latin typeface="+mn-ea"/>
                    <a:ea typeface="+mn-ea"/>
                    <a:cs typeface="Times New Roman" panose="02020603050405020304" pitchFamily="18" charset="0"/>
                  </a:rPr>
                  <a:t>|→0.0 </a:t>
                </a:r>
              </a:p>
              <a:p>
                <a:pPr marL="1143000" marR="0">
                  <a:lnSpc>
                    <a:spcPct val="107000"/>
                  </a:lnSpc>
                  <a:spcBef>
                    <a:spcPts val="0"/>
                  </a:spcBef>
                  <a:spcAft>
                    <a:spcPts val="600"/>
                  </a:spcAft>
                </a:pPr>
                <a:r>
                  <a:rPr lang="en-US" sz="2400">
                    <a:solidFill>
                      <a:srgbClr val="000000"/>
                    </a:solidFill>
                    <a:effectLst/>
                    <a:latin typeface="+mn-ea"/>
                    <a:ea typeface="+mn-ea"/>
                    <a:cs typeface="Times New Roman" panose="02020603050405020304" pitchFamily="18" charset="0"/>
                  </a:rPr>
                  <a:t>LPF </a:t>
                </a:r>
                <a:r>
                  <a:rPr lang="ja-JP" sz="2400">
                    <a:solidFill>
                      <a:srgbClr val="000000"/>
                    </a:solidFill>
                    <a:effectLst/>
                    <a:latin typeface="+mn-ea"/>
                    <a:ea typeface="+mn-ea"/>
                    <a:cs typeface="ＭＳ 明朝" panose="02020609040205080304" pitchFamily="17" charset="-128"/>
                  </a:rPr>
                  <a:t>ですね</a:t>
                </a:r>
                <a:r>
                  <a:rPr lang="en-US" altLang="ja-JP" sz="1200">
                    <a:solidFill>
                      <a:srgbClr val="000000"/>
                    </a:solidFill>
                    <a:effectLst/>
                    <a:latin typeface="+mn-ea"/>
                    <a:ea typeface="+mn-ea"/>
                    <a:cs typeface="ＭＳ 明朝" panose="02020609040205080304" pitchFamily="17" charset="-128"/>
                  </a:rPr>
                  <a:t> It is a Low-pass Filter</a:t>
                </a:r>
                <a:endParaRPr lang="en-US" sz="2400">
                  <a:effectLst/>
                  <a:latin typeface="+mn-ea"/>
                  <a:ea typeface="+mn-ea"/>
                  <a:cs typeface="Times New Roman" panose="02020603050405020304" pitchFamily="18" charset="0"/>
                </a:endParaRPr>
              </a:p>
              <a:p>
                <a:pPr marR="0" lvl="0">
                  <a:lnSpc>
                    <a:spcPct val="107000"/>
                  </a:lnSpc>
                  <a:spcBef>
                    <a:spcPts val="450"/>
                  </a:spcBef>
                  <a:spcAft>
                    <a:spcPts val="450"/>
                  </a:spcAft>
                  <a:buSzPts val="1000"/>
                  <a:tabLst>
                    <a:tab pos="457200" algn="l"/>
                  </a:tabLst>
                </a:pPr>
                <a:r>
                  <a:rPr lang="en-US" sz="1200">
                    <a:effectLst/>
                    <a:latin typeface="+mn-ea"/>
                    <a:ea typeface="+mn-ea"/>
                    <a:cs typeface="Times New Roman" panose="02020603050405020304" pitchFamily="18" charset="0"/>
                  </a:rPr>
                  <a:t>Approximate shape of the graph : low </a:t>
                </a:r>
                <a:r>
                  <a:rPr lang="en-US" sz="1200">
                    <a:effectLst/>
                    <a:latin typeface="+mn-ea"/>
                    <a:ea typeface="+mn-ea"/>
                    <a:cs typeface="Cambria Math" panose="02040503050406030204" pitchFamily="18" charset="0"/>
                  </a:rPr>
                  <a:t>𝜔≃</a:t>
                </a:r>
                <a:r>
                  <a:rPr lang="en-US" sz="1200">
                    <a:effectLst/>
                    <a:latin typeface="+mn-ea"/>
                    <a:ea typeface="+mn-ea"/>
                    <a:cs typeface="Times New Roman" panose="02020603050405020304" pitchFamily="18" charset="0"/>
                  </a:rPr>
                  <a:t>0 at |</a:t>
                </a:r>
                <a:r>
                  <a:rPr lang="en-US" sz="1200">
                    <a:effectLst/>
                    <a:latin typeface="+mn-ea"/>
                    <a:ea typeface="+mn-ea"/>
                    <a:cs typeface="Cambria Math" panose="02040503050406030204" pitchFamily="18" charset="0"/>
                  </a:rPr>
                  <a:t>𝐻</a:t>
                </a:r>
                <a:r>
                  <a:rPr lang="en-US" sz="1200">
                    <a:effectLst/>
                    <a:latin typeface="+mn-ea"/>
                    <a:ea typeface="+mn-ea"/>
                    <a:cs typeface="Times New Roman" panose="02020603050405020304" pitchFamily="18" charset="0"/>
                  </a:rPr>
                  <a:t>|</a:t>
                </a:r>
                <a:r>
                  <a:rPr lang="en-US" sz="1200">
                    <a:effectLst/>
                    <a:latin typeface="+mn-ea"/>
                    <a:ea typeface="+mn-ea"/>
                    <a:cs typeface="Cambria Math" panose="02040503050406030204" pitchFamily="18" charset="0"/>
                  </a:rPr>
                  <a:t>≃</a:t>
                </a:r>
                <a:r>
                  <a:rPr lang="en-US" sz="1200">
                    <a:effectLst/>
                    <a:latin typeface="+mn-ea"/>
                    <a:ea typeface="+mn-ea"/>
                    <a:cs typeface="Times New Roman" panose="02020603050405020304" pitchFamily="18" charset="0"/>
                  </a:rPr>
                  <a:t>1.0, high  </a:t>
                </a:r>
                <a:r>
                  <a:rPr lang="en-US" sz="1200">
                    <a:effectLst/>
                    <a:latin typeface="+mn-ea"/>
                    <a:ea typeface="+mn-ea"/>
                    <a:cs typeface="Cambria Math" panose="02040503050406030204" pitchFamily="18" charset="0"/>
                  </a:rPr>
                  <a:t>𝜔</a:t>
                </a:r>
                <a:r>
                  <a:rPr lang="en-US" sz="1200">
                    <a:effectLst/>
                    <a:latin typeface="+mn-ea"/>
                    <a:ea typeface="+mn-ea"/>
                    <a:cs typeface="Times New Roman" panose="02020603050405020304" pitchFamily="18" charset="0"/>
                  </a:rPr>
                  <a:t>→∞  at |</a:t>
                </a:r>
                <a:r>
                  <a:rPr lang="en-US" sz="1200">
                    <a:effectLst/>
                    <a:latin typeface="+mn-ea"/>
                    <a:ea typeface="+mn-ea"/>
                    <a:cs typeface="Cambria Math" panose="02040503050406030204" pitchFamily="18" charset="0"/>
                  </a:rPr>
                  <a:t>𝐻</a:t>
                </a:r>
                <a:r>
                  <a:rPr lang="en-US" sz="1200">
                    <a:effectLst/>
                    <a:latin typeface="+mn-ea"/>
                    <a:ea typeface="+mn-ea"/>
                    <a:cs typeface="Times New Roman" panose="02020603050405020304" pitchFamily="18" charset="0"/>
                  </a:rPr>
                  <a:t>|→0.0 </a:t>
                </a:r>
              </a:p>
            </p:txBody>
          </p:sp>
        </mc:Choice>
        <mc:Fallback>
          <p:sp>
            <p:nvSpPr>
              <p:cNvPr id="5" name="TextBox 4">
                <a:extLst>
                  <a:ext uri="{FF2B5EF4-FFF2-40B4-BE49-F238E27FC236}">
                    <a16:creationId xmlns:a16="http://schemas.microsoft.com/office/drawing/2014/main" id="{88691852-EBDF-5437-AAAB-F1BF4AA1F280}"/>
                  </a:ext>
                </a:extLst>
              </p:cNvPr>
              <p:cNvSpPr txBox="1">
                <a:spLocks noRot="1" noChangeAspect="1" noMove="1" noResize="1" noEditPoints="1" noAdjustHandles="1" noChangeArrowheads="1" noChangeShapeType="1" noTextEdit="1"/>
              </p:cNvSpPr>
              <p:nvPr/>
            </p:nvSpPr>
            <p:spPr>
              <a:xfrm>
                <a:off x="0" y="2081203"/>
                <a:ext cx="12192000" cy="3492816"/>
              </a:xfrm>
              <a:prstGeom prst="rect">
                <a:avLst/>
              </a:prstGeom>
              <a:blipFill>
                <a:blip r:embed="rId3"/>
                <a:stretch>
                  <a:fillRect l="-1250" t="-2792"/>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4">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4072546" y="252943"/>
            <a:ext cx="4773270"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sz="3200" b="1">
                <a:solidFill>
                  <a:schemeClr val="tx1"/>
                </a:solidFill>
                <a:effectLst/>
                <a:latin typeface="Calibri" panose="020F0502020204030204" pitchFamily="34" charset="0"/>
                <a:ea typeface="ＭＳ 明朝" panose="02020609040205080304" pitchFamily="17" charset="-128"/>
                <a:cs typeface="ＭＳ 明朝" panose="02020609040205080304" pitchFamily="17" charset="-128"/>
              </a:rPr>
              <a:t>伝達関数</a:t>
            </a:r>
            <a:r>
              <a:rPr lang="en-US" altLang="ja-JP" sz="1200" b="1">
                <a:solidFill>
                  <a:schemeClr val="tx1"/>
                </a:solidFill>
                <a:effectLst/>
                <a:latin typeface="Calibri" panose="020F0502020204030204" pitchFamily="34" charset="0"/>
                <a:ea typeface="ＭＳ 明朝" panose="02020609040205080304" pitchFamily="17" charset="-128"/>
                <a:cs typeface="ＭＳ 明朝" panose="02020609040205080304" pitchFamily="17" charset="-128"/>
              </a:rPr>
              <a:t>T</a:t>
            </a:r>
            <a:r>
              <a:rPr lang="en-US" altLang="ja-JP" sz="1100" b="1">
                <a:solidFill>
                  <a:schemeClr val="tx1"/>
                </a:solidFill>
                <a:effectLst/>
                <a:latin typeface="Calibri" panose="020F0502020204030204" pitchFamily="34" charset="0"/>
                <a:ea typeface="ＭＳ 明朝" panose="02020609040205080304" pitchFamily="17" charset="-128"/>
                <a:cs typeface="ＭＳ 明朝" panose="02020609040205080304" pitchFamily="17" charset="-128"/>
              </a:rPr>
              <a:t>ransfer Function</a:t>
            </a:r>
            <a:r>
              <a:rPr lang="ja-JP" altLang="en-US" sz="3200" b="1">
                <a:solidFill>
                  <a:srgbClr val="FF0000"/>
                </a:solidFill>
              </a:rPr>
              <a:t> </a:t>
            </a:r>
            <a:endParaRPr lang="en-US" sz="3200">
              <a:solidFill>
                <a:srgbClr val="FF0000"/>
              </a:solidFill>
            </a:endParaRPr>
          </a:p>
        </p:txBody>
      </p:sp>
      <p:pic>
        <p:nvPicPr>
          <p:cNvPr id="3" name="図 6">
            <a:extLst>
              <a:ext uri="{FF2B5EF4-FFF2-40B4-BE49-F238E27FC236}">
                <a16:creationId xmlns:a16="http://schemas.microsoft.com/office/drawing/2014/main" id="{B62CA2B9-AC4A-F5B5-82BB-D3DB06C9F54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001777" y="3700577"/>
            <a:ext cx="3190223" cy="2399908"/>
          </a:xfrm>
          <a:prstGeom prst="rect">
            <a:avLst/>
          </a:prstGeom>
        </p:spPr>
      </p:pic>
    </p:spTree>
    <p:extLst>
      <p:ext uri="{BB962C8B-B14F-4D97-AF65-F5344CB8AC3E}">
        <p14:creationId xmlns:p14="http://schemas.microsoft.com/office/powerpoint/2010/main" val="9062959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3463128"/>
          </a:xfrm>
          <a:prstGeom prst="rect">
            <a:avLst/>
          </a:prstGeom>
          <a:noFill/>
        </p:spPr>
        <p:txBody>
          <a:bodyPr wrap="square" rtlCol="0">
            <a:spAutoFit/>
          </a:bodyPr>
          <a:lstStyle/>
          <a:p>
            <a:pPr marL="1143000" marR="0">
              <a:lnSpc>
                <a:spcPct val="107000"/>
              </a:lnSpc>
              <a:spcBef>
                <a:spcPts val="0"/>
              </a:spcBef>
              <a:spcAft>
                <a:spcPts val="600"/>
              </a:spcAft>
            </a:pPr>
            <a:r>
              <a:rPr lang="ja-JP" sz="2800">
                <a:solidFill>
                  <a:srgbClr val="000000"/>
                </a:solidFill>
                <a:effectLst/>
                <a:latin typeface="+mn-ea"/>
                <a:ea typeface="+mn-ea"/>
                <a:cs typeface="ＭＳ 明朝" panose="02020609040205080304" pitchFamily="17" charset="-128"/>
              </a:rPr>
              <a:t>出力を</a:t>
            </a:r>
            <a:r>
              <a:rPr lang="en-US" sz="2800">
                <a:solidFill>
                  <a:srgbClr val="000000"/>
                </a:solidFill>
                <a:effectLst/>
                <a:latin typeface="+mn-ea"/>
                <a:ea typeface="+mn-ea"/>
                <a:cs typeface="Times New Roman" panose="02020603050405020304" pitchFamily="18" charset="0"/>
              </a:rPr>
              <a:t> </a:t>
            </a:r>
            <a:r>
              <a:rPr lang="en-US" sz="2800">
                <a:solidFill>
                  <a:srgbClr val="000000"/>
                </a:solidFill>
                <a:effectLst/>
                <a:latin typeface="+mn-ea"/>
                <a:ea typeface="+mn-ea"/>
                <a:cs typeface="Cambria Math" panose="02040503050406030204" pitchFamily="18" charset="0"/>
              </a:rPr>
              <a:t>𝑉𝐿</a:t>
            </a:r>
            <a:r>
              <a:rPr lang="en-US" sz="2800">
                <a:solidFill>
                  <a:srgbClr val="000000"/>
                </a:solidFill>
                <a:effectLst/>
                <a:latin typeface="+mn-ea"/>
                <a:ea typeface="+mn-ea"/>
                <a:cs typeface="Times New Roman" panose="02020603050405020304" pitchFamily="18" charset="0"/>
              </a:rPr>
              <a:t> </a:t>
            </a:r>
            <a:r>
              <a:rPr lang="ja-JP" sz="2800">
                <a:solidFill>
                  <a:srgbClr val="000000"/>
                </a:solidFill>
                <a:effectLst/>
                <a:latin typeface="+mn-ea"/>
                <a:ea typeface="+mn-ea"/>
                <a:cs typeface="ＭＳ 明朝" panose="02020609040205080304" pitchFamily="17" charset="-128"/>
              </a:rPr>
              <a:t>とすれば，</a:t>
            </a:r>
            <a:r>
              <a:rPr lang="en-US" sz="2800">
                <a:solidFill>
                  <a:srgbClr val="000000"/>
                </a:solidFill>
                <a:effectLst/>
                <a:latin typeface="+mn-ea"/>
                <a:ea typeface="+mn-ea"/>
                <a:cs typeface="Times New Roman" panose="02020603050405020304" pitchFamily="18" charset="0"/>
              </a:rPr>
              <a:t>HPF </a:t>
            </a:r>
            <a:r>
              <a:rPr lang="ja-JP" sz="2800">
                <a:solidFill>
                  <a:srgbClr val="000000"/>
                </a:solidFill>
                <a:effectLst/>
                <a:latin typeface="+mn-ea"/>
                <a:ea typeface="+mn-ea"/>
                <a:cs typeface="ＭＳ 明朝" panose="02020609040205080304" pitchFamily="17" charset="-128"/>
              </a:rPr>
              <a:t>になります</a:t>
            </a:r>
            <a:r>
              <a:rPr lang="en-US" altLang="ja-JP" sz="1200">
                <a:solidFill>
                  <a:srgbClr val="000000"/>
                </a:solidFill>
                <a:effectLst/>
                <a:latin typeface="+mn-ea"/>
                <a:ea typeface="+mn-ea"/>
                <a:cs typeface="ＭＳ 明朝" panose="02020609040205080304" pitchFamily="17" charset="-128"/>
              </a:rPr>
              <a:t>If the output is </a:t>
            </a:r>
            <a:r>
              <a:rPr lang="ja-JP" altLang="en-US" sz="1200">
                <a:solidFill>
                  <a:srgbClr val="000000"/>
                </a:solidFill>
                <a:effectLst/>
                <a:latin typeface="+mn-ea"/>
                <a:ea typeface="+mn-ea"/>
                <a:cs typeface="ＭＳ 明朝" panose="02020609040205080304" pitchFamily="17" charset="-128"/>
              </a:rPr>
              <a:t>𝑉𝐿</a:t>
            </a:r>
            <a:r>
              <a:rPr lang="en-US" altLang="ja-JP" sz="1200">
                <a:solidFill>
                  <a:srgbClr val="000000"/>
                </a:solidFill>
                <a:effectLst/>
                <a:latin typeface="+mn-ea"/>
                <a:ea typeface="+mn-ea"/>
                <a:cs typeface="ＭＳ 明朝" panose="02020609040205080304" pitchFamily="17" charset="-128"/>
              </a:rPr>
              <a:t>, it becomes an HPF</a:t>
            </a:r>
            <a:endParaRPr lang="en-US" altLang="ja-JP" sz="1200">
              <a:solidFill>
                <a:srgbClr val="000000"/>
              </a:solidFill>
              <a:latin typeface="+mn-ea"/>
              <a:ea typeface="+mn-ea"/>
              <a:cs typeface="Times New Roman" panose="02020603050405020304" pitchFamily="18" charset="0"/>
            </a:endParaRPr>
          </a:p>
          <a:p>
            <a:pPr marL="1143000" marR="0">
              <a:lnSpc>
                <a:spcPct val="107000"/>
              </a:lnSpc>
              <a:spcBef>
                <a:spcPts val="0"/>
              </a:spcBef>
              <a:spcAft>
                <a:spcPts val="600"/>
              </a:spcAft>
            </a:pPr>
            <a:endParaRPr lang="en-US" altLang="ja-JP" sz="1200">
              <a:solidFill>
                <a:srgbClr val="000000"/>
              </a:solidFill>
              <a:effectLst/>
              <a:latin typeface="+mn-ea"/>
              <a:ea typeface="+mn-ea"/>
              <a:cs typeface="Times New Roman" panose="02020603050405020304" pitchFamily="18" charset="0"/>
            </a:endParaRPr>
          </a:p>
          <a:p>
            <a:pPr marL="1143000" marR="0">
              <a:lnSpc>
                <a:spcPct val="107000"/>
              </a:lnSpc>
              <a:spcBef>
                <a:spcPts val="0"/>
              </a:spcBef>
              <a:spcAft>
                <a:spcPts val="600"/>
              </a:spcAft>
            </a:pPr>
            <a:r>
              <a:rPr lang="ja-JP" sz="2800">
                <a:effectLst/>
                <a:latin typeface="+mn-ea"/>
                <a:ea typeface="+mn-ea"/>
                <a:cs typeface="ＭＳ 明朝" panose="02020609040205080304" pitchFamily="17" charset="-128"/>
              </a:rPr>
              <a:t>遮断周波数：</a:t>
            </a:r>
            <a:r>
              <a:rPr lang="en-US" sz="2800">
                <a:effectLst/>
                <a:latin typeface="+mn-ea"/>
                <a:ea typeface="+mn-ea"/>
                <a:cs typeface="Times New Roman" panose="02020603050405020304" pitchFamily="18" charset="0"/>
              </a:rPr>
              <a:t>|</a:t>
            </a:r>
            <a:r>
              <a:rPr lang="en-US" sz="2800">
                <a:effectLst/>
                <a:latin typeface="+mn-ea"/>
                <a:ea typeface="+mn-ea"/>
                <a:cs typeface="Cambria Math" panose="02040503050406030204" pitchFamily="18" charset="0"/>
              </a:rPr>
              <a:t>𝐻</a:t>
            </a:r>
            <a:r>
              <a:rPr lang="en-US" sz="2800">
                <a:effectLst/>
                <a:latin typeface="+mn-ea"/>
                <a:ea typeface="+mn-ea"/>
                <a:cs typeface="Times New Roman" panose="02020603050405020304" pitchFamily="18" charset="0"/>
              </a:rPr>
              <a:t>(</a:t>
            </a:r>
            <a:r>
              <a:rPr lang="en-US" sz="2800">
                <a:effectLst/>
                <a:latin typeface="+mn-ea"/>
                <a:ea typeface="+mn-ea"/>
                <a:cs typeface="Cambria Math" panose="02040503050406030204" pitchFamily="18" charset="0"/>
              </a:rPr>
              <a:t>𝜔</a:t>
            </a:r>
            <a:r>
              <a:rPr lang="en-US" sz="2800">
                <a:effectLst/>
                <a:latin typeface="+mn-ea"/>
                <a:ea typeface="+mn-ea"/>
                <a:cs typeface="Times New Roman" panose="02020603050405020304" pitchFamily="18" charset="0"/>
              </a:rPr>
              <a:t>0)|=1/2  </a:t>
            </a:r>
            <a:r>
              <a:rPr lang="ja-JP" sz="2800">
                <a:effectLst/>
                <a:latin typeface="+mn-ea"/>
                <a:ea typeface="+mn-ea"/>
                <a:cs typeface="ＭＳ 明朝" panose="02020609040205080304" pitchFamily="17" charset="-128"/>
              </a:rPr>
              <a:t>となる周波数</a:t>
            </a:r>
            <a:r>
              <a:rPr lang="en-US" sz="2800">
                <a:effectLst/>
                <a:latin typeface="+mn-ea"/>
                <a:ea typeface="+mn-ea"/>
                <a:cs typeface="Times New Roman" panose="02020603050405020304" pitchFamily="18" charset="0"/>
              </a:rPr>
              <a:t> </a:t>
            </a:r>
            <a:r>
              <a:rPr lang="en-US" sz="2800">
                <a:effectLst/>
                <a:latin typeface="+mn-ea"/>
                <a:ea typeface="+mn-ea"/>
                <a:cs typeface="Cambria Math" panose="02040503050406030204" pitchFamily="18" charset="0"/>
              </a:rPr>
              <a:t>𝜔</a:t>
            </a:r>
            <a:r>
              <a:rPr lang="en-US" sz="2800">
                <a:effectLst/>
                <a:latin typeface="+mn-ea"/>
                <a:ea typeface="+mn-ea"/>
                <a:cs typeface="Times New Roman" panose="02020603050405020304" pitchFamily="18" charset="0"/>
              </a:rPr>
              <a:t>0=</a:t>
            </a:r>
            <a:r>
              <a:rPr lang="en-US" sz="2800">
                <a:effectLst/>
                <a:latin typeface="+mn-ea"/>
                <a:ea typeface="+mn-ea"/>
                <a:cs typeface="Cambria Math" panose="02040503050406030204" pitchFamily="18" charset="0"/>
              </a:rPr>
              <a:t>𝑅</a:t>
            </a:r>
            <a:r>
              <a:rPr lang="en-US" sz="2800">
                <a:effectLst/>
                <a:latin typeface="+mn-ea"/>
                <a:ea typeface="+mn-ea"/>
                <a:cs typeface="Times New Roman" panose="02020603050405020304" pitchFamily="18" charset="0"/>
              </a:rPr>
              <a:t>/</a:t>
            </a:r>
            <a:r>
              <a:rPr lang="en-US" sz="2800">
                <a:effectLst/>
                <a:latin typeface="+mn-ea"/>
                <a:ea typeface="+mn-ea"/>
                <a:cs typeface="Cambria Math" panose="02040503050406030204" pitchFamily="18" charset="0"/>
              </a:rPr>
              <a:t>𝐿</a:t>
            </a:r>
          </a:p>
          <a:p>
            <a:pPr marL="1143000" marR="0">
              <a:lnSpc>
                <a:spcPct val="107000"/>
              </a:lnSpc>
              <a:spcBef>
                <a:spcPts val="0"/>
              </a:spcBef>
              <a:spcAft>
                <a:spcPts val="600"/>
              </a:spcAft>
            </a:pPr>
            <a:r>
              <a:rPr lang="en-US" sz="1200">
                <a:effectLst/>
                <a:latin typeface="+mn-ea"/>
                <a:ea typeface="+mn-ea"/>
                <a:cs typeface="Times New Roman" panose="02020603050405020304" pitchFamily="18" charset="0"/>
              </a:rPr>
              <a:t>Cut-off frequency: the frequency at which |𝐻(𝜔0)|=1/2 𝜔0=𝑅/𝐿</a:t>
            </a:r>
          </a:p>
          <a:p>
            <a:pPr marL="1143000" marR="0">
              <a:lnSpc>
                <a:spcPct val="107000"/>
              </a:lnSpc>
              <a:spcBef>
                <a:spcPts val="0"/>
              </a:spcBef>
              <a:spcAft>
                <a:spcPts val="600"/>
              </a:spcAft>
            </a:pPr>
            <a:endParaRPr lang="en-US" sz="1200">
              <a:effectLst/>
              <a:latin typeface="+mn-ea"/>
              <a:ea typeface="+mn-ea"/>
              <a:cs typeface="Times New Roman" panose="02020603050405020304" pitchFamily="18" charset="0"/>
            </a:endParaRPr>
          </a:p>
          <a:p>
            <a:pPr marL="1143000" marR="0">
              <a:lnSpc>
                <a:spcPct val="107000"/>
              </a:lnSpc>
              <a:spcBef>
                <a:spcPts val="0"/>
              </a:spcBef>
              <a:spcAft>
                <a:spcPts val="600"/>
              </a:spcAft>
            </a:pPr>
            <a:endParaRPr lang="en-US" sz="1200">
              <a:effectLst/>
              <a:latin typeface="+mn-ea"/>
              <a:ea typeface="+mn-ea"/>
              <a:cs typeface="Times New Roman" panose="02020603050405020304" pitchFamily="18" charset="0"/>
            </a:endParaRPr>
          </a:p>
          <a:p>
            <a:pPr marL="1143000" marR="0">
              <a:lnSpc>
                <a:spcPct val="107000"/>
              </a:lnSpc>
              <a:spcBef>
                <a:spcPts val="0"/>
              </a:spcBef>
              <a:spcAft>
                <a:spcPts val="600"/>
              </a:spcAft>
            </a:pPr>
            <a:r>
              <a:rPr lang="ja-JP" sz="2800">
                <a:solidFill>
                  <a:srgbClr val="000000"/>
                </a:solidFill>
                <a:effectLst/>
                <a:latin typeface="+mn-ea"/>
                <a:ea typeface="+mn-ea"/>
                <a:cs typeface="ＭＳ 明朝" panose="02020609040205080304" pitchFamily="17" charset="-128"/>
              </a:rPr>
              <a:t>電力的に電圧の自乗として，伝達関数の最大値</a:t>
            </a:r>
            <a:r>
              <a:rPr lang="en-US" sz="2800">
                <a:solidFill>
                  <a:srgbClr val="000000"/>
                </a:solidFill>
                <a:effectLst/>
                <a:latin typeface="+mn-ea"/>
                <a:ea typeface="+mn-ea"/>
                <a:cs typeface="Times New Roman" panose="02020603050405020304" pitchFamily="18" charset="0"/>
              </a:rPr>
              <a:t> 1 </a:t>
            </a:r>
            <a:r>
              <a:rPr lang="ja-JP" sz="2800">
                <a:solidFill>
                  <a:srgbClr val="000000"/>
                </a:solidFill>
                <a:effectLst/>
                <a:latin typeface="+mn-ea"/>
                <a:ea typeface="+mn-ea"/>
                <a:cs typeface="ＭＳ 明朝" panose="02020609040205080304" pitchFamily="17" charset="-128"/>
              </a:rPr>
              <a:t>の半分</a:t>
            </a:r>
            <a:r>
              <a:rPr lang="en-US" sz="2800">
                <a:solidFill>
                  <a:srgbClr val="000000"/>
                </a:solidFill>
                <a:effectLst/>
                <a:latin typeface="+mn-ea"/>
                <a:ea typeface="+mn-ea"/>
                <a:cs typeface="Times New Roman" panose="02020603050405020304" pitchFamily="18" charset="0"/>
              </a:rPr>
              <a:t> 1/2 </a:t>
            </a:r>
            <a:r>
              <a:rPr lang="ja-JP" sz="2800">
                <a:solidFill>
                  <a:srgbClr val="000000"/>
                </a:solidFill>
                <a:effectLst/>
                <a:latin typeface="+mn-ea"/>
                <a:ea typeface="+mn-ea"/>
                <a:cs typeface="ＭＳ 明朝" panose="02020609040205080304" pitchFamily="17" charset="-128"/>
              </a:rPr>
              <a:t>を境界と考えましょう．</a:t>
            </a:r>
            <a:endParaRPr lang="en-US" altLang="ja-JP" sz="2800">
              <a:solidFill>
                <a:srgbClr val="000000"/>
              </a:solidFill>
              <a:effectLst/>
              <a:latin typeface="+mn-ea"/>
              <a:ea typeface="+mn-ea"/>
              <a:cs typeface="ＭＳ 明朝" panose="02020609040205080304" pitchFamily="17" charset="-128"/>
            </a:endParaRPr>
          </a:p>
          <a:p>
            <a:pPr marL="1143000" marR="0">
              <a:lnSpc>
                <a:spcPct val="107000"/>
              </a:lnSpc>
              <a:spcBef>
                <a:spcPts val="0"/>
              </a:spcBef>
              <a:spcAft>
                <a:spcPts val="600"/>
              </a:spcAft>
            </a:pPr>
            <a:r>
              <a:rPr lang="en-US" sz="1200">
                <a:effectLst/>
                <a:latin typeface="+mn-ea"/>
                <a:ea typeface="+mn-ea"/>
                <a:cs typeface="Times New Roman" panose="02020603050405020304" pitchFamily="18" charset="0"/>
              </a:rPr>
              <a:t>As the square of the voltage in terms of power, consider the boundary to be half of the maximum value of the transfer function, 1 1/2</a:t>
            </a: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4072546" y="252943"/>
            <a:ext cx="4773270"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sz="3200" b="1">
                <a:solidFill>
                  <a:schemeClr val="tx1"/>
                </a:solidFill>
                <a:effectLst/>
                <a:latin typeface="Calibri" panose="020F0502020204030204" pitchFamily="34" charset="0"/>
                <a:ea typeface="ＭＳ 明朝" panose="02020609040205080304" pitchFamily="17" charset="-128"/>
                <a:cs typeface="ＭＳ 明朝" panose="02020609040205080304" pitchFamily="17" charset="-128"/>
              </a:rPr>
              <a:t>伝達関数</a:t>
            </a:r>
            <a:r>
              <a:rPr lang="en-US" altLang="ja-JP" sz="1200" b="1">
                <a:solidFill>
                  <a:schemeClr val="tx1"/>
                </a:solidFill>
                <a:effectLst/>
                <a:latin typeface="Calibri" panose="020F0502020204030204" pitchFamily="34" charset="0"/>
                <a:ea typeface="ＭＳ 明朝" panose="02020609040205080304" pitchFamily="17" charset="-128"/>
                <a:cs typeface="ＭＳ 明朝" panose="02020609040205080304" pitchFamily="17" charset="-128"/>
              </a:rPr>
              <a:t>T</a:t>
            </a:r>
            <a:r>
              <a:rPr lang="en-US" altLang="ja-JP" sz="1100" b="1">
                <a:solidFill>
                  <a:schemeClr val="tx1"/>
                </a:solidFill>
                <a:effectLst/>
                <a:latin typeface="Calibri" panose="020F0502020204030204" pitchFamily="34" charset="0"/>
                <a:ea typeface="ＭＳ 明朝" panose="02020609040205080304" pitchFamily="17" charset="-128"/>
                <a:cs typeface="ＭＳ 明朝" panose="02020609040205080304" pitchFamily="17" charset="-128"/>
              </a:rPr>
              <a:t>ransfer Function</a:t>
            </a:r>
            <a:r>
              <a:rPr lang="ja-JP" altLang="en-US" sz="3200" b="1">
                <a:solidFill>
                  <a:srgbClr val="FF0000"/>
                </a:solidFill>
              </a:rPr>
              <a:t> </a:t>
            </a:r>
            <a:endParaRPr lang="en-US" sz="3200">
              <a:solidFill>
                <a:srgbClr val="FF0000"/>
              </a:solidFill>
            </a:endParaRPr>
          </a:p>
        </p:txBody>
      </p:sp>
      <p:pic>
        <p:nvPicPr>
          <p:cNvPr id="3" name="図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05151" y="2645475"/>
            <a:ext cx="2534550" cy="1519529"/>
          </a:xfrm>
          <a:prstGeom prst="rect">
            <a:avLst/>
          </a:prstGeom>
        </p:spPr>
      </p:pic>
    </p:spTree>
    <p:extLst>
      <p:ext uri="{BB962C8B-B14F-4D97-AF65-F5344CB8AC3E}">
        <p14:creationId xmlns:p14="http://schemas.microsoft.com/office/powerpoint/2010/main" val="895908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2914003"/>
          </a:xfrm>
          <a:prstGeom prst="rect">
            <a:avLst/>
          </a:prstGeom>
          <a:noFill/>
        </p:spPr>
        <p:txBody>
          <a:bodyPr wrap="square" rtlCol="0">
            <a:spAutoFit/>
          </a:bodyPr>
          <a:lstStyle/>
          <a:p>
            <a:pPr marL="0" marR="0">
              <a:lnSpc>
                <a:spcPct val="107000"/>
              </a:lnSpc>
              <a:spcBef>
                <a:spcPts val="450"/>
              </a:spcBef>
              <a:spcAft>
                <a:spcPts val="450"/>
              </a:spcAft>
            </a:pPr>
            <a:r>
              <a:rPr lang="ja-JP" sz="3200">
                <a:effectLst/>
                <a:latin typeface="+mn-ea"/>
                <a:ea typeface="+mn-ea"/>
                <a:cs typeface="ＭＳ 明朝" panose="02020609040205080304" pitchFamily="17" charset="-128"/>
              </a:rPr>
              <a:t>アナログフィルタの特性は，</a:t>
            </a:r>
            <a:r>
              <a:rPr lang="en-US" sz="3200">
                <a:effectLst/>
                <a:latin typeface="+mn-ea"/>
                <a:ea typeface="+mn-ea"/>
                <a:cs typeface="Times New Roman" panose="02020603050405020304" pitchFamily="18" charset="0"/>
              </a:rPr>
              <a:t> DFT </a:t>
            </a:r>
            <a:r>
              <a:rPr lang="ja-JP" sz="3200">
                <a:effectLst/>
                <a:latin typeface="+mn-ea"/>
                <a:ea typeface="+mn-ea"/>
                <a:cs typeface="ＭＳ 明朝" panose="02020609040205080304" pitchFamily="17" charset="-128"/>
              </a:rPr>
              <a:t>フィルタと云われる</a:t>
            </a:r>
            <a:r>
              <a:rPr lang="ja-JP" sz="3200">
                <a:effectLst/>
                <a:latin typeface="+mn-ea"/>
                <a:ea typeface="+mn-ea"/>
                <a:cs typeface="Times New Roman" panose="02020603050405020304" pitchFamily="18" charset="0"/>
              </a:rPr>
              <a:t> </a:t>
            </a:r>
            <a:r>
              <a:rPr lang="ja-JP" sz="3200">
                <a:effectLst/>
                <a:latin typeface="+mn-ea"/>
                <a:ea typeface="+mn-ea"/>
                <a:cs typeface="ＭＳ 明朝" panose="02020609040205080304" pitchFamily="17" charset="-128"/>
              </a:rPr>
              <a:t>ディジタル信号処理によっても再現できる</a:t>
            </a:r>
            <a:endParaRPr lang="en-US" altLang="ja-JP" sz="3200">
              <a:effectLst/>
              <a:latin typeface="+mn-ea"/>
              <a:ea typeface="+mn-ea"/>
              <a:cs typeface="ＭＳ 明朝" panose="02020609040205080304" pitchFamily="17" charset="-128"/>
            </a:endParaRPr>
          </a:p>
          <a:p>
            <a:pPr marL="0" marR="0">
              <a:lnSpc>
                <a:spcPct val="107000"/>
              </a:lnSpc>
              <a:spcBef>
                <a:spcPts val="450"/>
              </a:spcBef>
              <a:spcAft>
                <a:spcPts val="450"/>
              </a:spcAft>
            </a:pPr>
            <a:r>
              <a:rPr lang="en-US" sz="1200">
                <a:effectLst/>
                <a:latin typeface="+mn-ea"/>
                <a:ea typeface="+mn-ea"/>
                <a:cs typeface="Times New Roman" panose="02020603050405020304" pitchFamily="18" charset="0"/>
              </a:rPr>
              <a:t>The characteristics of an analogue filter can also be reproduced by digital signal processing, called a DFT filter</a:t>
            </a:r>
            <a:endParaRPr lang="en-US" sz="1200">
              <a:latin typeface="+mn-ea"/>
              <a:ea typeface="+mn-ea"/>
              <a:cs typeface="Times New Roman" panose="02020603050405020304" pitchFamily="18" charset="0"/>
            </a:endParaRPr>
          </a:p>
          <a:p>
            <a:pPr marL="0" marR="0">
              <a:lnSpc>
                <a:spcPct val="107000"/>
              </a:lnSpc>
              <a:spcBef>
                <a:spcPts val="450"/>
              </a:spcBef>
              <a:spcAft>
                <a:spcPts val="450"/>
              </a:spcAft>
            </a:pPr>
            <a:endParaRPr lang="en-US" sz="1200">
              <a:effectLst/>
              <a:latin typeface="+mn-ea"/>
              <a:ea typeface="+mn-ea"/>
              <a:cs typeface="Times New Roman" panose="02020603050405020304" pitchFamily="18" charset="0"/>
            </a:endParaRPr>
          </a:p>
          <a:p>
            <a:pPr marL="0" marR="0">
              <a:lnSpc>
                <a:spcPct val="107000"/>
              </a:lnSpc>
              <a:spcBef>
                <a:spcPts val="0"/>
              </a:spcBef>
              <a:spcAft>
                <a:spcPts val="600"/>
              </a:spcAft>
            </a:pPr>
            <a:r>
              <a:rPr lang="ja-JP" sz="2400">
                <a:solidFill>
                  <a:srgbClr val="000000"/>
                </a:solidFill>
                <a:effectLst/>
                <a:latin typeface="+mn-ea"/>
                <a:ea typeface="+mn-ea"/>
                <a:cs typeface="ＭＳ 明朝" panose="02020609040205080304" pitchFamily="17" charset="-128"/>
              </a:rPr>
              <a:t>とは云え，ここでは，前処理以外の話です．</a:t>
            </a:r>
            <a:r>
              <a:rPr lang="ja-JP" sz="2400">
                <a:solidFill>
                  <a:srgbClr val="000000"/>
                </a:solidFill>
                <a:effectLst/>
                <a:latin typeface="+mn-ea"/>
                <a:ea typeface="+mn-ea"/>
                <a:cs typeface="Times New Roman" panose="02020603050405020304" pitchFamily="18" charset="0"/>
              </a:rPr>
              <a:t> </a:t>
            </a:r>
            <a:r>
              <a:rPr lang="ja-JP" sz="2400">
                <a:solidFill>
                  <a:srgbClr val="000000"/>
                </a:solidFill>
                <a:effectLst/>
                <a:latin typeface="+mn-ea"/>
                <a:ea typeface="+mn-ea"/>
                <a:cs typeface="ＭＳ 明朝" panose="02020609040205080304" pitchFamily="17" charset="-128"/>
              </a:rPr>
              <a:t>クドいですが，ディジタル化の前処理はアナログでないと無理．</a:t>
            </a:r>
            <a:endParaRPr lang="en-US" sz="2400">
              <a:effectLst/>
              <a:latin typeface="+mn-ea"/>
              <a:ea typeface="+mn-ea"/>
              <a:cs typeface="Times New Roman" panose="02020603050405020304" pitchFamily="18" charset="0"/>
            </a:endParaRPr>
          </a:p>
          <a:p>
            <a:pPr algn="just"/>
            <a:r>
              <a:rPr lang="en-US" sz="1200">
                <a:effectLst/>
                <a:latin typeface="+mn-ea"/>
                <a:ea typeface="+mn-ea"/>
                <a:cs typeface="Times New Roman" panose="02020603050405020304" pitchFamily="18" charset="0"/>
              </a:rPr>
              <a:t>However, here we are talking about something other than pre-processing. It may sound crude, but pre-processing for </a:t>
            </a:r>
            <a:r>
              <a:rPr lang="en-US" sz="1200" err="1">
                <a:effectLst/>
                <a:latin typeface="+mn-ea"/>
                <a:ea typeface="+mn-ea"/>
                <a:cs typeface="Times New Roman" panose="02020603050405020304" pitchFamily="18" charset="0"/>
              </a:rPr>
              <a:t>digitisation</a:t>
            </a:r>
            <a:r>
              <a:rPr lang="en-US" sz="1200">
                <a:effectLst/>
                <a:latin typeface="+mn-ea"/>
                <a:ea typeface="+mn-ea"/>
                <a:cs typeface="Times New Roman" panose="02020603050405020304" pitchFamily="18" charset="0"/>
              </a:rPr>
              <a:t> can only be done in analogue.</a:t>
            </a: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2808604" y="252943"/>
            <a:ext cx="7846143"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sz="2800" b="1">
                <a:solidFill>
                  <a:schemeClr val="tx1"/>
                </a:solidFill>
                <a:effectLst/>
                <a:latin typeface="ＭＳ ゴシック" panose="020B0609070205080204" pitchFamily="49" charset="-128"/>
                <a:ea typeface="ＭＳ ゴシック" panose="020B0609070205080204" pitchFamily="49" charset="-128"/>
                <a:cs typeface="ＭＳ 明朝" panose="02020609040205080304" pitchFamily="17" charset="-128"/>
              </a:rPr>
              <a:t>ディジタル信号処理による再現</a:t>
            </a:r>
            <a:r>
              <a:rPr lang="en-US" altLang="ja-JP" sz="1100" b="1">
                <a:solidFill>
                  <a:schemeClr val="tx1"/>
                </a:solidFill>
                <a:effectLst/>
                <a:latin typeface="Calibri" panose="020F0502020204030204" pitchFamily="34" charset="0"/>
                <a:ea typeface="ＭＳ 明朝" panose="02020609040205080304" pitchFamily="17" charset="-128"/>
                <a:cs typeface="ＭＳ 明朝" panose="02020609040205080304" pitchFamily="17" charset="-128"/>
              </a:rPr>
              <a:t>Reproduction by digital signal processing</a:t>
            </a:r>
            <a:endParaRPr lang="en-US" sz="3200">
              <a:solidFill>
                <a:srgbClr val="FF0000"/>
              </a:solidFill>
            </a:endParaRPr>
          </a:p>
        </p:txBody>
      </p:sp>
    </p:spTree>
    <p:extLst>
      <p:ext uri="{BB962C8B-B14F-4D97-AF65-F5344CB8AC3E}">
        <p14:creationId xmlns:p14="http://schemas.microsoft.com/office/powerpoint/2010/main" val="11753416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5000921"/>
          </a:xfrm>
          <a:prstGeom prst="rect">
            <a:avLst/>
          </a:prstGeom>
          <a:noFill/>
        </p:spPr>
        <p:txBody>
          <a:bodyPr wrap="square" rtlCol="0">
            <a:spAutoFit/>
          </a:bodyPr>
          <a:lstStyle/>
          <a:p>
            <a:pPr marR="0" lvl="0">
              <a:lnSpc>
                <a:spcPct val="107000"/>
              </a:lnSpc>
              <a:spcBef>
                <a:spcPts val="450"/>
              </a:spcBef>
              <a:spcAft>
                <a:spcPts val="450"/>
              </a:spcAft>
              <a:buSzPts val="1000"/>
              <a:tabLst>
                <a:tab pos="457200" algn="l"/>
              </a:tabLst>
            </a:pPr>
            <a:r>
              <a:rPr lang="ja-JP" sz="2800">
                <a:effectLst/>
                <a:latin typeface="+mn-ea"/>
                <a:ea typeface="+mn-ea"/>
                <a:cs typeface="ＭＳ 明朝" panose="02020609040205080304" pitchFamily="17" charset="-128"/>
              </a:rPr>
              <a:t>基本的な処理手順：</a:t>
            </a:r>
            <a:r>
              <a:rPr lang="en-US" altLang="ja-JP" sz="2800">
                <a:effectLst/>
                <a:latin typeface="+mn-ea"/>
                <a:ea typeface="+mn-ea"/>
                <a:cs typeface="ＭＳ 明朝" panose="02020609040205080304" pitchFamily="17" charset="-128"/>
              </a:rPr>
              <a:t> </a:t>
            </a:r>
            <a:r>
              <a:rPr lang="en-US" altLang="ja-JP" sz="1200">
                <a:effectLst/>
                <a:latin typeface="+mn-ea"/>
                <a:ea typeface="+mn-ea"/>
                <a:cs typeface="ＭＳ 明朝" panose="02020609040205080304" pitchFamily="17" charset="-128"/>
              </a:rPr>
              <a:t>Basic processing steps</a:t>
            </a:r>
            <a:endParaRPr lang="en-US" sz="2800">
              <a:effectLst/>
              <a:latin typeface="+mn-ea"/>
              <a:ea typeface="+mn-ea"/>
              <a:cs typeface="Times New Roman" panose="02020603050405020304" pitchFamily="18" charset="0"/>
            </a:endParaRPr>
          </a:p>
          <a:p>
            <a:pPr marL="742950" marR="0" lvl="1" indent="-285750">
              <a:lnSpc>
                <a:spcPct val="107000"/>
              </a:lnSpc>
              <a:spcBef>
                <a:spcPts val="450"/>
              </a:spcBef>
              <a:spcAft>
                <a:spcPts val="450"/>
              </a:spcAft>
              <a:buFont typeface="+mj-lt"/>
              <a:buAutoNum type="arabicPeriod"/>
              <a:tabLst>
                <a:tab pos="914400" algn="l"/>
              </a:tabLst>
            </a:pPr>
            <a:r>
              <a:rPr lang="ja-JP" sz="2800">
                <a:effectLst/>
                <a:latin typeface="+mn-ea"/>
                <a:ea typeface="+mn-ea"/>
                <a:cs typeface="ＭＳ 明朝" panose="02020609040205080304" pitchFamily="17" charset="-128"/>
              </a:rPr>
              <a:t>事前に，伝達関数</a:t>
            </a:r>
            <a:r>
              <a:rPr lang="en-US" sz="2800">
                <a:effectLst/>
                <a:latin typeface="+mn-ea"/>
                <a:ea typeface="+mn-ea"/>
                <a:cs typeface="Times New Roman" panose="02020603050405020304" pitchFamily="18" charset="0"/>
              </a:rPr>
              <a:t> </a:t>
            </a:r>
            <a:r>
              <a:rPr lang="en-US" sz="2800">
                <a:effectLst/>
                <a:latin typeface="+mn-ea"/>
                <a:ea typeface="+mn-ea"/>
                <a:cs typeface="Cambria Math" panose="02040503050406030204" pitchFamily="18" charset="0"/>
              </a:rPr>
              <a:t>𝐻</a:t>
            </a:r>
            <a:r>
              <a:rPr lang="en-US" sz="2800">
                <a:effectLst/>
                <a:latin typeface="+mn-ea"/>
                <a:ea typeface="+mn-ea"/>
                <a:cs typeface="Times New Roman" panose="02020603050405020304" pitchFamily="18" charset="0"/>
              </a:rPr>
              <a:t>(</a:t>
            </a:r>
            <a:r>
              <a:rPr lang="en-US" sz="2800">
                <a:effectLst/>
                <a:latin typeface="+mn-ea"/>
                <a:ea typeface="+mn-ea"/>
                <a:cs typeface="Cambria Math" panose="02040503050406030204" pitchFamily="18" charset="0"/>
              </a:rPr>
              <a:t>𝜔</a:t>
            </a:r>
            <a:r>
              <a:rPr lang="en-US" sz="2800">
                <a:effectLst/>
                <a:latin typeface="+mn-ea"/>
                <a:ea typeface="+mn-ea"/>
                <a:cs typeface="Times New Roman" panose="02020603050405020304" pitchFamily="18" charset="0"/>
              </a:rPr>
              <a:t>) </a:t>
            </a:r>
            <a:r>
              <a:rPr lang="ja-JP" sz="2800">
                <a:effectLst/>
                <a:latin typeface="+mn-ea"/>
                <a:ea typeface="+mn-ea"/>
                <a:cs typeface="ＭＳ 明朝" panose="02020609040205080304" pitchFamily="17" charset="-128"/>
              </a:rPr>
              <a:t>を標本化しておき，ベクトル</a:t>
            </a:r>
            <a:r>
              <a:rPr lang="en-US" sz="2800">
                <a:effectLst/>
                <a:latin typeface="+mn-ea"/>
                <a:ea typeface="+mn-ea"/>
                <a:cs typeface="Times New Roman" panose="02020603050405020304" pitchFamily="18" charset="0"/>
              </a:rPr>
              <a:t> </a:t>
            </a:r>
            <a:r>
              <a:rPr lang="en-US" sz="2800">
                <a:effectLst/>
                <a:latin typeface="+mn-ea"/>
                <a:ea typeface="+mn-ea"/>
                <a:cs typeface="Cambria Math" panose="02040503050406030204" pitchFamily="18" charset="0"/>
              </a:rPr>
              <a:t>𝐻</a:t>
            </a:r>
            <a:r>
              <a:rPr lang="en-US" sz="1400">
                <a:effectLst/>
                <a:latin typeface="+mn-ea"/>
                <a:ea typeface="+mn-ea"/>
                <a:cs typeface="Cambria Math" panose="02040503050406030204" pitchFamily="18" charset="0"/>
              </a:rPr>
              <a:t>𝑁</a:t>
            </a:r>
            <a:r>
              <a:rPr lang="en-US" sz="2800">
                <a:effectLst/>
                <a:latin typeface="+mn-ea"/>
                <a:ea typeface="+mn-ea"/>
                <a:cs typeface="Times New Roman" panose="02020603050405020304" pitchFamily="18" charset="0"/>
              </a:rPr>
              <a:t> </a:t>
            </a:r>
            <a:r>
              <a:rPr lang="ja-JP" sz="2800">
                <a:effectLst/>
                <a:latin typeface="+mn-ea"/>
                <a:ea typeface="+mn-ea"/>
                <a:cs typeface="ＭＳ 明朝" panose="02020609040205080304" pitchFamily="17" charset="-128"/>
              </a:rPr>
              <a:t>を定義．</a:t>
            </a:r>
            <a:endParaRPr lang="en-US" sz="2800">
              <a:effectLst/>
              <a:latin typeface="+mn-ea"/>
              <a:ea typeface="+mn-ea"/>
              <a:cs typeface="Times New Roman" panose="02020603050405020304" pitchFamily="18" charset="0"/>
            </a:endParaRPr>
          </a:p>
          <a:p>
            <a:pPr marL="1143000" marR="0">
              <a:lnSpc>
                <a:spcPct val="107000"/>
              </a:lnSpc>
              <a:spcBef>
                <a:spcPts val="0"/>
              </a:spcBef>
              <a:spcAft>
                <a:spcPts val="600"/>
              </a:spcAft>
            </a:pPr>
            <a:r>
              <a:rPr lang="ja-JP" sz="2800">
                <a:solidFill>
                  <a:srgbClr val="000000"/>
                </a:solidFill>
                <a:effectLst/>
                <a:latin typeface="+mn-ea"/>
                <a:ea typeface="+mn-ea"/>
                <a:cs typeface="ＭＳ 明朝" panose="02020609040205080304" pitchFamily="17" charset="-128"/>
              </a:rPr>
              <a:t>ここで，</a:t>
            </a:r>
            <a:r>
              <a:rPr lang="en-US" sz="2800">
                <a:solidFill>
                  <a:srgbClr val="000000"/>
                </a:solidFill>
                <a:effectLst/>
                <a:latin typeface="+mn-ea"/>
                <a:ea typeface="+mn-ea"/>
                <a:cs typeface="Cambria Math" panose="02040503050406030204" pitchFamily="18" charset="0"/>
              </a:rPr>
              <a:t>𝑁</a:t>
            </a:r>
            <a:r>
              <a:rPr lang="en-US" sz="2800">
                <a:solidFill>
                  <a:srgbClr val="000000"/>
                </a:solidFill>
                <a:effectLst/>
                <a:latin typeface="+mn-ea"/>
                <a:ea typeface="+mn-ea"/>
                <a:cs typeface="Times New Roman" panose="02020603050405020304" pitchFamily="18" charset="0"/>
              </a:rPr>
              <a:t> </a:t>
            </a:r>
            <a:r>
              <a:rPr lang="ja-JP" sz="2800">
                <a:solidFill>
                  <a:srgbClr val="000000"/>
                </a:solidFill>
                <a:effectLst/>
                <a:latin typeface="+mn-ea"/>
                <a:ea typeface="+mn-ea"/>
                <a:cs typeface="ＭＳ 明朝" panose="02020609040205080304" pitchFamily="17" charset="-128"/>
              </a:rPr>
              <a:t>は標本数</a:t>
            </a:r>
            <a:r>
              <a:rPr lang="en-US" altLang="ja-JP" sz="1200">
                <a:solidFill>
                  <a:srgbClr val="000000"/>
                </a:solidFill>
                <a:effectLst/>
                <a:latin typeface="+mn-ea"/>
                <a:ea typeface="+mn-ea"/>
                <a:cs typeface="ＭＳ 明朝" panose="02020609040205080304" pitchFamily="17" charset="-128"/>
              </a:rPr>
              <a:t>The transfer function </a:t>
            </a:r>
            <a:r>
              <a:rPr lang="ja-JP" altLang="en-US" sz="1200">
                <a:solidFill>
                  <a:srgbClr val="000000"/>
                </a:solidFill>
                <a:effectLst/>
                <a:latin typeface="+mn-ea"/>
                <a:ea typeface="+mn-ea"/>
                <a:cs typeface="ＭＳ 明朝" panose="02020609040205080304" pitchFamily="17" charset="-128"/>
              </a:rPr>
              <a:t>𝐻</a:t>
            </a:r>
            <a:r>
              <a:rPr lang="en-US" altLang="ja-JP" sz="1200">
                <a:solidFill>
                  <a:srgbClr val="000000"/>
                </a:solidFill>
                <a:effectLst/>
                <a:latin typeface="+mn-ea"/>
                <a:ea typeface="+mn-ea"/>
                <a:cs typeface="ＭＳ 明朝" panose="02020609040205080304" pitchFamily="17" charset="-128"/>
              </a:rPr>
              <a:t>(</a:t>
            </a:r>
            <a:r>
              <a:rPr lang="ja-JP" altLang="en-US" sz="1200">
                <a:solidFill>
                  <a:srgbClr val="000000"/>
                </a:solidFill>
                <a:effectLst/>
                <a:latin typeface="+mn-ea"/>
                <a:ea typeface="+mn-ea"/>
                <a:cs typeface="ＭＳ 明朝" panose="02020609040205080304" pitchFamily="17" charset="-128"/>
              </a:rPr>
              <a:t>𝜔</a:t>
            </a:r>
            <a:r>
              <a:rPr lang="en-US" altLang="ja-JP" sz="1200">
                <a:solidFill>
                  <a:srgbClr val="000000"/>
                </a:solidFill>
                <a:effectLst/>
                <a:latin typeface="+mn-ea"/>
                <a:ea typeface="+mn-ea"/>
                <a:cs typeface="ＭＳ 明朝" panose="02020609040205080304" pitchFamily="17" charset="-128"/>
              </a:rPr>
              <a:t>) is sampled a priori and the vector </a:t>
            </a:r>
            <a:r>
              <a:rPr lang="ja-JP" altLang="en-US" sz="1200">
                <a:solidFill>
                  <a:srgbClr val="000000"/>
                </a:solidFill>
                <a:effectLst/>
                <a:latin typeface="+mn-ea"/>
                <a:ea typeface="+mn-ea"/>
                <a:cs typeface="ＭＳ 明朝" panose="02020609040205080304" pitchFamily="17" charset="-128"/>
              </a:rPr>
              <a:t>𝐻𝐻𝑁 </a:t>
            </a:r>
            <a:r>
              <a:rPr lang="en-US" altLang="ja-JP" sz="1200">
                <a:solidFill>
                  <a:srgbClr val="000000"/>
                </a:solidFill>
                <a:effectLst/>
                <a:latin typeface="+mn-ea"/>
                <a:ea typeface="+mn-ea"/>
                <a:cs typeface="ＭＳ 明朝" panose="02020609040205080304" pitchFamily="17" charset="-128"/>
              </a:rPr>
              <a:t>is defined where </a:t>
            </a:r>
            <a:r>
              <a:rPr lang="ja-JP" altLang="en-US" sz="1200">
                <a:solidFill>
                  <a:srgbClr val="000000"/>
                </a:solidFill>
                <a:effectLst/>
                <a:latin typeface="+mn-ea"/>
                <a:ea typeface="+mn-ea"/>
                <a:cs typeface="ＭＳ 明朝" panose="02020609040205080304" pitchFamily="17" charset="-128"/>
              </a:rPr>
              <a:t>𝑁 </a:t>
            </a:r>
            <a:r>
              <a:rPr lang="en-US" altLang="ja-JP" sz="1200">
                <a:solidFill>
                  <a:srgbClr val="000000"/>
                </a:solidFill>
                <a:effectLst/>
                <a:latin typeface="+mn-ea"/>
                <a:ea typeface="+mn-ea"/>
                <a:cs typeface="ＭＳ 明朝" panose="02020609040205080304" pitchFamily="17" charset="-128"/>
              </a:rPr>
              <a:t>is the number of samples</a:t>
            </a:r>
            <a:endParaRPr lang="en-US" sz="2800">
              <a:effectLst/>
              <a:latin typeface="+mn-ea"/>
              <a:ea typeface="+mn-ea"/>
              <a:cs typeface="Times New Roman" panose="02020603050405020304" pitchFamily="18" charset="0"/>
            </a:endParaRPr>
          </a:p>
          <a:p>
            <a:pPr marL="742950" marR="0" lvl="1" indent="-285750">
              <a:lnSpc>
                <a:spcPct val="107000"/>
              </a:lnSpc>
              <a:spcBef>
                <a:spcPts val="450"/>
              </a:spcBef>
              <a:spcAft>
                <a:spcPts val="450"/>
              </a:spcAft>
              <a:buFont typeface="+mj-lt"/>
              <a:buAutoNum type="arabicPeriod" startAt="2"/>
              <a:tabLst>
                <a:tab pos="914400" algn="l"/>
              </a:tabLst>
            </a:pPr>
            <a:r>
              <a:rPr lang="ja-JP" sz="2800">
                <a:effectLst/>
                <a:latin typeface="+mn-ea"/>
                <a:ea typeface="+mn-ea"/>
                <a:cs typeface="ＭＳ 明朝" panose="02020609040205080304" pitchFamily="17" charset="-128"/>
              </a:rPr>
              <a:t>入力信号の一定区間毎に</a:t>
            </a:r>
            <a:r>
              <a:rPr lang="en-US" sz="2800">
                <a:effectLst/>
                <a:latin typeface="+mn-ea"/>
                <a:ea typeface="+mn-ea"/>
                <a:cs typeface="Times New Roman" panose="02020603050405020304" pitchFamily="18" charset="0"/>
              </a:rPr>
              <a:t> FFT </a:t>
            </a:r>
            <a:r>
              <a:rPr lang="ja-JP" sz="2800">
                <a:effectLst/>
                <a:latin typeface="+mn-ea"/>
                <a:ea typeface="+mn-ea"/>
                <a:cs typeface="ＭＳ 明朝" panose="02020609040205080304" pitchFamily="17" charset="-128"/>
              </a:rPr>
              <a:t>を適用し，入力スペクトル</a:t>
            </a:r>
            <a:r>
              <a:rPr lang="en-US" sz="2800">
                <a:effectLst/>
                <a:latin typeface="+mn-ea"/>
                <a:ea typeface="+mn-ea"/>
                <a:cs typeface="Times New Roman" panose="02020603050405020304" pitchFamily="18" charset="0"/>
              </a:rPr>
              <a:t> </a:t>
            </a:r>
            <a:r>
              <a:rPr lang="en-US" sz="2800">
                <a:effectLst/>
                <a:latin typeface="+mn-ea"/>
                <a:ea typeface="+mn-ea"/>
                <a:cs typeface="Cambria Math" panose="02040503050406030204" pitchFamily="18" charset="0"/>
              </a:rPr>
              <a:t>𝑋</a:t>
            </a:r>
            <a:r>
              <a:rPr lang="en-US" sz="1400">
                <a:effectLst/>
                <a:latin typeface="+mn-ea"/>
                <a:ea typeface="+mn-ea"/>
                <a:cs typeface="Cambria Math" panose="02040503050406030204" pitchFamily="18" charset="0"/>
              </a:rPr>
              <a:t>𝑁</a:t>
            </a:r>
            <a:r>
              <a:rPr lang="en-US" sz="2800">
                <a:effectLst/>
                <a:latin typeface="+mn-ea"/>
                <a:ea typeface="+mn-ea"/>
                <a:cs typeface="Times New Roman" panose="02020603050405020304" pitchFamily="18" charset="0"/>
              </a:rPr>
              <a:t> </a:t>
            </a:r>
            <a:r>
              <a:rPr lang="ja-JP" sz="2800">
                <a:effectLst/>
                <a:latin typeface="+mn-ea"/>
                <a:ea typeface="+mn-ea"/>
                <a:cs typeface="ＭＳ 明朝" panose="02020609040205080304" pitchFamily="17" charset="-128"/>
              </a:rPr>
              <a:t>を算出</a:t>
            </a:r>
            <a:endParaRPr lang="en-US" altLang="ja-JP" sz="2800">
              <a:latin typeface="+mn-ea"/>
              <a:ea typeface="+mn-ea"/>
              <a:cs typeface="ＭＳ 明朝" panose="02020609040205080304" pitchFamily="17" charset="-128"/>
            </a:endParaRPr>
          </a:p>
          <a:p>
            <a:pPr marR="0" lvl="1">
              <a:lnSpc>
                <a:spcPct val="107000"/>
              </a:lnSpc>
              <a:spcBef>
                <a:spcPts val="450"/>
              </a:spcBef>
              <a:spcAft>
                <a:spcPts val="450"/>
              </a:spcAft>
              <a:tabLst>
                <a:tab pos="914400" algn="l"/>
              </a:tabLst>
            </a:pPr>
            <a:r>
              <a:rPr lang="en-US" sz="1200">
                <a:effectLst/>
                <a:latin typeface="+mn-ea"/>
                <a:ea typeface="+mn-ea"/>
                <a:cs typeface="Times New Roman" panose="02020603050405020304" pitchFamily="18" charset="0"/>
              </a:rPr>
              <a:t>FFT is applied to each constant interval of the input signal to calculate the input spectrum 𝑋𝑁</a:t>
            </a:r>
          </a:p>
          <a:p>
            <a:pPr marR="0" lvl="1">
              <a:lnSpc>
                <a:spcPct val="107000"/>
              </a:lnSpc>
              <a:spcBef>
                <a:spcPts val="450"/>
              </a:spcBef>
              <a:spcAft>
                <a:spcPts val="450"/>
              </a:spcAft>
              <a:tabLst>
                <a:tab pos="914400" algn="l"/>
              </a:tabLst>
            </a:pPr>
            <a:r>
              <a:rPr lang="en-US" altLang="ja-JP" sz="2800">
                <a:effectLst/>
                <a:latin typeface="+mn-ea"/>
                <a:ea typeface="+mn-ea"/>
                <a:cs typeface="ＭＳ 明朝" panose="02020609040205080304" pitchFamily="17" charset="-128"/>
              </a:rPr>
              <a:t>3. </a:t>
            </a:r>
            <a:r>
              <a:rPr lang="ja-JP" sz="2800">
                <a:effectLst/>
                <a:latin typeface="+mn-ea"/>
                <a:ea typeface="+mn-ea"/>
                <a:cs typeface="ＭＳ 明朝" panose="02020609040205080304" pitchFamily="17" charset="-128"/>
              </a:rPr>
              <a:t>両者の要素毎の積を出力スペクトル</a:t>
            </a:r>
            <a:r>
              <a:rPr lang="en-US" sz="2800">
                <a:effectLst/>
                <a:latin typeface="+mn-ea"/>
                <a:ea typeface="+mn-ea"/>
                <a:cs typeface="Times New Roman" panose="02020603050405020304" pitchFamily="18" charset="0"/>
              </a:rPr>
              <a:t> </a:t>
            </a:r>
            <a:r>
              <a:rPr lang="en-US" sz="2800">
                <a:effectLst/>
                <a:latin typeface="+mn-ea"/>
                <a:ea typeface="+mn-ea"/>
                <a:cs typeface="Cambria Math" panose="02040503050406030204" pitchFamily="18" charset="0"/>
              </a:rPr>
              <a:t>𝑌</a:t>
            </a:r>
            <a:r>
              <a:rPr lang="en-US" sz="1400">
                <a:effectLst/>
                <a:latin typeface="+mn-ea"/>
                <a:ea typeface="+mn-ea"/>
                <a:cs typeface="Cambria Math" panose="02040503050406030204" pitchFamily="18" charset="0"/>
              </a:rPr>
              <a:t>𝑁</a:t>
            </a:r>
            <a:r>
              <a:rPr lang="en-US" sz="2800">
                <a:effectLst/>
                <a:latin typeface="+mn-ea"/>
                <a:ea typeface="+mn-ea"/>
                <a:cs typeface="Times New Roman" panose="02020603050405020304" pitchFamily="18" charset="0"/>
              </a:rPr>
              <a:t>= </a:t>
            </a:r>
            <a:r>
              <a:rPr lang="en-US" sz="2800">
                <a:effectLst/>
                <a:latin typeface="+mn-ea"/>
                <a:ea typeface="+mn-ea"/>
                <a:cs typeface="Cambria Math" panose="02040503050406030204" pitchFamily="18" charset="0"/>
              </a:rPr>
              <a:t>𝐻</a:t>
            </a:r>
            <a:r>
              <a:rPr lang="en-US" sz="1400">
                <a:effectLst/>
                <a:latin typeface="+mn-ea"/>
                <a:ea typeface="+mn-ea"/>
                <a:cs typeface="Cambria Math" panose="02040503050406030204" pitchFamily="18" charset="0"/>
              </a:rPr>
              <a:t>𝑁</a:t>
            </a:r>
            <a:r>
              <a:rPr lang="en-US" sz="2800">
                <a:effectLst/>
                <a:latin typeface="+mn-ea"/>
                <a:ea typeface="+mn-ea"/>
                <a:cs typeface="Times New Roman" panose="02020603050405020304" pitchFamily="18" charset="0"/>
              </a:rPr>
              <a:t> </a:t>
            </a:r>
            <a:r>
              <a:rPr lang="en-US" sz="2800">
                <a:effectLst/>
                <a:latin typeface="+mn-ea"/>
                <a:ea typeface="+mn-ea"/>
                <a:cs typeface="Cambria Math" panose="02040503050406030204" pitchFamily="18" charset="0"/>
              </a:rPr>
              <a:t>𝑋</a:t>
            </a:r>
            <a:r>
              <a:rPr lang="en-US" sz="1400">
                <a:effectLst/>
                <a:latin typeface="+mn-ea"/>
                <a:ea typeface="+mn-ea"/>
                <a:cs typeface="Cambria Math" panose="02040503050406030204" pitchFamily="18" charset="0"/>
              </a:rPr>
              <a:t>𝑁 </a:t>
            </a:r>
            <a:r>
              <a:rPr lang="en-US" sz="2800">
                <a:effectLst/>
                <a:latin typeface="+mn-ea"/>
                <a:ea typeface="+mn-ea"/>
                <a:cs typeface="Times New Roman" panose="02020603050405020304" pitchFamily="18" charset="0"/>
              </a:rPr>
              <a:t> </a:t>
            </a:r>
            <a:r>
              <a:rPr lang="ja-JP" sz="2800">
                <a:effectLst/>
                <a:latin typeface="+mn-ea"/>
                <a:ea typeface="+mn-ea"/>
                <a:cs typeface="ＭＳ 明朝" panose="02020609040205080304" pitchFamily="17" charset="-128"/>
              </a:rPr>
              <a:t>として算出</a:t>
            </a:r>
            <a:endParaRPr lang="en-US" altLang="ja-JP" sz="2800">
              <a:effectLst/>
              <a:latin typeface="+mn-ea"/>
              <a:ea typeface="+mn-ea"/>
              <a:cs typeface="ＭＳ 明朝" panose="02020609040205080304" pitchFamily="17" charset="-128"/>
            </a:endParaRPr>
          </a:p>
          <a:p>
            <a:pPr marR="0" lvl="1">
              <a:lnSpc>
                <a:spcPct val="107000"/>
              </a:lnSpc>
              <a:spcBef>
                <a:spcPts val="450"/>
              </a:spcBef>
              <a:spcAft>
                <a:spcPts val="450"/>
              </a:spcAft>
              <a:tabLst>
                <a:tab pos="914400" algn="l"/>
              </a:tabLst>
            </a:pPr>
            <a:r>
              <a:rPr lang="en-US" sz="1200">
                <a:effectLst/>
                <a:latin typeface="+mn-ea"/>
                <a:ea typeface="+mn-ea"/>
                <a:cs typeface="Times New Roman" panose="02020603050405020304" pitchFamily="18" charset="0"/>
              </a:rPr>
              <a:t>The element-wise product of both is calculated as the output spectrum 𝑌𝑁=𝐻𝑁𝑋𝑁</a:t>
            </a:r>
          </a:p>
          <a:p>
            <a:pPr lvl="1">
              <a:lnSpc>
                <a:spcPct val="107000"/>
              </a:lnSpc>
              <a:spcBef>
                <a:spcPts val="450"/>
              </a:spcBef>
              <a:spcAft>
                <a:spcPts val="450"/>
              </a:spcAft>
              <a:tabLst>
                <a:tab pos="914400" algn="l"/>
              </a:tabLst>
            </a:pPr>
            <a:r>
              <a:rPr lang="en-US" sz="2800">
                <a:effectLst/>
                <a:latin typeface="+mn-ea"/>
                <a:ea typeface="+mn-ea"/>
                <a:cs typeface="Times New Roman" panose="02020603050405020304" pitchFamily="18" charset="0"/>
              </a:rPr>
              <a:t>4. IFFT </a:t>
            </a:r>
            <a:r>
              <a:rPr lang="ja-JP" sz="2800">
                <a:effectLst/>
                <a:latin typeface="+mn-ea"/>
                <a:ea typeface="+mn-ea"/>
                <a:cs typeface="ＭＳ 明朝" panose="02020609040205080304" pitchFamily="17" charset="-128"/>
              </a:rPr>
              <a:t>を適用し，区間内の出力波形</a:t>
            </a:r>
            <a:r>
              <a:rPr lang="en-US" sz="2800">
                <a:effectLst/>
                <a:latin typeface="+mn-ea"/>
                <a:ea typeface="+mn-ea"/>
                <a:cs typeface="Times New Roman" panose="02020603050405020304" pitchFamily="18" charset="0"/>
              </a:rPr>
              <a:t> </a:t>
            </a:r>
            <a:r>
              <a:rPr lang="en-US" sz="2800">
                <a:effectLst/>
                <a:latin typeface="+mn-ea"/>
                <a:ea typeface="+mn-ea"/>
                <a:cs typeface="Cambria Math" panose="02040503050406030204" pitchFamily="18" charset="0"/>
              </a:rPr>
              <a:t>𝑦𝑁</a:t>
            </a:r>
            <a:r>
              <a:rPr lang="en-US" sz="2800">
                <a:effectLst/>
                <a:latin typeface="+mn-ea"/>
                <a:ea typeface="+mn-ea"/>
                <a:cs typeface="Times New Roman" panose="02020603050405020304" pitchFamily="18" charset="0"/>
              </a:rPr>
              <a:t> </a:t>
            </a:r>
            <a:r>
              <a:rPr lang="ja-JP" sz="2800">
                <a:effectLst/>
                <a:latin typeface="+mn-ea"/>
                <a:ea typeface="+mn-ea"/>
                <a:cs typeface="ＭＳ 明朝" panose="02020609040205080304" pitchFamily="17" charset="-128"/>
              </a:rPr>
              <a:t>を算出</a:t>
            </a:r>
            <a:r>
              <a:rPr lang="en-US" sz="1100">
                <a:latin typeface="+mn-ea"/>
                <a:ea typeface="+mn-ea"/>
                <a:cs typeface="Times New Roman" panose="02020603050405020304" pitchFamily="18" charset="0"/>
              </a:rPr>
              <a:t>Apply IFFT to calculate the output waveform </a:t>
            </a:r>
            <a:r>
              <a:rPr lang="en-US" sz="1100" err="1">
                <a:latin typeface="+mn-ea"/>
                <a:ea typeface="+mn-ea"/>
                <a:cs typeface="Times New Roman" panose="02020603050405020304" pitchFamily="18" charset="0"/>
              </a:rPr>
              <a:t>yN</a:t>
            </a:r>
            <a:r>
              <a:rPr lang="en-US" sz="1100">
                <a:latin typeface="+mn-ea"/>
                <a:ea typeface="+mn-ea"/>
                <a:cs typeface="Times New Roman" panose="02020603050405020304" pitchFamily="18" charset="0"/>
              </a:rPr>
              <a:t> in the interval</a:t>
            </a:r>
            <a:endParaRPr lang="en-US" sz="1100">
              <a:effectLst/>
              <a:latin typeface="+mn-ea"/>
              <a:ea typeface="+mn-ea"/>
              <a:cs typeface="Times New Roman" panose="02020603050405020304" pitchFamily="18" charset="0"/>
            </a:endParaRPr>
          </a:p>
          <a:p>
            <a:pPr lvl="1">
              <a:lnSpc>
                <a:spcPct val="107000"/>
              </a:lnSpc>
              <a:spcBef>
                <a:spcPts val="450"/>
              </a:spcBef>
              <a:spcAft>
                <a:spcPts val="450"/>
              </a:spcAft>
              <a:tabLst>
                <a:tab pos="914400" algn="l"/>
              </a:tabLst>
            </a:pPr>
            <a:endParaRPr lang="en-US" altLang="ja-JP" sz="2800">
              <a:effectLst/>
              <a:latin typeface="+mn-ea"/>
              <a:ea typeface="+mn-ea"/>
              <a:cs typeface="ＭＳ 明朝" panose="02020609040205080304" pitchFamily="17" charset="-128"/>
            </a:endParaRPr>
          </a:p>
          <a:p>
            <a:pPr marR="0" lvl="1">
              <a:lnSpc>
                <a:spcPct val="107000"/>
              </a:lnSpc>
              <a:spcBef>
                <a:spcPts val="450"/>
              </a:spcBef>
              <a:spcAft>
                <a:spcPts val="450"/>
              </a:spcAft>
              <a:tabLst>
                <a:tab pos="914400" algn="l"/>
              </a:tabLst>
            </a:pPr>
            <a:endParaRPr lang="en-US" sz="1200">
              <a:latin typeface="+mn-ea"/>
              <a:ea typeface="+mn-ea"/>
              <a:cs typeface="Times New Roman" panose="02020603050405020304" pitchFamily="18"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2808604" y="252943"/>
            <a:ext cx="7846143"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sz="2800" b="1">
                <a:solidFill>
                  <a:schemeClr val="tx1"/>
                </a:solidFill>
                <a:effectLst/>
                <a:latin typeface="ＭＳ ゴシック" panose="020B0609070205080204" pitchFamily="49" charset="-128"/>
                <a:ea typeface="ＭＳ ゴシック" panose="020B0609070205080204" pitchFamily="49" charset="-128"/>
                <a:cs typeface="ＭＳ 明朝" panose="02020609040205080304" pitchFamily="17" charset="-128"/>
              </a:rPr>
              <a:t>ディジタル信号処理による再現</a:t>
            </a:r>
            <a:r>
              <a:rPr lang="en-US" altLang="ja-JP" sz="1100" b="1">
                <a:solidFill>
                  <a:schemeClr val="tx1"/>
                </a:solidFill>
                <a:effectLst/>
                <a:latin typeface="Calibri" panose="020F0502020204030204" pitchFamily="34" charset="0"/>
                <a:ea typeface="ＭＳ 明朝" panose="02020609040205080304" pitchFamily="17" charset="-128"/>
                <a:cs typeface="ＭＳ 明朝" panose="02020609040205080304" pitchFamily="17" charset="-128"/>
              </a:rPr>
              <a:t>Reproduction by digital signal processing</a:t>
            </a:r>
            <a:endParaRPr lang="en-US" sz="3200">
              <a:solidFill>
                <a:srgbClr val="FF0000"/>
              </a:solidFill>
            </a:endParaRPr>
          </a:p>
        </p:txBody>
      </p:sp>
    </p:spTree>
    <p:extLst>
      <p:ext uri="{BB962C8B-B14F-4D97-AF65-F5344CB8AC3E}">
        <p14:creationId xmlns:p14="http://schemas.microsoft.com/office/powerpoint/2010/main" val="11848915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451219"/>
          </a:xfrm>
          <a:prstGeom prst="rect">
            <a:avLst/>
          </a:prstGeom>
          <a:noFill/>
        </p:spPr>
        <p:txBody>
          <a:bodyPr wrap="square" rtlCol="0">
            <a:spAutoFit/>
          </a:bodyPr>
          <a:lstStyle/>
          <a:p>
            <a:pPr marR="0" lvl="0">
              <a:lnSpc>
                <a:spcPct val="107000"/>
              </a:lnSpc>
              <a:spcBef>
                <a:spcPts val="450"/>
              </a:spcBef>
              <a:spcAft>
                <a:spcPts val="450"/>
              </a:spcAft>
              <a:buSzPts val="1000"/>
              <a:tabLst>
                <a:tab pos="457200" algn="l"/>
              </a:tabLst>
            </a:pPr>
            <a:r>
              <a:rPr lang="ja-JP" sz="2800">
                <a:effectLst/>
                <a:latin typeface="+mn-ea"/>
                <a:ea typeface="+mn-ea"/>
                <a:cs typeface="ＭＳ 明朝" panose="02020609040205080304" pitchFamily="17" charset="-128"/>
              </a:rPr>
              <a:t>問題と対策：</a:t>
            </a:r>
            <a:r>
              <a:rPr lang="en-US" altLang="ja-JP" sz="1200">
                <a:effectLst/>
                <a:latin typeface="+mn-ea"/>
                <a:ea typeface="+mn-ea"/>
                <a:cs typeface="ＭＳ 明朝" panose="02020609040205080304" pitchFamily="17" charset="-128"/>
              </a:rPr>
              <a:t>Problems and Countermeasures</a:t>
            </a:r>
            <a:endParaRPr lang="en-US" sz="2800">
              <a:effectLst/>
              <a:latin typeface="+mn-ea"/>
              <a:ea typeface="+mn-ea"/>
              <a:cs typeface="Times New Roman" panose="02020603050405020304" pitchFamily="18" charset="0"/>
            </a:endParaRPr>
          </a:p>
          <a:p>
            <a:pPr marL="742950" marR="0" lvl="1" indent="-285750">
              <a:lnSpc>
                <a:spcPct val="107000"/>
              </a:lnSpc>
              <a:spcBef>
                <a:spcPts val="450"/>
              </a:spcBef>
              <a:spcAft>
                <a:spcPts val="450"/>
              </a:spcAft>
              <a:buSzPts val="1000"/>
              <a:buFont typeface="Courier New" panose="02070309020205020404" pitchFamily="49" charset="0"/>
              <a:buChar char="o"/>
              <a:tabLst>
                <a:tab pos="914400" algn="l"/>
              </a:tabLst>
            </a:pPr>
            <a:r>
              <a:rPr lang="ja-JP" sz="2400">
                <a:effectLst/>
                <a:latin typeface="+mn-ea"/>
                <a:ea typeface="+mn-ea"/>
                <a:cs typeface="ＭＳ 明朝" panose="02020609040205080304" pitchFamily="17" charset="-128"/>
              </a:rPr>
              <a:t>隣接区間の境界部に出力信号の不連続が発生</a:t>
            </a:r>
            <a:r>
              <a:rPr lang="en-US" altLang="ja-JP" sz="1100">
                <a:effectLst/>
                <a:latin typeface="+mn-ea"/>
                <a:ea typeface="+mn-ea"/>
                <a:cs typeface="ＭＳ 明朝" panose="02020609040205080304" pitchFamily="17" charset="-128"/>
              </a:rPr>
              <a:t>A discontinuity in the output signal occurs at the boundary between adjacent sections.</a:t>
            </a:r>
            <a:endParaRPr lang="en-US" altLang="ja-JP" sz="1100">
              <a:latin typeface="+mn-ea"/>
              <a:ea typeface="+mn-ea"/>
              <a:cs typeface="ＭＳ 明朝" panose="02020609040205080304" pitchFamily="17" charset="-128"/>
            </a:endParaRPr>
          </a:p>
          <a:p>
            <a:pPr marL="742950" marR="0" lvl="1" indent="-285750">
              <a:lnSpc>
                <a:spcPct val="107000"/>
              </a:lnSpc>
              <a:spcBef>
                <a:spcPts val="450"/>
              </a:spcBef>
              <a:spcAft>
                <a:spcPts val="450"/>
              </a:spcAft>
              <a:buSzPts val="1000"/>
              <a:buFont typeface="Courier New" panose="02070309020205020404" pitchFamily="49" charset="0"/>
              <a:buChar char="o"/>
              <a:tabLst>
                <a:tab pos="914400" algn="l"/>
              </a:tabLst>
            </a:pPr>
            <a:r>
              <a:rPr lang="ja-JP" sz="2400">
                <a:solidFill>
                  <a:srgbClr val="000000"/>
                </a:solidFill>
                <a:effectLst/>
                <a:latin typeface="+mn-ea"/>
                <a:ea typeface="+mn-ea"/>
                <a:cs typeface="ＭＳ 明朝" panose="02020609040205080304" pitchFamily="17" charset="-128"/>
              </a:rPr>
              <a:t>もちろん，ディジタルなので元々が不連続なんですが，</a:t>
            </a:r>
            <a:r>
              <a:rPr lang="ja-JP" sz="2400">
                <a:solidFill>
                  <a:srgbClr val="000000"/>
                </a:solidFill>
                <a:effectLst/>
                <a:latin typeface="+mn-ea"/>
                <a:ea typeface="+mn-ea"/>
                <a:cs typeface="Times New Roman" panose="02020603050405020304" pitchFamily="18" charset="0"/>
              </a:rPr>
              <a:t> </a:t>
            </a:r>
            <a:r>
              <a:rPr lang="ja-JP" sz="2400">
                <a:solidFill>
                  <a:srgbClr val="000000"/>
                </a:solidFill>
                <a:effectLst/>
                <a:latin typeface="+mn-ea"/>
                <a:ea typeface="+mn-ea"/>
                <a:cs typeface="ＭＳ 明朝" panose="02020609040205080304" pitchFamily="17" charset="-128"/>
              </a:rPr>
              <a:t>その不連続性が拡大されてしまうという意味ね</a:t>
            </a:r>
            <a:r>
              <a:rPr lang="en-US" altLang="ja-JP" sz="1100">
                <a:solidFill>
                  <a:srgbClr val="000000"/>
                </a:solidFill>
                <a:effectLst/>
                <a:latin typeface="+mn-ea"/>
                <a:ea typeface="+mn-ea"/>
                <a:cs typeface="ＭＳ 明朝" panose="02020609040205080304" pitchFamily="17" charset="-128"/>
              </a:rPr>
              <a:t>Of course, because it is digital, it is originally discontinuous, but this means that the discontinuity is magnified.</a:t>
            </a:r>
          </a:p>
          <a:p>
            <a:pPr marL="742950" marR="0" lvl="1" indent="-285750">
              <a:lnSpc>
                <a:spcPct val="107000"/>
              </a:lnSpc>
              <a:spcBef>
                <a:spcPts val="450"/>
              </a:spcBef>
              <a:spcAft>
                <a:spcPts val="450"/>
              </a:spcAft>
              <a:buSzPts val="1000"/>
              <a:buFont typeface="Courier New" panose="02070309020205020404" pitchFamily="49" charset="0"/>
              <a:buChar char="o"/>
              <a:tabLst>
                <a:tab pos="914400" algn="l"/>
              </a:tabLst>
            </a:pPr>
            <a:r>
              <a:rPr lang="ja-JP" sz="2400">
                <a:solidFill>
                  <a:srgbClr val="000000"/>
                </a:solidFill>
                <a:effectLst/>
                <a:latin typeface="+mn-ea"/>
                <a:ea typeface="+mn-ea"/>
                <a:cs typeface="ＭＳ 明朝" panose="02020609040205080304" pitchFamily="17" charset="-128"/>
              </a:rPr>
              <a:t>フィルタによって出力信号も変化する訳ですが，</a:t>
            </a:r>
            <a:r>
              <a:rPr lang="ja-JP" sz="2400">
                <a:solidFill>
                  <a:srgbClr val="000000"/>
                </a:solidFill>
                <a:effectLst/>
                <a:latin typeface="+mn-ea"/>
                <a:ea typeface="+mn-ea"/>
                <a:cs typeface="Times New Roman" panose="02020603050405020304" pitchFamily="18" charset="0"/>
              </a:rPr>
              <a:t> </a:t>
            </a:r>
            <a:r>
              <a:rPr lang="ja-JP" sz="2400">
                <a:solidFill>
                  <a:srgbClr val="000000"/>
                </a:solidFill>
                <a:effectLst/>
                <a:latin typeface="+mn-ea"/>
                <a:ea typeface="+mn-ea"/>
                <a:cs typeface="ＭＳ 明朝" panose="02020609040205080304" pitchFamily="17" charset="-128"/>
              </a:rPr>
              <a:t>大抵の場合，区間毎にスペクトルが異なるので，</a:t>
            </a:r>
            <a:r>
              <a:rPr lang="ja-JP" sz="2400">
                <a:solidFill>
                  <a:srgbClr val="000000"/>
                </a:solidFill>
                <a:effectLst/>
                <a:latin typeface="+mn-ea"/>
                <a:ea typeface="+mn-ea"/>
                <a:cs typeface="Times New Roman" panose="02020603050405020304" pitchFamily="18" charset="0"/>
              </a:rPr>
              <a:t> </a:t>
            </a:r>
            <a:r>
              <a:rPr lang="ja-JP" sz="2400">
                <a:solidFill>
                  <a:srgbClr val="000000"/>
                </a:solidFill>
                <a:effectLst/>
                <a:latin typeface="+mn-ea"/>
                <a:ea typeface="+mn-ea"/>
                <a:cs typeface="ＭＳ 明朝" panose="02020609040205080304" pitchFamily="17" charset="-128"/>
              </a:rPr>
              <a:t>その変化の程度も異なりますよね．</a:t>
            </a:r>
            <a:r>
              <a:rPr lang="ja-JP" sz="2400">
                <a:solidFill>
                  <a:srgbClr val="000000"/>
                </a:solidFill>
                <a:effectLst/>
                <a:latin typeface="+mn-ea"/>
                <a:ea typeface="+mn-ea"/>
                <a:cs typeface="Times New Roman" panose="02020603050405020304" pitchFamily="18" charset="0"/>
              </a:rPr>
              <a:t> </a:t>
            </a:r>
            <a:r>
              <a:rPr lang="ja-JP" sz="2400">
                <a:solidFill>
                  <a:srgbClr val="000000"/>
                </a:solidFill>
                <a:effectLst/>
                <a:latin typeface="+mn-ea"/>
                <a:ea typeface="+mn-ea"/>
                <a:cs typeface="ＭＳ 明朝" panose="02020609040205080304" pitchFamily="17" charset="-128"/>
              </a:rPr>
              <a:t>これが不連続の原因ね</a:t>
            </a:r>
            <a:endParaRPr lang="en-US" altLang="ja-JP" sz="2400">
              <a:solidFill>
                <a:srgbClr val="000000"/>
              </a:solidFill>
              <a:latin typeface="+mn-ea"/>
              <a:ea typeface="+mn-ea"/>
              <a:cs typeface="ＭＳ 明朝" panose="02020609040205080304" pitchFamily="17" charset="-128"/>
            </a:endParaRPr>
          </a:p>
          <a:p>
            <a:pPr marL="1143000" marR="0">
              <a:lnSpc>
                <a:spcPct val="107000"/>
              </a:lnSpc>
              <a:spcBef>
                <a:spcPts val="0"/>
              </a:spcBef>
              <a:spcAft>
                <a:spcPts val="600"/>
              </a:spcAft>
            </a:pPr>
            <a:r>
              <a:rPr lang="en-US" sz="1100">
                <a:effectLst/>
                <a:latin typeface="+mn-ea"/>
                <a:ea typeface="+mn-ea"/>
                <a:cs typeface="Times New Roman" panose="02020603050405020304" pitchFamily="18" charset="0"/>
              </a:rPr>
              <a:t>The output signal is also changed by the filter, but in most cases the spectrum is different for each section, so the degree of change is also different. This is the cause of the discontinuity.</a:t>
            </a:r>
            <a:endParaRPr lang="en-US" altLang="ja-JP" sz="2400">
              <a:solidFill>
                <a:srgbClr val="000000"/>
              </a:solidFill>
              <a:effectLst/>
              <a:latin typeface="+mn-ea"/>
              <a:ea typeface="+mn-ea"/>
              <a:cs typeface="ＭＳ 明朝" panose="02020609040205080304" pitchFamily="17" charset="-128"/>
            </a:endParaRPr>
          </a:p>
          <a:p>
            <a:pPr marL="742950" lvl="1" indent="-285750">
              <a:lnSpc>
                <a:spcPct val="107000"/>
              </a:lnSpc>
              <a:spcBef>
                <a:spcPts val="450"/>
              </a:spcBef>
              <a:spcAft>
                <a:spcPts val="450"/>
              </a:spcAft>
              <a:buSzPts val="1000"/>
              <a:buFont typeface="Courier New" panose="02070309020205020404" pitchFamily="49" charset="0"/>
              <a:buChar char="o"/>
              <a:tabLst>
                <a:tab pos="914400" algn="l"/>
              </a:tabLst>
            </a:pPr>
            <a:r>
              <a:rPr lang="ja-JP" sz="2400">
                <a:solidFill>
                  <a:srgbClr val="000000"/>
                </a:solidFill>
                <a:effectLst/>
                <a:latin typeface="+mn-ea"/>
                <a:ea typeface="+mn-ea"/>
                <a:cs typeface="ＭＳ 明朝" panose="02020609040205080304" pitchFamily="17" charset="-128"/>
              </a:rPr>
              <a:t>音声信号の不連続部には「プツプツ」という雑音が発生しがち</a:t>
            </a:r>
            <a:endParaRPr lang="en-US" altLang="ja-JP" sz="2400">
              <a:solidFill>
                <a:srgbClr val="000000"/>
              </a:solidFill>
              <a:effectLst/>
              <a:latin typeface="+mn-ea"/>
              <a:ea typeface="+mn-ea"/>
              <a:cs typeface="ＭＳ 明朝" panose="02020609040205080304" pitchFamily="17" charset="-128"/>
            </a:endParaRPr>
          </a:p>
          <a:p>
            <a:pPr lvl="1">
              <a:lnSpc>
                <a:spcPct val="107000"/>
              </a:lnSpc>
              <a:spcBef>
                <a:spcPts val="450"/>
              </a:spcBef>
              <a:spcAft>
                <a:spcPts val="450"/>
              </a:spcAft>
              <a:buSzPts val="1000"/>
              <a:tabLst>
                <a:tab pos="914400" algn="l"/>
              </a:tabLst>
            </a:pPr>
            <a:r>
              <a:rPr lang="en-US" altLang="ja-JP" sz="1200">
                <a:solidFill>
                  <a:srgbClr val="000000"/>
                </a:solidFill>
                <a:effectLst/>
                <a:latin typeface="+mn-ea"/>
                <a:ea typeface="+mn-ea"/>
                <a:cs typeface="ＭＳ 明朝" panose="02020609040205080304" pitchFamily="17" charset="-128"/>
              </a:rPr>
              <a:t>Discontinuities in the speech signal tend to produce a ‘popping’ noise</a:t>
            </a:r>
          </a:p>
          <a:p>
            <a:endParaRPr lang="en-US" sz="1200">
              <a:effectLst/>
              <a:latin typeface="+mn-ea"/>
              <a:ea typeface="+mn-ea"/>
              <a:cs typeface="Times New Roman" panose="02020603050405020304" pitchFamily="18"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2808604" y="252943"/>
            <a:ext cx="7846143"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sz="2800" b="1">
                <a:solidFill>
                  <a:schemeClr val="tx1"/>
                </a:solidFill>
                <a:effectLst/>
                <a:latin typeface="ＭＳ ゴシック" panose="020B0609070205080204" pitchFamily="49" charset="-128"/>
                <a:ea typeface="ＭＳ ゴシック" panose="020B0609070205080204" pitchFamily="49" charset="-128"/>
                <a:cs typeface="ＭＳ 明朝" panose="02020609040205080304" pitchFamily="17" charset="-128"/>
              </a:rPr>
              <a:t>ディジタル信号処理による再現</a:t>
            </a:r>
            <a:r>
              <a:rPr lang="en-US" altLang="ja-JP" sz="1100" b="1">
                <a:solidFill>
                  <a:schemeClr val="tx1"/>
                </a:solidFill>
                <a:effectLst/>
                <a:latin typeface="Calibri" panose="020F0502020204030204" pitchFamily="34" charset="0"/>
                <a:ea typeface="ＭＳ 明朝" panose="02020609040205080304" pitchFamily="17" charset="-128"/>
                <a:cs typeface="ＭＳ 明朝" panose="02020609040205080304" pitchFamily="17" charset="-128"/>
              </a:rPr>
              <a:t>Reproduction by digital signal processing</a:t>
            </a:r>
            <a:endParaRPr lang="en-US" sz="3200">
              <a:solidFill>
                <a:srgbClr val="FF0000"/>
              </a:solidFill>
            </a:endParaRPr>
          </a:p>
        </p:txBody>
      </p:sp>
    </p:spTree>
    <p:extLst>
      <p:ext uri="{BB962C8B-B14F-4D97-AF65-F5344CB8AC3E}">
        <p14:creationId xmlns:p14="http://schemas.microsoft.com/office/powerpoint/2010/main" val="23126191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3563540"/>
          </a:xfrm>
          <a:prstGeom prst="rect">
            <a:avLst/>
          </a:prstGeom>
          <a:noFill/>
        </p:spPr>
        <p:txBody>
          <a:bodyPr wrap="square" rtlCol="0">
            <a:spAutoFit/>
          </a:bodyPr>
          <a:lstStyle/>
          <a:p>
            <a:pPr marR="0" lvl="0">
              <a:lnSpc>
                <a:spcPct val="107000"/>
              </a:lnSpc>
              <a:spcBef>
                <a:spcPts val="450"/>
              </a:spcBef>
              <a:spcAft>
                <a:spcPts val="450"/>
              </a:spcAft>
              <a:buSzPts val="1000"/>
              <a:tabLst>
                <a:tab pos="457200" algn="l"/>
              </a:tabLst>
            </a:pPr>
            <a:r>
              <a:rPr lang="ja-JP" sz="2800">
                <a:effectLst/>
                <a:latin typeface="+mn-ea"/>
                <a:ea typeface="+mn-ea"/>
                <a:cs typeface="ＭＳ 明朝" panose="02020609040205080304" pitchFamily="17" charset="-128"/>
              </a:rPr>
              <a:t>問題と対策：</a:t>
            </a:r>
            <a:r>
              <a:rPr lang="en-US" altLang="ja-JP" sz="1200">
                <a:effectLst/>
                <a:latin typeface="+mn-ea"/>
                <a:ea typeface="+mn-ea"/>
                <a:cs typeface="ＭＳ 明朝" panose="02020609040205080304" pitchFamily="17" charset="-128"/>
              </a:rPr>
              <a:t>Problems and Countermeasures</a:t>
            </a:r>
            <a:endParaRPr lang="en-US" altLang="ja-JP" sz="2800">
              <a:latin typeface="+mn-ea"/>
              <a:ea typeface="+mn-ea"/>
              <a:cs typeface="Times New Roman" panose="02020603050405020304" pitchFamily="18" charset="0"/>
            </a:endParaRPr>
          </a:p>
          <a:p>
            <a:pPr marR="0" lvl="0">
              <a:lnSpc>
                <a:spcPct val="107000"/>
              </a:lnSpc>
              <a:spcBef>
                <a:spcPts val="450"/>
              </a:spcBef>
              <a:spcAft>
                <a:spcPts val="450"/>
              </a:spcAft>
              <a:buSzPts val="1000"/>
              <a:tabLst>
                <a:tab pos="457200" algn="l"/>
              </a:tabLst>
            </a:pPr>
            <a:r>
              <a:rPr lang="en-US" sz="2800">
                <a:effectLst/>
                <a:latin typeface="+mn-ea"/>
                <a:ea typeface="+mn-ea"/>
                <a:cs typeface="Times New Roman" panose="02020603050405020304" pitchFamily="18" charset="0"/>
              </a:rPr>
              <a:t>→ </a:t>
            </a:r>
            <a:r>
              <a:rPr lang="ja-JP" sz="2800">
                <a:effectLst/>
                <a:latin typeface="+mn-ea"/>
                <a:ea typeface="+mn-ea"/>
                <a:cs typeface="ＭＳ 明朝" panose="02020609040205080304" pitchFamily="17" charset="-128"/>
              </a:rPr>
              <a:t>区間境界をブツ切せずに，滑らかに重ね合わせ（オーバラップアド）</a:t>
            </a:r>
            <a:r>
              <a:rPr lang="en-US" sz="2800">
                <a:effectLst/>
                <a:latin typeface="+mn-ea"/>
                <a:ea typeface="+mn-ea"/>
                <a:cs typeface="Times New Roman" panose="02020603050405020304" pitchFamily="18" charset="0"/>
              </a:rPr>
              <a:t>"overlap-add"</a:t>
            </a:r>
            <a:r>
              <a:rPr lang="ja-JP" sz="2800">
                <a:effectLst/>
                <a:latin typeface="+mn-ea"/>
                <a:ea typeface="+mn-ea"/>
                <a:cs typeface="ＭＳ 明朝" panose="02020609040205080304" pitchFamily="17" charset="-128"/>
              </a:rPr>
              <a:t>：</a:t>
            </a:r>
            <a:endParaRPr lang="en-US" altLang="ja-JP" sz="2800">
              <a:effectLst/>
              <a:latin typeface="+mn-ea"/>
              <a:ea typeface="+mn-ea"/>
              <a:cs typeface="ＭＳ 明朝" panose="02020609040205080304" pitchFamily="17" charset="-128"/>
            </a:endParaRPr>
          </a:p>
          <a:p>
            <a:pPr marR="0" lvl="0">
              <a:lnSpc>
                <a:spcPct val="107000"/>
              </a:lnSpc>
              <a:spcBef>
                <a:spcPts val="450"/>
              </a:spcBef>
              <a:spcAft>
                <a:spcPts val="450"/>
              </a:spcAft>
              <a:buSzPts val="1000"/>
              <a:tabLst>
                <a:tab pos="457200" algn="l"/>
              </a:tabLst>
            </a:pPr>
            <a:r>
              <a:rPr lang="en-US" altLang="ja-JP" sz="1200">
                <a:effectLst/>
                <a:latin typeface="+mn-ea"/>
                <a:ea typeface="+mn-ea"/>
                <a:cs typeface="ＭＳ 明朝" panose="02020609040205080304" pitchFamily="17" charset="-128"/>
              </a:rPr>
              <a:t>Smooth overlapping of section boundaries without merging them (overlap-add) ‘overlap-add’:</a:t>
            </a:r>
          </a:p>
          <a:p>
            <a:pPr>
              <a:spcBef>
                <a:spcPts val="0"/>
              </a:spcBef>
              <a:spcAft>
                <a:spcPts val="0"/>
              </a:spcAft>
            </a:pPr>
            <a:r>
              <a:rPr lang="en-US" sz="2800">
                <a:latin typeface="+mn-ea"/>
                <a:ea typeface="+mn-ea"/>
                <a:cs typeface="Times New Roman" panose="02020603050405020304" pitchFamily="18" charset="0"/>
              </a:rPr>
              <a:t> </a:t>
            </a:r>
            <a:r>
              <a:rPr lang="ja-JP" sz="2800">
                <a:effectLst/>
                <a:latin typeface="+mn-ea"/>
                <a:ea typeface="+mn-ea"/>
                <a:cs typeface="ＭＳ 明朝" panose="02020609040205080304" pitchFamily="17" charset="-128"/>
              </a:rPr>
              <a:t>入力信号の区間終端に余白を作り，ゼロ埋め</a:t>
            </a:r>
            <a:r>
              <a:rPr lang="en-US" sz="2800">
                <a:effectLst/>
                <a:latin typeface="+mn-ea"/>
                <a:ea typeface="+mn-ea"/>
                <a:cs typeface="Times New Roman" panose="02020603050405020304" pitchFamily="18" charset="0"/>
              </a:rPr>
              <a:t> "zero-padding" → </a:t>
            </a:r>
            <a:r>
              <a:rPr lang="ja-JP" sz="2800">
                <a:effectLst/>
                <a:latin typeface="+mn-ea"/>
                <a:ea typeface="+mn-ea"/>
                <a:cs typeface="ＭＳ 明朝" panose="02020609040205080304" pitchFamily="17" charset="-128"/>
              </a:rPr>
              <a:t>出力信号の連結時に余白部分を重ね合わせ．</a:t>
            </a:r>
            <a:endParaRPr lang="en-US" sz="2800">
              <a:effectLst/>
              <a:latin typeface="+mn-ea"/>
              <a:ea typeface="+mn-ea"/>
              <a:cs typeface="Times New Roman" panose="02020603050405020304" pitchFamily="18" charset="0"/>
            </a:endParaRPr>
          </a:p>
          <a:p>
            <a:pPr marR="0" lvl="0">
              <a:lnSpc>
                <a:spcPct val="107000"/>
              </a:lnSpc>
              <a:spcBef>
                <a:spcPts val="450"/>
              </a:spcBef>
              <a:spcAft>
                <a:spcPts val="450"/>
              </a:spcAft>
              <a:buSzPts val="1000"/>
              <a:tabLst>
                <a:tab pos="457200" algn="l"/>
              </a:tabLst>
            </a:pPr>
            <a:r>
              <a:rPr lang="en-US" sz="1200">
                <a:effectLst/>
                <a:latin typeface="+mn-ea"/>
                <a:ea typeface="+mn-ea"/>
                <a:cs typeface="Times New Roman" panose="02020603050405020304" pitchFamily="18" charset="0"/>
              </a:rPr>
              <a:t>Zero-padding": to create a margin at the end of a section of the input signal and fill it with zeros “zero-padding”: to overlap the margins of the output signals when they are concatenated.</a:t>
            </a:r>
          </a:p>
          <a:p>
            <a:endParaRPr lang="en-US" sz="1200">
              <a:effectLst/>
              <a:latin typeface="+mn-ea"/>
              <a:ea typeface="+mn-ea"/>
              <a:cs typeface="Times New Roman" panose="02020603050405020304" pitchFamily="18"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2808604" y="252943"/>
            <a:ext cx="7846143"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sz="2800" b="1">
                <a:solidFill>
                  <a:schemeClr val="tx1"/>
                </a:solidFill>
                <a:effectLst/>
                <a:latin typeface="ＭＳ ゴシック" panose="020B0609070205080204" pitchFamily="49" charset="-128"/>
                <a:ea typeface="ＭＳ ゴシック" panose="020B0609070205080204" pitchFamily="49" charset="-128"/>
                <a:cs typeface="ＭＳ 明朝" panose="02020609040205080304" pitchFamily="17" charset="-128"/>
              </a:rPr>
              <a:t>ディジタル信号処理による再現</a:t>
            </a:r>
            <a:r>
              <a:rPr lang="en-US" altLang="ja-JP" sz="1100" b="1">
                <a:solidFill>
                  <a:schemeClr val="tx1"/>
                </a:solidFill>
                <a:effectLst/>
                <a:latin typeface="Calibri" panose="020F0502020204030204" pitchFamily="34" charset="0"/>
                <a:ea typeface="ＭＳ 明朝" panose="02020609040205080304" pitchFamily="17" charset="-128"/>
                <a:cs typeface="ＭＳ 明朝" panose="02020609040205080304" pitchFamily="17" charset="-128"/>
              </a:rPr>
              <a:t>Reproduction by digital signal processing</a:t>
            </a:r>
            <a:endParaRPr lang="en-US" sz="3200">
              <a:solidFill>
                <a:srgbClr val="FF0000"/>
              </a:solidFill>
            </a:endParaRPr>
          </a:p>
        </p:txBody>
      </p:sp>
      <p:pic>
        <p:nvPicPr>
          <p:cNvPr id="3" name="図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38562" y="1004919"/>
            <a:ext cx="2131766" cy="1719996"/>
          </a:xfrm>
          <a:prstGeom prst="rect">
            <a:avLst/>
          </a:prstGeom>
        </p:spPr>
      </p:pic>
    </p:spTree>
    <p:extLst>
      <p:ext uri="{BB962C8B-B14F-4D97-AF65-F5344CB8AC3E}">
        <p14:creationId xmlns:p14="http://schemas.microsoft.com/office/powerpoint/2010/main" val="34955205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401269"/>
          </a:xfrm>
          <a:prstGeom prst="rect">
            <a:avLst/>
          </a:prstGeom>
          <a:noFill/>
        </p:spPr>
        <p:txBody>
          <a:bodyPr wrap="square" rtlCol="0">
            <a:spAutoFit/>
          </a:bodyPr>
          <a:lstStyle/>
          <a:p>
            <a:pPr marR="0" lvl="0">
              <a:lnSpc>
                <a:spcPct val="107000"/>
              </a:lnSpc>
              <a:spcBef>
                <a:spcPts val="450"/>
              </a:spcBef>
              <a:spcAft>
                <a:spcPts val="450"/>
              </a:spcAft>
              <a:buSzPts val="1000"/>
              <a:tabLst>
                <a:tab pos="457200" algn="l"/>
              </a:tabLst>
            </a:pPr>
            <a:r>
              <a:rPr lang="ja-JP" sz="2800">
                <a:effectLst/>
                <a:latin typeface="+mn-ea"/>
                <a:ea typeface="+mn-ea"/>
                <a:cs typeface="ＭＳ 明朝" panose="02020609040205080304" pitchFamily="17" charset="-128"/>
              </a:rPr>
              <a:t>問題と対策：</a:t>
            </a:r>
            <a:r>
              <a:rPr lang="en-US" altLang="ja-JP" sz="1200">
                <a:effectLst/>
                <a:latin typeface="+mn-ea"/>
                <a:ea typeface="+mn-ea"/>
                <a:cs typeface="ＭＳ 明朝" panose="02020609040205080304" pitchFamily="17" charset="-128"/>
              </a:rPr>
              <a:t>Problems and Countermeasures</a:t>
            </a:r>
            <a:endParaRPr lang="en-US" altLang="ja-JP" sz="2800">
              <a:latin typeface="+mn-ea"/>
              <a:ea typeface="+mn-ea"/>
              <a:cs typeface="Times New Roman" panose="02020603050405020304" pitchFamily="18" charset="0"/>
            </a:endParaRPr>
          </a:p>
          <a:p>
            <a:pPr marR="0" lvl="0">
              <a:lnSpc>
                <a:spcPct val="107000"/>
              </a:lnSpc>
              <a:spcBef>
                <a:spcPts val="450"/>
              </a:spcBef>
              <a:spcAft>
                <a:spcPts val="450"/>
              </a:spcAft>
              <a:buSzPts val="1000"/>
              <a:tabLst>
                <a:tab pos="457200" algn="l"/>
              </a:tabLst>
            </a:pPr>
            <a:r>
              <a:rPr lang="ja-JP" sz="2400">
                <a:effectLst/>
                <a:latin typeface="+mn-ea"/>
                <a:ea typeface="+mn-ea"/>
                <a:cs typeface="ＭＳ 明朝" panose="02020609040205080304" pitchFamily="17" charset="-128"/>
              </a:rPr>
              <a:t>出力信号の利用可能までにレイテンシ（処理遅延）</a:t>
            </a:r>
            <a:r>
              <a:rPr lang="en-US" sz="2400">
                <a:effectLst/>
                <a:latin typeface="+mn-ea"/>
                <a:ea typeface="+mn-ea"/>
              </a:rPr>
              <a:t>"latency" </a:t>
            </a:r>
            <a:r>
              <a:rPr lang="ja-JP" sz="2400">
                <a:effectLst/>
                <a:latin typeface="+mn-ea"/>
                <a:ea typeface="+mn-ea"/>
                <a:cs typeface="ＭＳ 明朝" panose="02020609040205080304" pitchFamily="17" charset="-128"/>
              </a:rPr>
              <a:t>が発生</a:t>
            </a:r>
            <a:endParaRPr lang="en-US" altLang="ja-JP" sz="2400">
              <a:effectLst/>
              <a:latin typeface="+mn-ea"/>
              <a:ea typeface="+mn-ea"/>
              <a:cs typeface="ＭＳ 明朝" panose="02020609040205080304" pitchFamily="17" charset="-128"/>
            </a:endParaRPr>
          </a:p>
          <a:p>
            <a:pPr marR="0" lvl="0">
              <a:lnSpc>
                <a:spcPct val="107000"/>
              </a:lnSpc>
              <a:spcBef>
                <a:spcPts val="450"/>
              </a:spcBef>
              <a:spcAft>
                <a:spcPts val="450"/>
              </a:spcAft>
              <a:buSzPts val="1000"/>
              <a:tabLst>
                <a:tab pos="457200" algn="l"/>
              </a:tabLst>
            </a:pPr>
            <a:r>
              <a:rPr lang="en-US" altLang="ja-JP" sz="1200">
                <a:effectLst/>
                <a:latin typeface="+mn-ea"/>
                <a:ea typeface="+mn-ea"/>
                <a:cs typeface="ＭＳ 明朝" panose="02020609040205080304" pitchFamily="17" charset="-128"/>
              </a:rPr>
              <a:t>Latency occurs before the output signal is available.</a:t>
            </a:r>
          </a:p>
          <a:p>
            <a:pPr marR="0" lvl="0">
              <a:lnSpc>
                <a:spcPct val="107000"/>
              </a:lnSpc>
              <a:spcBef>
                <a:spcPts val="450"/>
              </a:spcBef>
              <a:spcAft>
                <a:spcPts val="450"/>
              </a:spcAft>
              <a:buSzPts val="1000"/>
              <a:tabLst>
                <a:tab pos="457200" algn="l"/>
              </a:tabLst>
            </a:pPr>
            <a:r>
              <a:rPr lang="en-US" sz="2400">
                <a:solidFill>
                  <a:srgbClr val="000000"/>
                </a:solidFill>
                <a:effectLst/>
                <a:latin typeface="+mn-ea"/>
                <a:ea typeface="+mn-ea"/>
                <a:cs typeface="Times New Roman" panose="02020603050405020304" pitchFamily="18" charset="0"/>
              </a:rPr>
              <a:t>FFT</a:t>
            </a:r>
            <a:r>
              <a:rPr lang="ja-JP" sz="2400">
                <a:solidFill>
                  <a:srgbClr val="000000"/>
                </a:solidFill>
                <a:effectLst/>
                <a:latin typeface="+mn-ea"/>
                <a:ea typeface="+mn-ea"/>
                <a:cs typeface="ＭＳ 明朝" panose="02020609040205080304" pitchFamily="17" charset="-128"/>
              </a:rPr>
              <a:t>（高速フーリエ変換）と云えども，処理時間はゼロではないので</a:t>
            </a:r>
            <a:r>
              <a:rPr lang="en-US" sz="2400">
                <a:solidFill>
                  <a:srgbClr val="000000"/>
                </a:solidFill>
                <a:effectLst/>
                <a:latin typeface="+mn-ea"/>
                <a:ea typeface="+mn-ea"/>
                <a:cs typeface="Times New Roman" panose="02020603050405020304" pitchFamily="18" charset="0"/>
              </a:rPr>
              <a:t>... DFT </a:t>
            </a:r>
            <a:r>
              <a:rPr lang="ja-JP" sz="2400">
                <a:solidFill>
                  <a:srgbClr val="000000"/>
                </a:solidFill>
                <a:effectLst/>
                <a:latin typeface="+mn-ea"/>
                <a:ea typeface="+mn-ea"/>
                <a:cs typeface="ＭＳ 明朝" panose="02020609040205080304" pitchFamily="17" charset="-128"/>
              </a:rPr>
              <a:t>フィルタにとっては回避不可能な問題．</a:t>
            </a:r>
            <a:endParaRPr lang="en-US" sz="2400">
              <a:effectLst/>
              <a:latin typeface="+mn-ea"/>
              <a:ea typeface="+mn-ea"/>
              <a:cs typeface="Times New Roman" panose="02020603050405020304" pitchFamily="18" charset="0"/>
            </a:endParaRPr>
          </a:p>
          <a:p>
            <a:r>
              <a:rPr lang="ja-JP" sz="2400">
                <a:effectLst/>
                <a:latin typeface="+mn-ea"/>
                <a:ea typeface="+mn-ea"/>
                <a:cs typeface="ＭＳ 明朝" panose="02020609040205080304" pitchFamily="17" charset="-128"/>
              </a:rPr>
              <a:t>リアルタイム処理への応用としては致命的．</a:t>
            </a:r>
            <a:r>
              <a:rPr lang="ja-JP" sz="2400">
                <a:effectLst/>
                <a:latin typeface="+mn-ea"/>
                <a:ea typeface="+mn-ea"/>
              </a:rPr>
              <a:t> </a:t>
            </a:r>
            <a:r>
              <a:rPr lang="ja-JP" sz="2400">
                <a:effectLst/>
                <a:latin typeface="+mn-ea"/>
                <a:ea typeface="+mn-ea"/>
                <a:cs typeface="ＭＳ 明朝" panose="02020609040205080304" pitchFamily="17" charset="-128"/>
              </a:rPr>
              <a:t>例えば，楽器のエフェクタとしてライブ演奏で使う場合，</a:t>
            </a:r>
            <a:r>
              <a:rPr lang="ja-JP" sz="2400">
                <a:effectLst/>
                <a:latin typeface="+mn-ea"/>
                <a:ea typeface="+mn-ea"/>
              </a:rPr>
              <a:t> </a:t>
            </a:r>
            <a:r>
              <a:rPr lang="ja-JP" sz="2400">
                <a:effectLst/>
                <a:latin typeface="+mn-ea"/>
                <a:ea typeface="+mn-ea"/>
                <a:cs typeface="ＭＳ 明朝" panose="02020609040205080304" pitchFamily="17" charset="-128"/>
              </a:rPr>
              <a:t>リズムがズレてしまいますね．</a:t>
            </a:r>
            <a:r>
              <a:rPr lang="en-US" altLang="ja-JP" sz="1100">
                <a:effectLst/>
                <a:latin typeface="+mn-ea"/>
                <a:ea typeface="+mn-ea"/>
                <a:cs typeface="ＭＳ 明朝" panose="02020609040205080304" pitchFamily="17" charset="-128"/>
              </a:rPr>
              <a:t>Even with FFT (Fast Fourier Transform), the processing time is not zero... Unavoidable problem for DFT </a:t>
            </a:r>
            <a:r>
              <a:rPr lang="en-US" altLang="ja-JP" sz="1100" err="1">
                <a:effectLst/>
                <a:latin typeface="+mn-ea"/>
                <a:ea typeface="+mn-ea"/>
                <a:cs typeface="ＭＳ 明朝" panose="02020609040205080304" pitchFamily="17" charset="-128"/>
              </a:rPr>
              <a:t>filters.Critical</a:t>
            </a:r>
            <a:r>
              <a:rPr lang="en-US" altLang="ja-JP" sz="1100">
                <a:effectLst/>
                <a:latin typeface="+mn-ea"/>
                <a:ea typeface="+mn-ea"/>
                <a:cs typeface="ＭＳ 明朝" panose="02020609040205080304" pitchFamily="17" charset="-128"/>
              </a:rPr>
              <a:t> for real-time processing applications. For example, when used in a live performance as an effector for a musical instrument, the rhythm will be shifted.</a:t>
            </a:r>
          </a:p>
          <a:p>
            <a:pPr>
              <a:spcBef>
                <a:spcPts val="0"/>
              </a:spcBef>
              <a:spcAft>
                <a:spcPts val="0"/>
              </a:spcAft>
            </a:pPr>
            <a:endParaRPr lang="en-US" sz="1200">
              <a:latin typeface="+mn-ea"/>
              <a:ea typeface="+mn-ea"/>
              <a:cs typeface="Times New Roman" panose="02020603050405020304" pitchFamily="18" charset="0"/>
            </a:endParaRPr>
          </a:p>
          <a:p>
            <a:pPr>
              <a:spcBef>
                <a:spcPts val="0"/>
              </a:spcBef>
              <a:spcAft>
                <a:spcPts val="0"/>
              </a:spcAft>
            </a:pPr>
            <a:r>
              <a:rPr lang="en-US" sz="2400">
                <a:effectLst/>
                <a:latin typeface="+mn-ea"/>
                <a:ea typeface="+mn-ea"/>
                <a:cs typeface="Times New Roman" panose="02020603050405020304" pitchFamily="18" charset="0"/>
              </a:rPr>
              <a:t>DFT </a:t>
            </a:r>
            <a:r>
              <a:rPr lang="ja-JP" sz="2400">
                <a:effectLst/>
                <a:latin typeface="+mn-ea"/>
                <a:ea typeface="+mn-ea"/>
                <a:cs typeface="ＭＳ 明朝" panose="02020609040205080304" pitchFamily="17" charset="-128"/>
              </a:rPr>
              <a:t>とか周波数領域ではなく，時間領域でフィルタリングしましょう．</a:t>
            </a:r>
            <a:endParaRPr lang="en-US" sz="2400">
              <a:effectLst/>
              <a:latin typeface="+mn-ea"/>
              <a:ea typeface="+mn-ea"/>
              <a:cs typeface="Times New Roman" panose="02020603050405020304" pitchFamily="18" charset="0"/>
            </a:endParaRPr>
          </a:p>
          <a:p>
            <a:r>
              <a:rPr lang="ja-JP" sz="2400">
                <a:effectLst/>
                <a:latin typeface="+mn-ea"/>
                <a:ea typeface="+mn-ea"/>
                <a:cs typeface="ＭＳ 明朝" panose="02020609040205080304" pitchFamily="17" charset="-128"/>
              </a:rPr>
              <a:t>それが本来的なディジタルフィルタ</a:t>
            </a:r>
            <a:r>
              <a:rPr lang="en-US" altLang="ja-JP" sz="1100">
                <a:effectLst/>
                <a:latin typeface="+mn-ea"/>
                <a:ea typeface="+mn-ea"/>
                <a:cs typeface="ＭＳ 明朝" panose="02020609040205080304" pitchFamily="17" charset="-128"/>
              </a:rPr>
              <a:t>Filter in the time domain, not in the DFT or frequency </a:t>
            </a:r>
            <a:r>
              <a:rPr lang="en-US" altLang="ja-JP" sz="1100" err="1">
                <a:effectLst/>
                <a:latin typeface="+mn-ea"/>
                <a:ea typeface="+mn-ea"/>
                <a:cs typeface="ＭＳ 明朝" panose="02020609040205080304" pitchFamily="17" charset="-128"/>
              </a:rPr>
              <a:t>domain.That</a:t>
            </a:r>
            <a:r>
              <a:rPr lang="en-US" altLang="ja-JP" sz="1100">
                <a:effectLst/>
                <a:latin typeface="+mn-ea"/>
                <a:ea typeface="+mn-ea"/>
                <a:cs typeface="ＭＳ 明朝" panose="02020609040205080304" pitchFamily="17" charset="-128"/>
              </a:rPr>
              <a:t> is the essential digital filter.</a:t>
            </a:r>
            <a:endParaRPr lang="en-US" sz="1100">
              <a:effectLst/>
              <a:latin typeface="+mn-ea"/>
              <a:ea typeface="+mn-ea"/>
              <a:cs typeface="Times New Roman" panose="02020603050405020304" pitchFamily="18" charset="0"/>
            </a:endParaRPr>
          </a:p>
          <a:p>
            <a:endParaRPr lang="en-US" sz="1200">
              <a:effectLst/>
              <a:latin typeface="+mn-ea"/>
              <a:ea typeface="+mn-ea"/>
              <a:cs typeface="Times New Roman" panose="02020603050405020304" pitchFamily="18"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2808604" y="252943"/>
            <a:ext cx="7846143"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sz="2800" b="1">
                <a:solidFill>
                  <a:schemeClr val="tx1"/>
                </a:solidFill>
                <a:effectLst/>
                <a:latin typeface="ＭＳ ゴシック" panose="020B0609070205080204" pitchFamily="49" charset="-128"/>
                <a:ea typeface="ＭＳ ゴシック" panose="020B0609070205080204" pitchFamily="49" charset="-128"/>
                <a:cs typeface="ＭＳ 明朝" panose="02020609040205080304" pitchFamily="17" charset="-128"/>
              </a:rPr>
              <a:t>ディジタル信号処理による再現</a:t>
            </a:r>
            <a:r>
              <a:rPr lang="en-US" altLang="ja-JP" sz="1100" b="1">
                <a:solidFill>
                  <a:schemeClr val="tx1"/>
                </a:solidFill>
                <a:effectLst/>
                <a:latin typeface="Calibri" panose="020F0502020204030204" pitchFamily="34" charset="0"/>
                <a:ea typeface="ＭＳ 明朝" panose="02020609040205080304" pitchFamily="17" charset="-128"/>
                <a:cs typeface="ＭＳ 明朝" panose="02020609040205080304" pitchFamily="17" charset="-128"/>
              </a:rPr>
              <a:t>Reproduction by digital signal processing</a:t>
            </a:r>
            <a:endParaRPr lang="en-US" sz="3200">
              <a:solidFill>
                <a:srgbClr val="FF0000"/>
              </a:solidFill>
            </a:endParaRPr>
          </a:p>
        </p:txBody>
      </p:sp>
      <p:pic>
        <p:nvPicPr>
          <p:cNvPr id="3" name="図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97684" y="1304916"/>
            <a:ext cx="4963886" cy="1234300"/>
          </a:xfrm>
          <a:prstGeom prst="rect">
            <a:avLst/>
          </a:prstGeom>
        </p:spPr>
      </p:pic>
    </p:spTree>
    <p:extLst>
      <p:ext uri="{BB962C8B-B14F-4D97-AF65-F5344CB8AC3E}">
        <p14:creationId xmlns:p14="http://schemas.microsoft.com/office/powerpoint/2010/main" val="33931346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315028" y="464955"/>
            <a:ext cx="5335105" cy="381684"/>
          </a:xfrm>
        </p:spPr>
        <p:txBody>
          <a:bodyPr/>
          <a:lstStyle/>
          <a:p>
            <a:r>
              <a:rPr lang="en-US" sz="2800" b="1"/>
              <a:t>2</a:t>
            </a:r>
          </a:p>
        </p:txBody>
      </p:sp>
      <mc:AlternateContent xmlns:mc="http://schemas.openxmlformats.org/markup-compatibility/2006">
        <mc:Choice xmlns:a14="http://schemas.microsoft.com/office/drawing/2010/main" Requires="a14">
          <p:sp>
            <p:nvSpPr>
              <p:cNvPr id="5" name="TextBox 4"/>
              <p:cNvSpPr txBox="1"/>
              <p:nvPr/>
            </p:nvSpPr>
            <p:spPr>
              <a:xfrm>
                <a:off x="0" y="2085045"/>
                <a:ext cx="12192000" cy="4278094"/>
              </a:xfrm>
              <a:prstGeom prst="rect">
                <a:avLst/>
              </a:prstGeom>
              <a:noFill/>
            </p:spPr>
            <p:txBody>
              <a:bodyPr wrap="square" rtlCol="0">
                <a:spAutoFit/>
              </a:bodyPr>
              <a:lstStyle/>
              <a:p>
                <a:pPr algn="just"/>
                <a:r>
                  <a:rPr lang="ja-JP" altLang="en-US" sz="4000" b="1"/>
                  <a:t>第４章</a:t>
                </a:r>
                <a:r>
                  <a:rPr lang="en-US" altLang="ja-JP" sz="4000" b="1"/>
                  <a:t> </a:t>
                </a:r>
                <a:r>
                  <a:rPr lang="en-US" altLang="ja-JP" sz="1050" b="1"/>
                  <a:t>Book chapter 4</a:t>
                </a:r>
                <a:endParaRPr lang="en-US" altLang="ja-JP" sz="4000" b="1"/>
              </a:p>
              <a:p>
                <a:pPr algn="just"/>
                <a:r>
                  <a:rPr lang="en-US" altLang="ja-JP" sz="4000" b="1"/>
                  <a:t> </a:t>
                </a:r>
                <a:r>
                  <a:rPr lang="ja-JP" altLang="en-US" sz="4000" b="0" i="0">
                    <a:solidFill>
                      <a:srgbClr val="000000"/>
                    </a:solidFill>
                    <a:effectLst/>
                    <a:latin typeface="Arial" panose="020B0604020202020204" pitchFamily="34" charset="0"/>
                  </a:rPr>
                  <a:t>オイラーの公式 </a:t>
                </a:r>
                <a:r>
                  <a:rPr lang="en-US" altLang="ja-JP" sz="4000" b="0" i="0">
                    <a:solidFill>
                      <a:srgbClr val="000000"/>
                    </a:solidFill>
                    <a:effectLst/>
                    <a:latin typeface="Arial" panose="020B0604020202020204" pitchFamily="34" charset="0"/>
                  </a:rPr>
                  <a:t>"Euler's formula“</a:t>
                </a:r>
                <a:endParaRPr lang="en-US" altLang="ja-JP" sz="4000">
                  <a:solidFill>
                    <a:srgbClr val="000000"/>
                  </a:solidFill>
                  <a:latin typeface="Arial" panose="020B0604020202020204" pitchFamily="34" charset="0"/>
                </a:endParaRPr>
              </a:p>
              <a:p>
                <a:pPr algn="l"/>
                <a:br>
                  <a:rPr lang="ja-JP" altLang="en-US" sz="2000" b="0" i="0">
                    <a:solidFill>
                      <a:srgbClr val="000000"/>
                    </a:solidFill>
                    <a:effectLst/>
                    <a:latin typeface="Arial" panose="020B0604020202020204" pitchFamily="34" charset="0"/>
                  </a:rPr>
                </a:br>
                <a14:m>
                  <m:oMath xmlns:m="http://schemas.openxmlformats.org/officeDocument/2006/math">
                    <m:r>
                      <a:rPr lang="ja-JP" altLang="en-US" sz="2000" b="0" i="0" dirty="0" smtClean="0">
                        <a:solidFill>
                          <a:srgbClr val="000000"/>
                        </a:solidFill>
                        <a:effectLst/>
                        <a:latin typeface="Cambria Math" panose="02040503050406030204" pitchFamily="18" charset="0"/>
                      </a:rPr>
                      <m:t>𝜃</m:t>
                    </m:r>
                  </m:oMath>
                </a14:m>
                <a:r>
                  <a:rPr lang="ja-JP" altLang="en-US" sz="2000" b="0" i="0">
                    <a:solidFill>
                      <a:srgbClr val="000000"/>
                    </a:solidFill>
                    <a:effectLst/>
                    <a:latin typeface="Arial" panose="020B0604020202020204" pitchFamily="34" charset="0"/>
                  </a:rPr>
                  <a:t>：位相角 </a:t>
                </a:r>
                <a:r>
                  <a:rPr lang="en-US" altLang="ja-JP" sz="2000" b="0" i="0">
                    <a:solidFill>
                      <a:srgbClr val="000000"/>
                    </a:solidFill>
                    <a:effectLst/>
                    <a:latin typeface="Arial" panose="020B0604020202020204" pitchFamily="34" charset="0"/>
                  </a:rPr>
                  <a:t>"phase angle"</a:t>
                </a:r>
              </a:p>
              <a:p>
                <a:pPr algn="l"/>
                <a:r>
                  <a:rPr lang="ja-JP" altLang="en-US" sz="2000" b="0" i="0">
                    <a:solidFill>
                      <a:srgbClr val="000000"/>
                    </a:solidFill>
                    <a:effectLst/>
                    <a:latin typeface="Arial" panose="020B0604020202020204" pitchFamily="34" charset="0"/>
                  </a:rPr>
                  <a:t>𝑗：虚数単位 </a:t>
                </a:r>
                <a:r>
                  <a:rPr lang="en-US" altLang="ja-JP" sz="2000" b="0" i="0">
                    <a:solidFill>
                      <a:srgbClr val="000000"/>
                    </a:solidFill>
                    <a:effectLst/>
                    <a:latin typeface="Arial" panose="020B0604020202020204" pitchFamily="34" charset="0"/>
                  </a:rPr>
                  <a:t>"imaginary unit“</a:t>
                </a:r>
              </a:p>
              <a:p>
                <a:pPr algn="l"/>
                <a:endParaRPr lang="en-US" altLang="ja-JP" sz="2000">
                  <a:solidFill>
                    <a:srgbClr val="000000"/>
                  </a:solidFill>
                  <a:latin typeface="Arial" panose="020B0604020202020204" pitchFamily="34" charset="0"/>
                </a:endParaRPr>
              </a:p>
              <a:p>
                <a:pPr algn="l"/>
                <a:endParaRPr lang="en-US" altLang="ja-JP" sz="2000" b="0" i="0">
                  <a:solidFill>
                    <a:srgbClr val="000000"/>
                  </a:solidFill>
                  <a:effectLst/>
                  <a:latin typeface="Arial" panose="020B0604020202020204" pitchFamily="34" charset="0"/>
                </a:endParaRPr>
              </a:p>
              <a:p>
                <a:pPr algn="l"/>
                <a:endParaRPr lang="en-US" altLang="ja-JP" sz="2000" b="0" i="0">
                  <a:solidFill>
                    <a:srgbClr val="000000"/>
                  </a:solidFill>
                  <a:effectLst/>
                  <a:latin typeface="Arial" panose="020B0604020202020204" pitchFamily="34" charset="0"/>
                </a:endParaRPr>
              </a:p>
              <a:p>
                <a:pPr algn="l"/>
                <a:r>
                  <a:rPr lang="ja-JP" altLang="en-US" sz="2800" b="0" i="0">
                    <a:solidFill>
                      <a:srgbClr val="000000"/>
                    </a:solidFill>
                    <a:effectLst/>
                    <a:latin typeface="Arial" panose="020B0604020202020204" pitchFamily="34" charset="0"/>
                  </a:rPr>
                  <a:t>正弦波 </a:t>
                </a:r>
                <a:r>
                  <a:rPr lang="en-US" altLang="ja-JP" sz="2800" b="0" i="0">
                    <a:solidFill>
                      <a:srgbClr val="000000"/>
                    </a:solidFill>
                    <a:effectLst/>
                    <a:latin typeface="Arial" panose="020B0604020202020204" pitchFamily="34" charset="0"/>
                    <a:sym typeface="Wingdings" panose="05000000000000000000" pitchFamily="2" charset="2"/>
                  </a:rPr>
                  <a:t> </a:t>
                </a:r>
                <a:r>
                  <a:rPr lang="en-US" altLang="ja-JP" sz="2800" b="0" i="0">
                    <a:solidFill>
                      <a:srgbClr val="000000"/>
                    </a:solidFill>
                    <a:effectLst/>
                    <a:latin typeface="Arial" panose="020B0604020202020204" pitchFamily="34" charset="0"/>
                  </a:rPr>
                  <a:t>"sine wave" </a:t>
                </a:r>
                <a:r>
                  <a:rPr lang="ja-JP" altLang="en-US" sz="2800" b="0" i="0">
                    <a:solidFill>
                      <a:srgbClr val="000000"/>
                    </a:solidFill>
                    <a:effectLst/>
                    <a:latin typeface="Arial" panose="020B0604020202020204" pitchFamily="34" charset="0"/>
                  </a:rPr>
                  <a:t>の複素数表現 </a:t>
                </a:r>
                <a:r>
                  <a:rPr lang="en-US" altLang="ja-JP" sz="2800" b="0" i="0">
                    <a:solidFill>
                      <a:srgbClr val="000000"/>
                    </a:solidFill>
                    <a:effectLst/>
                    <a:latin typeface="Arial" panose="020B0604020202020204" pitchFamily="34" charset="0"/>
                  </a:rPr>
                  <a:t>"complex number notation"</a:t>
                </a:r>
              </a:p>
              <a:p>
                <a:pPr algn="just"/>
                <a:endParaRPr lang="en-US" sz="2000" b="1">
                  <a:latin typeface="YouTube Noto"/>
                </a:endParaRPr>
              </a:p>
              <a:p>
                <a:pPr algn="just"/>
                <a:endParaRPr lang="en-US" sz="1200" b="1">
                  <a:solidFill>
                    <a:srgbClr val="FF0000"/>
                  </a:solidFill>
                </a:endParaRPr>
              </a:p>
              <a:p>
                <a:pPr algn="just"/>
                <a:r>
                  <a:rPr lang="en-US" sz="1200"/>
                  <a:t>                                                                                                                                                                                                                               </a:t>
                </a:r>
                <a:r>
                  <a:rPr lang="ja-JP" altLang="en-US" sz="1200"/>
                  <a:t> </a:t>
                </a:r>
                <a:r>
                  <a:rPr lang="en-US" sz="1200"/>
                  <a:t>ref:   </a:t>
                </a:r>
                <a:r>
                  <a:rPr lang="en-US" altLang="ja-JP" sz="1200">
                    <a:hlinkClick r:id="rId3">
                      <a:extLst>
                        <a:ext uri="{A12FA001-AC4F-418D-AE19-62706E023703}">
                          <ahyp:hlinkClr xmlns:ahyp="http://schemas.microsoft.com/office/drawing/2018/hyperlinkcolor" val="tx"/>
                        </a:ext>
                      </a:extLst>
                    </a:hlinkClick>
                  </a:rPr>
                  <a:t>Euler's formula - Wikipedia</a:t>
                </a:r>
                <a:endParaRPr lang="en-US" sz="1200"/>
              </a:p>
            </p:txBody>
          </p:sp>
        </mc:Choice>
        <mc:Fallback>
          <p:sp>
            <p:nvSpPr>
              <p:cNvPr id="5" name="TextBox 4"/>
              <p:cNvSpPr txBox="1">
                <a:spLocks noRot="1" noChangeAspect="1" noMove="1" noResize="1" noEditPoints="1" noAdjustHandles="1" noChangeArrowheads="1" noChangeShapeType="1" noTextEdit="1"/>
              </p:cNvSpPr>
              <p:nvPr/>
            </p:nvSpPr>
            <p:spPr>
              <a:xfrm>
                <a:off x="0" y="2085045"/>
                <a:ext cx="12192000" cy="4278094"/>
              </a:xfrm>
              <a:prstGeom prst="rect">
                <a:avLst/>
              </a:prstGeom>
              <a:blipFill>
                <a:blip r:embed="rId4"/>
                <a:stretch>
                  <a:fillRect l="-1750" t="-3134"/>
                </a:stretch>
              </a:blipFill>
            </p:spPr>
            <p:txBody>
              <a:bodyPr/>
              <a:lstStyle/>
              <a:p>
                <a:r>
                  <a:rPr lang="en-US">
                    <a:noFill/>
                  </a:rPr>
                  <a:t> </a:t>
                </a:r>
              </a:p>
            </p:txBody>
          </p:sp>
        </mc:Fallback>
      </mc:AlternateContent>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73580757-EA2D-E6F4-299A-F4BFE26AA5E8}"/>
              </a:ext>
            </a:extLst>
          </p:cNvPr>
          <p:cNvSpPr/>
          <p:nvPr/>
        </p:nvSpPr>
        <p:spPr>
          <a:xfrm>
            <a:off x="2808604" y="252943"/>
            <a:ext cx="8304872"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altLang="en-US" sz="4000">
                <a:solidFill>
                  <a:schemeClr val="tx1"/>
                </a:solidFill>
              </a:rPr>
              <a:t>複素数と正弦波</a:t>
            </a:r>
            <a:r>
              <a:rPr lang="en-US" altLang="ja-JP" sz="1000" b="1">
                <a:solidFill>
                  <a:schemeClr val="tx1"/>
                </a:solidFill>
              </a:rPr>
              <a:t>Complex numbers and Sine waves</a:t>
            </a:r>
            <a:endParaRPr lang="en-US" sz="4000" b="1">
              <a:solidFill>
                <a:schemeClr val="tx1"/>
              </a:solidFill>
            </a:endParaRPr>
          </a:p>
        </p:txBody>
      </p:sp>
      <p:pic>
        <p:nvPicPr>
          <p:cNvPr id="11" name="図 10"/>
          <p:cNvPicPr/>
          <p:nvPr/>
        </p:nvPicPr>
        <p:blipFill>
          <a:blip r:embed="rId5">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pic>
        <p:nvPicPr>
          <p:cNvPr id="8" name="図 7" descr="グラフ, ダイアグラム, 円グラフ&#10;&#10;自動的に生成された説明">
            <a:extLst>
              <a:ext uri="{FF2B5EF4-FFF2-40B4-BE49-F238E27FC236}">
                <a16:creationId xmlns:a16="http://schemas.microsoft.com/office/drawing/2014/main" id="{26ABC11F-80E3-8B11-C64A-7E17ECB4DC6B}"/>
              </a:ext>
            </a:extLst>
          </p:cNvPr>
          <p:cNvPicPr>
            <a:picLocks noChangeAspect="1"/>
          </p:cNvPicPr>
          <p:nvPr/>
        </p:nvPicPr>
        <p:blipFill>
          <a:blip r:embed="rId7"/>
          <a:stretch>
            <a:fillRect/>
          </a:stretch>
        </p:blipFill>
        <p:spPr>
          <a:xfrm>
            <a:off x="9870749" y="3171077"/>
            <a:ext cx="2181529" cy="2724530"/>
          </a:xfrm>
          <a:prstGeom prst="rect">
            <a:avLst/>
          </a:prstGeom>
        </p:spPr>
      </p:pic>
      <p:pic>
        <p:nvPicPr>
          <p:cNvPr id="2" name="図 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542367" y="3752080"/>
            <a:ext cx="2967544" cy="591319"/>
          </a:xfrm>
          <a:prstGeom prst="rect">
            <a:avLst/>
          </a:prstGeom>
        </p:spPr>
      </p:pic>
    </p:spTree>
    <p:extLst>
      <p:ext uri="{BB962C8B-B14F-4D97-AF65-F5344CB8AC3E}">
        <p14:creationId xmlns:p14="http://schemas.microsoft.com/office/powerpoint/2010/main" val="157947672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315028" y="464955"/>
            <a:ext cx="5335105" cy="381684"/>
          </a:xfrm>
        </p:spPr>
        <p:txBody>
          <a:bodyPr/>
          <a:lstStyle/>
          <a:p>
            <a:r>
              <a:rPr lang="en-US" sz="2800" b="1"/>
              <a:t>3</a:t>
            </a:r>
          </a:p>
        </p:txBody>
      </p:sp>
      <p:sp>
        <p:nvSpPr>
          <p:cNvPr id="5" name="TextBox 4"/>
          <p:cNvSpPr txBox="1"/>
          <p:nvPr/>
        </p:nvSpPr>
        <p:spPr>
          <a:xfrm>
            <a:off x="0" y="2085045"/>
            <a:ext cx="12192000" cy="4216539"/>
          </a:xfrm>
          <a:prstGeom prst="rect">
            <a:avLst/>
          </a:prstGeom>
          <a:noFill/>
        </p:spPr>
        <p:txBody>
          <a:bodyPr wrap="square" rtlCol="0">
            <a:spAutoFit/>
          </a:bodyPr>
          <a:lstStyle/>
          <a:p>
            <a:pPr algn="l"/>
            <a:endParaRPr lang="en-US" altLang="ja-JP" sz="2000">
              <a:solidFill>
                <a:srgbClr val="000000"/>
              </a:solidFill>
              <a:latin typeface="Arial" panose="020B0604020202020204" pitchFamily="34" charset="0"/>
            </a:endParaRPr>
          </a:p>
          <a:p>
            <a:pPr algn="l"/>
            <a:r>
              <a:rPr lang="ja-JP" altLang="en-US" sz="2800" b="0" i="0">
                <a:solidFill>
                  <a:srgbClr val="000000"/>
                </a:solidFill>
                <a:effectLst/>
                <a:latin typeface="Arial" panose="020B0604020202020204" pitchFamily="34" charset="0"/>
              </a:rPr>
              <a:t>正弦波 </a:t>
            </a:r>
            <a:r>
              <a:rPr lang="en-US" altLang="ja-JP" sz="2800" b="0" i="0">
                <a:solidFill>
                  <a:srgbClr val="000000"/>
                </a:solidFill>
                <a:effectLst/>
                <a:latin typeface="Arial" panose="020B0604020202020204" pitchFamily="34" charset="0"/>
              </a:rPr>
              <a:t>"sine wave" </a:t>
            </a:r>
            <a:r>
              <a:rPr lang="ja-JP" altLang="en-US" sz="2800" b="0" i="0">
                <a:solidFill>
                  <a:srgbClr val="000000"/>
                </a:solidFill>
                <a:effectLst/>
                <a:latin typeface="Arial" panose="020B0604020202020204" pitchFamily="34" charset="0"/>
              </a:rPr>
              <a:t>の複素数表現 </a:t>
            </a:r>
            <a:r>
              <a:rPr lang="en-US" altLang="ja-JP" sz="2800" b="0" i="0">
                <a:solidFill>
                  <a:srgbClr val="000000"/>
                </a:solidFill>
                <a:effectLst/>
                <a:latin typeface="Arial" panose="020B0604020202020204" pitchFamily="34" charset="0"/>
              </a:rPr>
              <a:t>"complex number notation"</a:t>
            </a:r>
          </a:p>
          <a:p>
            <a:pPr algn="l"/>
            <a:endParaRPr lang="en-US" altLang="ja-JP" sz="2000">
              <a:solidFill>
                <a:srgbClr val="000000"/>
              </a:solidFill>
              <a:latin typeface="Arial" panose="020B0604020202020204" pitchFamily="34" charset="0"/>
            </a:endParaRPr>
          </a:p>
          <a:p>
            <a:pPr algn="just"/>
            <a:endParaRPr lang="en-US" sz="2000" b="1">
              <a:latin typeface="YouTube Noto"/>
            </a:endParaRPr>
          </a:p>
          <a:p>
            <a:pPr algn="just"/>
            <a:r>
              <a:rPr lang="en-US" sz="2800" b="1">
                <a:latin typeface="YouTube Noto"/>
              </a:rPr>
              <a:t>t: </a:t>
            </a:r>
            <a:r>
              <a:rPr lang="ja-JP" altLang="en-US" sz="2800"/>
              <a:t>時間  </a:t>
            </a:r>
            <a:r>
              <a:rPr lang="en-US" altLang="ja-JP" sz="2800">
                <a:sym typeface="Wingdings" panose="05000000000000000000" pitchFamily="2" charset="2"/>
              </a:rPr>
              <a:t> time </a:t>
            </a:r>
          </a:p>
          <a:p>
            <a:pPr algn="just"/>
            <a:endParaRPr lang="en-US" sz="2400" b="1">
              <a:latin typeface="YouTube Noto"/>
              <a:sym typeface="Wingdings" panose="05000000000000000000" pitchFamily="2" charset="2"/>
            </a:endParaRPr>
          </a:p>
          <a:p>
            <a:pPr algn="just"/>
            <a:r>
              <a:rPr lang="en-US" sz="2800" b="1">
                <a:latin typeface="YouTube Noto"/>
                <a:sym typeface="Wingdings" panose="05000000000000000000" pitchFamily="2" charset="2"/>
              </a:rPr>
              <a:t>f:</a:t>
            </a:r>
            <a:r>
              <a:rPr lang="ja-JP" altLang="en-US" sz="2800"/>
              <a:t>周波数  </a:t>
            </a:r>
            <a:r>
              <a:rPr lang="en-US" altLang="ja-JP" sz="2800">
                <a:sym typeface="Wingdings" panose="05000000000000000000" pitchFamily="2" charset="2"/>
              </a:rPr>
              <a:t> frequency</a:t>
            </a:r>
          </a:p>
          <a:p>
            <a:pPr algn="just"/>
            <a:endParaRPr lang="en-US" sz="2000" b="1">
              <a:latin typeface="YouTube Noto"/>
              <a:sym typeface="Wingdings" panose="05000000000000000000" pitchFamily="2" charset="2"/>
            </a:endParaRPr>
          </a:p>
          <a:p>
            <a:pPr algn="just"/>
            <a:r>
              <a:rPr lang="ja-JP" altLang="en-US" sz="2800"/>
              <a:t>三角関数の混ざった数式の計算は面倒なものですが， 複素数と指数関数とで表しておくと楽になるんです</a:t>
            </a:r>
            <a:r>
              <a:rPr lang="ja-JP" altLang="en-US" sz="2000"/>
              <a:t>．</a:t>
            </a:r>
            <a:endParaRPr lang="en-US" altLang="ja-JP" sz="2000"/>
          </a:p>
          <a:p>
            <a:pPr algn="just"/>
            <a:r>
              <a:rPr lang="en-US" sz="1200" b="1">
                <a:latin typeface="YouTube Noto"/>
              </a:rPr>
              <a:t>Calculating formulas that involve trigonometric functions can be troublesome, but it becomes easier if you represent them as complex numbers and exponential functions.</a:t>
            </a:r>
          </a:p>
          <a:p>
            <a:pPr algn="just"/>
            <a:endParaRPr lang="en-US" sz="1200" b="1">
              <a:solidFill>
                <a:srgbClr val="FF0000"/>
              </a:solidFill>
            </a:endParaRPr>
          </a:p>
        </p:txBody>
      </p:sp>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73580757-EA2D-E6F4-299A-F4BFE26AA5E8}"/>
              </a:ext>
            </a:extLst>
          </p:cNvPr>
          <p:cNvSpPr/>
          <p:nvPr/>
        </p:nvSpPr>
        <p:spPr>
          <a:xfrm>
            <a:off x="2808604" y="252943"/>
            <a:ext cx="8304872"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altLang="en-US" sz="4000">
                <a:solidFill>
                  <a:schemeClr val="tx1"/>
                </a:solidFill>
              </a:rPr>
              <a:t>複素数と正弦波</a:t>
            </a:r>
            <a:r>
              <a:rPr lang="en-US" altLang="ja-JP" sz="1000" b="1">
                <a:solidFill>
                  <a:schemeClr val="tx1"/>
                </a:solidFill>
              </a:rPr>
              <a:t>Complex numbers and Sine waves</a:t>
            </a:r>
            <a:endParaRPr lang="en-US" sz="4000" b="1">
              <a:solidFill>
                <a:schemeClr val="tx1"/>
              </a:solidFill>
            </a:endParaRPr>
          </a:p>
        </p:txBody>
      </p: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pic>
        <p:nvPicPr>
          <p:cNvPr id="2" name="図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20841" y="3100739"/>
            <a:ext cx="4877368" cy="806689"/>
          </a:xfrm>
          <a:prstGeom prst="rect">
            <a:avLst/>
          </a:prstGeom>
        </p:spPr>
      </p:pic>
    </p:spTree>
    <p:extLst>
      <p:ext uri="{BB962C8B-B14F-4D97-AF65-F5344CB8AC3E}">
        <p14:creationId xmlns:p14="http://schemas.microsoft.com/office/powerpoint/2010/main" val="64207865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315028" y="464955"/>
            <a:ext cx="5335105" cy="381684"/>
          </a:xfrm>
        </p:spPr>
        <p:txBody>
          <a:bodyPr/>
          <a:lstStyle/>
          <a:p>
            <a:r>
              <a:rPr lang="en-US" sz="2800" b="1"/>
              <a:t>4</a:t>
            </a:r>
          </a:p>
        </p:txBody>
      </p:sp>
      <mc:AlternateContent xmlns:mc="http://schemas.openxmlformats.org/markup-compatibility/2006">
        <mc:Choice xmlns:a14="http://schemas.microsoft.com/office/drawing/2010/main" Requires="a14">
          <p:sp>
            <p:nvSpPr>
              <p:cNvPr id="5" name="TextBox 4"/>
              <p:cNvSpPr txBox="1"/>
              <p:nvPr/>
            </p:nvSpPr>
            <p:spPr>
              <a:xfrm>
                <a:off x="0" y="2085045"/>
                <a:ext cx="12192000" cy="2308324"/>
              </a:xfrm>
              <a:prstGeom prst="rect">
                <a:avLst/>
              </a:prstGeom>
              <a:noFill/>
            </p:spPr>
            <p:txBody>
              <a:bodyPr wrap="square" rtlCol="0">
                <a:spAutoFit/>
              </a:bodyPr>
              <a:lstStyle/>
              <a:p>
                <a:pPr algn="l"/>
                <a:endParaRPr lang="en-US" altLang="ja-JP" sz="2000">
                  <a:solidFill>
                    <a:srgbClr val="000000"/>
                  </a:solidFill>
                  <a:latin typeface="Arial" panose="020B0604020202020204" pitchFamily="34" charset="0"/>
                </a:endParaRPr>
              </a:p>
              <a:p>
                <a:r>
                  <a:rPr lang="ja-JP" altLang="en-US" sz="2800"/>
                  <a:t>周波数 </a:t>
                </a:r>
                <a:r>
                  <a:rPr lang="en-US" altLang="ja-JP" sz="2800"/>
                  <a:t>f</a:t>
                </a:r>
                <a:r>
                  <a:rPr lang="ja-JP" altLang="en-US" sz="2800"/>
                  <a:t> の代わりに </a:t>
                </a:r>
                <a:r>
                  <a:rPr lang="en-US" altLang="ja-JP" sz="2800">
                    <a:sym typeface="Wingdings" panose="05000000000000000000" pitchFamily="2" charset="2"/>
                  </a:rPr>
                  <a:t> </a:t>
                </a:r>
                <a:r>
                  <a:rPr lang="ja-JP" altLang="en-US" sz="2800"/>
                  <a:t> 角周波数 </a:t>
                </a:r>
                <a:r>
                  <a:rPr lang="en-US" altLang="ja-JP" sz="2800"/>
                  <a:t> “angular frequency”</a:t>
                </a:r>
                <a:endParaRPr lang="en-US" altLang="ja-JP" sz="2800">
                  <a:solidFill>
                    <a:srgbClr val="000000"/>
                  </a:solidFill>
                  <a:latin typeface="Arial" panose="020B0604020202020204" pitchFamily="34" charset="0"/>
                </a:endParaRPr>
              </a:p>
              <a:p>
                <a:pPr algn="just"/>
                <a:r>
                  <a:rPr lang="en-US" sz="1200" b="1">
                    <a:latin typeface="YouTube Noto"/>
                  </a:rPr>
                  <a:t>Change f with w</a:t>
                </a:r>
              </a:p>
              <a:p>
                <a:pPr algn="just"/>
                <a:endParaRPr lang="en-US" sz="1200" b="1">
                  <a:latin typeface="YouTube Noto"/>
                </a:endParaRPr>
              </a:p>
              <a:p>
                <a:pPr algn="just"/>
                <a:endParaRPr lang="en-US" sz="1200" b="1">
                  <a:latin typeface="YouTube Noto"/>
                </a:endParaRPr>
              </a:p>
              <a:p>
                <a:pPr algn="just"/>
                <a14:m>
                  <m:oMath xmlns:m="http://schemas.openxmlformats.org/officeDocument/2006/math">
                    <m:r>
                      <a:rPr lang="en-US" altLang="ja-JP" sz="2800" i="1" dirty="0" smtClean="0">
                        <a:latin typeface="Cambria Math" panose="02040503050406030204" pitchFamily="18" charset="0"/>
                        <a:sym typeface="Wingdings" panose="05000000000000000000" pitchFamily="2" charset="2"/>
                      </a:rPr>
                      <m:t>𝜔</m:t>
                    </m:r>
                  </m:oMath>
                </a14:m>
                <a:r>
                  <a:rPr lang="en-US" altLang="ja-JP" sz="2800">
                    <a:sym typeface="Wingdings" panose="05000000000000000000" pitchFamily="2" charset="2"/>
                  </a:rPr>
                  <a:t> = 2</a:t>
                </a:r>
                <a14:m>
                  <m:oMath xmlns:m="http://schemas.openxmlformats.org/officeDocument/2006/math">
                    <m:r>
                      <a:rPr lang="el-GR" altLang="ja-JP" sz="2800" i="1" smtClean="0">
                        <a:latin typeface="Cambria Math" panose="02040503050406030204" pitchFamily="18" charset="0"/>
                        <a:sym typeface="Wingdings" panose="05000000000000000000" pitchFamily="2" charset="2"/>
                      </a:rPr>
                      <m:t>𝜋</m:t>
                    </m:r>
                    <m:r>
                      <a:rPr lang="en-US" altLang="ja-JP" sz="2800" b="0" i="1" smtClean="0">
                        <a:latin typeface="Cambria Math" panose="02040503050406030204" pitchFamily="18" charset="0"/>
                        <a:sym typeface="Wingdings" panose="05000000000000000000" pitchFamily="2" charset="2"/>
                      </a:rPr>
                      <m:t>𝑓</m:t>
                    </m:r>
                  </m:oMath>
                </a14:m>
                <a:endParaRPr lang="en-US" altLang="ja-JP" sz="2800">
                  <a:sym typeface="Wingdings" panose="05000000000000000000" pitchFamily="2" charset="2"/>
                </a:endParaRPr>
              </a:p>
              <a:p>
                <a:pPr algn="just"/>
                <a:endParaRPr lang="en-US" sz="2000" b="1">
                  <a:latin typeface="YouTube Noto"/>
                  <a:sym typeface="Wingdings" panose="05000000000000000000" pitchFamily="2" charset="2"/>
                </a:endParaRPr>
              </a:p>
              <a:p>
                <a:pPr algn="just"/>
                <a:endParaRPr lang="en-US" sz="1200" b="1">
                  <a:solidFill>
                    <a:srgbClr val="FF0000"/>
                  </a:solidFill>
                </a:endParaRPr>
              </a:p>
            </p:txBody>
          </p:sp>
        </mc:Choice>
        <mc:Fallback>
          <p:sp>
            <p:nvSpPr>
              <p:cNvPr id="5" name="TextBox 4"/>
              <p:cNvSpPr txBox="1">
                <a:spLocks noRot="1" noChangeAspect="1" noMove="1" noResize="1" noEditPoints="1" noAdjustHandles="1" noChangeArrowheads="1" noChangeShapeType="1" noTextEdit="1"/>
              </p:cNvSpPr>
              <p:nvPr/>
            </p:nvSpPr>
            <p:spPr>
              <a:xfrm>
                <a:off x="0" y="2085045"/>
                <a:ext cx="12192000" cy="2308324"/>
              </a:xfrm>
              <a:prstGeom prst="rect">
                <a:avLst/>
              </a:prstGeom>
              <a:blipFill>
                <a:blip r:embed="rId3"/>
                <a:stretch>
                  <a:fillRect l="-1000"/>
                </a:stretch>
              </a:blipFill>
            </p:spPr>
            <p:txBody>
              <a:bodyPr/>
              <a:lstStyle/>
              <a:p>
                <a:r>
                  <a:rPr lang="en-US">
                    <a:noFill/>
                  </a:rPr>
                  <a:t> </a:t>
                </a:r>
              </a:p>
            </p:txBody>
          </p:sp>
        </mc:Fallback>
      </mc:AlternateContent>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73580757-EA2D-E6F4-299A-F4BFE26AA5E8}"/>
              </a:ext>
            </a:extLst>
          </p:cNvPr>
          <p:cNvSpPr/>
          <p:nvPr/>
        </p:nvSpPr>
        <p:spPr>
          <a:xfrm>
            <a:off x="2808604" y="252943"/>
            <a:ext cx="8304872"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altLang="en-US" sz="4000">
                <a:solidFill>
                  <a:schemeClr val="tx1"/>
                </a:solidFill>
              </a:rPr>
              <a:t>複素数と正弦波</a:t>
            </a:r>
            <a:r>
              <a:rPr lang="en-US" altLang="ja-JP" sz="1000" b="1">
                <a:solidFill>
                  <a:schemeClr val="tx1"/>
                </a:solidFill>
              </a:rPr>
              <a:t>Complex numbers and Sine waves</a:t>
            </a:r>
            <a:endParaRPr lang="en-US" sz="4000" b="1">
              <a:solidFill>
                <a:schemeClr val="tx1"/>
              </a:solidFill>
            </a:endParaRPr>
          </a:p>
        </p:txBody>
      </p:sp>
      <p:pic>
        <p:nvPicPr>
          <p:cNvPr id="11" name="図 10"/>
          <p:cNvPicPr/>
          <p:nvPr/>
        </p:nvPicPr>
        <p:blipFill>
          <a:blip r:embed="rId4">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pic>
        <p:nvPicPr>
          <p:cNvPr id="2" name="図 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02678" y="3386533"/>
            <a:ext cx="4877368" cy="806689"/>
          </a:xfrm>
          <a:prstGeom prst="rect">
            <a:avLst/>
          </a:prstGeom>
        </p:spPr>
      </p:pic>
    </p:spTree>
    <p:extLst>
      <p:ext uri="{BB962C8B-B14F-4D97-AF65-F5344CB8AC3E}">
        <p14:creationId xmlns:p14="http://schemas.microsoft.com/office/powerpoint/2010/main" val="91661899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315028" y="464955"/>
            <a:ext cx="5335105" cy="381684"/>
          </a:xfrm>
        </p:spPr>
        <p:txBody>
          <a:bodyPr/>
          <a:lstStyle/>
          <a:p>
            <a:r>
              <a:rPr lang="en-US" sz="2800" b="1"/>
              <a:t>5</a:t>
            </a:r>
          </a:p>
        </p:txBody>
      </p:sp>
      <p:sp>
        <p:nvSpPr>
          <p:cNvPr id="5" name="TextBox 4"/>
          <p:cNvSpPr txBox="1"/>
          <p:nvPr/>
        </p:nvSpPr>
        <p:spPr>
          <a:xfrm>
            <a:off x="0" y="2085045"/>
            <a:ext cx="12192000" cy="4524315"/>
          </a:xfrm>
          <a:prstGeom prst="rect">
            <a:avLst/>
          </a:prstGeom>
          <a:noFill/>
        </p:spPr>
        <p:txBody>
          <a:bodyPr wrap="square" rtlCol="0">
            <a:spAutoFit/>
          </a:bodyPr>
          <a:lstStyle/>
          <a:p>
            <a:pPr algn="just"/>
            <a:r>
              <a:rPr lang="ja-JP" altLang="en-US" sz="4000"/>
              <a:t>虚数単位の性質</a:t>
            </a:r>
            <a:r>
              <a:rPr lang="en-US" altLang="ja-JP" sz="1200"/>
              <a:t>Properties of imaginary units </a:t>
            </a:r>
            <a:endParaRPr lang="en-US" altLang="ja-JP" sz="4000" b="1"/>
          </a:p>
          <a:p>
            <a:pPr algn="just"/>
            <a:endParaRPr lang="en-US" altLang="ja-JP" sz="4000" b="1"/>
          </a:p>
          <a:p>
            <a:pPr algn="just"/>
            <a:r>
              <a:rPr lang="ja-JP" altLang="en-US" sz="4000"/>
              <a:t>複素共役 </a:t>
            </a:r>
            <a:r>
              <a:rPr lang="en-US" altLang="ja-JP" sz="4000"/>
              <a:t>"complex conjugate"</a:t>
            </a:r>
            <a:endParaRPr lang="en-US" altLang="ja-JP" sz="4000" b="1"/>
          </a:p>
          <a:p>
            <a:pPr algn="just"/>
            <a:r>
              <a:rPr lang="en-US" altLang="ja-JP" sz="4000" b="1"/>
              <a:t> </a:t>
            </a:r>
            <a:r>
              <a:rPr lang="en-US" altLang="ja-JP" sz="1200"/>
              <a:t>complex conjugate of a complex number </a:t>
            </a:r>
            <a:r>
              <a:rPr lang="en-US" altLang="ja-JP" sz="1200">
                <a:sym typeface="Wingdings" panose="05000000000000000000" pitchFamily="2" charset="2"/>
              </a:rPr>
              <a:t> equal real part and imaginary part </a:t>
            </a:r>
            <a:r>
              <a:rPr lang="en-US" altLang="ja-JP" sz="1200" b="1">
                <a:sym typeface="Wingdings" panose="05000000000000000000" pitchFamily="2" charset="2"/>
              </a:rPr>
              <a:t>equal in magnitude opposite in sign</a:t>
            </a:r>
            <a:r>
              <a:rPr lang="en-US" altLang="ja-JP" sz="1200">
                <a:sym typeface="Wingdings" panose="05000000000000000000" pitchFamily="2" charset="2"/>
              </a:rPr>
              <a:t>.</a:t>
            </a:r>
            <a:endParaRPr lang="en-US" altLang="ja-JP" sz="4000"/>
          </a:p>
          <a:p>
            <a:pPr algn="just"/>
            <a:endParaRPr lang="en-US" sz="4000" b="1">
              <a:solidFill>
                <a:srgbClr val="FF0000"/>
              </a:solidFill>
            </a:endParaRPr>
          </a:p>
          <a:p>
            <a:pPr algn="just"/>
            <a:r>
              <a:rPr lang="en-US" sz="4000" b="1">
                <a:solidFill>
                  <a:srgbClr val="FF0000"/>
                </a:solidFill>
              </a:rPr>
              <a:t> </a:t>
            </a:r>
            <a:r>
              <a:rPr lang="en-US" sz="1200" b="1">
                <a:solidFill>
                  <a:srgbClr val="FF0000"/>
                </a:solidFill>
              </a:rPr>
              <a:t>                                                                                                                                                                                                </a:t>
            </a:r>
            <a:r>
              <a:rPr lang="en-US" sz="1200"/>
              <a:t>ref: https://en.wikipedia.org/wiki/Complex_conjugate</a:t>
            </a:r>
          </a:p>
          <a:p>
            <a:pPr algn="just"/>
            <a:endParaRPr lang="en-US" sz="1200" b="1">
              <a:solidFill>
                <a:srgbClr val="FF0000"/>
              </a:solidFill>
            </a:endParaRPr>
          </a:p>
          <a:p>
            <a:pPr algn="just"/>
            <a:endParaRPr lang="en-US" sz="1200" b="1">
              <a:solidFill>
                <a:srgbClr val="FF0000"/>
              </a:solidFill>
            </a:endParaRPr>
          </a:p>
          <a:p>
            <a:pPr algn="just"/>
            <a:endParaRPr lang="en-US" sz="1200" b="1">
              <a:solidFill>
                <a:srgbClr val="FF0000"/>
              </a:solidFill>
            </a:endParaRPr>
          </a:p>
          <a:p>
            <a:pPr algn="just"/>
            <a:endParaRPr lang="en-US" sz="1200" b="1">
              <a:solidFill>
                <a:srgbClr val="FF0000"/>
              </a:solidFill>
            </a:endParaRPr>
          </a:p>
        </p:txBody>
      </p:sp>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73580757-EA2D-E6F4-299A-F4BFE26AA5E8}"/>
              </a:ext>
            </a:extLst>
          </p:cNvPr>
          <p:cNvSpPr/>
          <p:nvPr/>
        </p:nvSpPr>
        <p:spPr>
          <a:xfrm>
            <a:off x="2648989" y="252943"/>
            <a:ext cx="8464487"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altLang="en-US" sz="4000">
                <a:solidFill>
                  <a:schemeClr val="tx1"/>
                </a:solidFill>
              </a:rPr>
              <a:t>複素数関連の表記法と公式</a:t>
            </a:r>
            <a:r>
              <a:rPr lang="en-US" altLang="ja-JP" sz="1000" b="1">
                <a:solidFill>
                  <a:schemeClr val="tx1"/>
                </a:solidFill>
              </a:rPr>
              <a:t>notation and formulas related to </a:t>
            </a:r>
            <a:r>
              <a:rPr lang="en-US" altLang="ja-JP" sz="1000" b="1" err="1">
                <a:solidFill>
                  <a:schemeClr val="tx1"/>
                </a:solidFill>
              </a:rPr>
              <a:t>cmplx</a:t>
            </a:r>
            <a:r>
              <a:rPr lang="en-US" altLang="ja-JP" sz="1000" b="1">
                <a:solidFill>
                  <a:schemeClr val="tx1"/>
                </a:solidFill>
              </a:rPr>
              <a:t> no.</a:t>
            </a:r>
            <a:endParaRPr lang="en-US" sz="4000" b="1">
              <a:solidFill>
                <a:schemeClr val="tx1"/>
              </a:solidFill>
            </a:endParaRPr>
          </a:p>
        </p:txBody>
      </p: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pic>
        <p:nvPicPr>
          <p:cNvPr id="2" name="図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11671" y="1185162"/>
            <a:ext cx="2200582" cy="3924848"/>
          </a:xfrm>
          <a:prstGeom prst="rect">
            <a:avLst/>
          </a:prstGeom>
        </p:spPr>
      </p:pic>
    </p:spTree>
    <p:extLst>
      <p:ext uri="{BB962C8B-B14F-4D97-AF65-F5344CB8AC3E}">
        <p14:creationId xmlns:p14="http://schemas.microsoft.com/office/powerpoint/2010/main" val="381300971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315028" y="464955"/>
            <a:ext cx="5335105" cy="381684"/>
          </a:xfrm>
        </p:spPr>
        <p:txBody>
          <a:bodyPr/>
          <a:lstStyle/>
          <a:p>
            <a:r>
              <a:rPr lang="en-US" sz="2800" b="1"/>
              <a:t>6</a:t>
            </a:r>
          </a:p>
        </p:txBody>
      </p:sp>
      <p:sp>
        <p:nvSpPr>
          <p:cNvPr id="5" name="TextBox 4"/>
          <p:cNvSpPr txBox="1"/>
          <p:nvPr/>
        </p:nvSpPr>
        <p:spPr>
          <a:xfrm>
            <a:off x="0" y="2085045"/>
            <a:ext cx="12192000" cy="3785652"/>
          </a:xfrm>
          <a:prstGeom prst="rect">
            <a:avLst/>
          </a:prstGeom>
          <a:noFill/>
        </p:spPr>
        <p:txBody>
          <a:bodyPr wrap="square" rtlCol="0">
            <a:spAutoFit/>
          </a:bodyPr>
          <a:lstStyle/>
          <a:p>
            <a:pPr algn="just"/>
            <a:r>
              <a:rPr lang="ja-JP" altLang="en-US" sz="4000"/>
              <a:t>虚数単位の性質</a:t>
            </a:r>
            <a:r>
              <a:rPr lang="en-US" altLang="ja-JP" sz="1200"/>
              <a:t>Properties of imaginary units </a:t>
            </a:r>
            <a:endParaRPr lang="en-US" altLang="ja-JP" sz="4000" b="1"/>
          </a:p>
          <a:p>
            <a:pPr algn="just"/>
            <a:endParaRPr lang="en-US" altLang="ja-JP" sz="4000" b="1"/>
          </a:p>
          <a:p>
            <a:pPr algn="just"/>
            <a:r>
              <a:rPr lang="ja-JP" altLang="en-US" sz="4000"/>
              <a:t>実数部 </a:t>
            </a:r>
            <a:r>
              <a:rPr lang="en-US" altLang="ja-JP" sz="4000"/>
              <a:t>"real part" </a:t>
            </a:r>
          </a:p>
          <a:p>
            <a:pPr algn="just"/>
            <a:endParaRPr lang="en-US" altLang="ja-JP" sz="4000"/>
          </a:p>
          <a:p>
            <a:pPr algn="just"/>
            <a:r>
              <a:rPr lang="ja-JP" altLang="en-US" sz="4000"/>
              <a:t>虚数部 </a:t>
            </a:r>
            <a:r>
              <a:rPr lang="en-US" altLang="ja-JP" sz="4000"/>
              <a:t>"imaginary part“</a:t>
            </a:r>
          </a:p>
          <a:p>
            <a:pPr algn="just"/>
            <a:r>
              <a:rPr lang="en-US" altLang="ja-JP" sz="4000" b="1"/>
              <a:t>                                                           </a:t>
            </a:r>
            <a:r>
              <a:rPr lang="en-US" altLang="ja-JP" sz="1200"/>
              <a:t>ref: https://en.wikipedia.org/wiki/Complex_conjugate</a:t>
            </a:r>
            <a:r>
              <a:rPr lang="en-US" altLang="ja-JP" sz="1200" b="1"/>
              <a:t> </a:t>
            </a:r>
          </a:p>
        </p:txBody>
      </p:sp>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73580757-EA2D-E6F4-299A-F4BFE26AA5E8}"/>
              </a:ext>
            </a:extLst>
          </p:cNvPr>
          <p:cNvSpPr/>
          <p:nvPr/>
        </p:nvSpPr>
        <p:spPr>
          <a:xfrm>
            <a:off x="2648989" y="252943"/>
            <a:ext cx="8464487"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altLang="en-US" sz="4000">
                <a:solidFill>
                  <a:schemeClr val="tx1"/>
                </a:solidFill>
              </a:rPr>
              <a:t>複素数関連の表記法と公式</a:t>
            </a:r>
            <a:r>
              <a:rPr lang="en-US" altLang="ja-JP" sz="1000" b="1">
                <a:solidFill>
                  <a:schemeClr val="tx1"/>
                </a:solidFill>
              </a:rPr>
              <a:t>notation and formulas related to </a:t>
            </a:r>
            <a:r>
              <a:rPr lang="en-US" altLang="ja-JP" sz="1000" b="1" err="1">
                <a:solidFill>
                  <a:schemeClr val="tx1"/>
                </a:solidFill>
              </a:rPr>
              <a:t>cmplx</a:t>
            </a:r>
            <a:r>
              <a:rPr lang="en-US" altLang="ja-JP" sz="1000" b="1">
                <a:solidFill>
                  <a:schemeClr val="tx1"/>
                </a:solidFill>
              </a:rPr>
              <a:t> no.</a:t>
            </a:r>
            <a:endParaRPr lang="en-US" sz="4000" b="1">
              <a:solidFill>
                <a:schemeClr val="tx1"/>
              </a:solidFill>
            </a:endParaRPr>
          </a:p>
        </p:txBody>
      </p: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pic>
        <p:nvPicPr>
          <p:cNvPr id="2" name="図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11671" y="1185162"/>
            <a:ext cx="2200582" cy="3924848"/>
          </a:xfrm>
          <a:prstGeom prst="rect">
            <a:avLst/>
          </a:prstGeom>
        </p:spPr>
      </p:pic>
    </p:spTree>
    <p:extLst>
      <p:ext uri="{BB962C8B-B14F-4D97-AF65-F5344CB8AC3E}">
        <p14:creationId xmlns:p14="http://schemas.microsoft.com/office/powerpoint/2010/main" val="328799913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279517" y="459087"/>
            <a:ext cx="5335105" cy="381684"/>
          </a:xfrm>
        </p:spPr>
        <p:txBody>
          <a:bodyPr/>
          <a:lstStyle/>
          <a:p>
            <a:r>
              <a:rPr lang="en-US" sz="2800" b="1"/>
              <a:t>7</a:t>
            </a:r>
          </a:p>
        </p:txBody>
      </p:sp>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278094"/>
          </a:xfrm>
          <a:prstGeom prst="rect">
            <a:avLst/>
          </a:prstGeom>
          <a:noFill/>
        </p:spPr>
        <p:txBody>
          <a:bodyPr wrap="square" rtlCol="0">
            <a:spAutoFit/>
          </a:bodyPr>
          <a:lstStyle/>
          <a:p>
            <a:r>
              <a:rPr lang="ja-JP" altLang="en-US" sz="2800"/>
              <a:t>無限・連続的なアナログ信号を対象として</a:t>
            </a:r>
            <a:endParaRPr lang="en-US" altLang="ja-JP" sz="2800"/>
          </a:p>
          <a:p>
            <a:r>
              <a:rPr lang="en-US" altLang="ja-JP" sz="1200"/>
              <a:t>For infinite and continuous analog signals</a:t>
            </a:r>
          </a:p>
          <a:p>
            <a:endParaRPr lang="en-US" altLang="ja-JP" sz="1200"/>
          </a:p>
          <a:p>
            <a:r>
              <a:rPr lang="ja-JP" altLang="en-US" sz="2800"/>
              <a:t>信号の強度とかが無限大ということではなく， 連続信号では，数値列が無限長，情報量が無限大という意味ね．</a:t>
            </a:r>
            <a:endParaRPr lang="en-US" altLang="ja-JP" sz="2800"/>
          </a:p>
          <a:p>
            <a:r>
              <a:rPr lang="en-US" altLang="ja-JP" sz="1200"/>
              <a:t>It does not mean the signal strength is infinite, rather for a continuous signal, the numerical sequence is infinite length and the amount of information is infinite. </a:t>
            </a:r>
            <a:endParaRPr lang="ja-JP" altLang="en-US" sz="1200"/>
          </a:p>
          <a:p>
            <a:endParaRPr lang="en-US" altLang="ja-JP" sz="1200"/>
          </a:p>
          <a:p>
            <a:r>
              <a:rPr lang="ja-JP" altLang="en-US" sz="2800"/>
              <a:t>フーリエ変換（</a:t>
            </a:r>
            <a:r>
              <a:rPr lang="en-US" altLang="ja-JP" sz="2800"/>
              <a:t>FT</a:t>
            </a:r>
            <a:r>
              <a:rPr lang="ja-JP" altLang="en-US" sz="2800"/>
              <a:t>）</a:t>
            </a:r>
            <a:r>
              <a:rPr lang="en-US" altLang="ja-JP" sz="2800"/>
              <a:t>"Fourier transform“</a:t>
            </a:r>
          </a:p>
          <a:p>
            <a:r>
              <a:rPr lang="ja-JP" altLang="en-US" sz="2800"/>
              <a:t>信号に含まれている正弦波の周波数毎の配合比率を求めています．</a:t>
            </a:r>
            <a:endParaRPr lang="en-US" altLang="ja-JP" sz="2800"/>
          </a:p>
          <a:p>
            <a:br>
              <a:rPr lang="ja-JP" altLang="en-US" sz="1200"/>
            </a:br>
            <a:r>
              <a:rPr lang="en-US" altLang="ja-JP" sz="1200"/>
              <a:t>The mixing ratio of each frequency of sine wave included in the signal is calculated.</a:t>
            </a:r>
          </a:p>
          <a:p>
            <a:endParaRPr lang="en-US" altLang="ja-JP" sz="1200"/>
          </a:p>
          <a:p>
            <a:pPr lvl="0"/>
            <a:r>
              <a:rPr lang="en-US" altLang="ja-JP" sz="2400">
                <a:latin typeface="Arial" panose="020B0604020202020204" pitchFamily="34" charset="0"/>
              </a:rPr>
              <a:t>X</a:t>
            </a:r>
            <a:r>
              <a:rPr lang="ja-JP" altLang="ja-JP" sz="2400">
                <a:latin typeface="Arial" panose="020B0604020202020204" pitchFamily="34" charset="0"/>
              </a:rPr>
              <a:t>(</a:t>
            </a:r>
            <a:r>
              <a:rPr lang="en-US" altLang="ja-JP" sz="2400">
                <a:latin typeface="Arial" panose="020B0604020202020204" pitchFamily="34" charset="0"/>
              </a:rPr>
              <a:t>f</a:t>
            </a:r>
            <a:r>
              <a:rPr lang="ja-JP" altLang="ja-JP" sz="2400">
                <a:latin typeface="Arial" panose="020B0604020202020204" pitchFamily="34" charset="0"/>
              </a:rPr>
              <a:t>)</a:t>
            </a:r>
            <a:r>
              <a:rPr lang="ja-JP" altLang="ja-JP" sz="2400">
                <a:solidFill>
                  <a:srgbClr val="000000"/>
                </a:solidFill>
                <a:latin typeface="Arial" panose="020B0604020202020204" pitchFamily="34" charset="0"/>
              </a:rPr>
              <a:t>：スペクトル </a:t>
            </a:r>
            <a:r>
              <a:rPr lang="ja-JP" altLang="ja-JP" sz="2400"/>
              <a:t>"spectrum" or</a:t>
            </a:r>
            <a:r>
              <a:rPr lang="ja-JP" altLang="ja-JP" sz="2400">
                <a:latin typeface="Arial" panose="020B0604020202020204" pitchFamily="34" charset="0"/>
              </a:rPr>
              <a:t> </a:t>
            </a:r>
            <a:r>
              <a:rPr lang="ja-JP" altLang="ja-JP" sz="2400">
                <a:solidFill>
                  <a:srgbClr val="000000"/>
                </a:solidFill>
                <a:latin typeface="Arial" panose="020B0604020202020204" pitchFamily="34" charset="0"/>
                <a:cs typeface="Arial" panose="020B0604020202020204" pitchFamily="34" charset="0"/>
              </a:rPr>
              <a:t>"spectra"，周波数成分の含有比率，複素数</a:t>
            </a:r>
            <a:r>
              <a:rPr lang="ja-JP" altLang="ja-JP" sz="2400"/>
              <a:t> </a:t>
            </a:r>
            <a:endParaRPr lang="ja-JP" altLang="ja-JP" sz="2400">
              <a:latin typeface="Arial" panose="020B0604020202020204" pitchFamily="34" charset="0"/>
            </a:endParaRPr>
          </a:p>
          <a:p>
            <a:endParaRPr lang="en-US" altLang="ja-JP" sz="1200"/>
          </a:p>
          <a:p>
            <a:r>
              <a:rPr lang="en-US" sz="1200" b="1">
                <a:latin typeface="Calibri" panose="020F0502020204030204" pitchFamily="34" charset="0"/>
                <a:ea typeface="游明朝" panose="02020400000000000000" pitchFamily="18" charset="-128"/>
                <a:cs typeface="Times New Roman" panose="02020603050405020304" pitchFamily="18" charset="0"/>
              </a:rPr>
              <a:t>Spectrum </a:t>
            </a:r>
            <a:r>
              <a:rPr lang="en-US" sz="1200" b="1">
                <a:latin typeface="Calibri" panose="020F0502020204030204" pitchFamily="34" charset="0"/>
                <a:ea typeface="游明朝" panose="02020400000000000000" pitchFamily="18" charset="-128"/>
                <a:cs typeface="Times New Roman" panose="02020603050405020304" pitchFamily="18" charset="0"/>
                <a:sym typeface="Wingdings" panose="05000000000000000000" pitchFamily="2" charset="2"/>
              </a:rPr>
              <a:t> content ratio of frequency components, complex number. </a:t>
            </a:r>
            <a:endParaRPr lang="en-US" sz="1200" b="1">
              <a:latin typeface="Calibri" panose="020F0502020204030204" pitchFamily="34" charset="0"/>
              <a:ea typeface="游明朝" panose="02020400000000000000" pitchFamily="18" charset="-128"/>
              <a:cs typeface="Times New Roman" panose="02020603050405020304" pitchFamily="18"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13" name="Rounded Rectangle 18">
            <a:extLst>
              <a:ext uri="{FF2B5EF4-FFF2-40B4-BE49-F238E27FC236}">
                <a16:creationId xmlns:a16="http://schemas.microsoft.com/office/drawing/2014/main" id="{38CC964D-2AE0-C129-77E1-2842C9968624}"/>
              </a:ext>
            </a:extLst>
          </p:cNvPr>
          <p:cNvSpPr/>
          <p:nvPr/>
        </p:nvSpPr>
        <p:spPr>
          <a:xfrm>
            <a:off x="3912577" y="252943"/>
            <a:ext cx="4933239"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altLang="en-US" sz="3200">
                <a:solidFill>
                  <a:schemeClr val="tx1"/>
                </a:solidFill>
              </a:rPr>
              <a:t>複素フーリエ変換</a:t>
            </a:r>
            <a:r>
              <a:rPr lang="en-US" altLang="ja-JP" sz="1100" b="1">
                <a:solidFill>
                  <a:schemeClr val="tx1"/>
                </a:solidFill>
              </a:rPr>
              <a:t>Complex Fourier Transform</a:t>
            </a:r>
            <a:r>
              <a:rPr lang="ja-JP" altLang="en-US" sz="3200" b="1">
                <a:solidFill>
                  <a:srgbClr val="FF0000"/>
                </a:solidFill>
              </a:rPr>
              <a:t> </a:t>
            </a:r>
            <a:endParaRPr lang="en-US" sz="3200">
              <a:solidFill>
                <a:srgbClr val="FF0000"/>
              </a:solidFill>
            </a:endParaRPr>
          </a:p>
        </p:txBody>
      </p:sp>
      <p:pic>
        <p:nvPicPr>
          <p:cNvPr id="6" name="図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02015" y="1582141"/>
            <a:ext cx="3467584" cy="828791"/>
          </a:xfrm>
          <a:prstGeom prst="rect">
            <a:avLst/>
          </a:prstGeom>
        </p:spPr>
      </p:pic>
      <p:sp>
        <p:nvSpPr>
          <p:cNvPr id="7" name="Rectangle 1"/>
          <p:cNvSpPr>
            <a:spLocks noChangeArrowheads="1"/>
          </p:cNvSpPr>
          <p:nvPr/>
        </p:nvSpPr>
        <p:spPr bwMode="auto">
          <a:xfrm>
            <a:off x="0"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ja-JP" altLang="ja-JP" sz="1800" b="0" i="0" u="none" strike="noStrike" cap="none" normalizeH="0" baseline="0">
                <a:ln>
                  <a:noFill/>
                </a:ln>
                <a:solidFill>
                  <a:schemeClr val="tx1"/>
                </a:solidFill>
                <a:effectLst/>
                <a:latin typeface="Arial" panose="020B0604020202020204" pitchFamily="34" charset="0"/>
              </a:rPr>
            </a:br>
            <a:endParaRPr kumimoji="0" lang="ja-JP" altLang="ja-JP"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063949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279517" y="459087"/>
            <a:ext cx="5335105" cy="381684"/>
          </a:xfrm>
        </p:spPr>
        <p:txBody>
          <a:bodyPr/>
          <a:lstStyle/>
          <a:p>
            <a:r>
              <a:rPr lang="en-US" sz="2800" b="1"/>
              <a:t>8</a:t>
            </a:r>
          </a:p>
        </p:txBody>
      </p:sp>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154984"/>
          </a:xfrm>
          <a:prstGeom prst="rect">
            <a:avLst/>
          </a:prstGeom>
          <a:noFill/>
        </p:spPr>
        <p:txBody>
          <a:bodyPr wrap="square" rtlCol="0">
            <a:spAutoFit/>
          </a:bodyPr>
          <a:lstStyle/>
          <a:p>
            <a:endParaRPr lang="en-US" altLang="ja-JP" sz="1200"/>
          </a:p>
          <a:p>
            <a:r>
              <a:rPr lang="ja-JP" altLang="en-US" sz="2800"/>
              <a:t>フーリエ逆変換（</a:t>
            </a:r>
            <a:r>
              <a:rPr lang="en-US" altLang="ja-JP" sz="2800"/>
              <a:t>IFT</a:t>
            </a:r>
            <a:r>
              <a:rPr lang="ja-JP" altLang="en-US" sz="2800"/>
              <a:t>）</a:t>
            </a:r>
            <a:r>
              <a:rPr lang="en-US" altLang="ja-JP" sz="2800"/>
              <a:t>"inverse Fourier transform" </a:t>
            </a:r>
          </a:p>
          <a:p>
            <a:endParaRPr lang="en-US" altLang="ja-JP" sz="2800"/>
          </a:p>
          <a:p>
            <a:endParaRPr lang="en-US" altLang="ja-JP" sz="2800"/>
          </a:p>
          <a:p>
            <a:r>
              <a:rPr lang="ja-JP" altLang="en-US" sz="2800"/>
              <a:t>要するに，加算合成です． ただし，和ではなく積分なので， 周波数成分が，整数倍だけ有限個ではなく，連続的に無限個あるってことですね</a:t>
            </a:r>
            <a:endParaRPr lang="en-US" altLang="ja-JP" sz="2800"/>
          </a:p>
          <a:p>
            <a:r>
              <a:rPr lang="en-US" altLang="ja-JP" sz="1200"/>
              <a:t>in short it is additive composition. However , since it is an integral rather than sum, there are an infinite number of continuous frequency components, rather than a finite number of integer multiples. </a:t>
            </a:r>
          </a:p>
          <a:p>
            <a:endParaRPr lang="en-US" altLang="ja-JP" sz="1200"/>
          </a:p>
          <a:p>
            <a:endParaRPr lang="en-US" altLang="ja-JP" sz="1200"/>
          </a:p>
          <a:p>
            <a:br>
              <a:rPr lang="ja-JP" altLang="en-US" sz="1200"/>
            </a:br>
            <a:r>
              <a:rPr lang="en-US" altLang="ja-JP" sz="2800"/>
              <a:t>x(t)</a:t>
            </a:r>
            <a:r>
              <a:rPr lang="ja-JP" altLang="en-US" sz="2800"/>
              <a:t>：波形 </a:t>
            </a:r>
            <a:r>
              <a:rPr lang="en-US" altLang="ja-JP" sz="2800"/>
              <a:t>"waveform"</a:t>
            </a:r>
            <a:r>
              <a:rPr lang="ja-JP" altLang="en-US" sz="2800"/>
              <a:t>，信号の時間的変化（瞬時値），実数</a:t>
            </a:r>
            <a:endParaRPr lang="en-US" altLang="ja-JP" sz="2800"/>
          </a:p>
          <a:p>
            <a:r>
              <a:rPr lang="en-US" altLang="ja-JP" sz="1200"/>
              <a:t>                         waveform </a:t>
            </a:r>
            <a:r>
              <a:rPr lang="en-US" altLang="ja-JP" sz="1200">
                <a:sym typeface="Wingdings" panose="05000000000000000000" pitchFamily="2" charset="2"/>
              </a:rPr>
              <a:t> Temporal change of signal (instantaneous value) , real number</a:t>
            </a:r>
            <a:endParaRPr lang="ja-JP" altLang="en-US" sz="1200"/>
          </a:p>
          <a:p>
            <a:endParaRPr lang="en-US" altLang="ja-JP" sz="1200"/>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13" name="Rounded Rectangle 18">
            <a:extLst>
              <a:ext uri="{FF2B5EF4-FFF2-40B4-BE49-F238E27FC236}">
                <a16:creationId xmlns:a16="http://schemas.microsoft.com/office/drawing/2014/main" id="{38CC964D-2AE0-C129-77E1-2842C9968624}"/>
              </a:ext>
            </a:extLst>
          </p:cNvPr>
          <p:cNvSpPr/>
          <p:nvPr/>
        </p:nvSpPr>
        <p:spPr>
          <a:xfrm>
            <a:off x="3912577" y="252943"/>
            <a:ext cx="4933239"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altLang="en-US" sz="3200">
                <a:solidFill>
                  <a:schemeClr val="tx1"/>
                </a:solidFill>
              </a:rPr>
              <a:t>複素フーリエ変換</a:t>
            </a:r>
            <a:r>
              <a:rPr lang="en-US" altLang="ja-JP" sz="1100" b="1">
                <a:solidFill>
                  <a:schemeClr val="tx1"/>
                </a:solidFill>
              </a:rPr>
              <a:t>Complex Fourier Transform</a:t>
            </a:r>
            <a:r>
              <a:rPr lang="ja-JP" altLang="en-US" sz="3200" b="1">
                <a:solidFill>
                  <a:srgbClr val="FF0000"/>
                </a:solidFill>
              </a:rPr>
              <a:t> </a:t>
            </a:r>
            <a:endParaRPr lang="en-US" sz="3200">
              <a:solidFill>
                <a:srgbClr val="FF0000"/>
              </a:solidFill>
            </a:endParaRPr>
          </a:p>
        </p:txBody>
      </p:sp>
      <p:pic>
        <p:nvPicPr>
          <p:cNvPr id="2" name="図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02362" y="2525206"/>
            <a:ext cx="3467584" cy="857370"/>
          </a:xfrm>
          <a:prstGeom prst="rect">
            <a:avLst/>
          </a:prstGeom>
        </p:spPr>
      </p:pic>
    </p:spTree>
    <p:extLst>
      <p:ext uri="{BB962C8B-B14F-4D97-AF65-F5344CB8AC3E}">
        <p14:creationId xmlns:p14="http://schemas.microsoft.com/office/powerpoint/2010/main" val="52858129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279517" y="459087"/>
            <a:ext cx="5335105" cy="381684"/>
          </a:xfrm>
        </p:spPr>
        <p:txBody>
          <a:bodyPr/>
          <a:lstStyle/>
          <a:p>
            <a:r>
              <a:rPr lang="en-US" sz="2800" b="1"/>
              <a:t>9</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154984"/>
              </a:xfrm>
              <a:prstGeom prst="rect">
                <a:avLst/>
              </a:prstGeom>
              <a:noFill/>
            </p:spPr>
            <p:txBody>
              <a:bodyPr wrap="square" rtlCol="0">
                <a:spAutoFit/>
              </a:bodyPr>
              <a:lstStyle/>
              <a:p>
                <a:r>
                  <a:rPr lang="ja-JP" altLang="en-US" sz="2800" b="0" i="0">
                    <a:solidFill>
                      <a:srgbClr val="000000"/>
                    </a:solidFill>
                    <a:effectLst/>
                    <a:latin typeface="Arial" panose="020B0604020202020204" pitchFamily="34" charset="0"/>
                  </a:rPr>
                  <a:t>通常の </a:t>
                </a:r>
                <a:r>
                  <a:rPr lang="en-US" altLang="ja-JP" sz="2800" b="0" i="0">
                    <a:solidFill>
                      <a:srgbClr val="000000"/>
                    </a:solidFill>
                    <a:effectLst/>
                    <a:latin typeface="Arial" panose="020B0604020202020204" pitchFamily="34" charset="0"/>
                  </a:rPr>
                  <a:t>FT</a:t>
                </a:r>
              </a:p>
              <a:p>
                <a:r>
                  <a:rPr lang="en-US" altLang="ja-JP" sz="1200">
                    <a:solidFill>
                      <a:srgbClr val="000000"/>
                    </a:solidFill>
                    <a:latin typeface="Arial" panose="020B0604020202020204" pitchFamily="34" charset="0"/>
                  </a:rPr>
                  <a:t>1. Normal FT</a:t>
                </a:r>
              </a:p>
              <a:p>
                <a:endParaRPr lang="en-US" altLang="ja-JP" sz="1200">
                  <a:solidFill>
                    <a:srgbClr val="000000"/>
                  </a:solidFill>
                  <a:latin typeface="Arial" panose="020B0604020202020204" pitchFamily="34" charset="0"/>
                </a:endParaRPr>
              </a:p>
              <a:p>
                <a:endParaRPr lang="en-US" altLang="ja-JP" sz="1200">
                  <a:solidFill>
                    <a:srgbClr val="000000"/>
                  </a:solidFill>
                  <a:latin typeface="Arial" panose="020B0604020202020204" pitchFamily="34" charset="0"/>
                </a:endParaRPr>
              </a:p>
              <a:p>
                <a:pPr algn="l"/>
                <a:r>
                  <a:rPr lang="ja-JP" altLang="en-US" sz="2800" b="0" i="0">
                    <a:effectLst/>
                    <a:latin typeface="Arial" panose="020B0604020202020204" pitchFamily="34" charset="0"/>
                  </a:rPr>
                  <a:t>周波数方向に離散化， つまり，波形 </a:t>
                </a:r>
                <a:r>
                  <a:rPr lang="ja-JP" altLang="en-US" sz="2800"/>
                  <a:t>𝑥</a:t>
                </a:r>
                <a:r>
                  <a:rPr lang="en-US" altLang="ja-JP" sz="2800"/>
                  <a:t>(</a:t>
                </a:r>
                <a:r>
                  <a:rPr lang="ja-JP" altLang="en-US" sz="2800"/>
                  <a:t>𝑡</a:t>
                </a:r>
                <a:r>
                  <a:rPr lang="en-US" altLang="ja-JP" sz="2800"/>
                  <a:t>)</a:t>
                </a:r>
                <a:r>
                  <a:rPr lang="ja-JP" altLang="en-US" sz="2800" b="0" i="0">
                    <a:effectLst/>
                    <a:latin typeface="Arial" panose="020B0604020202020204" pitchFamily="34" charset="0"/>
                  </a:rPr>
                  <a:t> が周期的であると仮定し，１周期分だけ抜粋すると</a:t>
                </a:r>
                <a:endParaRPr lang="en-US" altLang="ja-JP" sz="2800" b="0" i="0">
                  <a:effectLst/>
                  <a:latin typeface="Arial" panose="020B0604020202020204" pitchFamily="34" charset="0"/>
                </a:endParaRPr>
              </a:p>
              <a:p>
                <a:pPr algn="l"/>
                <a:r>
                  <a:rPr lang="en-US" altLang="ja-JP" sz="1200">
                    <a:latin typeface="Arial" panose="020B0604020202020204" pitchFamily="34" charset="0"/>
                  </a:rPr>
                  <a:t>2. Discretize in the frequency direction. In order words, assume the waveform x(t) is periodic and extract only one period.</a:t>
                </a:r>
                <a:endParaRPr lang="en-US" altLang="ja-JP" sz="1200" b="0" i="0">
                  <a:effectLst/>
                  <a:latin typeface="Arial" panose="020B0604020202020204" pitchFamily="34" charset="0"/>
                </a:endParaRPr>
              </a:p>
              <a:p>
                <a:pPr algn="l"/>
                <a:endParaRPr lang="en-US" altLang="ja-JP" sz="1200">
                  <a:latin typeface="Arial" panose="020B0604020202020204" pitchFamily="34" charset="0"/>
                </a:endParaRPr>
              </a:p>
              <a:p>
                <a:pPr algn="l"/>
                <a:endParaRPr lang="en-US" altLang="ja-JP" sz="1200">
                  <a:latin typeface="Arial" panose="020B0604020202020204" pitchFamily="34" charset="0"/>
                </a:endParaRPr>
              </a:p>
              <a:p>
                <a:pPr algn="l"/>
                <a:r>
                  <a:rPr lang="ja-JP" altLang="en-US" sz="2800" b="0" i="0">
                    <a:effectLst/>
                    <a:latin typeface="Arial" panose="020B0604020202020204" pitchFamily="34" charset="0"/>
                  </a:rPr>
                  <a:t>スペクトルの周波数成分は基本波の整数倍だけになりますよ．</a:t>
                </a:r>
                <a:br>
                  <a:rPr lang="ja-JP" altLang="en-US" sz="1200"/>
                </a:br>
                <a:r>
                  <a:rPr lang="en-US" altLang="ja-JP" sz="1200"/>
                  <a:t>The frequency components of the spectrum will only be integer multiples of the fundamental wave.</a:t>
                </a:r>
              </a:p>
              <a:p>
                <a:endParaRPr lang="en-US" altLang="ja-JP" sz="1200"/>
              </a:p>
              <a:p>
                <a:r>
                  <a:rPr lang="en-US" altLang="ja-JP" sz="2800"/>
                  <a:t>T :</a:t>
                </a:r>
                <a:r>
                  <a:rPr lang="ja-JP" altLang="en-US" sz="2800" b="0" i="0">
                    <a:solidFill>
                      <a:srgbClr val="000000"/>
                    </a:solidFill>
                    <a:effectLst/>
                    <a:latin typeface="Arial" panose="020B0604020202020204" pitchFamily="34" charset="0"/>
                  </a:rPr>
                  <a:t>周期 </a:t>
                </a:r>
                <a:r>
                  <a:rPr lang="en-US" altLang="ja-JP" sz="2800" b="0" i="0">
                    <a:solidFill>
                      <a:srgbClr val="000000"/>
                    </a:solidFill>
                    <a:effectLst/>
                    <a:latin typeface="Arial" panose="020B0604020202020204" pitchFamily="34" charset="0"/>
                  </a:rPr>
                  <a:t>"period“ , </a:t>
                </a:r>
                <a14:m>
                  <m:oMath xmlns:m="http://schemas.openxmlformats.org/officeDocument/2006/math">
                    <m:sSub>
                      <m:sSubPr>
                        <m:ctrlPr>
                          <a:rPr lang="en-US" altLang="ja-JP" sz="2800" i="1" dirty="0" smtClean="0">
                            <a:solidFill>
                              <a:srgbClr val="836967"/>
                            </a:solidFill>
                            <a:latin typeface="Cambria Math" panose="02040503050406030204" pitchFamily="18" charset="0"/>
                          </a:rPr>
                        </m:ctrlPr>
                      </m:sSubPr>
                      <m:e>
                        <m:r>
                          <a:rPr lang="en-US" altLang="ja-JP" sz="2800" b="0" i="1" dirty="0" smtClean="0">
                            <a:solidFill>
                              <a:srgbClr val="836967"/>
                            </a:solidFill>
                            <a:latin typeface="Cambria Math" panose="02040503050406030204" pitchFamily="18" charset="0"/>
                          </a:rPr>
                          <m:t>𝑓</m:t>
                        </m:r>
                      </m:e>
                      <m:sub>
                        <m:r>
                          <a:rPr lang="en-US" altLang="ja-JP" sz="2800" b="0" i="1" dirty="0" smtClean="0">
                            <a:latin typeface="Cambria Math" panose="02040503050406030204" pitchFamily="18" charset="0"/>
                          </a:rPr>
                          <m:t>𝑜</m:t>
                        </m:r>
                      </m:sub>
                    </m:sSub>
                  </m:oMath>
                </a14:m>
                <a:r>
                  <a:rPr lang="en-US" altLang="ja-JP" sz="2800"/>
                  <a:t> = 1/T :</a:t>
                </a:r>
                <a:r>
                  <a:rPr lang="ja-JP" altLang="en-US" sz="2800"/>
                  <a:t>基本周波数 </a:t>
                </a:r>
                <a:r>
                  <a:rPr lang="en-US" altLang="ja-JP" sz="2800"/>
                  <a:t>"fundamental frequency“</a:t>
                </a:r>
              </a:p>
              <a:p>
                <a:r>
                  <a:rPr lang="ja-JP" altLang="en-US" sz="2800" b="0" i="0">
                    <a:solidFill>
                      <a:srgbClr val="000000"/>
                    </a:solidFill>
                    <a:effectLst/>
                    <a:latin typeface="Arial" panose="020B0604020202020204" pitchFamily="34" charset="0"/>
                  </a:rPr>
                  <a:t> </a:t>
                </a:r>
                <a14:m>
                  <m:oMath xmlns:m="http://schemas.openxmlformats.org/officeDocument/2006/math">
                    <m:sSub>
                      <m:sSubPr>
                        <m:ctrlPr>
                          <a:rPr lang="en-US" altLang="ja-JP" sz="2800" i="1" dirty="0" smtClean="0">
                            <a:solidFill>
                              <a:srgbClr val="836967"/>
                            </a:solidFill>
                            <a:latin typeface="Cambria Math" panose="02040503050406030204" pitchFamily="18" charset="0"/>
                          </a:rPr>
                        </m:ctrlPr>
                      </m:sSubPr>
                      <m:e>
                        <m:r>
                          <a:rPr lang="en-US" altLang="ja-JP" sz="2800" b="0" i="1" dirty="0" smtClean="0">
                            <a:solidFill>
                              <a:srgbClr val="836967"/>
                            </a:solidFill>
                            <a:latin typeface="Cambria Math" panose="02040503050406030204" pitchFamily="18" charset="0"/>
                          </a:rPr>
                          <m:t>𝑓</m:t>
                        </m:r>
                      </m:e>
                      <m:sub>
                        <m:r>
                          <a:rPr lang="en-US" altLang="ja-JP" sz="2800" b="0" i="1" dirty="0" smtClean="0">
                            <a:solidFill>
                              <a:srgbClr val="836967"/>
                            </a:solidFill>
                            <a:latin typeface="Cambria Math" panose="02040503050406030204" pitchFamily="18" charset="0"/>
                          </a:rPr>
                          <m:t>𝑘</m:t>
                        </m:r>
                        <m:r>
                          <a:rPr lang="en-US" altLang="ja-JP" sz="2800" b="0" i="1" dirty="0" smtClean="0">
                            <a:solidFill>
                              <a:srgbClr val="836967"/>
                            </a:solidFill>
                            <a:latin typeface="Cambria Math" panose="02040503050406030204" pitchFamily="18" charset="0"/>
                          </a:rPr>
                          <m:t>=</m:t>
                        </m:r>
                      </m:sub>
                    </m:sSub>
                  </m:oMath>
                </a14:m>
                <a:r>
                  <a:rPr lang="ja-JP" altLang="en-US" sz="2800" b="0" i="0">
                    <a:solidFill>
                      <a:srgbClr val="000000"/>
                    </a:solidFill>
                    <a:effectLst/>
                    <a:latin typeface="Arial" panose="020B0604020202020204" pitchFamily="34" charset="0"/>
                  </a:rPr>
                  <a:t> </a:t>
                </a:r>
                <a14:m>
                  <m:oMath xmlns:m="http://schemas.openxmlformats.org/officeDocument/2006/math">
                    <m:sSub>
                      <m:sSubPr>
                        <m:ctrlPr>
                          <a:rPr lang="en-US" altLang="ja-JP" sz="2800" i="1" dirty="0">
                            <a:solidFill>
                              <a:srgbClr val="836967"/>
                            </a:solidFill>
                            <a:latin typeface="Cambria Math" panose="02040503050406030204" pitchFamily="18" charset="0"/>
                          </a:rPr>
                        </m:ctrlPr>
                      </m:sSubPr>
                      <m:e>
                        <m:r>
                          <a:rPr lang="en-US" altLang="ja-JP" sz="2800" b="0" i="1" dirty="0" smtClean="0">
                            <a:solidFill>
                              <a:srgbClr val="836967"/>
                            </a:solidFill>
                            <a:latin typeface="Cambria Math" panose="02040503050406030204" pitchFamily="18" charset="0"/>
                          </a:rPr>
                          <m:t>𝑘</m:t>
                        </m:r>
                        <m:r>
                          <a:rPr lang="en-US" altLang="ja-JP" sz="2800" i="1" dirty="0">
                            <a:solidFill>
                              <a:srgbClr val="836967"/>
                            </a:solidFill>
                            <a:latin typeface="Cambria Math" panose="02040503050406030204" pitchFamily="18" charset="0"/>
                          </a:rPr>
                          <m:t>𝑓</m:t>
                        </m:r>
                      </m:e>
                      <m:sub>
                        <m:r>
                          <a:rPr lang="en-US" altLang="ja-JP" sz="2800" i="1" dirty="0">
                            <a:latin typeface="Cambria Math" panose="02040503050406030204" pitchFamily="18" charset="0"/>
                          </a:rPr>
                          <m:t>𝑜</m:t>
                        </m:r>
                      </m:sub>
                    </m:sSub>
                  </m:oMath>
                </a14:m>
                <a:r>
                  <a:rPr lang="ja-JP" altLang="en-US" sz="2800" b="0" i="0">
                    <a:solidFill>
                      <a:srgbClr val="000000"/>
                    </a:solidFill>
                    <a:effectLst/>
                    <a:latin typeface="Arial" panose="020B0604020202020204" pitchFamily="34" charset="0"/>
                  </a:rPr>
                  <a:t>  </a:t>
                </a:r>
                <a:r>
                  <a:rPr lang="en-US" altLang="ja-JP" sz="2800" b="0" i="0">
                    <a:solidFill>
                      <a:srgbClr val="000000"/>
                    </a:solidFill>
                    <a:effectLst/>
                    <a:latin typeface="Arial" panose="020B0604020202020204" pitchFamily="34" charset="0"/>
                  </a:rPr>
                  <a:t>:</a:t>
                </a:r>
                <a:r>
                  <a:rPr lang="ja-JP" altLang="en-US" sz="2800" b="0" i="0">
                    <a:solidFill>
                      <a:srgbClr val="000000"/>
                    </a:solidFill>
                    <a:effectLst/>
                    <a:latin typeface="Arial" panose="020B0604020202020204" pitchFamily="34" charset="0"/>
                  </a:rPr>
                  <a:t>   第</a:t>
                </a:r>
                <a:r>
                  <a:rPr lang="ja-JP" altLang="en-US" sz="2800"/>
                  <a:t>𝑘</a:t>
                </a:r>
                <a:r>
                  <a:rPr lang="ja-JP" altLang="en-US" sz="2800" b="0" i="0">
                    <a:solidFill>
                      <a:srgbClr val="000000"/>
                    </a:solidFill>
                    <a:effectLst/>
                    <a:latin typeface="Arial" panose="020B0604020202020204" pitchFamily="34" charset="0"/>
                  </a:rPr>
                  <a:t>次の高調波周波数 </a:t>
                </a:r>
                <a:r>
                  <a:rPr lang="en-US" altLang="ja-JP" sz="2800" b="0" i="0">
                    <a:solidFill>
                      <a:srgbClr val="000000"/>
                    </a:solidFill>
                    <a:effectLst/>
                    <a:latin typeface="Arial" panose="020B0604020202020204" pitchFamily="34" charset="0"/>
                  </a:rPr>
                  <a:t>“harmonic frequency”</a:t>
                </a:r>
                <a:r>
                  <a:rPr lang="ja-JP" altLang="en-US" sz="2800">
                    <a:solidFill>
                      <a:srgbClr val="000000"/>
                    </a:solidFill>
                    <a:latin typeface="Arial" panose="020B0604020202020204" pitchFamily="34" charset="0"/>
                  </a:rPr>
                  <a:t> </a:t>
                </a:r>
                <a:r>
                  <a:rPr lang="en-US" altLang="ja-JP" sz="2800">
                    <a:solidFill>
                      <a:srgbClr val="000000"/>
                    </a:solidFill>
                    <a:latin typeface="Arial" panose="020B0604020202020204" pitchFamily="34" charset="0"/>
                    <a:sym typeface="Wingdings" panose="05000000000000000000" pitchFamily="2" charset="2"/>
                  </a:rPr>
                  <a:t> k = 0,1,2</a:t>
                </a:r>
                <a:endParaRPr lang="en-US" altLang="ja-JP" sz="2800"/>
              </a:p>
            </p:txBody>
          </p:sp>
        </mc:Choice>
        <mc:Fallback>
          <p:sp>
            <p:nvSpPr>
              <p:cNvPr id="5" name="TextBox 4">
                <a:extLst>
                  <a:ext uri="{FF2B5EF4-FFF2-40B4-BE49-F238E27FC236}">
                    <a16:creationId xmlns:a16="http://schemas.microsoft.com/office/drawing/2014/main" id="{88691852-EBDF-5437-AAAB-F1BF4AA1F280}"/>
                  </a:ext>
                </a:extLst>
              </p:cNvPr>
              <p:cNvSpPr txBox="1">
                <a:spLocks noRot="1" noChangeAspect="1" noMove="1" noResize="1" noEditPoints="1" noAdjustHandles="1" noChangeArrowheads="1" noChangeShapeType="1" noTextEdit="1"/>
              </p:cNvSpPr>
              <p:nvPr/>
            </p:nvSpPr>
            <p:spPr>
              <a:xfrm>
                <a:off x="0" y="2081203"/>
                <a:ext cx="12192000" cy="4154984"/>
              </a:xfrm>
              <a:prstGeom prst="rect">
                <a:avLst/>
              </a:prstGeom>
              <a:blipFill>
                <a:blip r:embed="rId3"/>
                <a:stretch>
                  <a:fillRect l="-1000" t="-1906" r="-700" b="-3079"/>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4">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13" name="Rounded Rectangle 18">
            <a:extLst>
              <a:ext uri="{FF2B5EF4-FFF2-40B4-BE49-F238E27FC236}">
                <a16:creationId xmlns:a16="http://schemas.microsoft.com/office/drawing/2014/main" id="{38CC964D-2AE0-C129-77E1-2842C9968624}"/>
              </a:ext>
            </a:extLst>
          </p:cNvPr>
          <p:cNvSpPr/>
          <p:nvPr/>
        </p:nvSpPr>
        <p:spPr>
          <a:xfrm>
            <a:off x="3012141" y="252943"/>
            <a:ext cx="6508377"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altLang="en-US" sz="3200">
                <a:solidFill>
                  <a:schemeClr val="tx1"/>
                </a:solidFill>
              </a:rPr>
              <a:t>離散フーリエ変換の導</a:t>
            </a:r>
            <a:r>
              <a:rPr lang="en-US" altLang="ja-JP" sz="1100" b="1">
                <a:solidFill>
                  <a:schemeClr val="tx1"/>
                </a:solidFill>
              </a:rPr>
              <a:t>Derivation of Discrete Fourier Transform</a:t>
            </a:r>
            <a:r>
              <a:rPr lang="ja-JP" altLang="en-US" sz="3200" b="1">
                <a:solidFill>
                  <a:srgbClr val="FF0000"/>
                </a:solidFill>
              </a:rPr>
              <a:t> </a:t>
            </a:r>
            <a:endParaRPr lang="en-US" sz="3200">
              <a:solidFill>
                <a:srgbClr val="FF0000"/>
              </a:solidFill>
            </a:endParaRPr>
          </a:p>
        </p:txBody>
      </p:sp>
      <p:pic>
        <p:nvPicPr>
          <p:cNvPr id="2" name="図 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40997" y="1931719"/>
            <a:ext cx="3467584" cy="857370"/>
          </a:xfrm>
          <a:prstGeom prst="rect">
            <a:avLst/>
          </a:prstGeom>
        </p:spPr>
      </p:pic>
      <p:pic>
        <p:nvPicPr>
          <p:cNvPr id="8" name="図 7" descr="ロゴ&#10;&#10;中程度の精度で自動的に生成された説明">
            <a:extLst>
              <a:ext uri="{FF2B5EF4-FFF2-40B4-BE49-F238E27FC236}">
                <a16:creationId xmlns:a16="http://schemas.microsoft.com/office/drawing/2014/main" id="{62505A7D-1E63-CFE6-15E6-D60C1A893E61}"/>
              </a:ext>
            </a:extLst>
          </p:cNvPr>
          <p:cNvPicPr>
            <a:picLocks noChangeAspect="1"/>
          </p:cNvPicPr>
          <p:nvPr/>
        </p:nvPicPr>
        <p:blipFill>
          <a:blip r:embed="rId7"/>
          <a:stretch>
            <a:fillRect/>
          </a:stretch>
        </p:blipFill>
        <p:spPr>
          <a:xfrm>
            <a:off x="8451507" y="3781865"/>
            <a:ext cx="3572374" cy="781159"/>
          </a:xfrm>
          <a:prstGeom prst="rect">
            <a:avLst/>
          </a:prstGeom>
        </p:spPr>
      </p:pic>
    </p:spTree>
    <p:extLst>
      <p:ext uri="{BB962C8B-B14F-4D97-AF65-F5344CB8AC3E}">
        <p14:creationId xmlns:p14="http://schemas.microsoft.com/office/powerpoint/2010/main" val="168743056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279517" y="459087"/>
            <a:ext cx="5335105" cy="381684"/>
          </a:xfrm>
        </p:spPr>
        <p:txBody>
          <a:bodyPr/>
          <a:lstStyle/>
          <a:p>
            <a:r>
              <a:rPr lang="en-US" sz="2800" b="1"/>
              <a:t>10</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3170099"/>
              </a:xfrm>
              <a:prstGeom prst="rect">
                <a:avLst/>
              </a:prstGeom>
              <a:noFill/>
            </p:spPr>
            <p:txBody>
              <a:bodyPr wrap="square" rtlCol="0">
                <a:spAutoFit/>
              </a:bodyPr>
              <a:lstStyle/>
              <a:p>
                <a:pPr algn="l"/>
                <a:r>
                  <a:rPr lang="ja-JP" altLang="en-US" sz="2800" b="0" i="0">
                    <a:solidFill>
                      <a:srgbClr val="000000"/>
                    </a:solidFill>
                    <a:effectLst/>
                    <a:latin typeface="Arial" panose="020B0604020202020204" pitchFamily="34" charset="0"/>
                  </a:rPr>
                  <a:t>時間方向に離散化すると</a:t>
                </a:r>
                <a:r>
                  <a:rPr lang="en-US" altLang="ja-JP" sz="2800" b="0" i="0">
                    <a:solidFill>
                      <a:srgbClr val="000000"/>
                    </a:solidFill>
                    <a:effectLst/>
                    <a:latin typeface="Arial" panose="020B0604020202020204" pitchFamily="34" charset="0"/>
                  </a:rPr>
                  <a:t>.</a:t>
                </a:r>
              </a:p>
              <a:p>
                <a:pPr algn="l"/>
                <a:r>
                  <a:rPr lang="en-US" altLang="ja-JP" sz="1200">
                    <a:solidFill>
                      <a:srgbClr val="000000"/>
                    </a:solidFill>
                    <a:latin typeface="Arial" panose="020B0604020202020204" pitchFamily="34" charset="0"/>
                  </a:rPr>
                  <a:t>3</a:t>
                </a:r>
                <a:r>
                  <a:rPr lang="en-US" altLang="ja-JP" sz="1200" b="0" i="0">
                    <a:solidFill>
                      <a:srgbClr val="000000"/>
                    </a:solidFill>
                    <a:effectLst/>
                    <a:latin typeface="Arial" panose="020B0604020202020204" pitchFamily="34" charset="0"/>
                  </a:rPr>
                  <a:t>. When discretized in the time direction</a:t>
                </a:r>
              </a:p>
              <a:p>
                <a:pPr algn="l"/>
                <a:r>
                  <a:rPr lang="ja-JP" altLang="en-US" sz="2800" b="0" i="0">
                    <a:solidFill>
                      <a:srgbClr val="000000"/>
                    </a:solidFill>
                    <a:effectLst/>
                    <a:latin typeface="Arial" panose="020B0604020202020204" pitchFamily="34" charset="0"/>
                  </a:rPr>
                  <a:t>要するに，信号の標本化ですよ．</a:t>
                </a:r>
              </a:p>
              <a:p>
                <a:r>
                  <a:rPr lang="en-US" altLang="ja-JP" sz="1200">
                    <a:solidFill>
                      <a:srgbClr val="000000"/>
                    </a:solidFill>
                    <a:latin typeface="Arial" panose="020B0604020202020204" pitchFamily="34" charset="0"/>
                  </a:rPr>
                  <a:t>In essence, its about sampling the signal</a:t>
                </a:r>
              </a:p>
              <a:p>
                <a:endParaRPr lang="en-US" altLang="ja-JP" sz="1200">
                  <a:solidFill>
                    <a:srgbClr val="000000"/>
                  </a:solidFill>
                  <a:latin typeface="Arial" panose="020B0604020202020204" pitchFamily="34" charset="0"/>
                </a:endParaRPr>
              </a:p>
              <a:p>
                <a:endParaRPr lang="en-US" altLang="ja-JP" sz="1200">
                  <a:solidFill>
                    <a:srgbClr val="000000"/>
                  </a:solidFill>
                  <a:latin typeface="Arial" panose="020B0604020202020204" pitchFamily="34" charset="0"/>
                </a:endParaRPr>
              </a:p>
              <a:p>
                <a:pPr algn="l"/>
                <a:r>
                  <a:rPr lang="ja-JP" altLang="en-US" sz="2800" b="0" i="0">
                    <a:effectLst/>
                    <a:latin typeface="Arial" panose="020B0604020202020204" pitchFamily="34" charset="0"/>
                  </a:rPr>
                  <a:t>周波数 </a:t>
                </a:r>
                <a:r>
                  <a:rPr lang="en-US" altLang="ja-JP" sz="2800" b="0" i="0">
                    <a:effectLst/>
                    <a:latin typeface="Arial" panose="020B0604020202020204" pitchFamily="34" charset="0"/>
                  </a:rPr>
                  <a:t>N :</a:t>
                </a:r>
                <a:r>
                  <a:rPr lang="ja-JP" altLang="en-US" sz="2800" b="0" i="0">
                    <a:solidFill>
                      <a:srgbClr val="000000"/>
                    </a:solidFill>
                    <a:effectLst/>
                    <a:latin typeface="Arial" panose="020B0604020202020204" pitchFamily="34" charset="0"/>
                  </a:rPr>
                  <a:t>信号の標本数 </a:t>
                </a:r>
                <a:r>
                  <a:rPr lang="en-US" altLang="ja-JP" sz="2800" b="0" i="0">
                    <a:solidFill>
                      <a:srgbClr val="000000"/>
                    </a:solidFill>
                    <a:effectLst/>
                    <a:latin typeface="Arial" panose="020B0604020202020204" pitchFamily="34" charset="0"/>
                  </a:rPr>
                  <a:t>"number of samples“</a:t>
                </a:r>
              </a:p>
              <a:p>
                <a:r>
                  <a:rPr lang="en-US" altLang="ja-JP" sz="1200">
                    <a:latin typeface="Arial" panose="020B0604020202020204" pitchFamily="34" charset="0"/>
                  </a:rPr>
                  <a:t>     </a:t>
                </a:r>
                <a14:m>
                  <m:oMath xmlns:m="http://schemas.openxmlformats.org/officeDocument/2006/math">
                    <m:r>
                      <m:rPr>
                        <m:sty m:val="p"/>
                      </m:rPr>
                      <a:rPr lang="en-US" altLang="ja-JP" sz="2800" dirty="0" smtClean="0">
                        <a:latin typeface="Cambria Math" panose="02040503050406030204" pitchFamily="18" charset="0"/>
                      </a:rPr>
                      <m:t>Δ</m:t>
                    </m:r>
                    <m:r>
                      <a:rPr lang="en-US" altLang="ja-JP" sz="2800" i="1" dirty="0" smtClean="0">
                        <a:latin typeface="Cambria Math" panose="02040503050406030204" pitchFamily="18" charset="0"/>
                      </a:rPr>
                      <m:t>𝑡</m:t>
                    </m:r>
                  </m:oMath>
                </a14:m>
                <a:r>
                  <a:rPr lang="en-US" altLang="ja-JP" sz="2800">
                    <a:latin typeface="Arial" panose="020B0604020202020204" pitchFamily="34" charset="0"/>
                  </a:rPr>
                  <a:t> = T /N = </a:t>
                </a:r>
                <a14:m>
                  <m:oMath xmlns:m="http://schemas.openxmlformats.org/officeDocument/2006/math">
                    <m:sSub>
                      <m:sSubPr>
                        <m:ctrlPr>
                          <a:rPr lang="en-US" altLang="ja-JP" sz="2800" i="1" dirty="0" smtClean="0">
                            <a:solidFill>
                              <a:srgbClr val="836967"/>
                            </a:solidFill>
                            <a:latin typeface="Cambria Math" panose="02040503050406030204" pitchFamily="18" charset="0"/>
                          </a:rPr>
                        </m:ctrlPr>
                      </m:sSubPr>
                      <m:e>
                        <m:r>
                          <a:rPr lang="en-US" altLang="ja-JP" sz="2800" b="0" i="1" dirty="0" smtClean="0">
                            <a:solidFill>
                              <a:srgbClr val="836967"/>
                            </a:solidFill>
                            <a:latin typeface="Cambria Math" panose="02040503050406030204" pitchFamily="18" charset="0"/>
                          </a:rPr>
                          <m:t>𝑡</m:t>
                        </m:r>
                      </m:e>
                      <m:sub>
                        <m:r>
                          <a:rPr lang="en-US" altLang="ja-JP" sz="2800" b="0" i="1" dirty="0" smtClean="0">
                            <a:solidFill>
                              <a:srgbClr val="836967"/>
                            </a:solidFill>
                            <a:latin typeface="Cambria Math" panose="02040503050406030204" pitchFamily="18" charset="0"/>
                          </a:rPr>
                          <m:t>𝑠</m:t>
                        </m:r>
                        <m:r>
                          <a:rPr lang="en-US" altLang="ja-JP" sz="2800" i="1" dirty="0">
                            <a:solidFill>
                              <a:srgbClr val="836967"/>
                            </a:solidFill>
                            <a:latin typeface="Cambria Math" panose="02040503050406030204" pitchFamily="18" charset="0"/>
                          </a:rPr>
                          <m:t>=</m:t>
                        </m:r>
                      </m:sub>
                    </m:sSub>
                    <m:r>
                      <a:rPr lang="en-US" altLang="ja-JP" sz="2800" i="1" dirty="0">
                        <a:solidFill>
                          <a:srgbClr val="836967"/>
                        </a:solidFill>
                        <a:latin typeface="Cambria Math" panose="02040503050406030204" pitchFamily="18" charset="0"/>
                      </a:rPr>
                      <m:t> </m:t>
                    </m:r>
                    <m:r>
                      <a:rPr lang="en-US" altLang="ja-JP" sz="2800" b="0" i="0" dirty="0" smtClean="0">
                        <a:solidFill>
                          <a:srgbClr val="836967"/>
                        </a:solidFill>
                        <a:latin typeface="Cambria Math" panose="02040503050406030204" pitchFamily="18" charset="0"/>
                      </a:rPr>
                      <m:t> </m:t>
                    </m:r>
                  </m:oMath>
                </a14:m>
                <a:r>
                  <a:rPr lang="en-US" altLang="ja-JP" sz="2800">
                    <a:latin typeface="Arial" panose="020B0604020202020204" pitchFamily="34" charset="0"/>
                  </a:rPr>
                  <a:t>1/</a:t>
                </a:r>
                <a:r>
                  <a:rPr lang="en-US" altLang="ja-JP" sz="2800">
                    <a:solidFill>
                      <a:srgbClr val="836967"/>
                    </a:solidFill>
                  </a:rPr>
                  <a:t> </a:t>
                </a:r>
                <a14:m>
                  <m:oMath xmlns:m="http://schemas.openxmlformats.org/officeDocument/2006/math">
                    <m:sSub>
                      <m:sSubPr>
                        <m:ctrlPr>
                          <a:rPr lang="en-US" altLang="ja-JP" sz="2800" i="1" dirty="0">
                            <a:solidFill>
                              <a:srgbClr val="836967"/>
                            </a:solidFill>
                            <a:latin typeface="Cambria Math" panose="02040503050406030204" pitchFamily="18" charset="0"/>
                          </a:rPr>
                        </m:ctrlPr>
                      </m:sSubPr>
                      <m:e>
                        <m:r>
                          <a:rPr lang="en-US" altLang="ja-JP" sz="2800" b="0" i="1" dirty="0" smtClean="0">
                            <a:solidFill>
                              <a:srgbClr val="836967"/>
                            </a:solidFill>
                            <a:latin typeface="Cambria Math" panose="02040503050406030204" pitchFamily="18" charset="0"/>
                          </a:rPr>
                          <m:t>𝑓</m:t>
                        </m:r>
                      </m:e>
                      <m:sub>
                        <m:r>
                          <a:rPr lang="en-US" altLang="ja-JP" sz="2800" i="1" dirty="0">
                            <a:solidFill>
                              <a:srgbClr val="836967"/>
                            </a:solidFill>
                            <a:latin typeface="Cambria Math" panose="02040503050406030204" pitchFamily="18" charset="0"/>
                          </a:rPr>
                          <m:t>𝑠</m:t>
                        </m:r>
                      </m:sub>
                    </m:sSub>
                  </m:oMath>
                </a14:m>
                <a:r>
                  <a:rPr lang="en-US" altLang="ja-JP" sz="2800">
                    <a:latin typeface="Arial" panose="020B0604020202020204" pitchFamily="34" charset="0"/>
                  </a:rPr>
                  <a:t> :</a:t>
                </a:r>
                <a:r>
                  <a:rPr lang="ja-JP" altLang="en-US" sz="2800"/>
                  <a:t>標本化間隔 </a:t>
                </a:r>
                <a:r>
                  <a:rPr lang="en-US" altLang="ja-JP" sz="2800"/>
                  <a:t>"sampling interval“</a:t>
                </a:r>
              </a:p>
              <a:p>
                <a:r>
                  <a:rPr lang="en-US" altLang="ja-JP" sz="2800">
                    <a:latin typeface="Arial" panose="020B0604020202020204" pitchFamily="34" charset="0"/>
                  </a:rPr>
                  <a:t> </a:t>
                </a:r>
                <a14:m>
                  <m:oMath xmlns:m="http://schemas.openxmlformats.org/officeDocument/2006/math">
                    <m:sSub>
                      <m:sSubPr>
                        <m:ctrlPr>
                          <a:rPr lang="en-US" altLang="ja-JP" sz="2800" i="1" dirty="0" smtClean="0">
                            <a:solidFill>
                              <a:srgbClr val="836967"/>
                            </a:solidFill>
                            <a:latin typeface="Cambria Math" panose="02040503050406030204" pitchFamily="18" charset="0"/>
                          </a:rPr>
                        </m:ctrlPr>
                      </m:sSubPr>
                      <m:e>
                        <m:r>
                          <a:rPr lang="en-US" altLang="ja-JP" sz="2800" b="0" i="1" dirty="0" smtClean="0">
                            <a:solidFill>
                              <a:srgbClr val="836967"/>
                            </a:solidFill>
                            <a:latin typeface="Cambria Math" panose="02040503050406030204" pitchFamily="18" charset="0"/>
                          </a:rPr>
                          <m:t>𝑡</m:t>
                        </m:r>
                      </m:e>
                      <m:sub>
                        <m:r>
                          <a:rPr lang="en-US" altLang="ja-JP" sz="2800" b="0" i="1" dirty="0" smtClean="0">
                            <a:solidFill>
                              <a:srgbClr val="836967"/>
                            </a:solidFill>
                            <a:latin typeface="Cambria Math" panose="02040503050406030204" pitchFamily="18" charset="0"/>
                          </a:rPr>
                          <m:t>𝑛</m:t>
                        </m:r>
                        <m:r>
                          <a:rPr lang="en-US" altLang="ja-JP" sz="2800" i="1" dirty="0">
                            <a:solidFill>
                              <a:srgbClr val="836967"/>
                            </a:solidFill>
                            <a:latin typeface="Cambria Math" panose="02040503050406030204" pitchFamily="18" charset="0"/>
                          </a:rPr>
                          <m:t>=</m:t>
                        </m:r>
                      </m:sub>
                    </m:sSub>
                  </m:oMath>
                </a14:m>
                <a:r>
                  <a:rPr lang="en-US" altLang="ja-JP" sz="2800">
                    <a:latin typeface="Arial" panose="020B0604020202020204" pitchFamily="34" charset="0"/>
                  </a:rPr>
                  <a:t> n</a:t>
                </a:r>
                <a:r>
                  <a:rPr lang="en-US" altLang="ja-JP" sz="2800"/>
                  <a:t> </a:t>
                </a:r>
                <a14:m>
                  <m:oMath xmlns:m="http://schemas.openxmlformats.org/officeDocument/2006/math">
                    <m:r>
                      <m:rPr>
                        <m:sty m:val="p"/>
                      </m:rPr>
                      <a:rPr lang="en-US" altLang="ja-JP" sz="2800" dirty="0">
                        <a:latin typeface="Cambria Math" panose="02040503050406030204" pitchFamily="18" charset="0"/>
                      </a:rPr>
                      <m:t>Δ</m:t>
                    </m:r>
                    <m:r>
                      <a:rPr lang="en-US" altLang="ja-JP" sz="2800" i="1" dirty="0">
                        <a:latin typeface="Cambria Math" panose="02040503050406030204" pitchFamily="18" charset="0"/>
                      </a:rPr>
                      <m:t>𝑡</m:t>
                    </m:r>
                  </m:oMath>
                </a14:m>
                <a:r>
                  <a:rPr lang="en-US" altLang="ja-JP" sz="2800">
                    <a:latin typeface="Arial" panose="020B0604020202020204" pitchFamily="34" charset="0"/>
                  </a:rPr>
                  <a:t> :</a:t>
                </a:r>
                <a:r>
                  <a:rPr lang="ja-JP" altLang="en-US" sz="2800"/>
                  <a:t>第𝑛番の標本時刻 </a:t>
                </a:r>
                <a:r>
                  <a:rPr lang="en-US" altLang="ja-JP" sz="2800"/>
                  <a:t>"sampling time“  </a:t>
                </a:r>
                <a:r>
                  <a:rPr lang="en-US" altLang="ja-JP" sz="2800">
                    <a:sym typeface="Wingdings" panose="05000000000000000000" pitchFamily="2" charset="2"/>
                  </a:rPr>
                  <a:t> n = 0,1,2 .., N- 1</a:t>
                </a:r>
                <a:endParaRPr lang="en-US" altLang="ja-JP" sz="2800">
                  <a:latin typeface="Arial" panose="020B0604020202020204" pitchFamily="34" charset="0"/>
                </a:endParaRPr>
              </a:p>
              <a:p>
                <a:pPr algn="l"/>
                <a:endParaRPr lang="en-US" altLang="ja-JP" sz="1200">
                  <a:latin typeface="Arial" panose="020B0604020202020204" pitchFamily="34" charset="0"/>
                </a:endParaRPr>
              </a:p>
            </p:txBody>
          </p:sp>
        </mc:Choice>
        <mc:Fallback>
          <p:sp>
            <p:nvSpPr>
              <p:cNvPr id="5" name="TextBox 4">
                <a:extLst>
                  <a:ext uri="{FF2B5EF4-FFF2-40B4-BE49-F238E27FC236}">
                    <a16:creationId xmlns:a16="http://schemas.microsoft.com/office/drawing/2014/main" id="{88691852-EBDF-5437-AAAB-F1BF4AA1F280}"/>
                  </a:ext>
                </a:extLst>
              </p:cNvPr>
              <p:cNvSpPr txBox="1">
                <a:spLocks noRot="1" noChangeAspect="1" noMove="1" noResize="1" noEditPoints="1" noAdjustHandles="1" noChangeArrowheads="1" noChangeShapeType="1" noTextEdit="1"/>
              </p:cNvSpPr>
              <p:nvPr/>
            </p:nvSpPr>
            <p:spPr>
              <a:xfrm>
                <a:off x="0" y="2081203"/>
                <a:ext cx="12192000" cy="3170099"/>
              </a:xfrm>
              <a:prstGeom prst="rect">
                <a:avLst/>
              </a:prstGeom>
              <a:blipFill>
                <a:blip r:embed="rId3"/>
                <a:stretch>
                  <a:fillRect l="-1000" t="-2500"/>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4">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13" name="Rounded Rectangle 18">
            <a:extLst>
              <a:ext uri="{FF2B5EF4-FFF2-40B4-BE49-F238E27FC236}">
                <a16:creationId xmlns:a16="http://schemas.microsoft.com/office/drawing/2014/main" id="{38CC964D-2AE0-C129-77E1-2842C9968624}"/>
              </a:ext>
            </a:extLst>
          </p:cNvPr>
          <p:cNvSpPr/>
          <p:nvPr/>
        </p:nvSpPr>
        <p:spPr>
          <a:xfrm>
            <a:off x="3012141" y="252943"/>
            <a:ext cx="6508377"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altLang="en-US" sz="3200">
                <a:solidFill>
                  <a:schemeClr val="tx1"/>
                </a:solidFill>
              </a:rPr>
              <a:t>離散フーリエ変換の導</a:t>
            </a:r>
            <a:r>
              <a:rPr lang="en-US" altLang="ja-JP" sz="1100" b="1">
                <a:solidFill>
                  <a:schemeClr val="tx1"/>
                </a:solidFill>
              </a:rPr>
              <a:t>Derivation of Discrete Fourier Transform</a:t>
            </a:r>
            <a:r>
              <a:rPr lang="ja-JP" altLang="en-US" sz="3200" b="1">
                <a:solidFill>
                  <a:srgbClr val="FF0000"/>
                </a:solidFill>
              </a:rPr>
              <a:t> </a:t>
            </a:r>
            <a:endParaRPr lang="en-US" sz="3200">
              <a:solidFill>
                <a:srgbClr val="FF0000"/>
              </a:solidFill>
            </a:endParaRPr>
          </a:p>
        </p:txBody>
      </p:sp>
      <p:pic>
        <p:nvPicPr>
          <p:cNvPr id="7" name="図 6" descr="テキスト&#10;&#10;中程度の精度で自動的に生成された説明">
            <a:extLst>
              <a:ext uri="{FF2B5EF4-FFF2-40B4-BE49-F238E27FC236}">
                <a16:creationId xmlns:a16="http://schemas.microsoft.com/office/drawing/2014/main" id="{B659DE28-C450-1ED7-C959-4817879753F4}"/>
              </a:ext>
            </a:extLst>
          </p:cNvPr>
          <p:cNvPicPr>
            <a:picLocks noChangeAspect="1"/>
          </p:cNvPicPr>
          <p:nvPr/>
        </p:nvPicPr>
        <p:blipFill>
          <a:blip r:embed="rId6"/>
          <a:stretch>
            <a:fillRect/>
          </a:stretch>
        </p:blipFill>
        <p:spPr>
          <a:xfrm>
            <a:off x="7227273" y="2081203"/>
            <a:ext cx="4078228" cy="948951"/>
          </a:xfrm>
          <a:prstGeom prst="rect">
            <a:avLst/>
          </a:prstGeom>
        </p:spPr>
      </p:pic>
    </p:spTree>
    <p:extLst>
      <p:ext uri="{BB962C8B-B14F-4D97-AF65-F5344CB8AC3E}">
        <p14:creationId xmlns:p14="http://schemas.microsoft.com/office/powerpoint/2010/main" val="256561818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279517" y="459087"/>
            <a:ext cx="5335105" cy="381684"/>
          </a:xfrm>
        </p:spPr>
        <p:txBody>
          <a:bodyPr/>
          <a:lstStyle/>
          <a:p>
            <a:r>
              <a:rPr lang="en-US" sz="2800" b="1"/>
              <a:t>11</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3847207"/>
              </a:xfrm>
              <a:prstGeom prst="rect">
                <a:avLst/>
              </a:prstGeom>
              <a:noFill/>
            </p:spPr>
            <p:txBody>
              <a:bodyPr wrap="square" rtlCol="0">
                <a:spAutoFit/>
              </a:bodyPr>
              <a:lstStyle/>
              <a:p>
                <a:pPr algn="l"/>
                <a:r>
                  <a:rPr lang="ja-JP" altLang="en-US" sz="2800" b="0" i="0">
                    <a:solidFill>
                      <a:srgbClr val="000000"/>
                    </a:solidFill>
                    <a:effectLst/>
                    <a:latin typeface="Arial" panose="020B0604020202020204" pitchFamily="34" charset="0"/>
                  </a:rPr>
                  <a:t>数式を整理すると</a:t>
                </a:r>
                <a:r>
                  <a:rPr lang="en-US" altLang="ja-JP" sz="2800" b="0" i="0">
                    <a:solidFill>
                      <a:srgbClr val="000000"/>
                    </a:solidFill>
                    <a:effectLst/>
                    <a:latin typeface="Arial" panose="020B0604020202020204" pitchFamily="34" charset="0"/>
                  </a:rPr>
                  <a:t>.</a:t>
                </a:r>
              </a:p>
              <a:p>
                <a:pPr algn="l"/>
                <a:r>
                  <a:rPr lang="en-US" altLang="ja-JP" sz="1200">
                    <a:solidFill>
                      <a:srgbClr val="000000"/>
                    </a:solidFill>
                    <a:latin typeface="Arial" panose="020B0604020202020204" pitchFamily="34" charset="0"/>
                  </a:rPr>
                  <a:t>4</a:t>
                </a:r>
                <a:r>
                  <a:rPr lang="en-US" altLang="ja-JP" sz="1200" b="0" i="0">
                    <a:solidFill>
                      <a:srgbClr val="000000"/>
                    </a:solidFill>
                    <a:effectLst/>
                    <a:latin typeface="Arial" panose="020B0604020202020204" pitchFamily="34" charset="0"/>
                  </a:rPr>
                  <a:t>  Rearranging the formula</a:t>
                </a:r>
              </a:p>
              <a:p>
                <a:endParaRPr lang="en-US" altLang="ja-JP" sz="1200">
                  <a:solidFill>
                    <a:srgbClr val="000000"/>
                  </a:solidFill>
                  <a:latin typeface="Arial" panose="020B0604020202020204" pitchFamily="34" charset="0"/>
                </a:endParaRPr>
              </a:p>
              <a:p>
                <a:endParaRPr lang="en-US" altLang="ja-JP" sz="1200">
                  <a:solidFill>
                    <a:srgbClr val="000000"/>
                  </a:solidFill>
                  <a:latin typeface="Arial" panose="020B0604020202020204" pitchFamily="34" charset="0"/>
                </a:endParaRPr>
              </a:p>
              <a:p>
                <a:pPr algn="l"/>
                <a:r>
                  <a:rPr lang="ja-JP" altLang="en-US" sz="2800" b="0" i="0">
                    <a:solidFill>
                      <a:srgbClr val="000000"/>
                    </a:solidFill>
                    <a:effectLst/>
                    <a:latin typeface="Arial" panose="020B0604020202020204" pitchFamily="34" charset="0"/>
                  </a:rPr>
                  <a:t>離散フーリエ変換（</a:t>
                </a:r>
                <a:r>
                  <a:rPr lang="en-US" altLang="ja-JP" sz="2800" b="0" i="0">
                    <a:solidFill>
                      <a:srgbClr val="000000"/>
                    </a:solidFill>
                    <a:effectLst/>
                    <a:latin typeface="Arial" panose="020B0604020202020204" pitchFamily="34" charset="0"/>
                  </a:rPr>
                  <a:t>DFT</a:t>
                </a:r>
                <a:r>
                  <a:rPr lang="ja-JP" altLang="en-US" sz="2800" b="0" i="0">
                    <a:solidFill>
                      <a:srgbClr val="000000"/>
                    </a:solidFill>
                    <a:effectLst/>
                    <a:latin typeface="Arial" panose="020B0604020202020204" pitchFamily="34" charset="0"/>
                  </a:rPr>
                  <a:t>）</a:t>
                </a:r>
                <a:r>
                  <a:rPr lang="en-US" altLang="ja-JP" sz="2800" b="0" i="0">
                    <a:solidFill>
                      <a:srgbClr val="000000"/>
                    </a:solidFill>
                    <a:effectLst/>
                    <a:latin typeface="Arial" panose="020B0604020202020204" pitchFamily="34" charset="0"/>
                  </a:rPr>
                  <a:t>"discrete Fourier transform"</a:t>
                </a:r>
              </a:p>
              <a:p>
                <a:r>
                  <a:rPr lang="en-US" altLang="ja-JP" sz="1200">
                    <a:latin typeface="Arial" panose="020B0604020202020204" pitchFamily="34" charset="0"/>
                  </a:rPr>
                  <a:t>  5. DFT    </a:t>
                </a:r>
                <a:endParaRPr lang="en-US" altLang="ja-JP" sz="2800">
                  <a:latin typeface="Cambria Math" panose="02040503050406030204" pitchFamily="18" charset="0"/>
                </a:endParaRPr>
              </a:p>
              <a:p>
                <a14:m>
                  <m:oMath xmlns:m="http://schemas.openxmlformats.org/officeDocument/2006/math">
                    <m:sSub>
                      <m:sSubPr>
                        <m:ctrlPr>
                          <a:rPr lang="en-US" altLang="ja-JP" sz="2800" i="1" dirty="0">
                            <a:solidFill>
                              <a:srgbClr val="836967"/>
                            </a:solidFill>
                            <a:latin typeface="Cambria Math" panose="02040503050406030204" pitchFamily="18" charset="0"/>
                          </a:rPr>
                        </m:ctrlPr>
                      </m:sSubPr>
                      <m:e>
                        <m:r>
                          <a:rPr lang="en-US" altLang="ja-JP" sz="2800" b="0" i="1" dirty="0" smtClean="0">
                            <a:solidFill>
                              <a:srgbClr val="836967"/>
                            </a:solidFill>
                            <a:latin typeface="Cambria Math" panose="02040503050406030204" pitchFamily="18" charset="0"/>
                          </a:rPr>
                          <m:t>𝑥</m:t>
                        </m:r>
                      </m:e>
                      <m:sub>
                        <m:r>
                          <a:rPr lang="en-US" altLang="ja-JP" sz="2800" i="1" dirty="0">
                            <a:solidFill>
                              <a:srgbClr val="836967"/>
                            </a:solidFill>
                            <a:latin typeface="Cambria Math" panose="02040503050406030204" pitchFamily="18" charset="0"/>
                          </a:rPr>
                          <m:t>𝑠</m:t>
                        </m:r>
                      </m:sub>
                    </m:sSub>
                  </m:oMath>
                </a14:m>
                <a:r>
                  <a:rPr lang="en-US" altLang="ja-JP" sz="2800">
                    <a:latin typeface="Arial" panose="020B0604020202020204" pitchFamily="34" charset="0"/>
                  </a:rPr>
                  <a:t> :</a:t>
                </a:r>
                <a:r>
                  <a:rPr lang="ja-JP" altLang="en-US" sz="2800"/>
                  <a:t>離散スペクトルの第𝑘番の周波数成分</a:t>
                </a:r>
                <a:r>
                  <a:rPr lang="ja-JP" altLang="en-US" sz="1200"/>
                  <a:t> </a:t>
                </a:r>
                <a:r>
                  <a:rPr lang="en-US" altLang="ja-JP" sz="1200"/>
                  <a:t>The nth frequency component of the discrete spectrum</a:t>
                </a:r>
                <a:endParaRPr lang="en-US" altLang="ja-JP" sz="2800" i="1">
                  <a:solidFill>
                    <a:srgbClr val="836967"/>
                  </a:solidFill>
                  <a:latin typeface="Cambria Math" panose="02040503050406030204" pitchFamily="18" charset="0"/>
                </a:endParaRPr>
              </a:p>
              <a:p>
                <a14:m>
                  <m:oMath xmlns:m="http://schemas.openxmlformats.org/officeDocument/2006/math">
                    <m:sSub>
                      <m:sSubPr>
                        <m:ctrlPr>
                          <a:rPr lang="en-US" altLang="ja-JP" sz="2800" i="1" dirty="0" smtClean="0">
                            <a:solidFill>
                              <a:srgbClr val="836967"/>
                            </a:solidFill>
                            <a:latin typeface="Cambria Math" panose="02040503050406030204" pitchFamily="18" charset="0"/>
                          </a:rPr>
                        </m:ctrlPr>
                      </m:sSubPr>
                      <m:e>
                        <m:r>
                          <a:rPr lang="en-US" altLang="ja-JP" sz="2800" b="0" i="1" dirty="0" smtClean="0">
                            <a:solidFill>
                              <a:srgbClr val="836967"/>
                            </a:solidFill>
                            <a:latin typeface="Cambria Math" panose="02040503050406030204" pitchFamily="18" charset="0"/>
                          </a:rPr>
                          <m:t>𝑥</m:t>
                        </m:r>
                      </m:e>
                      <m:sub>
                        <m:r>
                          <a:rPr lang="en-US" altLang="ja-JP" sz="2800" b="0" i="1" dirty="0" smtClean="0">
                            <a:solidFill>
                              <a:srgbClr val="836967"/>
                            </a:solidFill>
                            <a:latin typeface="Cambria Math" panose="02040503050406030204" pitchFamily="18" charset="0"/>
                          </a:rPr>
                          <m:t>𝑛</m:t>
                        </m:r>
                        <m:r>
                          <a:rPr lang="en-US" altLang="ja-JP" sz="2800" i="1" dirty="0">
                            <a:solidFill>
                              <a:srgbClr val="836967"/>
                            </a:solidFill>
                            <a:latin typeface="Cambria Math" panose="02040503050406030204" pitchFamily="18" charset="0"/>
                          </a:rPr>
                          <m:t>=</m:t>
                        </m:r>
                      </m:sub>
                    </m:sSub>
                    <m:r>
                      <a:rPr lang="en-US" altLang="ja-JP" sz="2800" b="0" i="1" dirty="0" smtClean="0">
                        <a:solidFill>
                          <a:srgbClr val="836967"/>
                        </a:solidFill>
                        <a:latin typeface="Cambria Math" panose="02040503050406030204" pitchFamily="18" charset="0"/>
                      </a:rPr>
                      <m:t> </m:t>
                    </m:r>
                  </m:oMath>
                </a14:m>
                <a:r>
                  <a:rPr lang="ja-JP" altLang="en-US" sz="2800"/>
                  <a:t>離散波形の第𝑛番の瞬時値（標本値）</a:t>
                </a:r>
                <a:r>
                  <a:rPr lang="en-US" altLang="ja-JP" sz="1200"/>
                  <a:t>The instantaneous value (sample value) of a discrete waveform</a:t>
                </a:r>
              </a:p>
              <a:p>
                <a:endParaRPr lang="en-US" altLang="ja-JP" sz="1200">
                  <a:latin typeface="Arial" panose="020B0604020202020204" pitchFamily="34" charset="0"/>
                </a:endParaRPr>
              </a:p>
              <a:p>
                <a:endParaRPr lang="en-US" altLang="ja-JP" sz="1200">
                  <a:latin typeface="Arial" panose="020B0604020202020204" pitchFamily="34" charset="0"/>
                </a:endParaRPr>
              </a:p>
              <a:p>
                <a:r>
                  <a:rPr lang="ja-JP" altLang="en-US" sz="2400" b="0" i="0">
                    <a:solidFill>
                      <a:srgbClr val="000000"/>
                    </a:solidFill>
                    <a:effectLst/>
                    <a:latin typeface="Arial" panose="020B0604020202020204" pitchFamily="34" charset="0"/>
                  </a:rPr>
                  <a:t>ここで，</a:t>
                </a:r>
                <a:r>
                  <a:rPr lang="ja-JP" altLang="en-US" sz="2400"/>
                  <a:t>𝑋𝑘≠𝑋</a:t>
                </a:r>
                <a:r>
                  <a:rPr lang="en-US" altLang="ja-JP" sz="2400"/>
                  <a:t>(</a:t>
                </a:r>
                <a:r>
                  <a:rPr lang="ja-JP" altLang="en-US" sz="2400"/>
                  <a:t>𝑓𝑘</a:t>
                </a:r>
                <a:r>
                  <a:rPr lang="en-US" altLang="ja-JP" sz="2400"/>
                  <a:t>)</a:t>
                </a:r>
                <a:r>
                  <a:rPr lang="ja-JP" altLang="en-US" sz="2400" b="0" i="0">
                    <a:solidFill>
                      <a:srgbClr val="000000"/>
                    </a:solidFill>
                    <a:effectLst/>
                    <a:latin typeface="Arial" panose="020B0604020202020204" pitchFamily="34" charset="0"/>
                  </a:rPr>
                  <a:t> であることに注意． </a:t>
                </a:r>
                <a:r>
                  <a:rPr lang="en-US" altLang="ja-JP" sz="2400" b="0" i="0">
                    <a:solidFill>
                      <a:srgbClr val="000000"/>
                    </a:solidFill>
                    <a:effectLst/>
                    <a:latin typeface="Arial" panose="020B0604020202020204" pitchFamily="34" charset="0"/>
                  </a:rPr>
                  <a:t>DFT </a:t>
                </a:r>
                <a:r>
                  <a:rPr lang="ja-JP" altLang="en-US" sz="2400" b="0" i="0">
                    <a:solidFill>
                      <a:srgbClr val="000000"/>
                    </a:solidFill>
                    <a:effectLst/>
                    <a:latin typeface="Arial" panose="020B0604020202020204" pitchFamily="34" charset="0"/>
                  </a:rPr>
                  <a:t>で算出されるスペクトルは仮想的・便宜的なものであり， 通常の </a:t>
                </a:r>
                <a:r>
                  <a:rPr lang="en-US" altLang="ja-JP" sz="2400" b="0" i="0">
                    <a:solidFill>
                      <a:srgbClr val="000000"/>
                    </a:solidFill>
                    <a:effectLst/>
                    <a:latin typeface="Arial" panose="020B0604020202020204" pitchFamily="34" charset="0"/>
                  </a:rPr>
                  <a:t>FT </a:t>
                </a:r>
                <a:r>
                  <a:rPr lang="ja-JP" altLang="en-US" sz="2400" b="0" i="0">
                    <a:solidFill>
                      <a:srgbClr val="000000"/>
                    </a:solidFill>
                    <a:effectLst/>
                    <a:latin typeface="Arial" panose="020B0604020202020204" pitchFamily="34" charset="0"/>
                  </a:rPr>
                  <a:t>で算出される現実のものとは異なります．</a:t>
                </a:r>
                <a:endParaRPr lang="en-US" altLang="ja-JP" sz="2400">
                  <a:solidFill>
                    <a:srgbClr val="000000"/>
                  </a:solidFill>
                  <a:latin typeface="Arial" panose="020B0604020202020204" pitchFamily="34" charset="0"/>
                </a:endParaRPr>
              </a:p>
              <a:p>
                <a:r>
                  <a:rPr lang="en-US" altLang="ja-JP" sz="1200">
                    <a:solidFill>
                      <a:srgbClr val="000000"/>
                    </a:solidFill>
                    <a:latin typeface="Arial" panose="020B0604020202020204" pitchFamily="34" charset="0"/>
                  </a:rPr>
                  <a:t>Note that here: the spectrum calculated by DFT is virtual and differs from the real one calculated by normal FT.</a:t>
                </a:r>
                <a:endParaRPr lang="en-US" altLang="ja-JP" sz="1200">
                  <a:latin typeface="Arial" panose="020B0604020202020204" pitchFamily="34" charset="0"/>
                </a:endParaRPr>
              </a:p>
            </p:txBody>
          </p:sp>
        </mc:Choice>
        <mc:Fallback>
          <p:sp>
            <p:nvSpPr>
              <p:cNvPr id="5" name="TextBox 4">
                <a:extLst>
                  <a:ext uri="{FF2B5EF4-FFF2-40B4-BE49-F238E27FC236}">
                    <a16:creationId xmlns:a16="http://schemas.microsoft.com/office/drawing/2014/main" id="{88691852-EBDF-5437-AAAB-F1BF4AA1F280}"/>
                  </a:ext>
                </a:extLst>
              </p:cNvPr>
              <p:cNvSpPr txBox="1">
                <a:spLocks noRot="1" noChangeAspect="1" noMove="1" noResize="1" noEditPoints="1" noAdjustHandles="1" noChangeArrowheads="1" noChangeShapeType="1" noTextEdit="1"/>
              </p:cNvSpPr>
              <p:nvPr/>
            </p:nvSpPr>
            <p:spPr>
              <a:xfrm>
                <a:off x="0" y="2081203"/>
                <a:ext cx="12192000" cy="3847207"/>
              </a:xfrm>
              <a:prstGeom prst="rect">
                <a:avLst/>
              </a:prstGeom>
              <a:blipFill>
                <a:blip r:embed="rId3"/>
                <a:stretch>
                  <a:fillRect l="-1000" t="-2057"/>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4">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13" name="Rounded Rectangle 18">
            <a:extLst>
              <a:ext uri="{FF2B5EF4-FFF2-40B4-BE49-F238E27FC236}">
                <a16:creationId xmlns:a16="http://schemas.microsoft.com/office/drawing/2014/main" id="{38CC964D-2AE0-C129-77E1-2842C9968624}"/>
              </a:ext>
            </a:extLst>
          </p:cNvPr>
          <p:cNvSpPr/>
          <p:nvPr/>
        </p:nvSpPr>
        <p:spPr>
          <a:xfrm>
            <a:off x="3012141" y="252943"/>
            <a:ext cx="6508377"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altLang="en-US" sz="3200">
                <a:solidFill>
                  <a:schemeClr val="tx1"/>
                </a:solidFill>
              </a:rPr>
              <a:t>離散フーリエ変換の導</a:t>
            </a:r>
            <a:r>
              <a:rPr lang="en-US" altLang="ja-JP" sz="1100" b="1">
                <a:solidFill>
                  <a:schemeClr val="tx1"/>
                </a:solidFill>
              </a:rPr>
              <a:t>Derivation of Discrete Fourier Transform</a:t>
            </a:r>
            <a:r>
              <a:rPr lang="ja-JP" altLang="en-US" sz="3200" b="1">
                <a:solidFill>
                  <a:srgbClr val="FF0000"/>
                </a:solidFill>
              </a:rPr>
              <a:t> </a:t>
            </a:r>
            <a:endParaRPr lang="en-US" sz="3200">
              <a:solidFill>
                <a:srgbClr val="FF0000"/>
              </a:solidFill>
            </a:endParaRPr>
          </a:p>
        </p:txBody>
      </p:sp>
      <p:pic>
        <p:nvPicPr>
          <p:cNvPr id="6" name="図 5" descr="テキスト&#10;&#10;自動的に生成された説明">
            <a:extLst>
              <a:ext uri="{FF2B5EF4-FFF2-40B4-BE49-F238E27FC236}">
                <a16:creationId xmlns:a16="http://schemas.microsoft.com/office/drawing/2014/main" id="{EA318060-A85E-DDE5-FD8B-C2C2885F1E22}"/>
              </a:ext>
            </a:extLst>
          </p:cNvPr>
          <p:cNvPicPr>
            <a:picLocks noChangeAspect="1"/>
          </p:cNvPicPr>
          <p:nvPr/>
        </p:nvPicPr>
        <p:blipFill>
          <a:blip r:embed="rId6"/>
          <a:stretch>
            <a:fillRect/>
          </a:stretch>
        </p:blipFill>
        <p:spPr>
          <a:xfrm>
            <a:off x="7849479" y="1389465"/>
            <a:ext cx="3867392" cy="1561831"/>
          </a:xfrm>
          <a:prstGeom prst="rect">
            <a:avLst/>
          </a:prstGeom>
        </p:spPr>
      </p:pic>
      <p:pic>
        <p:nvPicPr>
          <p:cNvPr id="9" name="図 8" descr="テキスト&#10;&#10;中程度の精度で自動的に生成された説明">
            <a:extLst>
              <a:ext uri="{FF2B5EF4-FFF2-40B4-BE49-F238E27FC236}">
                <a16:creationId xmlns:a16="http://schemas.microsoft.com/office/drawing/2014/main" id="{BA0ABEF5-1483-56A0-FBC0-8BC92F69B6CF}"/>
              </a:ext>
            </a:extLst>
          </p:cNvPr>
          <p:cNvPicPr>
            <a:picLocks noChangeAspect="1"/>
          </p:cNvPicPr>
          <p:nvPr/>
        </p:nvPicPr>
        <p:blipFill>
          <a:blip r:embed="rId7"/>
          <a:stretch>
            <a:fillRect/>
          </a:stretch>
        </p:blipFill>
        <p:spPr>
          <a:xfrm>
            <a:off x="8273806" y="3271793"/>
            <a:ext cx="3918194" cy="1255683"/>
          </a:xfrm>
          <a:prstGeom prst="rect">
            <a:avLst/>
          </a:prstGeom>
        </p:spPr>
      </p:pic>
    </p:spTree>
    <p:extLst>
      <p:ext uri="{BB962C8B-B14F-4D97-AF65-F5344CB8AC3E}">
        <p14:creationId xmlns:p14="http://schemas.microsoft.com/office/powerpoint/2010/main" val="373415543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279517" y="459087"/>
            <a:ext cx="5335105" cy="381684"/>
          </a:xfrm>
        </p:spPr>
        <p:txBody>
          <a:bodyPr/>
          <a:lstStyle/>
          <a:p>
            <a:r>
              <a:rPr lang="en-US" sz="2800" b="1"/>
              <a:t>12</a:t>
            </a:r>
          </a:p>
        </p:txBody>
      </p:sp>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770537"/>
          </a:xfrm>
          <a:prstGeom prst="rect">
            <a:avLst/>
          </a:prstGeom>
          <a:noFill/>
        </p:spPr>
        <p:txBody>
          <a:bodyPr wrap="square" rtlCol="0">
            <a:spAutoFit/>
          </a:bodyPr>
          <a:lstStyle/>
          <a:p>
            <a:pPr algn="l"/>
            <a:r>
              <a:rPr lang="en-US" altLang="ja-JP" sz="2800" b="0" i="0">
                <a:solidFill>
                  <a:srgbClr val="000000"/>
                </a:solidFill>
                <a:effectLst/>
                <a:latin typeface="Arial" panose="020B0604020202020204" pitchFamily="34" charset="0"/>
              </a:rPr>
              <a:t>DFT </a:t>
            </a:r>
            <a:r>
              <a:rPr lang="ja-JP" altLang="en-US" sz="2800" b="0" i="0">
                <a:solidFill>
                  <a:srgbClr val="000000"/>
                </a:solidFill>
                <a:effectLst/>
                <a:latin typeface="Arial" panose="020B0604020202020204" pitchFamily="34" charset="0"/>
              </a:rPr>
              <a:t>の回転子表現 </a:t>
            </a:r>
            <a:r>
              <a:rPr lang="en-US" altLang="ja-JP" sz="2800" b="0" i="0">
                <a:solidFill>
                  <a:srgbClr val="000000"/>
                </a:solidFill>
                <a:effectLst/>
                <a:latin typeface="Arial" panose="020B0604020202020204" pitchFamily="34" charset="0"/>
              </a:rPr>
              <a:t>"rotator notation" or </a:t>
            </a:r>
            <a:r>
              <a:rPr lang="ja-JP" altLang="en-US" sz="2800" b="0" i="0">
                <a:solidFill>
                  <a:srgbClr val="000000"/>
                </a:solidFill>
                <a:effectLst/>
                <a:latin typeface="Arial" panose="020B0604020202020204" pitchFamily="34" charset="0"/>
              </a:rPr>
              <a:t>総和表現 </a:t>
            </a:r>
            <a:r>
              <a:rPr lang="en-US" altLang="ja-JP" sz="2800" b="0" i="0">
                <a:solidFill>
                  <a:srgbClr val="000000"/>
                </a:solidFill>
                <a:effectLst/>
                <a:latin typeface="Arial" panose="020B0604020202020204" pitchFamily="34" charset="0"/>
              </a:rPr>
              <a:t>"sigma notation"</a:t>
            </a:r>
            <a:r>
              <a:rPr lang="ja-JP" altLang="en-US" sz="2800" b="0" i="0">
                <a:solidFill>
                  <a:srgbClr val="000000"/>
                </a:solidFill>
                <a:effectLst/>
                <a:latin typeface="Arial" panose="020B0604020202020204" pitchFamily="34" charset="0"/>
              </a:rPr>
              <a:t>：</a:t>
            </a:r>
            <a:endParaRPr lang="en-US" altLang="ja-JP" sz="2800" b="0" i="0">
              <a:solidFill>
                <a:srgbClr val="000000"/>
              </a:solidFill>
              <a:effectLst/>
              <a:latin typeface="Arial" panose="020B0604020202020204" pitchFamily="34" charset="0"/>
            </a:endParaRPr>
          </a:p>
          <a:p>
            <a:pPr algn="l"/>
            <a:r>
              <a:rPr lang="en-US" altLang="ja-JP" sz="1200" b="0" i="0">
                <a:solidFill>
                  <a:srgbClr val="000000"/>
                </a:solidFill>
                <a:effectLst/>
                <a:latin typeface="Arial" panose="020B0604020202020204" pitchFamily="34" charset="0"/>
              </a:rPr>
              <a:t> </a:t>
            </a:r>
            <a:endParaRPr lang="en-US" altLang="ja-JP" sz="2800">
              <a:latin typeface="Arial" panose="020B0604020202020204" pitchFamily="34" charset="0"/>
            </a:endParaRPr>
          </a:p>
          <a:p>
            <a:r>
              <a:rPr lang="en-US" altLang="ja-JP" sz="2800">
                <a:latin typeface="Arial" panose="020B0604020202020204" pitchFamily="34" charset="0"/>
              </a:rPr>
              <a:t>DFT </a:t>
            </a:r>
            <a:r>
              <a:rPr lang="ja-JP" altLang="en-US" sz="2800">
                <a:latin typeface="Arial" panose="020B0604020202020204" pitchFamily="34" charset="0"/>
              </a:rPr>
              <a:t>の行列表現 </a:t>
            </a:r>
            <a:r>
              <a:rPr lang="en-US" altLang="ja-JP" sz="2800">
                <a:latin typeface="Arial" panose="020B0604020202020204" pitchFamily="34" charset="0"/>
              </a:rPr>
              <a:t>"matrix notation"</a:t>
            </a:r>
            <a:r>
              <a:rPr lang="ja-JP" altLang="en-US" sz="2800">
                <a:latin typeface="Arial" panose="020B0604020202020204" pitchFamily="34" charset="0"/>
              </a:rPr>
              <a:t>：</a:t>
            </a:r>
            <a:endParaRPr lang="en-US" altLang="ja-JP" sz="2800">
              <a:latin typeface="Arial" panose="020B0604020202020204" pitchFamily="34" charset="0"/>
            </a:endParaRPr>
          </a:p>
          <a:p>
            <a:endParaRPr lang="en-US" altLang="ja-JP" sz="2800">
              <a:solidFill>
                <a:srgbClr val="000000"/>
              </a:solidFill>
              <a:latin typeface="Arial" panose="020B0604020202020204" pitchFamily="34" charset="0"/>
            </a:endParaRPr>
          </a:p>
          <a:p>
            <a:r>
              <a:rPr lang="ja-JP" altLang="en-US" sz="2800" b="0" i="0">
                <a:solidFill>
                  <a:srgbClr val="000000"/>
                </a:solidFill>
                <a:effectLst/>
                <a:latin typeface="Arial" panose="020B0604020202020204" pitchFamily="34" charset="0"/>
              </a:rPr>
              <a:t>さらに短縮するとさらに短縮すると         さらに短縮すると</a:t>
            </a:r>
            <a:r>
              <a:rPr lang="en-US" altLang="ja-JP" sz="1200">
                <a:solidFill>
                  <a:srgbClr val="000000"/>
                </a:solidFill>
                <a:latin typeface="Arial" panose="020B0604020202020204" pitchFamily="34" charset="0"/>
              </a:rPr>
              <a:t>To shorten even further</a:t>
            </a:r>
            <a:endParaRPr lang="en-US" altLang="ja-JP" sz="2800">
              <a:solidFill>
                <a:srgbClr val="000000"/>
              </a:solidFill>
              <a:latin typeface="Arial" panose="020B0604020202020204" pitchFamily="34" charset="0"/>
            </a:endParaRPr>
          </a:p>
          <a:p>
            <a:r>
              <a:rPr lang="en-US" altLang="ja-JP" sz="2800">
                <a:solidFill>
                  <a:srgbClr val="000000"/>
                </a:solidFill>
                <a:latin typeface="Arial" panose="020B0604020202020204" pitchFamily="34" charset="0"/>
              </a:rPr>
              <a:t>                                                           </a:t>
            </a:r>
            <a:r>
              <a:rPr lang="en-US" altLang="ja-JP" sz="2800">
                <a:solidFill>
                  <a:srgbClr val="000000"/>
                </a:solidFill>
                <a:latin typeface="Arial" panose="020B0604020202020204" pitchFamily="34" charset="0"/>
                <a:sym typeface="Wingdings" panose="05000000000000000000" pitchFamily="2" charset="2"/>
              </a:rPr>
              <a:t>  </a:t>
            </a:r>
            <a:endParaRPr lang="en-US" altLang="ja-JP" sz="2800">
              <a:solidFill>
                <a:srgbClr val="000000"/>
              </a:solidFill>
              <a:latin typeface="Arial" panose="020B0604020202020204" pitchFamily="34" charset="0"/>
            </a:endParaRPr>
          </a:p>
          <a:p>
            <a:endParaRPr lang="en-US" altLang="ja-JP" sz="2800">
              <a:solidFill>
                <a:srgbClr val="000000"/>
              </a:solidFill>
              <a:latin typeface="Arial" panose="020B0604020202020204" pitchFamily="34" charset="0"/>
            </a:endParaRPr>
          </a:p>
          <a:p>
            <a:endParaRPr lang="en-US" altLang="ja-JP" sz="2800">
              <a:solidFill>
                <a:srgbClr val="000000"/>
              </a:solidFill>
              <a:latin typeface="Arial" panose="020B0604020202020204" pitchFamily="34" charset="0"/>
            </a:endParaRPr>
          </a:p>
          <a:p>
            <a:pPr algn="l"/>
            <a:r>
              <a:rPr lang="ja-JP" altLang="en-US" sz="2000" b="0" i="0">
                <a:solidFill>
                  <a:srgbClr val="000000"/>
                </a:solidFill>
                <a:effectLst/>
                <a:latin typeface="Arial" panose="020B0604020202020204" pitchFamily="34" charset="0"/>
              </a:rPr>
              <a:t>離散波形（標本値）と離散スペクトルをベクトル（配列）と見なすと， 回転子は係数行列になります． 処理手順の理解と実装に便利．</a:t>
            </a:r>
            <a:r>
              <a:rPr lang="en-US" altLang="ja-JP" sz="1200" b="0" i="0">
                <a:solidFill>
                  <a:srgbClr val="000000"/>
                </a:solidFill>
                <a:effectLst/>
                <a:latin typeface="Arial" panose="020B0604020202020204" pitchFamily="34" charset="0"/>
              </a:rPr>
              <a:t>If discrete waveforms(sample values) and discrete spectra are considered as vectors (arrays) rotator is a coefficient matrix. </a:t>
            </a:r>
            <a:endParaRPr lang="ja-JP" altLang="en-US" sz="2000" b="0" i="0">
              <a:solidFill>
                <a:srgbClr val="000000"/>
              </a:solidFill>
              <a:effectLst/>
              <a:latin typeface="Arial" panose="020B0604020202020204" pitchFamily="34" charset="0"/>
            </a:endParaRPr>
          </a:p>
          <a:p>
            <a:br>
              <a:rPr lang="ja-JP" altLang="en-US" sz="2800" b="0" i="0">
                <a:solidFill>
                  <a:srgbClr val="000000"/>
                </a:solidFill>
                <a:effectLst/>
                <a:latin typeface="Arial" panose="020B0604020202020204" pitchFamily="34" charset="0"/>
              </a:rPr>
            </a:br>
            <a:endParaRPr lang="en-US" altLang="ja-JP" sz="2800">
              <a:solidFill>
                <a:srgbClr val="000000"/>
              </a:solidFill>
              <a:latin typeface="Arial" panose="020B0604020202020204" pitchFamily="34"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13" name="Rounded Rectangle 18">
            <a:extLst>
              <a:ext uri="{FF2B5EF4-FFF2-40B4-BE49-F238E27FC236}">
                <a16:creationId xmlns:a16="http://schemas.microsoft.com/office/drawing/2014/main" id="{38CC964D-2AE0-C129-77E1-2842C9968624}"/>
              </a:ext>
            </a:extLst>
          </p:cNvPr>
          <p:cNvSpPr/>
          <p:nvPr/>
        </p:nvSpPr>
        <p:spPr>
          <a:xfrm>
            <a:off x="2510117" y="267307"/>
            <a:ext cx="8758517"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altLang="en-US" sz="3200">
                <a:solidFill>
                  <a:schemeClr val="tx1"/>
                </a:solidFill>
              </a:rPr>
              <a:t>離散フーリエ変換の便利な表記方法</a:t>
            </a:r>
            <a:r>
              <a:rPr lang="en-US" altLang="ja-JP" sz="1100" b="1">
                <a:solidFill>
                  <a:schemeClr val="tx1"/>
                </a:solidFill>
              </a:rPr>
              <a:t>Notation of Discrete Fourier Transform</a:t>
            </a:r>
            <a:r>
              <a:rPr lang="ja-JP" altLang="en-US" sz="3200" b="1">
                <a:solidFill>
                  <a:srgbClr val="FF0000"/>
                </a:solidFill>
              </a:rPr>
              <a:t> </a:t>
            </a:r>
            <a:endParaRPr lang="en-US" sz="3200">
              <a:solidFill>
                <a:srgbClr val="FF0000"/>
              </a:solidFill>
            </a:endParaRPr>
          </a:p>
        </p:txBody>
      </p:sp>
      <p:pic>
        <p:nvPicPr>
          <p:cNvPr id="8" name="図 7" descr="ロゴ&#10;&#10;中程度の精度で自動的に生成された説明">
            <a:extLst>
              <a:ext uri="{FF2B5EF4-FFF2-40B4-BE49-F238E27FC236}">
                <a16:creationId xmlns:a16="http://schemas.microsoft.com/office/drawing/2014/main" id="{72D5C26C-9221-0767-C343-53DE75F538AC}"/>
              </a:ext>
            </a:extLst>
          </p:cNvPr>
          <p:cNvPicPr>
            <a:picLocks noChangeAspect="1"/>
          </p:cNvPicPr>
          <p:nvPr/>
        </p:nvPicPr>
        <p:blipFill>
          <a:blip r:embed="rId5"/>
          <a:stretch>
            <a:fillRect/>
          </a:stretch>
        </p:blipFill>
        <p:spPr>
          <a:xfrm>
            <a:off x="6792722" y="1058050"/>
            <a:ext cx="5164485" cy="1023153"/>
          </a:xfrm>
          <a:prstGeom prst="rect">
            <a:avLst/>
          </a:prstGeom>
        </p:spPr>
      </p:pic>
      <p:pic>
        <p:nvPicPr>
          <p:cNvPr id="15" name="図 14" descr="テキスト, 手紙&#10;&#10;自動的に生成された説明">
            <a:extLst>
              <a:ext uri="{FF2B5EF4-FFF2-40B4-BE49-F238E27FC236}">
                <a16:creationId xmlns:a16="http://schemas.microsoft.com/office/drawing/2014/main" id="{B0EA4095-D9CA-090E-9FAD-57DE9874DCA4}"/>
              </a:ext>
            </a:extLst>
          </p:cNvPr>
          <p:cNvPicPr>
            <a:picLocks noChangeAspect="1"/>
          </p:cNvPicPr>
          <p:nvPr/>
        </p:nvPicPr>
        <p:blipFill>
          <a:blip r:embed="rId6"/>
          <a:stretch>
            <a:fillRect/>
          </a:stretch>
        </p:blipFill>
        <p:spPr>
          <a:xfrm>
            <a:off x="37489" y="3134193"/>
            <a:ext cx="5749130" cy="2001684"/>
          </a:xfrm>
          <a:prstGeom prst="rect">
            <a:avLst/>
          </a:prstGeom>
        </p:spPr>
      </p:pic>
      <p:pic>
        <p:nvPicPr>
          <p:cNvPr id="17" name="図 16">
            <a:extLst>
              <a:ext uri="{FF2B5EF4-FFF2-40B4-BE49-F238E27FC236}">
                <a16:creationId xmlns:a16="http://schemas.microsoft.com/office/drawing/2014/main" id="{AB6FE195-F24D-ABEE-07E7-061C3B5D027A}"/>
              </a:ext>
            </a:extLst>
          </p:cNvPr>
          <p:cNvPicPr>
            <a:picLocks noChangeAspect="1"/>
          </p:cNvPicPr>
          <p:nvPr/>
        </p:nvPicPr>
        <p:blipFill>
          <a:blip r:embed="rId7"/>
          <a:stretch>
            <a:fillRect/>
          </a:stretch>
        </p:blipFill>
        <p:spPr>
          <a:xfrm>
            <a:off x="6889375" y="3998260"/>
            <a:ext cx="1700342" cy="463730"/>
          </a:xfrm>
          <a:prstGeom prst="rect">
            <a:avLst/>
          </a:prstGeom>
        </p:spPr>
      </p:pic>
    </p:spTree>
    <p:extLst>
      <p:ext uri="{BB962C8B-B14F-4D97-AF65-F5344CB8AC3E}">
        <p14:creationId xmlns:p14="http://schemas.microsoft.com/office/powerpoint/2010/main" val="141444593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279517" y="459087"/>
            <a:ext cx="5335105" cy="381684"/>
          </a:xfrm>
        </p:spPr>
        <p:txBody>
          <a:bodyPr/>
          <a:lstStyle/>
          <a:p>
            <a:r>
              <a:rPr lang="en-US" sz="2800" b="1"/>
              <a:t>13</a:t>
            </a:r>
          </a:p>
        </p:txBody>
      </p:sp>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154984"/>
          </a:xfrm>
          <a:prstGeom prst="rect">
            <a:avLst/>
          </a:prstGeom>
          <a:noFill/>
        </p:spPr>
        <p:txBody>
          <a:bodyPr wrap="square" rtlCol="0">
            <a:spAutoFit/>
          </a:bodyPr>
          <a:lstStyle/>
          <a:p>
            <a:pPr algn="l"/>
            <a:r>
              <a:rPr lang="en-US" altLang="ja-JP" sz="2800" b="0" i="0">
                <a:solidFill>
                  <a:srgbClr val="000000"/>
                </a:solidFill>
                <a:effectLst/>
                <a:latin typeface="Arial" panose="020B0604020202020204" pitchFamily="34" charset="0"/>
              </a:rPr>
              <a:t>DFT     </a:t>
            </a:r>
            <a:r>
              <a:rPr lang="en-US" altLang="ja-JP" sz="2800" b="0" i="0">
                <a:solidFill>
                  <a:srgbClr val="000000"/>
                </a:solidFill>
                <a:effectLst/>
                <a:latin typeface="Arial" panose="020B0604020202020204" pitchFamily="34" charset="0"/>
                <a:sym typeface="Wingdings" panose="05000000000000000000" pitchFamily="2" charset="2"/>
              </a:rPr>
              <a:t> </a:t>
            </a:r>
          </a:p>
          <a:p>
            <a:pPr algn="l"/>
            <a:endParaRPr lang="en-US" altLang="ja-JP" sz="2800">
              <a:solidFill>
                <a:srgbClr val="000000"/>
              </a:solidFill>
              <a:latin typeface="Arial" panose="020B0604020202020204" pitchFamily="34" charset="0"/>
              <a:sym typeface="Wingdings" panose="05000000000000000000" pitchFamily="2" charset="2"/>
            </a:endParaRPr>
          </a:p>
          <a:p>
            <a:pPr algn="l"/>
            <a:endParaRPr lang="en-US" altLang="ja-JP" sz="2800" b="0" i="0">
              <a:solidFill>
                <a:srgbClr val="000000"/>
              </a:solidFill>
              <a:effectLst/>
              <a:latin typeface="Arial" panose="020B0604020202020204" pitchFamily="34" charset="0"/>
            </a:endParaRPr>
          </a:p>
          <a:p>
            <a:pPr algn="l"/>
            <a:r>
              <a:rPr lang="en-US" altLang="ja-JP" sz="1200" b="0" i="0">
                <a:solidFill>
                  <a:srgbClr val="000000"/>
                </a:solidFill>
                <a:effectLst/>
                <a:latin typeface="Arial" panose="020B0604020202020204" pitchFamily="34" charset="0"/>
              </a:rPr>
              <a:t> </a:t>
            </a:r>
            <a:endParaRPr lang="en-US" altLang="ja-JP" sz="2800">
              <a:latin typeface="Arial" panose="020B0604020202020204" pitchFamily="34" charset="0"/>
            </a:endParaRPr>
          </a:p>
          <a:p>
            <a:r>
              <a:rPr lang="ja-JP" altLang="en-US" sz="2800" b="0" i="0">
                <a:solidFill>
                  <a:srgbClr val="000000"/>
                </a:solidFill>
                <a:effectLst/>
                <a:latin typeface="Arial" panose="020B0604020202020204" pitchFamily="34" charset="0"/>
              </a:rPr>
              <a:t>離散フーリエ逆変換（</a:t>
            </a:r>
            <a:r>
              <a:rPr lang="en-US" altLang="ja-JP" sz="2800" b="0" i="0">
                <a:solidFill>
                  <a:srgbClr val="000000"/>
                </a:solidFill>
                <a:effectLst/>
                <a:latin typeface="Arial" panose="020B0604020202020204" pitchFamily="34" charset="0"/>
              </a:rPr>
              <a:t>IDFT</a:t>
            </a:r>
            <a:r>
              <a:rPr lang="ja-JP" altLang="en-US" sz="2800" b="0" i="0">
                <a:solidFill>
                  <a:srgbClr val="000000"/>
                </a:solidFill>
                <a:effectLst/>
                <a:latin typeface="Arial" panose="020B0604020202020204" pitchFamily="34" charset="0"/>
              </a:rPr>
              <a:t>）</a:t>
            </a:r>
            <a:r>
              <a:rPr lang="en-US" altLang="ja-JP" sz="2800" b="0" i="0">
                <a:solidFill>
                  <a:srgbClr val="000000"/>
                </a:solidFill>
                <a:effectLst/>
                <a:latin typeface="Arial" panose="020B0604020202020204" pitchFamily="34" charset="0"/>
              </a:rPr>
              <a:t>“Inverse Discrete Fourier Transform"</a:t>
            </a:r>
            <a:endParaRPr lang="en-US" altLang="ja-JP" sz="2800">
              <a:solidFill>
                <a:srgbClr val="000000"/>
              </a:solidFill>
              <a:latin typeface="Arial" panose="020B0604020202020204" pitchFamily="34" charset="0"/>
            </a:endParaRPr>
          </a:p>
          <a:p>
            <a:endParaRPr lang="en-US" altLang="ja-JP" sz="2800">
              <a:solidFill>
                <a:srgbClr val="000000"/>
              </a:solidFill>
              <a:latin typeface="Arial" panose="020B0604020202020204" pitchFamily="34" charset="0"/>
            </a:endParaRPr>
          </a:p>
          <a:p>
            <a:endParaRPr lang="en-US" altLang="ja-JP" sz="2800">
              <a:solidFill>
                <a:srgbClr val="000000"/>
              </a:solidFill>
              <a:latin typeface="Arial" panose="020B0604020202020204" pitchFamily="34" charset="0"/>
            </a:endParaRPr>
          </a:p>
          <a:p>
            <a:endParaRPr lang="en-US" altLang="ja-JP" sz="2800">
              <a:solidFill>
                <a:srgbClr val="000000"/>
              </a:solidFill>
              <a:latin typeface="Arial" panose="020B0604020202020204" pitchFamily="34" charset="0"/>
            </a:endParaRPr>
          </a:p>
          <a:p>
            <a:br>
              <a:rPr lang="ja-JP" altLang="en-US" sz="2800" b="0" i="0">
                <a:solidFill>
                  <a:srgbClr val="000000"/>
                </a:solidFill>
                <a:effectLst/>
                <a:latin typeface="Arial" panose="020B0604020202020204" pitchFamily="34" charset="0"/>
              </a:rPr>
            </a:br>
            <a:endParaRPr lang="en-US" altLang="ja-JP" sz="2800">
              <a:solidFill>
                <a:srgbClr val="000000"/>
              </a:solidFill>
              <a:latin typeface="Arial" panose="020B0604020202020204" pitchFamily="34"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13" name="Rounded Rectangle 18">
            <a:extLst>
              <a:ext uri="{FF2B5EF4-FFF2-40B4-BE49-F238E27FC236}">
                <a16:creationId xmlns:a16="http://schemas.microsoft.com/office/drawing/2014/main" id="{38CC964D-2AE0-C129-77E1-2842C9968624}"/>
              </a:ext>
            </a:extLst>
          </p:cNvPr>
          <p:cNvSpPr/>
          <p:nvPr/>
        </p:nvSpPr>
        <p:spPr>
          <a:xfrm>
            <a:off x="3720352" y="267307"/>
            <a:ext cx="4679577"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altLang="en-US" sz="3200" b="1">
                <a:solidFill>
                  <a:schemeClr val="tx1"/>
                </a:solidFill>
              </a:rPr>
              <a:t>まとめ</a:t>
            </a:r>
            <a:r>
              <a:rPr lang="en-US" altLang="ja-JP" sz="1100" b="1">
                <a:solidFill>
                  <a:schemeClr val="tx1"/>
                </a:solidFill>
              </a:rPr>
              <a:t>Summary</a:t>
            </a:r>
            <a:r>
              <a:rPr lang="ja-JP" altLang="en-US" sz="3200" b="1">
                <a:solidFill>
                  <a:srgbClr val="FF0000"/>
                </a:solidFill>
              </a:rPr>
              <a:t> </a:t>
            </a:r>
            <a:endParaRPr lang="en-US" sz="3200">
              <a:solidFill>
                <a:srgbClr val="FF0000"/>
              </a:solidFill>
            </a:endParaRPr>
          </a:p>
        </p:txBody>
      </p:sp>
      <p:pic>
        <p:nvPicPr>
          <p:cNvPr id="17" name="図 16">
            <a:extLst>
              <a:ext uri="{FF2B5EF4-FFF2-40B4-BE49-F238E27FC236}">
                <a16:creationId xmlns:a16="http://schemas.microsoft.com/office/drawing/2014/main" id="{AB6FE195-F24D-ABEE-07E7-061C3B5D027A}"/>
              </a:ext>
            </a:extLst>
          </p:cNvPr>
          <p:cNvPicPr>
            <a:picLocks noChangeAspect="1"/>
          </p:cNvPicPr>
          <p:nvPr/>
        </p:nvPicPr>
        <p:blipFill>
          <a:blip r:embed="rId5"/>
          <a:stretch>
            <a:fillRect/>
          </a:stretch>
        </p:blipFill>
        <p:spPr>
          <a:xfrm>
            <a:off x="2783540" y="1991933"/>
            <a:ext cx="1700342" cy="463730"/>
          </a:xfrm>
          <a:prstGeom prst="rect">
            <a:avLst/>
          </a:prstGeom>
        </p:spPr>
      </p:pic>
      <p:pic>
        <p:nvPicPr>
          <p:cNvPr id="6" name="図 5" descr="テキスト が含まれている画像&#10;&#10;自動的に生成された説明">
            <a:extLst>
              <a:ext uri="{FF2B5EF4-FFF2-40B4-BE49-F238E27FC236}">
                <a16:creationId xmlns:a16="http://schemas.microsoft.com/office/drawing/2014/main" id="{0A34401E-534A-61E8-39CA-F53568EFA8C7}"/>
              </a:ext>
            </a:extLst>
          </p:cNvPr>
          <p:cNvPicPr>
            <a:picLocks noChangeAspect="1"/>
          </p:cNvPicPr>
          <p:nvPr/>
        </p:nvPicPr>
        <p:blipFill>
          <a:blip r:embed="rId6"/>
          <a:stretch>
            <a:fillRect/>
          </a:stretch>
        </p:blipFill>
        <p:spPr>
          <a:xfrm>
            <a:off x="1857606" y="4634753"/>
            <a:ext cx="4509662" cy="1284305"/>
          </a:xfrm>
          <a:prstGeom prst="rect">
            <a:avLst/>
          </a:prstGeom>
        </p:spPr>
      </p:pic>
    </p:spTree>
    <p:extLst>
      <p:ext uri="{BB962C8B-B14F-4D97-AF65-F5344CB8AC3E}">
        <p14:creationId xmlns:p14="http://schemas.microsoft.com/office/powerpoint/2010/main" val="428761598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279517" y="459087"/>
            <a:ext cx="5335105" cy="381684"/>
          </a:xfrm>
        </p:spPr>
        <p:txBody>
          <a:bodyPr/>
          <a:lstStyle/>
          <a:p>
            <a:r>
              <a:rPr lang="en-US" sz="2800" b="1"/>
              <a:t>14</a:t>
            </a:r>
          </a:p>
        </p:txBody>
      </p:sp>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3477875"/>
          </a:xfrm>
          <a:prstGeom prst="rect">
            <a:avLst/>
          </a:prstGeom>
          <a:noFill/>
        </p:spPr>
        <p:txBody>
          <a:bodyPr wrap="square" rtlCol="0">
            <a:spAutoFit/>
          </a:bodyPr>
          <a:lstStyle/>
          <a:p>
            <a:pPr algn="l"/>
            <a:r>
              <a:rPr lang="ja-JP" altLang="en-US" sz="2800" b="0" i="0">
                <a:solidFill>
                  <a:srgbClr val="000000"/>
                </a:solidFill>
                <a:effectLst/>
                <a:latin typeface="Arial" panose="020B0604020202020204" pitchFamily="34" charset="0"/>
              </a:rPr>
              <a:t>離散波形，離散スペクトルのベクトル：</a:t>
            </a:r>
            <a:r>
              <a:rPr lang="en-US" altLang="ja-JP" sz="2800" b="0" i="0">
                <a:solidFill>
                  <a:srgbClr val="000000"/>
                </a:solidFill>
                <a:effectLst/>
                <a:latin typeface="Arial" panose="020B0604020202020204" pitchFamily="34" charset="0"/>
              </a:rPr>
              <a:t>    </a:t>
            </a:r>
            <a:r>
              <a:rPr lang="en-US" altLang="ja-JP" sz="2800" b="0" i="0">
                <a:solidFill>
                  <a:srgbClr val="000000"/>
                </a:solidFill>
                <a:effectLst/>
                <a:latin typeface="Arial" panose="020B0604020202020204" pitchFamily="34" charset="0"/>
                <a:sym typeface="Wingdings" panose="05000000000000000000" pitchFamily="2" charset="2"/>
              </a:rPr>
              <a:t> </a:t>
            </a:r>
            <a:endParaRPr lang="en-US" altLang="ja-JP" sz="2800" b="0" i="0">
              <a:solidFill>
                <a:srgbClr val="000000"/>
              </a:solidFill>
              <a:effectLst/>
              <a:latin typeface="Arial" panose="020B0604020202020204" pitchFamily="34" charset="0"/>
            </a:endParaRPr>
          </a:p>
          <a:p>
            <a:pPr algn="l"/>
            <a:r>
              <a:rPr lang="en-US" altLang="ja-JP" sz="1200" b="0" i="0">
                <a:solidFill>
                  <a:srgbClr val="000000"/>
                </a:solidFill>
                <a:effectLst/>
                <a:latin typeface="Arial" panose="020B0604020202020204" pitchFamily="34" charset="0"/>
              </a:rPr>
              <a:t> Vectors of discrete waveforms and spectra</a:t>
            </a:r>
            <a:endParaRPr lang="en-US" altLang="ja-JP" sz="2800">
              <a:latin typeface="Arial" panose="020B0604020202020204" pitchFamily="34" charset="0"/>
            </a:endParaRPr>
          </a:p>
          <a:p>
            <a:endParaRPr lang="en-US" altLang="ja-JP" sz="2800">
              <a:solidFill>
                <a:srgbClr val="000000"/>
              </a:solidFill>
              <a:latin typeface="Arial" panose="020B0604020202020204" pitchFamily="34" charset="0"/>
            </a:endParaRPr>
          </a:p>
          <a:p>
            <a:endParaRPr lang="en-US" altLang="ja-JP" sz="2800">
              <a:solidFill>
                <a:srgbClr val="000000"/>
              </a:solidFill>
              <a:latin typeface="Arial" panose="020B0604020202020204" pitchFamily="34" charset="0"/>
            </a:endParaRPr>
          </a:p>
          <a:p>
            <a:endParaRPr lang="en-US" altLang="ja-JP" sz="2800">
              <a:solidFill>
                <a:srgbClr val="000000"/>
              </a:solidFill>
              <a:latin typeface="Arial" panose="020B0604020202020204" pitchFamily="34" charset="0"/>
            </a:endParaRPr>
          </a:p>
          <a:p>
            <a:endParaRPr lang="en-US" altLang="ja-JP" sz="2800">
              <a:solidFill>
                <a:srgbClr val="000000"/>
              </a:solidFill>
              <a:latin typeface="Arial" panose="020B0604020202020204" pitchFamily="34" charset="0"/>
            </a:endParaRPr>
          </a:p>
          <a:p>
            <a:r>
              <a:rPr lang="ja-JP" altLang="en-US" sz="2800" b="0" i="0">
                <a:solidFill>
                  <a:srgbClr val="000000"/>
                </a:solidFill>
                <a:effectLst/>
                <a:latin typeface="Arial" panose="020B0604020202020204" pitchFamily="34" charset="0"/>
              </a:rPr>
              <a:t>変換行列   </a:t>
            </a:r>
            <a:r>
              <a:rPr lang="en-US" altLang="ja-JP" sz="2800" b="0" i="0">
                <a:solidFill>
                  <a:srgbClr val="000000"/>
                </a:solidFill>
                <a:effectLst/>
                <a:latin typeface="Arial" panose="020B0604020202020204" pitchFamily="34" charset="0"/>
                <a:sym typeface="Wingdings" panose="05000000000000000000" pitchFamily="2" charset="2"/>
              </a:rPr>
              <a:t>        </a:t>
            </a:r>
            <a:endParaRPr lang="en-US" altLang="ja-JP" sz="2800">
              <a:solidFill>
                <a:srgbClr val="000000"/>
              </a:solidFill>
              <a:latin typeface="Arial" panose="020B0604020202020204" pitchFamily="34" charset="0"/>
            </a:endParaRPr>
          </a:p>
          <a:p>
            <a:r>
              <a:rPr lang="en-US" altLang="ja-JP" sz="1200" b="0" i="0">
                <a:solidFill>
                  <a:srgbClr val="000000"/>
                </a:solidFill>
                <a:effectLst/>
                <a:latin typeface="Arial" panose="020B0604020202020204" pitchFamily="34" charset="0"/>
              </a:rPr>
              <a:t>Transformation Matrix</a:t>
            </a:r>
            <a:br>
              <a:rPr lang="ja-JP" altLang="en-US" sz="2800" b="0" i="0">
                <a:solidFill>
                  <a:srgbClr val="000000"/>
                </a:solidFill>
                <a:effectLst/>
                <a:latin typeface="Arial" panose="020B0604020202020204" pitchFamily="34" charset="0"/>
              </a:rPr>
            </a:br>
            <a:endParaRPr lang="en-US" altLang="ja-JP" sz="2800">
              <a:solidFill>
                <a:srgbClr val="000000"/>
              </a:solidFill>
              <a:latin typeface="Arial" panose="020B0604020202020204" pitchFamily="34"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13" name="Rounded Rectangle 18">
            <a:extLst>
              <a:ext uri="{FF2B5EF4-FFF2-40B4-BE49-F238E27FC236}">
                <a16:creationId xmlns:a16="http://schemas.microsoft.com/office/drawing/2014/main" id="{38CC964D-2AE0-C129-77E1-2842C9968624}"/>
              </a:ext>
            </a:extLst>
          </p:cNvPr>
          <p:cNvSpPr/>
          <p:nvPr/>
        </p:nvSpPr>
        <p:spPr>
          <a:xfrm>
            <a:off x="3720352" y="267307"/>
            <a:ext cx="4679577"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altLang="en-US" sz="3200" b="1">
                <a:solidFill>
                  <a:schemeClr val="tx1"/>
                </a:solidFill>
              </a:rPr>
              <a:t>まとめ</a:t>
            </a:r>
            <a:r>
              <a:rPr lang="en-US" altLang="ja-JP" sz="1100" b="1">
                <a:solidFill>
                  <a:schemeClr val="tx1"/>
                </a:solidFill>
              </a:rPr>
              <a:t>Summary</a:t>
            </a:r>
            <a:r>
              <a:rPr lang="ja-JP" altLang="en-US" sz="3200" b="1">
                <a:solidFill>
                  <a:srgbClr val="FF0000"/>
                </a:solidFill>
              </a:rPr>
              <a:t> </a:t>
            </a:r>
            <a:endParaRPr lang="en-US" sz="3200">
              <a:solidFill>
                <a:srgbClr val="FF0000"/>
              </a:solidFill>
            </a:endParaRPr>
          </a:p>
        </p:txBody>
      </p:sp>
      <p:pic>
        <p:nvPicPr>
          <p:cNvPr id="7" name="図 6" descr="ダイアグラム&#10;&#10;中程度の精度で自動的に生成された説明">
            <a:extLst>
              <a:ext uri="{FF2B5EF4-FFF2-40B4-BE49-F238E27FC236}">
                <a16:creationId xmlns:a16="http://schemas.microsoft.com/office/drawing/2014/main" id="{1AD3821B-5C7B-7232-7263-FD7B91685821}"/>
              </a:ext>
            </a:extLst>
          </p:cNvPr>
          <p:cNvPicPr>
            <a:picLocks noChangeAspect="1"/>
          </p:cNvPicPr>
          <p:nvPr/>
        </p:nvPicPr>
        <p:blipFill>
          <a:blip r:embed="rId5"/>
          <a:stretch>
            <a:fillRect/>
          </a:stretch>
        </p:blipFill>
        <p:spPr>
          <a:xfrm>
            <a:off x="7646895" y="1204803"/>
            <a:ext cx="4356561" cy="2757051"/>
          </a:xfrm>
          <a:prstGeom prst="rect">
            <a:avLst/>
          </a:prstGeom>
        </p:spPr>
      </p:pic>
      <p:pic>
        <p:nvPicPr>
          <p:cNvPr id="9" name="図 8" descr="テキスト, 手紙&#10;&#10;自動的に生成された説明">
            <a:extLst>
              <a:ext uri="{FF2B5EF4-FFF2-40B4-BE49-F238E27FC236}">
                <a16:creationId xmlns:a16="http://schemas.microsoft.com/office/drawing/2014/main" id="{741467A0-A529-9892-869E-C13BAAFACE27}"/>
              </a:ext>
            </a:extLst>
          </p:cNvPr>
          <p:cNvPicPr>
            <a:picLocks noChangeAspect="1"/>
          </p:cNvPicPr>
          <p:nvPr/>
        </p:nvPicPr>
        <p:blipFill>
          <a:blip r:embed="rId6"/>
          <a:stretch>
            <a:fillRect/>
          </a:stretch>
        </p:blipFill>
        <p:spPr>
          <a:xfrm>
            <a:off x="2812048" y="3765176"/>
            <a:ext cx="5148612" cy="2307645"/>
          </a:xfrm>
          <a:prstGeom prst="rect">
            <a:avLst/>
          </a:prstGeom>
        </p:spPr>
      </p:pic>
    </p:spTree>
    <p:extLst>
      <p:ext uri="{BB962C8B-B14F-4D97-AF65-F5344CB8AC3E}">
        <p14:creationId xmlns:p14="http://schemas.microsoft.com/office/powerpoint/2010/main" val="43097272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279517" y="459087"/>
            <a:ext cx="5335105" cy="381684"/>
          </a:xfrm>
        </p:spPr>
        <p:txBody>
          <a:bodyPr/>
          <a:lstStyle/>
          <a:p>
            <a:r>
              <a:rPr lang="en-US" sz="2800" b="1"/>
              <a:t>15</a:t>
            </a:r>
          </a:p>
        </p:txBody>
      </p:sp>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3647152"/>
          </a:xfrm>
          <a:prstGeom prst="rect">
            <a:avLst/>
          </a:prstGeom>
          <a:noFill/>
        </p:spPr>
        <p:txBody>
          <a:bodyPr wrap="square" rtlCol="0">
            <a:spAutoFit/>
          </a:bodyPr>
          <a:lstStyle/>
          <a:p>
            <a:pPr algn="l"/>
            <a:r>
              <a:rPr lang="zh-TW" altLang="en-US" sz="2800" b="0" i="0">
                <a:solidFill>
                  <a:srgbClr val="000000"/>
                </a:solidFill>
                <a:effectLst/>
                <a:latin typeface="Arial" panose="020B0604020202020204" pitchFamily="34" charset="0"/>
              </a:rPr>
              <a:t>逆変換行列：</a:t>
            </a:r>
            <a:r>
              <a:rPr lang="en-US" altLang="ja-JP" sz="2800" b="0" i="0">
                <a:solidFill>
                  <a:srgbClr val="000000"/>
                </a:solidFill>
                <a:effectLst/>
                <a:latin typeface="Arial" panose="020B0604020202020204" pitchFamily="34" charset="0"/>
                <a:sym typeface="Wingdings" panose="05000000000000000000" pitchFamily="2" charset="2"/>
              </a:rPr>
              <a:t> </a:t>
            </a:r>
            <a:endParaRPr lang="en-US" altLang="ja-JP" sz="2800" b="0" i="0">
              <a:solidFill>
                <a:srgbClr val="000000"/>
              </a:solidFill>
              <a:effectLst/>
              <a:latin typeface="Arial" panose="020B0604020202020204" pitchFamily="34" charset="0"/>
            </a:endParaRPr>
          </a:p>
          <a:p>
            <a:pPr algn="l"/>
            <a:r>
              <a:rPr lang="en-US" altLang="ja-JP" sz="1200" b="0" i="0">
                <a:solidFill>
                  <a:srgbClr val="000000"/>
                </a:solidFill>
                <a:effectLst/>
                <a:latin typeface="Arial" panose="020B0604020202020204" pitchFamily="34" charset="0"/>
              </a:rPr>
              <a:t> Inverse Transformation Matrix</a:t>
            </a:r>
            <a:endParaRPr lang="en-US" altLang="ja-JP" sz="2800">
              <a:latin typeface="Arial" panose="020B0604020202020204" pitchFamily="34" charset="0"/>
            </a:endParaRPr>
          </a:p>
          <a:p>
            <a:endParaRPr lang="en-US" altLang="ja-JP" sz="2800">
              <a:solidFill>
                <a:srgbClr val="000000"/>
              </a:solidFill>
              <a:latin typeface="Arial" panose="020B0604020202020204" pitchFamily="34" charset="0"/>
            </a:endParaRPr>
          </a:p>
          <a:p>
            <a:endParaRPr lang="en-US" altLang="ja-JP" sz="2800">
              <a:solidFill>
                <a:srgbClr val="000000"/>
              </a:solidFill>
              <a:latin typeface="Arial" panose="020B0604020202020204" pitchFamily="34" charset="0"/>
            </a:endParaRPr>
          </a:p>
          <a:p>
            <a:endParaRPr lang="en-US" altLang="ja-JP" sz="2800">
              <a:solidFill>
                <a:srgbClr val="000000"/>
              </a:solidFill>
              <a:latin typeface="Arial" panose="020B0604020202020204" pitchFamily="34" charset="0"/>
            </a:endParaRPr>
          </a:p>
          <a:p>
            <a:r>
              <a:rPr lang="ja-JP" altLang="en-US" sz="2800" b="0" i="0">
                <a:solidFill>
                  <a:srgbClr val="000000"/>
                </a:solidFill>
                <a:effectLst/>
                <a:latin typeface="Arial" panose="020B0604020202020204" pitchFamily="34" charset="0"/>
              </a:rPr>
              <a:t>行列要素：</a:t>
            </a:r>
            <a:r>
              <a:rPr lang="en-US" altLang="ja-JP" sz="2800" b="0" i="0">
                <a:solidFill>
                  <a:srgbClr val="000000"/>
                </a:solidFill>
                <a:effectLst/>
                <a:latin typeface="Arial" panose="020B0604020202020204" pitchFamily="34" charset="0"/>
                <a:sym typeface="Wingdings" panose="05000000000000000000" pitchFamily="2" charset="2"/>
              </a:rPr>
              <a:t>                                                                       </a:t>
            </a:r>
            <a:r>
              <a:rPr lang="en-US" altLang="ja-JP" sz="1200">
                <a:solidFill>
                  <a:srgbClr val="000000"/>
                </a:solidFill>
                <a:latin typeface="Arial" panose="020B0604020202020204" pitchFamily="34" charset="0"/>
                <a:sym typeface="Wingdings" panose="05000000000000000000" pitchFamily="2" charset="2"/>
              </a:rPr>
              <a:t>      </a:t>
            </a:r>
            <a:r>
              <a:rPr lang="en-US" altLang="ja-JP" sz="1100">
                <a:solidFill>
                  <a:srgbClr val="000000"/>
                </a:solidFill>
                <a:latin typeface="Arial" panose="020B0604020202020204" pitchFamily="34" charset="0"/>
                <a:sym typeface="Wingdings" panose="05000000000000000000" pitchFamily="2" charset="2"/>
              </a:rPr>
              <a:t>k-</a:t>
            </a:r>
            <a:r>
              <a:rPr lang="en-US" altLang="ja-JP" sz="1100" err="1">
                <a:solidFill>
                  <a:srgbClr val="000000"/>
                </a:solidFill>
                <a:latin typeface="Arial" panose="020B0604020202020204" pitchFamily="34" charset="0"/>
                <a:sym typeface="Wingdings" panose="05000000000000000000" pitchFamily="2" charset="2"/>
              </a:rPr>
              <a:t>th</a:t>
            </a:r>
            <a:r>
              <a:rPr lang="en-US" altLang="ja-JP" sz="1100">
                <a:solidFill>
                  <a:srgbClr val="000000"/>
                </a:solidFill>
                <a:latin typeface="Arial" panose="020B0604020202020204" pitchFamily="34" charset="0"/>
                <a:sym typeface="Wingdings" panose="05000000000000000000" pitchFamily="2" charset="2"/>
              </a:rPr>
              <a:t> row and n-</a:t>
            </a:r>
            <a:r>
              <a:rPr lang="en-US" altLang="ja-JP" sz="1100" err="1">
                <a:solidFill>
                  <a:srgbClr val="000000"/>
                </a:solidFill>
                <a:latin typeface="Arial" panose="020B0604020202020204" pitchFamily="34" charset="0"/>
                <a:sym typeface="Wingdings" panose="05000000000000000000" pitchFamily="2" charset="2"/>
              </a:rPr>
              <a:t>th</a:t>
            </a:r>
            <a:r>
              <a:rPr lang="en-US" altLang="ja-JP" sz="1100">
                <a:solidFill>
                  <a:srgbClr val="000000"/>
                </a:solidFill>
                <a:latin typeface="Arial" panose="020B0604020202020204" pitchFamily="34" charset="0"/>
                <a:sym typeface="Wingdings" panose="05000000000000000000" pitchFamily="2" charset="2"/>
              </a:rPr>
              <a:t> column elements of DFT</a:t>
            </a:r>
            <a:r>
              <a:rPr lang="en-US" altLang="ja-JP" sz="1100" b="0" i="0">
                <a:solidFill>
                  <a:srgbClr val="000000"/>
                </a:solidFill>
                <a:effectLst/>
                <a:latin typeface="Arial" panose="020B0604020202020204" pitchFamily="34" charset="0"/>
                <a:sym typeface="Wingdings" panose="05000000000000000000" pitchFamily="2" charset="2"/>
              </a:rPr>
              <a:t>                                                                                </a:t>
            </a:r>
            <a:endParaRPr lang="en-US" altLang="ja-JP" sz="1100">
              <a:solidFill>
                <a:srgbClr val="000000"/>
              </a:solidFill>
              <a:latin typeface="Arial" panose="020B0604020202020204" pitchFamily="34" charset="0"/>
            </a:endParaRPr>
          </a:p>
          <a:p>
            <a:r>
              <a:rPr lang="en-US" altLang="ja-JP" sz="1200" b="0" i="0">
                <a:solidFill>
                  <a:srgbClr val="000000"/>
                </a:solidFill>
                <a:effectLst/>
                <a:latin typeface="Arial" panose="020B0604020202020204" pitchFamily="34" charset="0"/>
              </a:rPr>
              <a:t>Matrix Element</a:t>
            </a:r>
            <a:br>
              <a:rPr lang="ja-JP" altLang="en-US" sz="2800" b="0" i="0">
                <a:solidFill>
                  <a:srgbClr val="000000"/>
                </a:solidFill>
                <a:effectLst/>
                <a:latin typeface="Arial" panose="020B0604020202020204" pitchFamily="34" charset="0"/>
              </a:rPr>
            </a:br>
            <a:r>
              <a:rPr lang="ja-JP" altLang="en-US" sz="2800" b="0" i="0">
                <a:solidFill>
                  <a:srgbClr val="000000"/>
                </a:solidFill>
                <a:effectLst/>
                <a:latin typeface="Arial" panose="020B0604020202020204" pitchFamily="34" charset="0"/>
              </a:rPr>
              <a:t>                                                                                             </a:t>
            </a:r>
            <a:r>
              <a:rPr lang="en-US" altLang="ja-JP" sz="1100" b="0" i="0">
                <a:solidFill>
                  <a:srgbClr val="000000"/>
                </a:solidFill>
                <a:effectLst/>
                <a:latin typeface="Arial" panose="020B0604020202020204" pitchFamily="34" charset="0"/>
              </a:rPr>
              <a:t>n rows and k columns elements of IDFT</a:t>
            </a:r>
          </a:p>
          <a:p>
            <a:endParaRPr lang="en-US" altLang="ja-JP" sz="1100">
              <a:solidFill>
                <a:srgbClr val="000000"/>
              </a:solidFill>
              <a:latin typeface="Arial" panose="020B0604020202020204" pitchFamily="34" charset="0"/>
            </a:endParaRPr>
          </a:p>
          <a:p>
            <a:r>
              <a:rPr lang="ja-JP" altLang="en-US" sz="2800" b="0" i="0">
                <a:solidFill>
                  <a:srgbClr val="000000"/>
                </a:solidFill>
                <a:effectLst/>
                <a:latin typeface="Arial" panose="020B0604020202020204" pitchFamily="34" charset="0"/>
              </a:rPr>
              <a:t>正負符号に注意しよう．</a:t>
            </a:r>
            <a:r>
              <a:rPr lang="en-US" altLang="ja-JP" sz="1100" b="0" i="0">
                <a:solidFill>
                  <a:srgbClr val="000000"/>
                </a:solidFill>
                <a:effectLst/>
                <a:latin typeface="Arial" panose="020B0604020202020204" pitchFamily="34" charset="0"/>
              </a:rPr>
              <a:t>Note the positive and negative signs</a:t>
            </a:r>
            <a:endParaRPr lang="en-US" altLang="ja-JP" sz="2800">
              <a:solidFill>
                <a:srgbClr val="000000"/>
              </a:solidFill>
              <a:latin typeface="Arial" panose="020B0604020202020204" pitchFamily="34" charset="0"/>
            </a:endParaRP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13" name="Rounded Rectangle 18">
            <a:extLst>
              <a:ext uri="{FF2B5EF4-FFF2-40B4-BE49-F238E27FC236}">
                <a16:creationId xmlns:a16="http://schemas.microsoft.com/office/drawing/2014/main" id="{38CC964D-2AE0-C129-77E1-2842C9968624}"/>
              </a:ext>
            </a:extLst>
          </p:cNvPr>
          <p:cNvSpPr/>
          <p:nvPr/>
        </p:nvSpPr>
        <p:spPr>
          <a:xfrm>
            <a:off x="3720352" y="267307"/>
            <a:ext cx="4679577"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altLang="en-US" sz="3200" b="1">
                <a:solidFill>
                  <a:schemeClr val="tx1"/>
                </a:solidFill>
              </a:rPr>
              <a:t>まとめ</a:t>
            </a:r>
            <a:r>
              <a:rPr lang="en-US" altLang="ja-JP" sz="1100" b="1">
                <a:solidFill>
                  <a:schemeClr val="tx1"/>
                </a:solidFill>
              </a:rPr>
              <a:t>Summary</a:t>
            </a:r>
            <a:r>
              <a:rPr lang="ja-JP" altLang="en-US" sz="3200" b="1">
                <a:solidFill>
                  <a:srgbClr val="FF0000"/>
                </a:solidFill>
              </a:rPr>
              <a:t> </a:t>
            </a:r>
            <a:endParaRPr lang="en-US" sz="3200">
              <a:solidFill>
                <a:srgbClr val="FF0000"/>
              </a:solidFill>
            </a:endParaRPr>
          </a:p>
        </p:txBody>
      </p:sp>
      <p:pic>
        <p:nvPicPr>
          <p:cNvPr id="6" name="図 5" descr="テキスト&#10;&#10;低い精度で自動的に生成された説明">
            <a:extLst>
              <a:ext uri="{FF2B5EF4-FFF2-40B4-BE49-F238E27FC236}">
                <a16:creationId xmlns:a16="http://schemas.microsoft.com/office/drawing/2014/main" id="{8F598BE1-FE5A-DD3D-36E4-0297BAC8DBD2}"/>
              </a:ext>
            </a:extLst>
          </p:cNvPr>
          <p:cNvPicPr>
            <a:picLocks noChangeAspect="1"/>
          </p:cNvPicPr>
          <p:nvPr/>
        </p:nvPicPr>
        <p:blipFill>
          <a:blip r:embed="rId5"/>
          <a:stretch>
            <a:fillRect/>
          </a:stretch>
        </p:blipFill>
        <p:spPr>
          <a:xfrm>
            <a:off x="3797203" y="1990717"/>
            <a:ext cx="3769008" cy="1124090"/>
          </a:xfrm>
          <a:prstGeom prst="rect">
            <a:avLst/>
          </a:prstGeom>
        </p:spPr>
      </p:pic>
      <p:pic>
        <p:nvPicPr>
          <p:cNvPr id="14" name="図 13" descr="テキスト&#10;&#10;自動的に生成された説明">
            <a:extLst>
              <a:ext uri="{FF2B5EF4-FFF2-40B4-BE49-F238E27FC236}">
                <a16:creationId xmlns:a16="http://schemas.microsoft.com/office/drawing/2014/main" id="{1DF6B73D-B740-643C-D896-6F6EA0179976}"/>
              </a:ext>
            </a:extLst>
          </p:cNvPr>
          <p:cNvPicPr>
            <a:picLocks noChangeAspect="1"/>
          </p:cNvPicPr>
          <p:nvPr/>
        </p:nvPicPr>
        <p:blipFill>
          <a:blip r:embed="rId6"/>
          <a:stretch>
            <a:fillRect/>
          </a:stretch>
        </p:blipFill>
        <p:spPr>
          <a:xfrm>
            <a:off x="2131623" y="3859735"/>
            <a:ext cx="7100167" cy="1079817"/>
          </a:xfrm>
          <a:prstGeom prst="rect">
            <a:avLst/>
          </a:prstGeom>
        </p:spPr>
      </p:pic>
    </p:spTree>
    <p:extLst>
      <p:ext uri="{BB962C8B-B14F-4D97-AF65-F5344CB8AC3E}">
        <p14:creationId xmlns:p14="http://schemas.microsoft.com/office/powerpoint/2010/main" val="126102689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278094"/>
          </a:xfrm>
          <a:prstGeom prst="rect">
            <a:avLst/>
          </a:prstGeom>
          <a:noFill/>
        </p:spPr>
        <p:txBody>
          <a:bodyPr wrap="square" rtlCol="0">
            <a:spAutoFit/>
          </a:bodyPr>
          <a:lstStyle/>
          <a:p>
            <a:pPr algn="just"/>
            <a:endParaRPr lang="en-US" sz="1200" b="1">
              <a:latin typeface="Calibri" panose="020F0502020204030204" pitchFamily="34" charset="0"/>
              <a:ea typeface="游明朝" panose="02020400000000000000" pitchFamily="18" charset="-128"/>
              <a:cs typeface="Times New Roman" panose="02020603050405020304" pitchFamily="18" charset="0"/>
            </a:endParaRPr>
          </a:p>
          <a:p>
            <a:pPr algn="just"/>
            <a:r>
              <a:rPr lang="en-US" altLang="ja-JP"/>
              <a:t>DFT </a:t>
            </a:r>
            <a:r>
              <a:rPr lang="ja-JP" altLang="en-US"/>
              <a:t>の実装（と高性能化）についての取組成果を報告せよ．</a:t>
            </a:r>
            <a:endParaRPr lang="en-US" altLang="ja-JP" b="1">
              <a:latin typeface="Calibri" panose="020F0502020204030204" pitchFamily="34" charset="0"/>
              <a:ea typeface="游明朝" panose="02020400000000000000" pitchFamily="18" charset="-128"/>
              <a:cs typeface="Times New Roman" panose="02020603050405020304" pitchFamily="18" charset="0"/>
            </a:endParaRPr>
          </a:p>
          <a:p>
            <a:pPr algn="just"/>
            <a:r>
              <a:rPr lang="en-US" altLang="ja-JP" b="1">
                <a:latin typeface="Calibri" panose="020F0502020204030204" pitchFamily="34" charset="0"/>
                <a:ea typeface="游明朝" panose="02020400000000000000" pitchFamily="18" charset="-128"/>
                <a:cs typeface="Times New Roman" panose="02020603050405020304" pitchFamily="18" charset="0"/>
              </a:rPr>
              <a:t>Report the results of your efforts to implement (and improve the performance of) DFT</a:t>
            </a:r>
          </a:p>
          <a:p>
            <a:pPr algn="just"/>
            <a:r>
              <a:rPr lang="en-US" altLang="ja-JP" sz="2800" b="1">
                <a:latin typeface="Calibri" panose="020F0502020204030204" pitchFamily="34" charset="0"/>
                <a:ea typeface="游明朝" panose="02020400000000000000" pitchFamily="18" charset="-128"/>
                <a:cs typeface="Times New Roman" panose="02020603050405020304" pitchFamily="18" charset="0"/>
              </a:rPr>
              <a:t>1. </a:t>
            </a:r>
            <a:r>
              <a:rPr lang="ja-JP" altLang="en-US" sz="2800" b="1">
                <a:latin typeface="Calibri" panose="020F0502020204030204" pitchFamily="34" charset="0"/>
                <a:ea typeface="游明朝" panose="02020400000000000000" pitchFamily="18" charset="-128"/>
                <a:cs typeface="Times New Roman" panose="02020603050405020304" pitchFamily="18" charset="0"/>
              </a:rPr>
              <a:t>件名 </a:t>
            </a:r>
            <a:r>
              <a:rPr lang="en-US" altLang="ja-JP" sz="2800" b="1">
                <a:latin typeface="Calibri" panose="020F0502020204030204" pitchFamily="34" charset="0"/>
                <a:ea typeface="游明朝" panose="02020400000000000000" pitchFamily="18" charset="-128"/>
                <a:cs typeface="Times New Roman" panose="02020603050405020304" pitchFamily="18" charset="0"/>
                <a:sym typeface="Wingdings" panose="05000000000000000000" pitchFamily="2" charset="2"/>
              </a:rPr>
              <a:t> </a:t>
            </a:r>
            <a:r>
              <a:rPr lang="en-US" altLang="ja-JP" sz="2800" b="1">
                <a:latin typeface="Calibri" panose="020F0502020204030204" pitchFamily="34" charset="0"/>
                <a:ea typeface="游明朝" panose="02020400000000000000" pitchFamily="18" charset="-128"/>
                <a:cs typeface="Times New Roman" panose="02020603050405020304" pitchFamily="18" charset="0"/>
              </a:rPr>
              <a:t>sp-0905</a:t>
            </a:r>
          </a:p>
          <a:p>
            <a:pPr algn="just"/>
            <a:r>
              <a:rPr lang="en-US" altLang="ja-JP" sz="2800" b="1">
                <a:latin typeface="Calibri" panose="020F0502020204030204" pitchFamily="34" charset="0"/>
                <a:ea typeface="游明朝" panose="02020400000000000000" pitchFamily="18" charset="-128"/>
                <a:cs typeface="Times New Roman" panose="02020603050405020304" pitchFamily="18" charset="0"/>
              </a:rPr>
              <a:t>2. </a:t>
            </a:r>
            <a:r>
              <a:rPr lang="ja-JP" altLang="en-US" sz="2800" b="1">
                <a:latin typeface="Calibri" panose="020F0502020204030204" pitchFamily="34" charset="0"/>
                <a:ea typeface="游明朝" panose="02020400000000000000" pitchFamily="18" charset="-128"/>
                <a:cs typeface="Times New Roman" panose="02020603050405020304" pitchFamily="18" charset="0"/>
              </a:rPr>
              <a:t>提出方法</a:t>
            </a:r>
            <a:r>
              <a:rPr lang="en-US" altLang="ja-JP" sz="2800" b="1">
                <a:latin typeface="Calibri" panose="020F0502020204030204" pitchFamily="34" charset="0"/>
                <a:ea typeface="游明朝" panose="02020400000000000000" pitchFamily="18" charset="-128"/>
                <a:cs typeface="Times New Roman" panose="02020603050405020304" pitchFamily="18" charset="0"/>
                <a:sym typeface="Wingdings" panose="05000000000000000000" pitchFamily="2" charset="2"/>
              </a:rPr>
              <a:t></a:t>
            </a:r>
            <a:r>
              <a:rPr lang="ja-JP" altLang="en-US" sz="2800" b="1">
                <a:latin typeface="Calibri" panose="020F0502020204030204" pitchFamily="34" charset="0"/>
                <a:ea typeface="游明朝" panose="02020400000000000000" pitchFamily="18" charset="-128"/>
                <a:cs typeface="Times New Roman" panose="02020603050405020304" pitchFamily="18" charset="0"/>
              </a:rPr>
              <a:t> 電子メール </a:t>
            </a:r>
            <a:r>
              <a:rPr lang="en-US" altLang="ja-JP" sz="2800" b="1">
                <a:latin typeface="Calibri" panose="020F0502020204030204" pitchFamily="34" charset="0"/>
                <a:ea typeface="游明朝" panose="02020400000000000000" pitchFamily="18" charset="-128"/>
                <a:cs typeface="Times New Roman" panose="02020603050405020304" pitchFamily="18" charset="0"/>
                <a:sym typeface="Wingdings" panose="05000000000000000000" pitchFamily="2" charset="2"/>
              </a:rPr>
              <a:t>(</a:t>
            </a:r>
            <a:r>
              <a:rPr lang="ja-JP" altLang="en-US" sz="2800" b="1">
                <a:latin typeface="Calibri" panose="020F0502020204030204" pitchFamily="34" charset="0"/>
                <a:ea typeface="游明朝" panose="02020400000000000000" pitchFamily="18" charset="-128"/>
                <a:cs typeface="Times New Roman" panose="02020603050405020304" pitchFamily="18" charset="0"/>
              </a:rPr>
              <a:t>宛先：</a:t>
            </a:r>
            <a:r>
              <a:rPr lang="en-US" altLang="ja-JP" sz="2800" b="1">
                <a:latin typeface="Calibri" panose="020F0502020204030204" pitchFamily="34" charset="0"/>
                <a:ea typeface="游明朝" panose="02020400000000000000" pitchFamily="18" charset="-128"/>
                <a:cs typeface="Times New Roman" panose="02020603050405020304" pitchFamily="18" charset="0"/>
              </a:rPr>
              <a:t>silaa@kushiro-ct.ac.jp)</a:t>
            </a:r>
          </a:p>
          <a:p>
            <a:pPr algn="just"/>
            <a:r>
              <a:rPr lang="en-US" altLang="ja-JP" sz="2800" b="1">
                <a:latin typeface="Calibri" panose="020F0502020204030204" pitchFamily="34" charset="0"/>
                <a:ea typeface="游明朝" panose="02020400000000000000" pitchFamily="18" charset="-128"/>
                <a:cs typeface="Times New Roman" panose="02020603050405020304" pitchFamily="18" charset="0"/>
              </a:rPr>
              <a:t>3. </a:t>
            </a:r>
            <a:r>
              <a:rPr lang="ja-JP" altLang="en-US" sz="2800" b="1">
                <a:latin typeface="Calibri" panose="020F0502020204030204" pitchFamily="34" charset="0"/>
                <a:ea typeface="游明朝" panose="02020400000000000000" pitchFamily="18" charset="-128"/>
                <a:cs typeface="Times New Roman" panose="02020603050405020304" pitchFamily="18" charset="0"/>
              </a:rPr>
              <a:t>提出期限</a:t>
            </a:r>
            <a:r>
              <a:rPr lang="en-US" altLang="ja-JP" sz="2800" b="1">
                <a:latin typeface="Calibri" panose="020F0502020204030204" pitchFamily="34" charset="0"/>
                <a:ea typeface="游明朝" panose="02020400000000000000" pitchFamily="18" charset="-128"/>
                <a:cs typeface="Times New Roman" panose="02020603050405020304" pitchFamily="18" charset="0"/>
                <a:sym typeface="Wingdings" panose="05000000000000000000" pitchFamily="2" charset="2"/>
              </a:rPr>
              <a:t></a:t>
            </a:r>
            <a:r>
              <a:rPr lang="en-US" altLang="ja-JP" sz="2800" b="1">
                <a:latin typeface="Calibri" panose="020F0502020204030204" pitchFamily="34" charset="0"/>
                <a:ea typeface="游明朝" panose="02020400000000000000" pitchFamily="18" charset="-128"/>
                <a:cs typeface="Times New Roman" panose="02020603050405020304" pitchFamily="18" charset="0"/>
              </a:rPr>
              <a:t>5</a:t>
            </a:r>
            <a:r>
              <a:rPr lang="ja-JP" altLang="en-US" sz="2800" b="1">
                <a:latin typeface="Calibri" panose="020F0502020204030204" pitchFamily="34" charset="0"/>
                <a:ea typeface="游明朝" panose="02020400000000000000" pitchFamily="18" charset="-128"/>
                <a:cs typeface="Times New Roman" panose="02020603050405020304" pitchFamily="18" charset="0"/>
              </a:rPr>
              <a:t>月</a:t>
            </a:r>
            <a:r>
              <a:rPr lang="en-US" altLang="ja-JP" sz="2800" b="1">
                <a:latin typeface="Calibri" panose="020F0502020204030204" pitchFamily="34" charset="0"/>
                <a:ea typeface="游明朝" panose="02020400000000000000" pitchFamily="18" charset="-128"/>
                <a:cs typeface="Times New Roman" panose="02020603050405020304" pitchFamily="18" charset="0"/>
              </a:rPr>
              <a:t>31 </a:t>
            </a:r>
            <a:r>
              <a:rPr lang="ja-JP" altLang="en-US" sz="2800" b="1">
                <a:latin typeface="Calibri" panose="020F0502020204030204" pitchFamily="34" charset="0"/>
                <a:ea typeface="游明朝" panose="02020400000000000000" pitchFamily="18" charset="-128"/>
                <a:cs typeface="Times New Roman" panose="02020603050405020304" pitchFamily="18" charset="0"/>
              </a:rPr>
              <a:t>日（金）</a:t>
            </a:r>
            <a:r>
              <a:rPr lang="en-US" altLang="ja-JP" sz="2800" b="1">
                <a:latin typeface="Calibri" panose="020F0502020204030204" pitchFamily="34" charset="0"/>
                <a:ea typeface="游明朝" panose="02020400000000000000" pitchFamily="18" charset="-128"/>
                <a:cs typeface="Times New Roman" panose="02020603050405020304" pitchFamily="18" charset="0"/>
              </a:rPr>
              <a:t>17 :00hrs</a:t>
            </a:r>
          </a:p>
          <a:p>
            <a:pPr algn="just"/>
            <a:r>
              <a:rPr lang="en-US" altLang="zh-CN" sz="2800" b="1">
                <a:latin typeface="Calibri" panose="020F0502020204030204" pitchFamily="34" charset="0"/>
                <a:ea typeface="游明朝" panose="02020400000000000000" pitchFamily="18" charset="-128"/>
                <a:cs typeface="Times New Roman" panose="02020603050405020304" pitchFamily="18" charset="0"/>
              </a:rPr>
              <a:t>4. </a:t>
            </a:r>
            <a:r>
              <a:rPr lang="zh-CN" altLang="en-US" sz="2800" b="1">
                <a:latin typeface="Calibri" panose="020F0502020204030204" pitchFamily="34" charset="0"/>
                <a:ea typeface="游明朝" panose="02020400000000000000" pitchFamily="18" charset="-128"/>
                <a:cs typeface="Times New Roman" panose="02020603050405020304" pitchFamily="18" charset="0"/>
              </a:rPr>
              <a:t>提出内容</a:t>
            </a:r>
            <a:r>
              <a:rPr lang="en-US" altLang="zh-CN" sz="2800" b="1">
                <a:latin typeface="Calibri" panose="020F0502020204030204" pitchFamily="34" charset="0"/>
                <a:ea typeface="游明朝" panose="02020400000000000000" pitchFamily="18" charset="-128"/>
                <a:cs typeface="Times New Roman" panose="02020603050405020304" pitchFamily="18" charset="0"/>
                <a:sym typeface="Wingdings" panose="05000000000000000000" pitchFamily="2" charset="2"/>
              </a:rPr>
              <a:t></a:t>
            </a:r>
            <a:r>
              <a:rPr lang="zh-CN" altLang="en-US" sz="2800" b="1">
                <a:latin typeface="Calibri" panose="020F0502020204030204" pitchFamily="34" charset="0"/>
                <a:ea typeface="游明朝" panose="02020400000000000000" pitchFamily="18" charset="-128"/>
                <a:cs typeface="Times New Roman" panose="02020603050405020304" pitchFamily="18" charset="0"/>
              </a:rPr>
              <a:t>（本文）</a:t>
            </a:r>
            <a:endParaRPr lang="en-US" altLang="zh-CN" sz="2800" b="1">
              <a:latin typeface="Calibri" panose="020F0502020204030204" pitchFamily="34" charset="0"/>
              <a:ea typeface="游明朝" panose="02020400000000000000" pitchFamily="18" charset="-128"/>
              <a:cs typeface="Times New Roman" panose="02020603050405020304" pitchFamily="18" charset="0"/>
            </a:endParaRPr>
          </a:p>
          <a:p>
            <a:pPr algn="just"/>
            <a:r>
              <a:rPr lang="ja-JP" altLang="en-US" sz="2800" b="1">
                <a:latin typeface="Calibri" panose="020F0502020204030204" pitchFamily="34" charset="0"/>
                <a:ea typeface="游明朝" panose="02020400000000000000" pitchFamily="18" charset="-128"/>
                <a:cs typeface="Times New Roman" panose="02020603050405020304" pitchFamily="18" charset="0"/>
              </a:rPr>
              <a:t>      </a:t>
            </a:r>
            <a:r>
              <a:rPr lang="en-US" altLang="ja-JP" sz="2800" b="1">
                <a:latin typeface="Calibri" panose="020F0502020204030204" pitchFamily="34" charset="0"/>
                <a:ea typeface="游明朝" panose="02020400000000000000" pitchFamily="18" charset="-128"/>
                <a:cs typeface="Times New Roman" panose="02020603050405020304" pitchFamily="18" charset="0"/>
              </a:rPr>
              <a:t>- </a:t>
            </a:r>
            <a:r>
              <a:rPr lang="ja-JP" altLang="en-US" sz="2800" b="1">
                <a:latin typeface="Calibri" panose="020F0502020204030204" pitchFamily="34" charset="0"/>
                <a:ea typeface="游明朝" panose="02020400000000000000" pitchFamily="18" charset="-128"/>
                <a:cs typeface="Times New Roman" panose="02020603050405020304" pitchFamily="18" charset="0"/>
              </a:rPr>
              <a:t>学年・分野，出席番号，氏名</a:t>
            </a:r>
            <a:endParaRPr lang="en-US" altLang="ja-JP" sz="2800" b="1">
              <a:latin typeface="Calibri" panose="020F0502020204030204" pitchFamily="34" charset="0"/>
              <a:ea typeface="游明朝" panose="02020400000000000000" pitchFamily="18" charset="-128"/>
              <a:cs typeface="Times New Roman" panose="02020603050405020304" pitchFamily="18" charset="0"/>
            </a:endParaRPr>
          </a:p>
          <a:p>
            <a:pPr algn="just"/>
            <a:r>
              <a:rPr lang="ja-JP" altLang="en-US" sz="2800" b="1">
                <a:latin typeface="Calibri" panose="020F0502020204030204" pitchFamily="34" charset="0"/>
                <a:ea typeface="游明朝" panose="02020400000000000000" pitchFamily="18" charset="-128"/>
                <a:cs typeface="Times New Roman" panose="02020603050405020304" pitchFamily="18" charset="0"/>
              </a:rPr>
              <a:t>      </a:t>
            </a:r>
            <a:r>
              <a:rPr lang="en-US" altLang="ja-JP" sz="2800" b="1">
                <a:latin typeface="Calibri" panose="020F0502020204030204" pitchFamily="34" charset="0"/>
                <a:ea typeface="游明朝" panose="02020400000000000000" pitchFamily="18" charset="-128"/>
                <a:cs typeface="Times New Roman" panose="02020603050405020304" pitchFamily="18" charset="0"/>
              </a:rPr>
              <a:t>- </a:t>
            </a:r>
            <a:r>
              <a:rPr lang="ja-JP" altLang="en-US" sz="2800" b="1">
                <a:latin typeface="Calibri" panose="020F0502020204030204" pitchFamily="34" charset="0"/>
                <a:ea typeface="游明朝" panose="02020400000000000000" pitchFamily="18" charset="-128"/>
                <a:cs typeface="Times New Roman" panose="02020603050405020304" pitchFamily="18" charset="0"/>
              </a:rPr>
              <a:t>作成した </a:t>
            </a:r>
            <a:r>
              <a:rPr lang="en-US" altLang="ja-JP" sz="2800" b="1" err="1">
                <a:latin typeface="Calibri" panose="020F0502020204030204" pitchFamily="34" charset="0"/>
                <a:ea typeface="游明朝" panose="02020400000000000000" pitchFamily="18" charset="-128"/>
                <a:cs typeface="Times New Roman" panose="02020603050405020304" pitchFamily="18" charset="0"/>
              </a:rPr>
              <a:t>dft.c</a:t>
            </a:r>
            <a:r>
              <a:rPr lang="en-US" altLang="ja-JP" sz="2800" b="1">
                <a:latin typeface="Calibri" panose="020F0502020204030204" pitchFamily="34" charset="0"/>
                <a:ea typeface="游明朝" panose="02020400000000000000" pitchFamily="18" charset="-128"/>
                <a:cs typeface="Times New Roman" panose="02020603050405020304" pitchFamily="18" charset="0"/>
              </a:rPr>
              <a:t> </a:t>
            </a:r>
            <a:r>
              <a:rPr lang="ja-JP" altLang="en-US" sz="2800" b="1">
                <a:latin typeface="Calibri" panose="020F0502020204030204" pitchFamily="34" charset="0"/>
                <a:ea typeface="游明朝" panose="02020400000000000000" pitchFamily="18" charset="-128"/>
                <a:cs typeface="Times New Roman" panose="02020603050405020304" pitchFamily="18" charset="0"/>
              </a:rPr>
              <a:t>のソースコード</a:t>
            </a:r>
            <a:endParaRPr lang="en-US" altLang="ja-JP" sz="2800" b="1">
              <a:latin typeface="Calibri" panose="020F0502020204030204" pitchFamily="34" charset="0"/>
              <a:ea typeface="游明朝" panose="02020400000000000000" pitchFamily="18" charset="-128"/>
              <a:cs typeface="Times New Roman" panose="02020603050405020304" pitchFamily="18" charset="0"/>
            </a:endParaRPr>
          </a:p>
          <a:p>
            <a:pPr algn="just"/>
            <a:r>
              <a:rPr lang="ja-JP" altLang="en-US" sz="2800" b="1">
                <a:latin typeface="Calibri" panose="020F0502020204030204" pitchFamily="34" charset="0"/>
                <a:ea typeface="游明朝" panose="02020400000000000000" pitchFamily="18" charset="-128"/>
                <a:cs typeface="Times New Roman" panose="02020603050405020304" pitchFamily="18" charset="0"/>
              </a:rPr>
              <a:t>      </a:t>
            </a:r>
            <a:r>
              <a:rPr lang="en-US" altLang="ja-JP" sz="2800" b="1">
                <a:latin typeface="Calibri" panose="020F0502020204030204" pitchFamily="34" charset="0"/>
                <a:ea typeface="游明朝" panose="02020400000000000000" pitchFamily="18" charset="-128"/>
                <a:cs typeface="Times New Roman" panose="02020603050405020304" pitchFamily="18" charset="0"/>
              </a:rPr>
              <a:t>-</a:t>
            </a:r>
            <a:r>
              <a:rPr lang="ja-JP" altLang="en-US" sz="2800" b="1">
                <a:latin typeface="Calibri" panose="020F0502020204030204" pitchFamily="34" charset="0"/>
                <a:ea typeface="游明朝" panose="02020400000000000000" pitchFamily="18" charset="-128"/>
                <a:cs typeface="Times New Roman" panose="02020603050405020304" pitchFamily="18" charset="0"/>
              </a:rPr>
              <a:t>（工夫点および，それによる性能向上への効果の説明）</a:t>
            </a:r>
            <a:endParaRPr lang="en-US" altLang="ja-JP" sz="2800" b="1">
              <a:latin typeface="Calibri" panose="020F0502020204030204" pitchFamily="34" charset="0"/>
              <a:ea typeface="游明朝" panose="02020400000000000000" pitchFamily="18" charset="-128"/>
              <a:cs typeface="Times New Roman" panose="02020603050405020304" pitchFamily="18" charset="0"/>
            </a:endParaRPr>
          </a:p>
          <a:p>
            <a:pPr algn="just"/>
            <a:r>
              <a:rPr lang="en-US" altLang="ja-JP" sz="2800" b="1">
                <a:latin typeface="Calibri" panose="020F0502020204030204" pitchFamily="34" charset="0"/>
                <a:ea typeface="游明朝" panose="02020400000000000000" pitchFamily="18" charset="-128"/>
                <a:cs typeface="Times New Roman" panose="02020603050405020304" pitchFamily="18" charset="0"/>
              </a:rPr>
              <a:t>      -  DFT</a:t>
            </a:r>
            <a:r>
              <a:rPr lang="ja-JP" altLang="en-US" sz="2800" b="1">
                <a:latin typeface="Calibri" panose="020F0502020204030204" pitchFamily="34" charset="0"/>
                <a:ea typeface="游明朝" panose="02020400000000000000" pitchFamily="18" charset="-128"/>
                <a:cs typeface="Times New Roman" panose="02020603050405020304" pitchFamily="18" charset="0"/>
              </a:rPr>
              <a:t>・</a:t>
            </a:r>
            <a:r>
              <a:rPr lang="en-US" altLang="ja-JP" sz="2800" b="1">
                <a:latin typeface="Calibri" panose="020F0502020204030204" pitchFamily="34" charset="0"/>
                <a:ea typeface="游明朝" panose="02020400000000000000" pitchFamily="18" charset="-128"/>
                <a:cs typeface="Times New Roman" panose="02020603050405020304" pitchFamily="18" charset="0"/>
              </a:rPr>
              <a:t>IDFT</a:t>
            </a:r>
            <a:r>
              <a:rPr lang="ja-JP" altLang="en-US" sz="2800" b="1">
                <a:latin typeface="Calibri" panose="020F0502020204030204" pitchFamily="34" charset="0"/>
                <a:ea typeface="游明朝" panose="02020400000000000000" pitchFamily="18" charset="-128"/>
                <a:cs typeface="Times New Roman" panose="02020603050405020304" pitchFamily="18" charset="0"/>
              </a:rPr>
              <a:t>に対する感想・考察</a:t>
            </a: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ounded Rectangle 18">
            <a:extLst>
              <a:ext uri="{FF2B5EF4-FFF2-40B4-BE49-F238E27FC236}">
                <a16:creationId xmlns:a16="http://schemas.microsoft.com/office/drawing/2014/main" id="{38CC964D-2AE0-C129-77E1-2842C9968624}"/>
              </a:ext>
            </a:extLst>
          </p:cNvPr>
          <p:cNvSpPr/>
          <p:nvPr/>
        </p:nvSpPr>
        <p:spPr>
          <a:xfrm>
            <a:off x="4072546" y="252943"/>
            <a:ext cx="4773270"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altLang="en-US" sz="3200" b="1">
                <a:solidFill>
                  <a:schemeClr val="tx1"/>
                </a:solidFill>
                <a:latin typeface="Calibri" panose="020F0502020204030204" pitchFamily="34" charset="0"/>
                <a:ea typeface="游明朝" panose="02020400000000000000" pitchFamily="18" charset="-128"/>
                <a:cs typeface="Times New Roman" panose="02020603050405020304" pitchFamily="18" charset="0"/>
              </a:rPr>
              <a:t>レポート提出</a:t>
            </a:r>
            <a:r>
              <a:rPr lang="ja-JP" altLang="en-US" sz="1100" b="1">
                <a:solidFill>
                  <a:srgbClr val="FF0000"/>
                </a:solidFill>
              </a:rPr>
              <a:t> </a:t>
            </a:r>
            <a:r>
              <a:rPr lang="en-US" altLang="ja-JP" sz="1100" b="1">
                <a:solidFill>
                  <a:schemeClr val="tx1"/>
                </a:solidFill>
              </a:rPr>
              <a:t>report submission</a:t>
            </a:r>
            <a:r>
              <a:rPr lang="ja-JP" altLang="en-US" sz="3200" b="1">
                <a:solidFill>
                  <a:srgbClr val="FF0000"/>
                </a:solidFill>
              </a:rPr>
              <a:t> </a:t>
            </a:r>
            <a:endParaRPr lang="en-US" sz="3200">
              <a:solidFill>
                <a:srgbClr val="FF0000"/>
              </a:solidFill>
            </a:endParaRPr>
          </a:p>
        </p:txBody>
      </p:sp>
    </p:spTree>
    <p:extLst>
      <p:ext uri="{BB962C8B-B14F-4D97-AF65-F5344CB8AC3E}">
        <p14:creationId xmlns:p14="http://schemas.microsoft.com/office/powerpoint/2010/main" val="216466793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315028" y="464955"/>
            <a:ext cx="5335105" cy="381684"/>
          </a:xfrm>
        </p:spPr>
        <p:txBody>
          <a:bodyPr/>
          <a:lstStyle/>
          <a:p>
            <a:r>
              <a:rPr lang="en-US" sz="2800" b="1"/>
              <a:t>                               4</a:t>
            </a:r>
          </a:p>
        </p:txBody>
      </p:sp>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678204"/>
          </a:xfrm>
          <a:prstGeom prst="rect">
            <a:avLst/>
          </a:prstGeom>
          <a:noFill/>
        </p:spPr>
        <p:txBody>
          <a:bodyPr wrap="square" rtlCol="0">
            <a:spAutoFit/>
          </a:bodyPr>
          <a:lstStyle/>
          <a:p>
            <a:pPr algn="just"/>
            <a:r>
              <a:rPr lang="ja-JP" altLang="ja-JP" sz="4000"/>
              <a:t>既存の</a:t>
            </a:r>
            <a:r>
              <a:rPr lang="en-US" altLang="ja-JP" sz="4000"/>
              <a:t> WAV </a:t>
            </a:r>
            <a:r>
              <a:rPr lang="ja-JP" altLang="ja-JP" sz="4000"/>
              <a:t>ファイル（</a:t>
            </a:r>
            <a:r>
              <a:rPr lang="ja-JP" altLang="ja-JP" sz="4000" b="1"/>
              <a:t>ファイル</a:t>
            </a:r>
            <a:r>
              <a:rPr lang="en-US" altLang="ja-JP" sz="4000"/>
              <a:t>.wav</a:t>
            </a:r>
            <a:r>
              <a:rPr lang="ja-JP" altLang="ja-JP" sz="4000"/>
              <a:t>）を探索</a:t>
            </a:r>
            <a:r>
              <a:rPr lang="ja-JP" altLang="ja-JP"/>
              <a:t>． </a:t>
            </a:r>
            <a:r>
              <a:rPr lang="ja-JP" altLang="en-US" sz="2400" b="0" i="0">
                <a:effectLst/>
                <a:latin typeface="Arial" panose="020B0604020202020204" pitchFamily="34" charset="0"/>
              </a:rPr>
              <a:t> </a:t>
            </a:r>
            <a:endParaRPr lang="en-US" sz="2400"/>
          </a:p>
          <a:p>
            <a:pPr marL="228600" indent="-228600" algn="just">
              <a:buAutoNum type="arabicPeriod"/>
            </a:pPr>
            <a:r>
              <a:rPr lang="en-US" sz="1200"/>
              <a:t>Search for existing WAV file</a:t>
            </a:r>
            <a:r>
              <a:rPr lang="en-US" sz="1200" b="1"/>
              <a:t>. Ex. </a:t>
            </a:r>
            <a:r>
              <a:rPr lang="en-US" sz="1200" b="1">
                <a:sym typeface="Wingdings" panose="05000000000000000000" pitchFamily="2" charset="2"/>
              </a:rPr>
              <a:t> </a:t>
            </a:r>
            <a:r>
              <a:rPr lang="en-US" sz="1200" b="1"/>
              <a:t>(file.wav)</a:t>
            </a:r>
          </a:p>
          <a:p>
            <a:pPr marL="228600" indent="-228600" algn="just">
              <a:buAutoNum type="arabicPeriod"/>
            </a:pPr>
            <a:endParaRPr lang="en-US" sz="1200" b="1"/>
          </a:p>
          <a:p>
            <a:pPr marL="228600" indent="-228600" algn="just">
              <a:buAutoNum type="arabicPeriod"/>
            </a:pPr>
            <a:endParaRPr lang="en-US" sz="1200" b="1"/>
          </a:p>
          <a:p>
            <a:pPr marL="228600" indent="-228600" algn="just">
              <a:buAutoNum type="arabicPeriod"/>
            </a:pPr>
            <a:endParaRPr lang="en-US" sz="1200" b="1"/>
          </a:p>
          <a:p>
            <a:pPr marL="228600" indent="-228600" algn="just">
              <a:buAutoNum type="arabicPeriod"/>
            </a:pPr>
            <a:endParaRPr lang="en-US" sz="1200" b="1"/>
          </a:p>
          <a:p>
            <a:pPr marL="228600" indent="-228600" algn="just">
              <a:buAutoNum type="arabicPeriod"/>
            </a:pPr>
            <a:endParaRPr lang="en-US" sz="1200" b="1"/>
          </a:p>
          <a:p>
            <a:pPr marL="228600" indent="-228600" algn="just">
              <a:buAutoNum type="arabicPeriod"/>
            </a:pPr>
            <a:endParaRPr lang="en-US" sz="1200" b="1"/>
          </a:p>
          <a:p>
            <a:pPr marL="228600" indent="-228600" algn="just">
              <a:buAutoNum type="arabicPeriod"/>
            </a:pPr>
            <a:endParaRPr lang="en-US" sz="1200" b="1"/>
          </a:p>
          <a:p>
            <a:pPr marL="228600" indent="-228600" algn="just">
              <a:buAutoNum type="arabicPeriod"/>
            </a:pPr>
            <a:endParaRPr lang="en-US" sz="1200" b="1"/>
          </a:p>
          <a:p>
            <a:pPr marL="228600" indent="-228600" algn="just">
              <a:buAutoNum type="arabicPeriod"/>
            </a:pPr>
            <a:endParaRPr lang="en-US" sz="1200" b="1"/>
          </a:p>
          <a:p>
            <a:pPr marL="228600" indent="-228600" algn="just">
              <a:buAutoNum type="arabicPeriod"/>
            </a:pPr>
            <a:endParaRPr lang="en-US" sz="1200" b="1"/>
          </a:p>
          <a:p>
            <a:pPr marL="228600" indent="-228600" algn="just">
              <a:buAutoNum type="arabicPeriod"/>
            </a:pPr>
            <a:endParaRPr lang="en-US" sz="1200" b="1"/>
          </a:p>
          <a:p>
            <a:r>
              <a:rPr lang="en-US" altLang="ja-JP"/>
              <a:t>  </a:t>
            </a:r>
            <a:r>
              <a:rPr lang="ja-JP" altLang="ja-JP"/>
              <a:t>アプリの効果音等が他のディレクトリにもあるかも．ネット上のフリー素材をダウンロードしても</a:t>
            </a:r>
            <a:r>
              <a:rPr lang="en-US" altLang="ja-JP"/>
              <a:t>OK!</a:t>
            </a:r>
            <a:endParaRPr lang="en-US" sz="1200" b="1"/>
          </a:p>
          <a:p>
            <a:pPr algn="just"/>
            <a:endParaRPr lang="en-US" sz="1200" b="1"/>
          </a:p>
          <a:p>
            <a:pPr algn="just"/>
            <a:r>
              <a:rPr lang="en-US" altLang="ja-JP" sz="1200" b="1"/>
              <a:t>2.</a:t>
            </a:r>
            <a:r>
              <a:rPr lang="en-US" altLang="ja-JP" sz="2400" b="1"/>
              <a:t> </a:t>
            </a:r>
            <a:r>
              <a:rPr lang="en-US" altLang="ja-JP" sz="1200" b="1"/>
              <a:t>sound effects of the app may also be found in other directories. U can download free materials on the internet. </a:t>
            </a:r>
            <a:endParaRPr lang="en-US" sz="1200" b="0" i="0">
              <a:solidFill>
                <a:srgbClr val="000000"/>
              </a:solidFill>
              <a:effectLst/>
              <a:latin typeface="Arial" panose="020B0604020202020204" pitchFamily="34" charset="0"/>
            </a:endParaRPr>
          </a:p>
          <a:p>
            <a:r>
              <a:rPr lang="en-US" sz="2000"/>
              <a:t>    </a:t>
            </a:r>
          </a:p>
          <a:p>
            <a:endParaRPr lang="en-US" sz="2000"/>
          </a:p>
          <a:p>
            <a:endParaRPr lang="en-US" sz="2000"/>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EF2ECF96-2C47-1A4E-A5E8-C6BFA9208E55}"/>
              </a:ext>
            </a:extLst>
          </p:cNvPr>
          <p:cNvSpPr/>
          <p:nvPr/>
        </p:nvSpPr>
        <p:spPr>
          <a:xfrm>
            <a:off x="3317789" y="252943"/>
            <a:ext cx="6987746"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600" b="1">
                <a:solidFill>
                  <a:schemeClr val="tx1"/>
                </a:solidFill>
              </a:rPr>
              <a:t>WAV </a:t>
            </a:r>
            <a:r>
              <a:rPr lang="ja-JP" altLang="ja-JP" sz="3600" b="1">
                <a:solidFill>
                  <a:schemeClr val="tx1"/>
                </a:solidFill>
              </a:rPr>
              <a:t>ファイルの調査・入手</a:t>
            </a:r>
            <a:r>
              <a:rPr lang="en-US" altLang="ja-JP" sz="1100" b="1">
                <a:solidFill>
                  <a:schemeClr val="tx1"/>
                </a:solidFill>
              </a:rPr>
              <a:t>obtain WAV file</a:t>
            </a:r>
            <a:r>
              <a:rPr lang="ja-JP" altLang="en-US" sz="3200" b="1">
                <a:solidFill>
                  <a:srgbClr val="FF0000"/>
                </a:solidFill>
              </a:rPr>
              <a:t> </a:t>
            </a:r>
            <a:endParaRPr lang="en-US" sz="3200">
              <a:solidFill>
                <a:srgbClr val="FF0000"/>
              </a:solidFill>
            </a:endParaRPr>
          </a:p>
        </p:txBody>
      </p:sp>
      <p:pic>
        <p:nvPicPr>
          <p:cNvPr id="12" name="図 11"/>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3" name="図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pic>
        <p:nvPicPr>
          <p:cNvPr id="2" name="図 1"/>
          <p:cNvPicPr>
            <a:picLocks noChangeAspect="1"/>
          </p:cNvPicPr>
          <p:nvPr/>
        </p:nvPicPr>
        <p:blipFill>
          <a:blip r:embed="rId5"/>
          <a:stretch>
            <a:fillRect/>
          </a:stretch>
        </p:blipFill>
        <p:spPr>
          <a:xfrm>
            <a:off x="0" y="2981727"/>
            <a:ext cx="10235016" cy="1879989"/>
          </a:xfrm>
          <a:prstGeom prst="rect">
            <a:avLst/>
          </a:prstGeom>
        </p:spPr>
      </p:pic>
    </p:spTree>
    <p:extLst>
      <p:ext uri="{BB962C8B-B14F-4D97-AF65-F5344CB8AC3E}">
        <p14:creationId xmlns:p14="http://schemas.microsoft.com/office/powerpoint/2010/main" val="118434001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315028" y="464955"/>
            <a:ext cx="5335105" cy="381684"/>
          </a:xfrm>
        </p:spPr>
        <p:txBody>
          <a:bodyPr/>
          <a:lstStyle/>
          <a:p>
            <a:r>
              <a:rPr lang="en-US" sz="2800" b="1"/>
              <a:t>                               5</a:t>
            </a:r>
          </a:p>
        </p:txBody>
      </p:sp>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5570756"/>
          </a:xfrm>
          <a:prstGeom prst="rect">
            <a:avLst/>
          </a:prstGeom>
          <a:noFill/>
        </p:spPr>
        <p:txBody>
          <a:bodyPr wrap="square" rtlCol="0">
            <a:spAutoFit/>
          </a:bodyPr>
          <a:lstStyle/>
          <a:p>
            <a:pPr lvl="0" algn="just"/>
            <a:r>
              <a:rPr lang="ja-JP" altLang="ja-JP" sz="3600"/>
              <a:t>音声を再生しつつ，</a:t>
            </a:r>
            <a:r>
              <a:rPr lang="en-US" altLang="ja-JP" sz="3600"/>
              <a:t>PCM </a:t>
            </a:r>
            <a:r>
              <a:rPr lang="ja-JP" altLang="ja-JP" sz="3600"/>
              <a:t>形式の種類も確認して， 実験対象とする</a:t>
            </a:r>
            <a:r>
              <a:rPr lang="en-US" altLang="ja-JP" sz="3600"/>
              <a:t> WAV </a:t>
            </a:r>
            <a:r>
              <a:rPr lang="ja-JP" altLang="ja-JP" sz="3600"/>
              <a:t>ファイルを選択せよ</a:t>
            </a:r>
            <a:r>
              <a:rPr lang="ja-JP" altLang="ja-JP" sz="4000"/>
              <a:t>． </a:t>
            </a:r>
            <a:r>
              <a:rPr lang="ja-JP" altLang="en-US" sz="2400" b="0" i="0">
                <a:effectLst/>
                <a:latin typeface="Arial" panose="020B0604020202020204" pitchFamily="34" charset="0"/>
              </a:rPr>
              <a:t> </a:t>
            </a:r>
            <a:endParaRPr lang="en-US" sz="2400"/>
          </a:p>
          <a:p>
            <a:pPr algn="just"/>
            <a:r>
              <a:rPr lang="en-US" sz="1200"/>
              <a:t>3.  While playing the audio, check the PCM format type and select the WAV file for the experiment. </a:t>
            </a:r>
            <a:endParaRPr lang="en-US" sz="1200" b="1"/>
          </a:p>
          <a:p>
            <a:pPr marL="228600" indent="-228600" algn="just">
              <a:buAutoNum type="arabicPeriod"/>
            </a:pPr>
            <a:endParaRPr lang="en-US" sz="1200" b="1"/>
          </a:p>
          <a:p>
            <a:pPr marL="228600" indent="-228600" algn="just">
              <a:buAutoNum type="arabicPeriod"/>
            </a:pPr>
            <a:endParaRPr lang="en-US" sz="1200" b="1"/>
          </a:p>
          <a:p>
            <a:pPr marL="228600" indent="-228600" algn="just">
              <a:buAutoNum type="arabicPeriod"/>
            </a:pPr>
            <a:endParaRPr lang="en-US" sz="1200" b="1"/>
          </a:p>
          <a:p>
            <a:pPr marL="228600" indent="-228600" algn="just">
              <a:buAutoNum type="arabicPeriod"/>
            </a:pPr>
            <a:endParaRPr lang="en-US" sz="1200" b="1"/>
          </a:p>
          <a:p>
            <a:pPr marL="228600" indent="-228600" algn="just">
              <a:buAutoNum type="arabicPeriod"/>
            </a:pPr>
            <a:endParaRPr lang="en-US" sz="1200" b="1"/>
          </a:p>
          <a:p>
            <a:pPr algn="just"/>
            <a:r>
              <a:rPr lang="ja-JP" altLang="ja-JP" sz="2800"/>
              <a:t>サウンドサーバ</a:t>
            </a:r>
            <a:r>
              <a:rPr lang="en-US" altLang="ja-JP" sz="2800"/>
              <a:t> </a:t>
            </a:r>
            <a:r>
              <a:rPr lang="en-US" altLang="ja-JP" sz="2800" err="1"/>
              <a:t>PulseAudio</a:t>
            </a:r>
            <a:r>
              <a:rPr lang="en-US" altLang="ja-JP" sz="2800"/>
              <a:t> </a:t>
            </a:r>
            <a:r>
              <a:rPr lang="ja-JP" altLang="ja-JP" sz="2800"/>
              <a:t>用の音声再生コマンドです． とりあえず「サンプル仕様</a:t>
            </a:r>
            <a:r>
              <a:rPr lang="en-US" altLang="ja-JP" sz="2800"/>
              <a:t> 's16le ...</a:t>
            </a:r>
            <a:r>
              <a:rPr lang="ja-JP" altLang="ja-JP" sz="2800"/>
              <a:t>」 （整数</a:t>
            </a:r>
            <a:r>
              <a:rPr lang="en-US" altLang="ja-JP" sz="2800"/>
              <a:t>16bit</a:t>
            </a:r>
            <a:r>
              <a:rPr lang="ja-JP" altLang="ja-JP" sz="2800"/>
              <a:t>リトルエンディアン）なもの限定で選んでおこう．</a:t>
            </a:r>
            <a:endParaRPr lang="en-US" altLang="ja-JP" sz="2800"/>
          </a:p>
          <a:p>
            <a:pPr algn="just"/>
            <a:r>
              <a:rPr lang="en-US" altLang="ja-JP" sz="1200"/>
              <a:t>This is an audio playback command for sound server </a:t>
            </a:r>
            <a:r>
              <a:rPr lang="en-US" altLang="ja-JP" sz="1200" err="1"/>
              <a:t>PulseAudio.For</a:t>
            </a:r>
            <a:r>
              <a:rPr lang="en-US" altLang="ja-JP" sz="1200"/>
              <a:t> now, just limit selection </a:t>
            </a:r>
            <a:r>
              <a:rPr lang="en-US" altLang="ja-JP" sz="1200" err="1"/>
              <a:t>to“sample</a:t>
            </a:r>
            <a:r>
              <a:rPr lang="en-US" altLang="ja-JP" sz="1200"/>
              <a:t> specification’s 16le” if u want to playback(no need to check format) omit -V</a:t>
            </a:r>
            <a:endParaRPr lang="ja-JP" altLang="ja-JP" sz="1200"/>
          </a:p>
          <a:p>
            <a:pPr algn="just"/>
            <a:endParaRPr lang="en-US" sz="1200"/>
          </a:p>
          <a:p>
            <a:pPr algn="just"/>
            <a:r>
              <a:rPr lang="ja-JP" altLang="ja-JP" sz="3200"/>
              <a:t>再生したいだけ（形式確認が不要）なら， 引数の「</a:t>
            </a:r>
            <a:r>
              <a:rPr lang="en-US" altLang="ja-JP" sz="3200"/>
              <a:t>-v</a:t>
            </a:r>
            <a:r>
              <a:rPr lang="ja-JP" altLang="ja-JP" sz="3200"/>
              <a:t>」は省略</a:t>
            </a:r>
            <a:r>
              <a:rPr lang="en-US" altLang="ja-JP" sz="3200"/>
              <a:t>OK</a:t>
            </a:r>
            <a:endParaRPr lang="ja-JP" altLang="ja-JP" sz="3200"/>
          </a:p>
          <a:p>
            <a:pPr algn="just"/>
            <a:endParaRPr lang="en-US" sz="1200" b="1"/>
          </a:p>
          <a:p>
            <a:pPr algn="just"/>
            <a:endParaRPr lang="en-US" sz="1200" b="1"/>
          </a:p>
          <a:p>
            <a:pPr algn="just"/>
            <a:endParaRPr lang="en-US" sz="2000"/>
          </a:p>
          <a:p>
            <a:endParaRPr lang="en-US" sz="2000"/>
          </a:p>
          <a:p>
            <a:endParaRPr lang="en-US" sz="2000"/>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EF2ECF96-2C47-1A4E-A5E8-C6BFA9208E55}"/>
              </a:ext>
            </a:extLst>
          </p:cNvPr>
          <p:cNvSpPr/>
          <p:nvPr/>
        </p:nvSpPr>
        <p:spPr>
          <a:xfrm>
            <a:off x="3317789" y="252943"/>
            <a:ext cx="6987746"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600" b="1">
                <a:solidFill>
                  <a:schemeClr val="tx1"/>
                </a:solidFill>
              </a:rPr>
              <a:t>WAV </a:t>
            </a:r>
            <a:r>
              <a:rPr lang="ja-JP" altLang="ja-JP" sz="3600" b="1">
                <a:solidFill>
                  <a:schemeClr val="tx1"/>
                </a:solidFill>
              </a:rPr>
              <a:t>ファイルの調査・入手</a:t>
            </a:r>
            <a:r>
              <a:rPr lang="en-US" altLang="ja-JP" sz="1100" b="1">
                <a:solidFill>
                  <a:schemeClr val="tx1"/>
                </a:solidFill>
              </a:rPr>
              <a:t>obtain WAV file</a:t>
            </a:r>
            <a:r>
              <a:rPr lang="ja-JP" altLang="en-US" sz="3200" b="1">
                <a:solidFill>
                  <a:srgbClr val="FF0000"/>
                </a:solidFill>
              </a:rPr>
              <a:t> </a:t>
            </a:r>
            <a:endParaRPr lang="en-US" sz="3200">
              <a:solidFill>
                <a:srgbClr val="FF0000"/>
              </a:solidFill>
            </a:endParaRPr>
          </a:p>
        </p:txBody>
      </p:sp>
      <p:pic>
        <p:nvPicPr>
          <p:cNvPr id="12" name="図 11"/>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3" name="図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pic>
        <p:nvPicPr>
          <p:cNvPr id="7" name="図 6"/>
          <p:cNvPicPr>
            <a:picLocks noChangeAspect="1"/>
          </p:cNvPicPr>
          <p:nvPr/>
        </p:nvPicPr>
        <p:blipFill>
          <a:blip r:embed="rId5"/>
          <a:stretch>
            <a:fillRect/>
          </a:stretch>
        </p:blipFill>
        <p:spPr>
          <a:xfrm>
            <a:off x="-166817" y="3504838"/>
            <a:ext cx="11765631" cy="834006"/>
          </a:xfrm>
          <a:prstGeom prst="rect">
            <a:avLst/>
          </a:prstGeom>
        </p:spPr>
      </p:pic>
    </p:spTree>
    <p:extLst>
      <p:ext uri="{BB962C8B-B14F-4D97-AF65-F5344CB8AC3E}">
        <p14:creationId xmlns:p14="http://schemas.microsoft.com/office/powerpoint/2010/main" val="365901528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315028" y="464955"/>
            <a:ext cx="5335105" cy="381684"/>
          </a:xfrm>
        </p:spPr>
        <p:txBody>
          <a:bodyPr/>
          <a:lstStyle/>
          <a:p>
            <a:r>
              <a:rPr lang="en-US" sz="2800" b="1"/>
              <a:t>                               6</a:t>
            </a:r>
          </a:p>
        </p:txBody>
      </p:sp>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462760"/>
          </a:xfrm>
          <a:prstGeom prst="rect">
            <a:avLst/>
          </a:prstGeom>
          <a:noFill/>
        </p:spPr>
        <p:txBody>
          <a:bodyPr wrap="square" rtlCol="0">
            <a:spAutoFit/>
          </a:bodyPr>
          <a:lstStyle/>
          <a:p>
            <a:pPr lvl="0" algn="just"/>
            <a:r>
              <a:rPr lang="ja-JP" altLang="ja-JP" sz="4000"/>
              <a:t>音声の波形を観察せよ </a:t>
            </a:r>
            <a:r>
              <a:rPr lang="ja-JP" altLang="en-US" sz="2400" b="0" i="0">
                <a:effectLst/>
                <a:latin typeface="Arial" panose="020B0604020202020204" pitchFamily="34" charset="0"/>
              </a:rPr>
              <a:t> </a:t>
            </a:r>
            <a:endParaRPr lang="en-US" sz="2400"/>
          </a:p>
          <a:p>
            <a:pPr algn="just"/>
            <a:r>
              <a:rPr lang="en-US" sz="1200"/>
              <a:t>4.  Observe the audio waveform. </a:t>
            </a:r>
            <a:endParaRPr lang="en-US" sz="1200" b="1"/>
          </a:p>
          <a:p>
            <a:pPr marL="228600" indent="-228600" algn="just">
              <a:buAutoNum type="arabicPeriod"/>
            </a:pPr>
            <a:endParaRPr lang="en-US" sz="1200" b="1"/>
          </a:p>
          <a:p>
            <a:pPr marL="228600" indent="-228600" algn="just">
              <a:buAutoNum type="arabicPeriod"/>
            </a:pPr>
            <a:endParaRPr lang="en-US" sz="1200" b="1"/>
          </a:p>
          <a:p>
            <a:pPr marL="228600" indent="-228600" algn="just">
              <a:buAutoNum type="arabicPeriod"/>
            </a:pPr>
            <a:endParaRPr lang="en-US" sz="1200" b="1"/>
          </a:p>
          <a:p>
            <a:pPr marL="228600" indent="-228600" algn="just">
              <a:buAutoNum type="arabicPeriod"/>
            </a:pPr>
            <a:endParaRPr lang="en-US" sz="1200" b="1"/>
          </a:p>
          <a:p>
            <a:pPr algn="just"/>
            <a:endParaRPr lang="en-US" sz="1200" b="1"/>
          </a:p>
          <a:p>
            <a:pPr marL="228600" indent="-228600" algn="just">
              <a:buAutoNum type="arabicPeriod"/>
            </a:pPr>
            <a:endParaRPr lang="en-US" sz="1200" b="1"/>
          </a:p>
          <a:p>
            <a:pPr algn="just"/>
            <a:r>
              <a:rPr lang="ja-JP" altLang="ja-JP" sz="3600"/>
              <a:t>音声エディタ</a:t>
            </a:r>
            <a:r>
              <a:rPr lang="en-US" altLang="ja-JP" sz="3600"/>
              <a:t> Audacity </a:t>
            </a:r>
            <a:r>
              <a:rPr lang="ja-JP" altLang="ja-JP" sz="3600" err="1"/>
              <a:t>です</a:t>
            </a:r>
            <a:r>
              <a:rPr lang="en-US" altLang="ja-JP" sz="3600"/>
              <a:t>.</a:t>
            </a:r>
            <a:r>
              <a:rPr lang="ja-JP" altLang="ja-JP" sz="3600"/>
              <a:t>とりあえず，波形表示機能だけを利用させていただきましょう． 操作方法については，各自で調査しよう</a:t>
            </a:r>
            <a:r>
              <a:rPr lang="en-US" altLang="ja-JP" sz="3600"/>
              <a:t> </a:t>
            </a:r>
            <a:r>
              <a:rPr lang="en-US" altLang="ja-JP">
                <a:sym typeface="Wingdings" panose="05000000000000000000" pitchFamily="2" charset="2"/>
              </a:rPr>
              <a:t> </a:t>
            </a:r>
            <a:endParaRPr lang="en-US" sz="1200" b="1"/>
          </a:p>
          <a:p>
            <a:pPr algn="just"/>
            <a:endParaRPr lang="en-US" sz="2000"/>
          </a:p>
          <a:p>
            <a:r>
              <a:rPr lang="en-US" sz="1200"/>
              <a:t>It is audio editor Audacity. For now, lets just use the waveform display function. Do your own research on how to use it. </a:t>
            </a:r>
          </a:p>
          <a:p>
            <a:endParaRPr lang="en-US" sz="2000"/>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EF2ECF96-2C47-1A4E-A5E8-C6BFA9208E55}"/>
              </a:ext>
            </a:extLst>
          </p:cNvPr>
          <p:cNvSpPr/>
          <p:nvPr/>
        </p:nvSpPr>
        <p:spPr>
          <a:xfrm>
            <a:off x="3317789" y="252943"/>
            <a:ext cx="6987746"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600" b="1">
                <a:solidFill>
                  <a:schemeClr val="tx1"/>
                </a:solidFill>
              </a:rPr>
              <a:t>WAV </a:t>
            </a:r>
            <a:r>
              <a:rPr lang="ja-JP" altLang="ja-JP" sz="3600" b="1">
                <a:solidFill>
                  <a:schemeClr val="tx1"/>
                </a:solidFill>
              </a:rPr>
              <a:t>ファイルの調査・入手</a:t>
            </a:r>
            <a:r>
              <a:rPr lang="en-US" altLang="ja-JP" sz="1100" b="1">
                <a:solidFill>
                  <a:schemeClr val="tx1"/>
                </a:solidFill>
              </a:rPr>
              <a:t>obtain WAV file</a:t>
            </a:r>
            <a:r>
              <a:rPr lang="ja-JP" altLang="en-US" sz="3200" b="1">
                <a:solidFill>
                  <a:srgbClr val="FF0000"/>
                </a:solidFill>
              </a:rPr>
              <a:t> </a:t>
            </a:r>
            <a:endParaRPr lang="en-US" sz="3200">
              <a:solidFill>
                <a:srgbClr val="FF0000"/>
              </a:solidFill>
            </a:endParaRPr>
          </a:p>
        </p:txBody>
      </p:sp>
      <p:pic>
        <p:nvPicPr>
          <p:cNvPr id="12" name="図 11"/>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3" name="図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pic>
        <p:nvPicPr>
          <p:cNvPr id="2" name="図 1"/>
          <p:cNvPicPr>
            <a:picLocks noChangeAspect="1"/>
          </p:cNvPicPr>
          <p:nvPr/>
        </p:nvPicPr>
        <p:blipFill>
          <a:blip r:embed="rId5"/>
          <a:stretch>
            <a:fillRect/>
          </a:stretch>
        </p:blipFill>
        <p:spPr>
          <a:xfrm>
            <a:off x="-155882" y="2977979"/>
            <a:ext cx="11156559" cy="790832"/>
          </a:xfrm>
          <a:prstGeom prst="rect">
            <a:avLst/>
          </a:prstGeom>
        </p:spPr>
      </p:pic>
    </p:spTree>
    <p:extLst>
      <p:ext uri="{BB962C8B-B14F-4D97-AF65-F5344CB8AC3E}">
        <p14:creationId xmlns:p14="http://schemas.microsoft.com/office/powerpoint/2010/main" val="178648947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315028" y="464955"/>
            <a:ext cx="5335105" cy="381684"/>
          </a:xfrm>
        </p:spPr>
        <p:txBody>
          <a:bodyPr/>
          <a:lstStyle/>
          <a:p>
            <a:r>
              <a:rPr lang="en-US" sz="2800" b="1"/>
              <a:t>                               7</a:t>
            </a:r>
          </a:p>
        </p:txBody>
      </p:sp>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524315"/>
          </a:xfrm>
          <a:prstGeom prst="rect">
            <a:avLst/>
          </a:prstGeom>
          <a:noFill/>
        </p:spPr>
        <p:txBody>
          <a:bodyPr wrap="square" rtlCol="0">
            <a:spAutoFit/>
          </a:bodyPr>
          <a:lstStyle/>
          <a:p>
            <a:pPr lvl="0" algn="just"/>
            <a:r>
              <a:rPr lang="en-US" altLang="ja-JP" sz="3600"/>
              <a:t>WAV </a:t>
            </a:r>
            <a:r>
              <a:rPr lang="ja-JP" altLang="ja-JP" sz="3600"/>
              <a:t>形式の仕様について，教科書を参照せよ</a:t>
            </a:r>
            <a:r>
              <a:rPr lang="ja-JP" altLang="en-US" sz="3600" b="0" i="0">
                <a:effectLst/>
                <a:latin typeface="Arial" panose="020B0604020202020204" pitchFamily="34" charset="0"/>
              </a:rPr>
              <a:t> </a:t>
            </a:r>
            <a:endParaRPr lang="en-US" sz="3600"/>
          </a:p>
          <a:p>
            <a:pPr marL="228600" indent="-228600" algn="just">
              <a:buAutoNum type="arabicPeriod"/>
            </a:pPr>
            <a:r>
              <a:rPr lang="en-US" sz="1200"/>
              <a:t>Please refer to your textbook for the WAV format specifications. </a:t>
            </a:r>
            <a:endParaRPr lang="en-US" sz="1200" b="1"/>
          </a:p>
          <a:p>
            <a:pPr algn="just"/>
            <a:endParaRPr lang="en-US" sz="1200" b="1"/>
          </a:p>
          <a:p>
            <a:pPr marL="228600" indent="-228600" algn="just">
              <a:buAutoNum type="arabicPeriod"/>
            </a:pPr>
            <a:endParaRPr lang="en-US" sz="1200" b="1"/>
          </a:p>
          <a:p>
            <a:pPr marL="228600" indent="-228600" algn="just">
              <a:buAutoNum type="arabicPeriod"/>
            </a:pPr>
            <a:endParaRPr lang="en-US" sz="1200" b="1"/>
          </a:p>
          <a:p>
            <a:pPr algn="just"/>
            <a:endParaRPr lang="en-US" sz="1200" b="1"/>
          </a:p>
          <a:p>
            <a:pPr algn="just"/>
            <a:r>
              <a:rPr lang="en-US" altLang="ja-JP" sz="4000"/>
              <a:t>WAV </a:t>
            </a:r>
            <a:r>
              <a:rPr lang="ja-JP" altLang="ja-JP" sz="4000"/>
              <a:t>ファイル内のバイナリデータを観察せよ</a:t>
            </a:r>
            <a:r>
              <a:rPr lang="en-US" altLang="ja-JP" sz="4000">
                <a:sym typeface="Wingdings" panose="05000000000000000000" pitchFamily="2" charset="2"/>
              </a:rPr>
              <a:t> </a:t>
            </a:r>
            <a:endParaRPr lang="en-US" sz="2000"/>
          </a:p>
          <a:p>
            <a:r>
              <a:rPr lang="en-US" sz="1200"/>
              <a:t> 2.  Observe the binary data in the WAV file.</a:t>
            </a:r>
            <a:endParaRPr lang="en-US" sz="2800"/>
          </a:p>
          <a:p>
            <a:r>
              <a:rPr lang="en-US" altLang="ja-JP" sz="2800" err="1"/>
              <a:t>hexdump</a:t>
            </a:r>
            <a:r>
              <a:rPr lang="en-US" altLang="ja-JP" sz="2800"/>
              <a:t> </a:t>
            </a:r>
            <a:r>
              <a:rPr lang="ja-JP" altLang="ja-JP" sz="2800"/>
              <a:t>は，人間には読みづらいバイナリデータを可読な形式（</a:t>
            </a:r>
            <a:r>
              <a:rPr lang="en-US" altLang="ja-JP" sz="2800"/>
              <a:t>16</a:t>
            </a:r>
            <a:r>
              <a:rPr lang="ja-JP" altLang="ja-JP" sz="2800"/>
              <a:t>進数字列や英字）に変換するコマンドです．</a:t>
            </a:r>
            <a:r>
              <a:rPr lang="en-US" altLang="ja-JP" sz="2800"/>
              <a:t> WAV </a:t>
            </a:r>
            <a:r>
              <a:rPr lang="ja-JP" altLang="ja-JP" sz="2800"/>
              <a:t>は，テキストファイルではないので，</a:t>
            </a:r>
            <a:r>
              <a:rPr lang="en-US" altLang="ja-JP" sz="2800"/>
              <a:t>less </a:t>
            </a:r>
            <a:r>
              <a:rPr lang="ja-JP" altLang="ja-JP" sz="2800"/>
              <a:t>単独では読めませんよ</a:t>
            </a:r>
            <a:r>
              <a:rPr lang="ja-JP" altLang="ja-JP"/>
              <a:t>．</a:t>
            </a:r>
            <a:endParaRPr lang="en-US" altLang="ja-JP"/>
          </a:p>
          <a:p>
            <a:r>
              <a:rPr lang="en-US" altLang="ja-JP" sz="1200" err="1"/>
              <a:t>Hexdump</a:t>
            </a:r>
            <a:r>
              <a:rPr lang="en-US" altLang="ja-JP" sz="1200"/>
              <a:t> command converts binary data that is difficult for humans to read into a readable format (hexadecimal or alphanumeric). WAV is not a text file, so it cannot be read by less alone. </a:t>
            </a:r>
            <a:endParaRPr lang="ja-JP" altLang="ja-JP" sz="1200"/>
          </a:p>
          <a:p>
            <a:endParaRPr lang="en-US" sz="1200"/>
          </a:p>
          <a:p>
            <a:endParaRPr lang="en-US" sz="2000"/>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EF2ECF96-2C47-1A4E-A5E8-C6BFA9208E55}"/>
              </a:ext>
            </a:extLst>
          </p:cNvPr>
          <p:cNvSpPr/>
          <p:nvPr/>
        </p:nvSpPr>
        <p:spPr>
          <a:xfrm>
            <a:off x="3317789" y="252943"/>
            <a:ext cx="6987746"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600" b="1">
                <a:solidFill>
                  <a:schemeClr val="tx1"/>
                </a:solidFill>
              </a:rPr>
              <a:t>WAV</a:t>
            </a:r>
            <a:r>
              <a:rPr lang="ja-JP" altLang="ja-JP" sz="3600" b="1">
                <a:solidFill>
                  <a:schemeClr val="tx1"/>
                </a:solidFill>
              </a:rPr>
              <a:t>形式の構成</a:t>
            </a:r>
            <a:r>
              <a:rPr lang="en-US" altLang="ja-JP" sz="1100" b="1">
                <a:solidFill>
                  <a:schemeClr val="tx1"/>
                </a:solidFill>
              </a:rPr>
              <a:t>structure of WAV format</a:t>
            </a:r>
            <a:r>
              <a:rPr lang="ja-JP" altLang="en-US" sz="3200" b="1">
                <a:solidFill>
                  <a:srgbClr val="FF0000"/>
                </a:solidFill>
              </a:rPr>
              <a:t> </a:t>
            </a:r>
            <a:endParaRPr lang="en-US" sz="3200">
              <a:solidFill>
                <a:srgbClr val="FF0000"/>
              </a:solidFill>
            </a:endParaRPr>
          </a:p>
        </p:txBody>
      </p:sp>
      <p:pic>
        <p:nvPicPr>
          <p:cNvPr id="12" name="図 11"/>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3" name="図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pic>
        <p:nvPicPr>
          <p:cNvPr id="7" name="図 6"/>
          <p:cNvPicPr>
            <a:picLocks noChangeAspect="1"/>
          </p:cNvPicPr>
          <p:nvPr/>
        </p:nvPicPr>
        <p:blipFill>
          <a:blip r:embed="rId5"/>
          <a:stretch>
            <a:fillRect/>
          </a:stretch>
        </p:blipFill>
        <p:spPr>
          <a:xfrm>
            <a:off x="0" y="2824186"/>
            <a:ext cx="11933988" cy="845940"/>
          </a:xfrm>
          <a:prstGeom prst="rect">
            <a:avLst/>
          </a:prstGeom>
        </p:spPr>
      </p:pic>
    </p:spTree>
    <p:extLst>
      <p:ext uri="{BB962C8B-B14F-4D97-AF65-F5344CB8AC3E}">
        <p14:creationId xmlns:p14="http://schemas.microsoft.com/office/powerpoint/2010/main" val="195730750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315028" y="464955"/>
            <a:ext cx="5335105" cy="381684"/>
          </a:xfrm>
        </p:spPr>
        <p:txBody>
          <a:bodyPr/>
          <a:lstStyle/>
          <a:p>
            <a:r>
              <a:rPr lang="en-US" sz="2800" b="1"/>
              <a:t>                               8</a:t>
            </a:r>
          </a:p>
        </p:txBody>
      </p:sp>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093428"/>
          </a:xfrm>
          <a:prstGeom prst="rect">
            <a:avLst/>
          </a:prstGeom>
          <a:noFill/>
        </p:spPr>
        <p:txBody>
          <a:bodyPr wrap="square" rtlCol="0">
            <a:spAutoFit/>
          </a:bodyPr>
          <a:lstStyle/>
          <a:p>
            <a:pPr lvl="0" algn="just"/>
            <a:r>
              <a:rPr lang="ja-JP" altLang="ja-JP" sz="3600" b="1"/>
              <a:t>作業用ディレクトリの準備</a:t>
            </a:r>
            <a:r>
              <a:rPr lang="ja-JP" altLang="en-US" sz="3600" b="0" i="0">
                <a:effectLst/>
                <a:latin typeface="Arial" panose="020B0604020202020204" pitchFamily="34" charset="0"/>
              </a:rPr>
              <a:t> </a:t>
            </a:r>
            <a:endParaRPr lang="en-US" sz="3600"/>
          </a:p>
          <a:p>
            <a:pPr algn="just"/>
            <a:r>
              <a:rPr lang="en-US" sz="1200"/>
              <a:t>3.  Preparing working directory. </a:t>
            </a:r>
            <a:endParaRPr lang="en-US" sz="1200" b="1"/>
          </a:p>
          <a:p>
            <a:pPr marL="228600" indent="-228600" algn="just">
              <a:buAutoNum type="arabicPeriod"/>
            </a:pPr>
            <a:endParaRPr lang="en-US" sz="1200" b="1"/>
          </a:p>
          <a:p>
            <a:pPr algn="just"/>
            <a:endParaRPr lang="en-US" sz="1200" b="1"/>
          </a:p>
          <a:p>
            <a:pPr algn="just"/>
            <a:endParaRPr lang="en-US" sz="1200" b="1"/>
          </a:p>
          <a:p>
            <a:pPr marL="228600" indent="-228600" algn="just">
              <a:buAutoNum type="arabicPeriod"/>
            </a:pPr>
            <a:endParaRPr lang="en-US" sz="1200" b="1"/>
          </a:p>
          <a:p>
            <a:pPr algn="just"/>
            <a:endParaRPr lang="en-US" sz="1200" b="1"/>
          </a:p>
          <a:p>
            <a:pPr marL="228600" indent="-228600" algn="just">
              <a:buAutoNum type="arabicPeriod"/>
            </a:pPr>
            <a:endParaRPr lang="en-US" sz="1200" b="1"/>
          </a:p>
          <a:p>
            <a:pPr algn="just"/>
            <a:r>
              <a:rPr lang="ja-JP" altLang="ja-JP" sz="3600"/>
              <a:t>ソースディレクトリ：</a:t>
            </a:r>
            <a:r>
              <a:rPr lang="en-US" altLang="ja-JP" sz="3600"/>
              <a:t> </a:t>
            </a:r>
            <a:r>
              <a:rPr lang="en-US" altLang="ja-JP" sz="3600" u="sng" err="1">
                <a:hlinkClick r:id="rId3"/>
              </a:rPr>
              <a:t>pcm</a:t>
            </a:r>
            <a:r>
              <a:rPr lang="en-US" altLang="ja-JP" sz="3600" u="sng">
                <a:hlinkClick r:id="rId3"/>
              </a:rPr>
              <a:t>/</a:t>
            </a:r>
            <a:r>
              <a:rPr lang="ja-JP" altLang="ja-JP" sz="3600"/>
              <a:t>（個別ダウンロード）</a:t>
            </a:r>
            <a:endParaRPr lang="en-US" sz="3600"/>
          </a:p>
          <a:p>
            <a:r>
              <a:rPr lang="en-US" sz="1200"/>
              <a:t>4. Source directory : PCM/(separate download) </a:t>
            </a:r>
          </a:p>
          <a:p>
            <a:endParaRPr lang="en-US" sz="1200"/>
          </a:p>
          <a:p>
            <a:endParaRPr lang="en-US" sz="1200"/>
          </a:p>
          <a:p>
            <a:r>
              <a:rPr lang="ja-JP" altLang="ja-JP" sz="3600"/>
              <a:t>圧縮ソースファイル：</a:t>
            </a:r>
            <a:r>
              <a:rPr lang="en-US" altLang="ja-JP" sz="3600"/>
              <a:t> </a:t>
            </a:r>
            <a:r>
              <a:rPr lang="en-US" altLang="ja-JP" sz="3600" u="sng">
                <a:hlinkClick r:id="rId4"/>
              </a:rPr>
              <a:t>pcm.tgz</a:t>
            </a:r>
            <a:r>
              <a:rPr lang="ja-JP" altLang="ja-JP" sz="3600"/>
              <a:t>（一括ダウンロード）</a:t>
            </a:r>
          </a:p>
          <a:p>
            <a:r>
              <a:rPr lang="en-US" sz="1200"/>
              <a:t>5. Compressed source file : PCM.tgz (bulk download)</a:t>
            </a:r>
          </a:p>
          <a:p>
            <a:endParaRPr lang="en-US" sz="2000"/>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EF2ECF96-2C47-1A4E-A5E8-C6BFA9208E55}"/>
              </a:ext>
            </a:extLst>
          </p:cNvPr>
          <p:cNvSpPr/>
          <p:nvPr/>
        </p:nvSpPr>
        <p:spPr>
          <a:xfrm>
            <a:off x="3317789" y="252943"/>
            <a:ext cx="6987746"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600" b="1">
                <a:solidFill>
                  <a:schemeClr val="tx1"/>
                </a:solidFill>
              </a:rPr>
              <a:t>WAV</a:t>
            </a:r>
            <a:r>
              <a:rPr lang="ja-JP" altLang="ja-JP" sz="3600" b="1">
                <a:solidFill>
                  <a:schemeClr val="tx1"/>
                </a:solidFill>
              </a:rPr>
              <a:t>形式の構成</a:t>
            </a:r>
            <a:r>
              <a:rPr lang="en-US" altLang="ja-JP" sz="1100" b="1">
                <a:solidFill>
                  <a:schemeClr val="tx1"/>
                </a:solidFill>
              </a:rPr>
              <a:t>structure of WAV format</a:t>
            </a:r>
            <a:r>
              <a:rPr lang="ja-JP" altLang="en-US" sz="3200" b="1">
                <a:solidFill>
                  <a:srgbClr val="FF0000"/>
                </a:solidFill>
              </a:rPr>
              <a:t> </a:t>
            </a:r>
            <a:endParaRPr lang="en-US" sz="3200">
              <a:solidFill>
                <a:srgbClr val="FF0000"/>
              </a:solidFill>
            </a:endParaRPr>
          </a:p>
        </p:txBody>
      </p:sp>
      <p:pic>
        <p:nvPicPr>
          <p:cNvPr id="12" name="図 11"/>
          <p:cNvPicPr/>
          <p:nvPr/>
        </p:nvPicPr>
        <p:blipFill>
          <a:blip r:embed="rId5">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3" name="図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15" name="Rounded Rectangle 18">
            <a:extLst>
              <a:ext uri="{FF2B5EF4-FFF2-40B4-BE49-F238E27FC236}">
                <a16:creationId xmlns:a16="http://schemas.microsoft.com/office/drawing/2014/main" id="{EF2ECF96-2C47-1A4E-A5E8-C6BFA9208E55}"/>
              </a:ext>
            </a:extLst>
          </p:cNvPr>
          <p:cNvSpPr/>
          <p:nvPr/>
        </p:nvSpPr>
        <p:spPr>
          <a:xfrm>
            <a:off x="83126" y="1324241"/>
            <a:ext cx="5227428"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ltLang="ja-JP" sz="3600"/>
          </a:p>
          <a:p>
            <a:pPr algn="ctr"/>
            <a:r>
              <a:rPr lang="ja-JP" altLang="en-US" sz="3600" b="1">
                <a:solidFill>
                  <a:schemeClr val="tx1"/>
                </a:solidFill>
              </a:rPr>
              <a:t>サンプルプログラム</a:t>
            </a:r>
            <a:r>
              <a:rPr lang="en-US" altLang="ja-JP" sz="1200" b="1">
                <a:solidFill>
                  <a:schemeClr val="tx1"/>
                </a:solidFill>
              </a:rPr>
              <a:t>sample program</a:t>
            </a:r>
            <a:br>
              <a:rPr lang="ja-JP" altLang="en-US" sz="3600"/>
            </a:br>
            <a:endParaRPr lang="en-US" sz="3200">
              <a:solidFill>
                <a:srgbClr val="FF0000"/>
              </a:solidFill>
            </a:endParaRPr>
          </a:p>
        </p:txBody>
      </p:sp>
      <p:pic>
        <p:nvPicPr>
          <p:cNvPr id="9" name="図 8"/>
          <p:cNvPicPr>
            <a:picLocks noChangeAspect="1"/>
          </p:cNvPicPr>
          <p:nvPr/>
        </p:nvPicPr>
        <p:blipFill>
          <a:blip r:embed="rId7"/>
          <a:stretch>
            <a:fillRect/>
          </a:stretch>
        </p:blipFill>
        <p:spPr>
          <a:xfrm>
            <a:off x="2420027" y="2584939"/>
            <a:ext cx="9485991" cy="1608991"/>
          </a:xfrm>
          <a:prstGeom prst="rect">
            <a:avLst/>
          </a:prstGeom>
        </p:spPr>
      </p:pic>
    </p:spTree>
    <p:extLst>
      <p:ext uri="{BB962C8B-B14F-4D97-AF65-F5344CB8AC3E}">
        <p14:creationId xmlns:p14="http://schemas.microsoft.com/office/powerpoint/2010/main" val="110669699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315028" y="464955"/>
            <a:ext cx="5335105" cy="381684"/>
          </a:xfrm>
        </p:spPr>
        <p:txBody>
          <a:bodyPr/>
          <a:lstStyle/>
          <a:p>
            <a:r>
              <a:rPr lang="en-US" sz="2800" b="1"/>
              <a:t>                               9</a:t>
            </a:r>
          </a:p>
        </p:txBody>
      </p:sp>
      <p:sp>
        <p:nvSpPr>
          <p:cNvPr id="5" name="TextBox 4">
            <a:extLst>
              <a:ext uri="{FF2B5EF4-FFF2-40B4-BE49-F238E27FC236}">
                <a16:creationId xmlns:a16="http://schemas.microsoft.com/office/drawing/2014/main" id="{88691852-EBDF-5437-AAAB-F1BF4AA1F280}"/>
              </a:ext>
            </a:extLst>
          </p:cNvPr>
          <p:cNvSpPr txBox="1"/>
          <p:nvPr/>
        </p:nvSpPr>
        <p:spPr>
          <a:xfrm>
            <a:off x="-1" y="2024305"/>
            <a:ext cx="12192000" cy="4893647"/>
          </a:xfrm>
          <a:prstGeom prst="rect">
            <a:avLst/>
          </a:prstGeom>
          <a:noFill/>
        </p:spPr>
        <p:txBody>
          <a:bodyPr wrap="square" rtlCol="0">
            <a:spAutoFit/>
          </a:bodyPr>
          <a:lstStyle/>
          <a:p>
            <a:pPr lvl="0" algn="just"/>
            <a:r>
              <a:rPr lang="ja-JP" altLang="ja-JP" sz="4000"/>
              <a:t>展開</a:t>
            </a:r>
            <a:r>
              <a:rPr lang="ja-JP" altLang="en-US" sz="4000" b="0" i="0">
                <a:effectLst/>
                <a:latin typeface="Arial" panose="020B0604020202020204" pitchFamily="34" charset="0"/>
              </a:rPr>
              <a:t> </a:t>
            </a:r>
            <a:endParaRPr lang="en-US" sz="4000"/>
          </a:p>
          <a:p>
            <a:pPr marL="228600" indent="-228600" algn="just">
              <a:buAutoNum type="arabicPeriod" startAt="6"/>
            </a:pPr>
            <a:r>
              <a:rPr lang="en-US" sz="1200"/>
              <a:t>Deployment. </a:t>
            </a:r>
          </a:p>
          <a:p>
            <a:pPr marL="228600" indent="-228600" algn="just">
              <a:buAutoNum type="arabicPeriod" startAt="6"/>
            </a:pPr>
            <a:endParaRPr lang="en-US" sz="1200" b="1"/>
          </a:p>
          <a:p>
            <a:pPr algn="just"/>
            <a:endParaRPr lang="en-US" sz="1200" b="1"/>
          </a:p>
          <a:p>
            <a:pPr algn="just"/>
            <a:endParaRPr lang="en-US" sz="1200" b="1"/>
          </a:p>
          <a:p>
            <a:pPr algn="just"/>
            <a:endParaRPr lang="en-US" sz="1200" b="1"/>
          </a:p>
          <a:p>
            <a:pPr algn="just"/>
            <a:r>
              <a:rPr lang="en-US" altLang="ja-JP" sz="1200"/>
              <a:t> </a:t>
            </a:r>
            <a:r>
              <a:rPr lang="ja-JP" altLang="ja-JP" sz="3600"/>
              <a:t>コンパイル</a:t>
            </a:r>
            <a:endParaRPr lang="en-US" altLang="ja-JP" sz="3600" b="1"/>
          </a:p>
          <a:p>
            <a:pPr algn="just"/>
            <a:endParaRPr lang="en-US" sz="1200" b="1"/>
          </a:p>
          <a:p>
            <a:pPr algn="just"/>
            <a:r>
              <a:rPr lang="en-US" sz="1200" b="1"/>
              <a:t>7. </a:t>
            </a:r>
            <a:r>
              <a:rPr lang="en-US" sz="1200"/>
              <a:t>Compile                                              </a:t>
            </a:r>
          </a:p>
          <a:p>
            <a:pPr algn="just"/>
            <a:endParaRPr lang="en-US" sz="1200" b="1"/>
          </a:p>
          <a:p>
            <a:pPr algn="just"/>
            <a:endParaRPr lang="en-US" sz="1200" b="1"/>
          </a:p>
          <a:p>
            <a:pPr algn="just"/>
            <a:endParaRPr lang="en-US" sz="1200" b="1"/>
          </a:p>
          <a:p>
            <a:pPr algn="just"/>
            <a:endParaRPr lang="en-US" sz="1200" b="1"/>
          </a:p>
          <a:p>
            <a:pPr algn="just"/>
            <a:r>
              <a:rPr lang="en-US" altLang="ja-JP" sz="3600"/>
              <a:t>WAV</a:t>
            </a:r>
            <a:r>
              <a:rPr lang="ja-JP" altLang="ja-JP" sz="3600"/>
              <a:t>ファイル入出力ライブラリとサンプルアプリ３個です</a:t>
            </a:r>
            <a:endParaRPr lang="en-US" sz="3600" b="1"/>
          </a:p>
          <a:p>
            <a:pPr marL="228600" indent="-228600" algn="just">
              <a:buAutoNum type="arabicPeriod"/>
            </a:pPr>
            <a:endParaRPr lang="en-US" sz="1200" b="1"/>
          </a:p>
          <a:p>
            <a:pPr algn="just"/>
            <a:r>
              <a:rPr lang="en-US" sz="1200" b="1"/>
              <a:t> </a:t>
            </a:r>
            <a:r>
              <a:rPr lang="en-US" sz="1200" b="1">
                <a:sym typeface="Wingdings" panose="05000000000000000000" pitchFamily="2" charset="2"/>
              </a:rPr>
              <a:t> WAV file input / output library and 3 sample applications.</a:t>
            </a:r>
            <a:endParaRPr lang="en-US" sz="1200" b="1"/>
          </a:p>
          <a:p>
            <a:pPr algn="just"/>
            <a:endParaRPr lang="en-US" sz="1200" b="1"/>
          </a:p>
          <a:p>
            <a:pPr marL="228600" indent="-228600" algn="just">
              <a:buAutoNum type="arabicPeriod"/>
            </a:pPr>
            <a:endParaRPr lang="en-US" sz="1200" b="1"/>
          </a:p>
          <a:p>
            <a:endParaRPr lang="en-US" sz="2000"/>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EF2ECF96-2C47-1A4E-A5E8-C6BFA9208E55}"/>
              </a:ext>
            </a:extLst>
          </p:cNvPr>
          <p:cNvSpPr/>
          <p:nvPr/>
        </p:nvSpPr>
        <p:spPr>
          <a:xfrm>
            <a:off x="3317789" y="252943"/>
            <a:ext cx="6987746"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600" b="1">
                <a:solidFill>
                  <a:schemeClr val="tx1"/>
                </a:solidFill>
              </a:rPr>
              <a:t>WAV</a:t>
            </a:r>
            <a:r>
              <a:rPr lang="ja-JP" altLang="ja-JP" sz="3600" b="1">
                <a:solidFill>
                  <a:schemeClr val="tx1"/>
                </a:solidFill>
              </a:rPr>
              <a:t>形式の構成</a:t>
            </a:r>
            <a:r>
              <a:rPr lang="en-US" altLang="ja-JP" sz="1100" b="1">
                <a:solidFill>
                  <a:schemeClr val="tx1"/>
                </a:solidFill>
              </a:rPr>
              <a:t>structure of WAV format</a:t>
            </a:r>
            <a:r>
              <a:rPr lang="ja-JP" altLang="en-US" sz="3200" b="1">
                <a:solidFill>
                  <a:srgbClr val="FF0000"/>
                </a:solidFill>
              </a:rPr>
              <a:t> </a:t>
            </a:r>
            <a:endParaRPr lang="en-US" sz="3200">
              <a:solidFill>
                <a:srgbClr val="FF0000"/>
              </a:solidFill>
            </a:endParaRPr>
          </a:p>
        </p:txBody>
      </p:sp>
      <p:pic>
        <p:nvPicPr>
          <p:cNvPr id="12" name="図 11"/>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3" name="図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pic>
        <p:nvPicPr>
          <p:cNvPr id="2" name="図 1"/>
          <p:cNvPicPr>
            <a:picLocks noChangeAspect="1"/>
          </p:cNvPicPr>
          <p:nvPr/>
        </p:nvPicPr>
        <p:blipFill>
          <a:blip r:embed="rId5"/>
          <a:stretch>
            <a:fillRect/>
          </a:stretch>
        </p:blipFill>
        <p:spPr>
          <a:xfrm>
            <a:off x="1584873" y="1415562"/>
            <a:ext cx="10200738" cy="1873693"/>
          </a:xfrm>
          <a:prstGeom prst="rect">
            <a:avLst/>
          </a:prstGeom>
        </p:spPr>
      </p:pic>
      <p:pic>
        <p:nvPicPr>
          <p:cNvPr id="8" name="図 7"/>
          <p:cNvPicPr>
            <a:picLocks noChangeAspect="1"/>
          </p:cNvPicPr>
          <p:nvPr/>
        </p:nvPicPr>
        <p:blipFill>
          <a:blip r:embed="rId6"/>
          <a:stretch>
            <a:fillRect/>
          </a:stretch>
        </p:blipFill>
        <p:spPr>
          <a:xfrm>
            <a:off x="2113319" y="3218148"/>
            <a:ext cx="7532555" cy="2233246"/>
          </a:xfrm>
          <a:prstGeom prst="rect">
            <a:avLst/>
          </a:prstGeom>
        </p:spPr>
      </p:pic>
    </p:spTree>
    <p:extLst>
      <p:ext uri="{BB962C8B-B14F-4D97-AF65-F5344CB8AC3E}">
        <p14:creationId xmlns:p14="http://schemas.microsoft.com/office/powerpoint/2010/main" val="68025379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315028" y="464955"/>
            <a:ext cx="5335105" cy="381684"/>
          </a:xfrm>
        </p:spPr>
        <p:txBody>
          <a:bodyPr/>
          <a:lstStyle/>
          <a:p>
            <a:r>
              <a:rPr lang="en-US" sz="2800" b="1"/>
              <a:t>                               10</a:t>
            </a:r>
          </a:p>
        </p:txBody>
      </p:sp>
      <p:sp>
        <p:nvSpPr>
          <p:cNvPr id="5" name="TextBox 4">
            <a:extLst>
              <a:ext uri="{FF2B5EF4-FFF2-40B4-BE49-F238E27FC236}">
                <a16:creationId xmlns:a16="http://schemas.microsoft.com/office/drawing/2014/main" id="{88691852-EBDF-5437-AAAB-F1BF4AA1F280}"/>
              </a:ext>
            </a:extLst>
          </p:cNvPr>
          <p:cNvSpPr txBox="1"/>
          <p:nvPr/>
        </p:nvSpPr>
        <p:spPr>
          <a:xfrm>
            <a:off x="-1" y="2024305"/>
            <a:ext cx="12192000" cy="3754874"/>
          </a:xfrm>
          <a:prstGeom prst="rect">
            <a:avLst/>
          </a:prstGeom>
          <a:noFill/>
        </p:spPr>
        <p:txBody>
          <a:bodyPr wrap="square" rtlCol="0">
            <a:spAutoFit/>
          </a:bodyPr>
          <a:lstStyle/>
          <a:p>
            <a:pPr lvl="0" algn="just"/>
            <a:r>
              <a:rPr lang="ja-JP" altLang="ja-JP" sz="3600"/>
              <a:t>動作テスト</a:t>
            </a:r>
            <a:r>
              <a:rPr lang="ja-JP" altLang="en-US" sz="3600" b="0" i="0">
                <a:effectLst/>
                <a:latin typeface="Arial" panose="020B0604020202020204" pitchFamily="34" charset="0"/>
              </a:rPr>
              <a:t> </a:t>
            </a:r>
            <a:endParaRPr lang="en-US" sz="3600"/>
          </a:p>
          <a:p>
            <a:pPr algn="just"/>
            <a:r>
              <a:rPr lang="en-US" sz="1200"/>
              <a:t>Operation Test. </a:t>
            </a:r>
          </a:p>
          <a:p>
            <a:pPr algn="just"/>
            <a:endParaRPr lang="en-US" sz="1200" b="1"/>
          </a:p>
          <a:p>
            <a:r>
              <a:rPr lang="ja-JP" altLang="ja-JP" sz="3200"/>
              <a:t>アプリの実行に失敗した場合，まずは環境設定を見直そう</a:t>
            </a:r>
            <a:r>
              <a:rPr lang="ja-JP" altLang="ja-JP"/>
              <a:t>．</a:t>
            </a:r>
          </a:p>
          <a:p>
            <a:pPr algn="just"/>
            <a:endParaRPr lang="en-US" sz="1200" b="1"/>
          </a:p>
          <a:p>
            <a:pPr algn="just"/>
            <a:r>
              <a:rPr lang="en-US" sz="1200"/>
              <a:t>If the app fails to run, first check the environment settings.</a:t>
            </a:r>
          </a:p>
          <a:p>
            <a:pPr algn="just"/>
            <a:endParaRPr lang="en-US" sz="1200"/>
          </a:p>
          <a:p>
            <a:pPr algn="just"/>
            <a:r>
              <a:rPr lang="en-US" sz="1200"/>
              <a:t>                                              </a:t>
            </a:r>
          </a:p>
          <a:p>
            <a:pPr algn="just"/>
            <a:endParaRPr lang="en-US" sz="1200" b="1"/>
          </a:p>
          <a:p>
            <a:pPr marL="228600" indent="-228600" algn="just">
              <a:buAutoNum type="arabicPeriod"/>
            </a:pPr>
            <a:endParaRPr lang="en-US" sz="1200" b="1"/>
          </a:p>
          <a:p>
            <a:pPr marL="228600" indent="-228600" algn="just">
              <a:buAutoNum type="arabicPeriod"/>
            </a:pPr>
            <a:endParaRPr lang="en-US" sz="1200" b="1"/>
          </a:p>
          <a:p>
            <a:pPr algn="just"/>
            <a:endParaRPr lang="en-US" sz="1200" b="1"/>
          </a:p>
          <a:p>
            <a:pPr marL="228600" indent="-228600" algn="just">
              <a:buAutoNum type="arabicPeriod"/>
            </a:pPr>
            <a:endParaRPr lang="en-US" sz="1200" b="1"/>
          </a:p>
          <a:p>
            <a:r>
              <a:rPr lang="ja-JP" altLang="ja-JP" sz="2400"/>
              <a:t>「図形処理」で設定したハズ</a:t>
            </a:r>
            <a:endParaRPr lang="en-US" altLang="ja-JP" sz="2400"/>
          </a:p>
          <a:p>
            <a:r>
              <a:rPr lang="en-US" sz="1200"/>
              <a:t>It should have been set in graphic processing</a:t>
            </a: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EF2ECF96-2C47-1A4E-A5E8-C6BFA9208E55}"/>
              </a:ext>
            </a:extLst>
          </p:cNvPr>
          <p:cNvSpPr/>
          <p:nvPr/>
        </p:nvSpPr>
        <p:spPr>
          <a:xfrm>
            <a:off x="3317789" y="252943"/>
            <a:ext cx="6987746"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600" b="1">
                <a:solidFill>
                  <a:schemeClr val="tx1"/>
                </a:solidFill>
              </a:rPr>
              <a:t>WAV</a:t>
            </a:r>
            <a:r>
              <a:rPr lang="ja-JP" altLang="ja-JP" sz="3600" b="1">
                <a:solidFill>
                  <a:schemeClr val="tx1"/>
                </a:solidFill>
              </a:rPr>
              <a:t>形式の構成</a:t>
            </a:r>
            <a:r>
              <a:rPr lang="en-US" altLang="ja-JP" sz="1100" b="1">
                <a:solidFill>
                  <a:schemeClr val="tx1"/>
                </a:solidFill>
              </a:rPr>
              <a:t>structure of WAV format</a:t>
            </a:r>
            <a:r>
              <a:rPr lang="ja-JP" altLang="en-US" sz="3200" b="1">
                <a:solidFill>
                  <a:srgbClr val="FF0000"/>
                </a:solidFill>
              </a:rPr>
              <a:t> </a:t>
            </a:r>
            <a:endParaRPr lang="en-US" sz="3200">
              <a:solidFill>
                <a:srgbClr val="FF0000"/>
              </a:solidFill>
            </a:endParaRPr>
          </a:p>
        </p:txBody>
      </p:sp>
      <p:pic>
        <p:nvPicPr>
          <p:cNvPr id="12" name="図 11"/>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3" name="図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pic>
        <p:nvPicPr>
          <p:cNvPr id="7" name="図 6"/>
          <p:cNvPicPr>
            <a:picLocks noChangeAspect="1"/>
          </p:cNvPicPr>
          <p:nvPr/>
        </p:nvPicPr>
        <p:blipFill>
          <a:blip r:embed="rId5"/>
          <a:stretch>
            <a:fillRect/>
          </a:stretch>
        </p:blipFill>
        <p:spPr>
          <a:xfrm>
            <a:off x="1110815" y="1885569"/>
            <a:ext cx="11243431" cy="796990"/>
          </a:xfrm>
          <a:prstGeom prst="rect">
            <a:avLst/>
          </a:prstGeom>
        </p:spPr>
      </p:pic>
      <p:pic>
        <p:nvPicPr>
          <p:cNvPr id="9" name="図 8"/>
          <p:cNvPicPr>
            <a:picLocks noChangeAspect="1"/>
          </p:cNvPicPr>
          <p:nvPr/>
        </p:nvPicPr>
        <p:blipFill>
          <a:blip r:embed="rId6"/>
          <a:stretch>
            <a:fillRect/>
          </a:stretch>
        </p:blipFill>
        <p:spPr>
          <a:xfrm>
            <a:off x="3317789" y="3592524"/>
            <a:ext cx="7851936" cy="1883993"/>
          </a:xfrm>
          <a:prstGeom prst="rect">
            <a:avLst/>
          </a:prstGeom>
        </p:spPr>
      </p:pic>
    </p:spTree>
    <p:extLst>
      <p:ext uri="{BB962C8B-B14F-4D97-AF65-F5344CB8AC3E}">
        <p14:creationId xmlns:p14="http://schemas.microsoft.com/office/powerpoint/2010/main" val="384088694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315028" y="464955"/>
            <a:ext cx="5335105" cy="381684"/>
          </a:xfrm>
        </p:spPr>
        <p:txBody>
          <a:bodyPr/>
          <a:lstStyle/>
          <a:p>
            <a:r>
              <a:rPr lang="en-US" sz="2800" b="1"/>
              <a:t>                               11</a:t>
            </a:r>
          </a:p>
        </p:txBody>
      </p:sp>
      <p:sp>
        <p:nvSpPr>
          <p:cNvPr id="5" name="TextBox 4">
            <a:extLst>
              <a:ext uri="{FF2B5EF4-FFF2-40B4-BE49-F238E27FC236}">
                <a16:creationId xmlns:a16="http://schemas.microsoft.com/office/drawing/2014/main" id="{88691852-EBDF-5437-AAAB-F1BF4AA1F280}"/>
              </a:ext>
            </a:extLst>
          </p:cNvPr>
          <p:cNvSpPr txBox="1"/>
          <p:nvPr/>
        </p:nvSpPr>
        <p:spPr>
          <a:xfrm>
            <a:off x="-1" y="2024305"/>
            <a:ext cx="12192000" cy="4647426"/>
          </a:xfrm>
          <a:prstGeom prst="rect">
            <a:avLst/>
          </a:prstGeom>
          <a:noFill/>
        </p:spPr>
        <p:txBody>
          <a:bodyPr wrap="square" rtlCol="0">
            <a:spAutoFit/>
          </a:bodyPr>
          <a:lstStyle/>
          <a:p>
            <a:pPr lvl="0" algn="just"/>
            <a:r>
              <a:rPr lang="ja-JP" altLang="ja-JP" sz="3600"/>
              <a:t>ドキュメントとコードを確認し，さらにテストしよう</a:t>
            </a:r>
            <a:r>
              <a:rPr lang="ja-JP" altLang="en-US" sz="3600" b="0" i="0">
                <a:effectLst/>
                <a:latin typeface="Arial" panose="020B0604020202020204" pitchFamily="34" charset="0"/>
              </a:rPr>
              <a:t> </a:t>
            </a:r>
            <a:endParaRPr lang="en-US" sz="3600"/>
          </a:p>
          <a:p>
            <a:pPr algn="just"/>
            <a:r>
              <a:rPr lang="en-US" sz="1200"/>
              <a:t>Check documentation and code and test it further. </a:t>
            </a:r>
          </a:p>
          <a:p>
            <a:pPr algn="just"/>
            <a:endParaRPr lang="en-US" sz="1200"/>
          </a:p>
          <a:p>
            <a:pPr algn="just"/>
            <a:endParaRPr lang="en-US" sz="1200"/>
          </a:p>
          <a:p>
            <a:pPr algn="just"/>
            <a:endParaRPr lang="en-US" sz="1200"/>
          </a:p>
          <a:p>
            <a:pPr algn="just"/>
            <a:endParaRPr lang="en-US" sz="1200"/>
          </a:p>
          <a:p>
            <a:pPr algn="just"/>
            <a:endParaRPr lang="en-US" sz="1200" b="1"/>
          </a:p>
          <a:p>
            <a:pPr algn="just"/>
            <a:endParaRPr lang="en-US" sz="1200" b="1"/>
          </a:p>
          <a:p>
            <a:pPr algn="just"/>
            <a:endParaRPr lang="en-US" sz="1200" b="1"/>
          </a:p>
          <a:p>
            <a:pPr algn="just"/>
            <a:endParaRPr lang="en-US" sz="1200" b="1"/>
          </a:p>
          <a:p>
            <a:pPr algn="just"/>
            <a:endParaRPr lang="en-US" sz="1200" b="1"/>
          </a:p>
          <a:p>
            <a:pPr algn="just"/>
            <a:endParaRPr lang="en-US" sz="1200" b="1"/>
          </a:p>
          <a:p>
            <a:pPr algn="just"/>
            <a:endParaRPr lang="en-US" sz="1200" b="1"/>
          </a:p>
          <a:p>
            <a:r>
              <a:rPr lang="en-US" altLang="ja-JP" sz="2800"/>
              <a:t>view </a:t>
            </a:r>
            <a:r>
              <a:rPr lang="ja-JP" altLang="ja-JP" sz="2800"/>
              <a:t>は（多分）</a:t>
            </a:r>
            <a:r>
              <a:rPr lang="en-US" altLang="ja-JP" sz="2800"/>
              <a:t>Vim </a:t>
            </a:r>
            <a:r>
              <a:rPr lang="ja-JP" altLang="ja-JP" sz="2800"/>
              <a:t>エディタの表示専用モードです． つまり，</a:t>
            </a:r>
            <a:r>
              <a:rPr lang="en-US" altLang="ja-JP" sz="2800"/>
              <a:t>vim </a:t>
            </a:r>
            <a:r>
              <a:rPr lang="ja-JP" altLang="ja-JP" sz="2800"/>
              <a:t>とか他のエディタで開いても</a:t>
            </a:r>
            <a:r>
              <a:rPr lang="en-US" altLang="ja-JP" sz="2800"/>
              <a:t>OK</a:t>
            </a:r>
            <a:r>
              <a:rPr lang="ja-JP" altLang="ja-JP" sz="2800"/>
              <a:t>ですが， 不用意に内容を書き換えないように注意．</a:t>
            </a:r>
          </a:p>
          <a:p>
            <a:pPr algn="just"/>
            <a:endParaRPr lang="en-US" sz="1200" b="1"/>
          </a:p>
          <a:p>
            <a:pPr algn="just"/>
            <a:r>
              <a:rPr lang="en-US" sz="1200"/>
              <a:t>View is the Vim editor’s display-only mode. In other words, you can open it with vim or another editor, but be careful not to change the contents carelessly. </a:t>
            </a:r>
          </a:p>
          <a:p>
            <a:pPr algn="just"/>
            <a:endParaRPr lang="en-US" sz="1200"/>
          </a:p>
          <a:p>
            <a:pPr algn="just"/>
            <a:r>
              <a:rPr lang="en-US" sz="1200"/>
              <a:t>                                              </a:t>
            </a:r>
            <a:endParaRPr lang="en-US" sz="1200" b="1"/>
          </a:p>
          <a:p>
            <a:pPr algn="just"/>
            <a:endParaRPr lang="en-US" sz="1200" b="1"/>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EF2ECF96-2C47-1A4E-A5E8-C6BFA9208E55}"/>
              </a:ext>
            </a:extLst>
          </p:cNvPr>
          <p:cNvSpPr/>
          <p:nvPr/>
        </p:nvSpPr>
        <p:spPr>
          <a:xfrm>
            <a:off x="3317789" y="252943"/>
            <a:ext cx="6987746"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600" b="1">
                <a:solidFill>
                  <a:schemeClr val="tx1"/>
                </a:solidFill>
              </a:rPr>
              <a:t>WAV</a:t>
            </a:r>
            <a:r>
              <a:rPr lang="ja-JP" altLang="ja-JP" sz="3600" b="1">
                <a:solidFill>
                  <a:schemeClr val="tx1"/>
                </a:solidFill>
              </a:rPr>
              <a:t>形式の構成</a:t>
            </a:r>
            <a:r>
              <a:rPr lang="en-US" altLang="ja-JP" sz="1100" b="1">
                <a:solidFill>
                  <a:schemeClr val="tx1"/>
                </a:solidFill>
              </a:rPr>
              <a:t>structure of WAV format</a:t>
            </a:r>
            <a:r>
              <a:rPr lang="ja-JP" altLang="en-US" sz="3200" b="1">
                <a:solidFill>
                  <a:srgbClr val="FF0000"/>
                </a:solidFill>
              </a:rPr>
              <a:t> </a:t>
            </a:r>
            <a:endParaRPr lang="en-US" sz="3200">
              <a:solidFill>
                <a:srgbClr val="FF0000"/>
              </a:solidFill>
            </a:endParaRPr>
          </a:p>
        </p:txBody>
      </p:sp>
      <p:pic>
        <p:nvPicPr>
          <p:cNvPr id="12" name="図 11"/>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3" name="図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pic>
        <p:nvPicPr>
          <p:cNvPr id="2" name="図 1"/>
          <p:cNvPicPr>
            <a:picLocks noChangeAspect="1"/>
          </p:cNvPicPr>
          <p:nvPr/>
        </p:nvPicPr>
        <p:blipFill>
          <a:blip r:embed="rId5"/>
          <a:stretch>
            <a:fillRect/>
          </a:stretch>
        </p:blipFill>
        <p:spPr>
          <a:xfrm>
            <a:off x="3317789" y="2558412"/>
            <a:ext cx="4674349" cy="2177384"/>
          </a:xfrm>
          <a:prstGeom prst="rect">
            <a:avLst/>
          </a:prstGeom>
        </p:spPr>
      </p:pic>
    </p:spTree>
    <p:extLst>
      <p:ext uri="{BB962C8B-B14F-4D97-AF65-F5344CB8AC3E}">
        <p14:creationId xmlns:p14="http://schemas.microsoft.com/office/powerpoint/2010/main" val="293052397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315028" y="464955"/>
            <a:ext cx="5335105" cy="381684"/>
          </a:xfrm>
        </p:spPr>
        <p:txBody>
          <a:bodyPr/>
          <a:lstStyle/>
          <a:p>
            <a:r>
              <a:rPr lang="en-US" sz="2800" b="1"/>
              <a:t>                               12</a:t>
            </a:r>
          </a:p>
        </p:txBody>
      </p:sp>
      <p:sp>
        <p:nvSpPr>
          <p:cNvPr id="5" name="TextBox 4">
            <a:extLst>
              <a:ext uri="{FF2B5EF4-FFF2-40B4-BE49-F238E27FC236}">
                <a16:creationId xmlns:a16="http://schemas.microsoft.com/office/drawing/2014/main" id="{88691852-EBDF-5437-AAAB-F1BF4AA1F280}"/>
              </a:ext>
            </a:extLst>
          </p:cNvPr>
          <p:cNvSpPr txBox="1"/>
          <p:nvPr/>
        </p:nvSpPr>
        <p:spPr>
          <a:xfrm>
            <a:off x="-1" y="2024305"/>
            <a:ext cx="12192000" cy="3539430"/>
          </a:xfrm>
          <a:prstGeom prst="rect">
            <a:avLst/>
          </a:prstGeom>
          <a:noFill/>
        </p:spPr>
        <p:txBody>
          <a:bodyPr wrap="square" rtlCol="0">
            <a:spAutoFit/>
          </a:bodyPr>
          <a:lstStyle/>
          <a:p>
            <a:pPr algn="just"/>
            <a:r>
              <a:rPr lang="ja-JP" altLang="ja-JP" sz="3600"/>
              <a:t>Ｃ言語によってバイナリデータを効率的に処理するには， 標準ライブラリ関数</a:t>
            </a:r>
            <a:r>
              <a:rPr lang="en-US" altLang="ja-JP" sz="3600"/>
              <a:t> </a:t>
            </a:r>
            <a:r>
              <a:rPr lang="en-US" altLang="ja-JP" sz="3600" err="1"/>
              <a:t>fread</a:t>
            </a:r>
            <a:r>
              <a:rPr lang="en-US" altLang="ja-JP" sz="3600"/>
              <a:t>()</a:t>
            </a:r>
            <a:r>
              <a:rPr lang="ja-JP" altLang="ja-JP" sz="3600" err="1"/>
              <a:t>，</a:t>
            </a:r>
            <a:r>
              <a:rPr lang="en-US" altLang="ja-JP" sz="3600" err="1"/>
              <a:t>fwrite</a:t>
            </a:r>
            <a:r>
              <a:rPr lang="en-US" altLang="ja-JP" sz="3600"/>
              <a:t>() </a:t>
            </a:r>
            <a:r>
              <a:rPr lang="ja-JP" altLang="ja-JP" sz="3600"/>
              <a:t>と</a:t>
            </a:r>
            <a:r>
              <a:rPr lang="en-US" altLang="ja-JP" sz="3600"/>
              <a:t> </a:t>
            </a:r>
            <a:r>
              <a:rPr lang="en-US" altLang="ja-JP" sz="3600" err="1"/>
              <a:t>memcpy</a:t>
            </a:r>
            <a:r>
              <a:rPr lang="en-US" altLang="ja-JP" sz="3600"/>
              <a:t>() </a:t>
            </a:r>
            <a:r>
              <a:rPr lang="ja-JP" altLang="ja-JP" sz="3600"/>
              <a:t>の利用が鍵となります．</a:t>
            </a:r>
            <a:endParaRPr lang="en-US" sz="3600"/>
          </a:p>
          <a:p>
            <a:pPr algn="just"/>
            <a:r>
              <a:rPr lang="en-US" sz="1200"/>
              <a:t>The key to efficiently processing binary data using C language is to use standard library functions </a:t>
            </a:r>
            <a:r>
              <a:rPr lang="en-US" sz="1200" err="1"/>
              <a:t>fread</a:t>
            </a:r>
            <a:r>
              <a:rPr lang="en-US" sz="1200"/>
              <a:t>(), </a:t>
            </a:r>
            <a:r>
              <a:rPr lang="en-US" sz="1200" err="1"/>
              <a:t>fwrite</a:t>
            </a:r>
            <a:r>
              <a:rPr lang="en-US" sz="1200"/>
              <a:t>() and </a:t>
            </a:r>
            <a:r>
              <a:rPr lang="en-US" sz="1200" err="1"/>
              <a:t>memcpy</a:t>
            </a:r>
            <a:r>
              <a:rPr lang="en-US" sz="1200"/>
              <a:t>(). </a:t>
            </a:r>
          </a:p>
          <a:p>
            <a:pPr algn="just"/>
            <a:endParaRPr lang="en-US" sz="1200"/>
          </a:p>
          <a:p>
            <a:pPr algn="just"/>
            <a:endParaRPr lang="en-US" sz="4000"/>
          </a:p>
          <a:p>
            <a:r>
              <a:rPr lang="en-US" altLang="ja-JP" sz="4000" err="1"/>
              <a:t>fread</a:t>
            </a:r>
            <a:r>
              <a:rPr lang="en-US" altLang="ja-JP" sz="4000"/>
              <a:t>()</a:t>
            </a:r>
            <a:r>
              <a:rPr lang="ja-JP" altLang="ja-JP" sz="4000"/>
              <a:t>： ファイルからメモリ領域へバイナリデータを入力</a:t>
            </a:r>
          </a:p>
          <a:p>
            <a:pPr algn="just"/>
            <a:r>
              <a:rPr lang="en-US" sz="1200" err="1"/>
              <a:t>fread</a:t>
            </a:r>
            <a:r>
              <a:rPr lang="en-US" sz="1200"/>
              <a:t>() : input binary data from memory area to file</a:t>
            </a: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EF2ECF96-2C47-1A4E-A5E8-C6BFA9208E55}"/>
              </a:ext>
            </a:extLst>
          </p:cNvPr>
          <p:cNvSpPr/>
          <p:nvPr/>
        </p:nvSpPr>
        <p:spPr>
          <a:xfrm>
            <a:off x="3317789" y="252943"/>
            <a:ext cx="6987746"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600" b="1">
                <a:solidFill>
                  <a:schemeClr val="tx1"/>
                </a:solidFill>
              </a:rPr>
              <a:t>WAV</a:t>
            </a:r>
            <a:r>
              <a:rPr lang="ja-JP" altLang="ja-JP" sz="3600" b="1">
                <a:solidFill>
                  <a:schemeClr val="tx1"/>
                </a:solidFill>
              </a:rPr>
              <a:t>形式の構成</a:t>
            </a:r>
            <a:r>
              <a:rPr lang="en-US" altLang="ja-JP" sz="1100" b="1">
                <a:solidFill>
                  <a:schemeClr val="tx1"/>
                </a:solidFill>
              </a:rPr>
              <a:t>structure of WAV format</a:t>
            </a:r>
            <a:r>
              <a:rPr lang="ja-JP" altLang="en-US" sz="3200" b="1">
                <a:solidFill>
                  <a:srgbClr val="FF0000"/>
                </a:solidFill>
              </a:rPr>
              <a:t> </a:t>
            </a:r>
            <a:endParaRPr lang="en-US" sz="3200">
              <a:solidFill>
                <a:srgbClr val="FF0000"/>
              </a:solidFill>
            </a:endParaRPr>
          </a:p>
        </p:txBody>
      </p:sp>
      <p:pic>
        <p:nvPicPr>
          <p:cNvPr id="12" name="図 11"/>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3" name="図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Tree>
    <p:extLst>
      <p:ext uri="{BB962C8B-B14F-4D97-AF65-F5344CB8AC3E}">
        <p14:creationId xmlns:p14="http://schemas.microsoft.com/office/powerpoint/2010/main" val="131358277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315028" y="464955"/>
            <a:ext cx="5335105" cy="381684"/>
          </a:xfrm>
        </p:spPr>
        <p:txBody>
          <a:bodyPr/>
          <a:lstStyle/>
          <a:p>
            <a:r>
              <a:rPr lang="en-US" sz="2800" b="1"/>
              <a:t>                               13</a:t>
            </a:r>
          </a:p>
        </p:txBody>
      </p:sp>
      <p:sp>
        <p:nvSpPr>
          <p:cNvPr id="5" name="TextBox 4">
            <a:extLst>
              <a:ext uri="{FF2B5EF4-FFF2-40B4-BE49-F238E27FC236}">
                <a16:creationId xmlns:a16="http://schemas.microsoft.com/office/drawing/2014/main" id="{88691852-EBDF-5437-AAAB-F1BF4AA1F280}"/>
              </a:ext>
            </a:extLst>
          </p:cNvPr>
          <p:cNvSpPr txBox="1"/>
          <p:nvPr/>
        </p:nvSpPr>
        <p:spPr>
          <a:xfrm>
            <a:off x="-1" y="2024305"/>
            <a:ext cx="12192000" cy="4278094"/>
          </a:xfrm>
          <a:prstGeom prst="rect">
            <a:avLst/>
          </a:prstGeom>
          <a:noFill/>
        </p:spPr>
        <p:txBody>
          <a:bodyPr wrap="square" rtlCol="0">
            <a:spAutoFit/>
          </a:bodyPr>
          <a:lstStyle/>
          <a:p>
            <a:r>
              <a:rPr lang="en-US" altLang="ja-JP" sz="3600" err="1"/>
              <a:t>fwrite</a:t>
            </a:r>
            <a:r>
              <a:rPr lang="en-US" altLang="ja-JP" sz="3600"/>
              <a:t>()</a:t>
            </a:r>
            <a:r>
              <a:rPr lang="ja-JP" altLang="ja-JP" sz="3600"/>
              <a:t>： メモリ領域からファイルへバイナリデータを出力</a:t>
            </a:r>
          </a:p>
          <a:p>
            <a:pPr algn="just"/>
            <a:endParaRPr lang="en-US" sz="1200" b="1"/>
          </a:p>
          <a:p>
            <a:pPr algn="just"/>
            <a:r>
              <a:rPr lang="en-US" sz="1200" err="1"/>
              <a:t>fwrite</a:t>
            </a:r>
            <a:r>
              <a:rPr lang="en-US" sz="1200"/>
              <a:t>() : Output binary data from memory area to file</a:t>
            </a:r>
            <a:endParaRPr lang="en-US" sz="3600">
              <a:latin typeface="+mn-ea"/>
              <a:ea typeface="+mn-ea"/>
            </a:endParaRPr>
          </a:p>
          <a:p>
            <a:pPr lvl="0" algn="just"/>
            <a:r>
              <a:rPr lang="en-US" altLang="ja-JP" sz="3600" err="1">
                <a:solidFill>
                  <a:srgbClr val="000000"/>
                </a:solidFill>
                <a:latin typeface="+mn-ea"/>
                <a:ea typeface="+mn-ea"/>
                <a:cs typeface="ＭＳ ゴシック" panose="020B0609070205080204" pitchFamily="49" charset="-128"/>
              </a:rPr>
              <a:t>memcpy</a:t>
            </a:r>
            <a:r>
              <a:rPr lang="en-US" altLang="ja-JP" sz="3600">
                <a:solidFill>
                  <a:srgbClr val="000000"/>
                </a:solidFill>
                <a:latin typeface="+mn-ea"/>
                <a:ea typeface="+mn-ea"/>
                <a:cs typeface="ＭＳ ゴシック" panose="020B0609070205080204" pitchFamily="49" charset="-128"/>
              </a:rPr>
              <a:t>()</a:t>
            </a:r>
            <a:r>
              <a:rPr lang="ja-JP" altLang="en-US" sz="3600">
                <a:solidFill>
                  <a:srgbClr val="000000"/>
                </a:solidFill>
                <a:latin typeface="+mn-ea"/>
                <a:ea typeface="+mn-ea"/>
                <a:cs typeface="Arial" panose="020B0604020202020204" pitchFamily="34" charset="0"/>
              </a:rPr>
              <a:t>： メモリ領域から別のメモリ領域へバイナリデータをコピーする</a:t>
            </a:r>
            <a:r>
              <a:rPr lang="ja-JP" altLang="en-US" sz="3600">
                <a:latin typeface="+mn-ea"/>
                <a:ea typeface="+mn-ea"/>
              </a:rPr>
              <a:t> </a:t>
            </a:r>
            <a:endParaRPr lang="en-US" sz="1200"/>
          </a:p>
          <a:p>
            <a:pPr algn="just"/>
            <a:r>
              <a:rPr lang="en-US" altLang="ja-JP" sz="1200" err="1"/>
              <a:t>memcpy</a:t>
            </a:r>
            <a:r>
              <a:rPr lang="en-US" altLang="ja-JP" sz="1200"/>
              <a:t>() : Copy binary data from one memory area to another.</a:t>
            </a:r>
          </a:p>
          <a:p>
            <a:pPr algn="just"/>
            <a:endParaRPr lang="en-US" altLang="ja-JP" sz="1200"/>
          </a:p>
          <a:p>
            <a:pPr algn="just"/>
            <a:endParaRPr lang="en-US" altLang="ja-JP" sz="1200"/>
          </a:p>
          <a:p>
            <a:pPr algn="just"/>
            <a:endParaRPr lang="en-US" altLang="ja-JP" sz="1200"/>
          </a:p>
          <a:p>
            <a:pPr algn="just"/>
            <a:r>
              <a:rPr lang="ja-JP" altLang="ja-JP" sz="2800"/>
              <a:t>今後の課題に備え，マニュアル等を調べておこう． ライブラリのソース</a:t>
            </a:r>
            <a:r>
              <a:rPr lang="en-US" altLang="ja-JP" sz="2800"/>
              <a:t> </a:t>
            </a:r>
            <a:r>
              <a:rPr lang="en-US" altLang="ja-JP" sz="2800" err="1"/>
              <a:t>pcm.c</a:t>
            </a:r>
            <a:r>
              <a:rPr lang="en-US" altLang="ja-JP" sz="2800"/>
              <a:t> </a:t>
            </a:r>
            <a:r>
              <a:rPr lang="ja-JP" altLang="ja-JP" sz="2800"/>
              <a:t>内でも使用しています</a:t>
            </a:r>
            <a:endParaRPr lang="en-US" altLang="ja-JP" sz="2800"/>
          </a:p>
          <a:p>
            <a:pPr algn="just"/>
            <a:r>
              <a:rPr lang="en-US" sz="1200"/>
              <a:t>In preparations for future issues, lets look into manuals etc. It is also used in the library source </a:t>
            </a:r>
            <a:r>
              <a:rPr lang="en-US" sz="1200" err="1"/>
              <a:t>pcm.c</a:t>
            </a:r>
            <a:endParaRPr lang="en-US" sz="1200"/>
          </a:p>
          <a:p>
            <a:pPr algn="just"/>
            <a:r>
              <a:rPr lang="en-US" sz="1200"/>
              <a:t>                                              </a:t>
            </a:r>
            <a:endParaRPr lang="en-US" sz="1200" b="1"/>
          </a:p>
          <a:p>
            <a:pPr algn="just"/>
            <a:endParaRPr lang="en-US" sz="1200" b="1"/>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EF2ECF96-2C47-1A4E-A5E8-C6BFA9208E55}"/>
              </a:ext>
            </a:extLst>
          </p:cNvPr>
          <p:cNvSpPr/>
          <p:nvPr/>
        </p:nvSpPr>
        <p:spPr>
          <a:xfrm>
            <a:off x="3317789" y="252943"/>
            <a:ext cx="6987746"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600" b="1">
                <a:solidFill>
                  <a:schemeClr val="tx1"/>
                </a:solidFill>
              </a:rPr>
              <a:t>WAV</a:t>
            </a:r>
            <a:r>
              <a:rPr lang="ja-JP" altLang="ja-JP" sz="3600" b="1">
                <a:solidFill>
                  <a:schemeClr val="tx1"/>
                </a:solidFill>
              </a:rPr>
              <a:t>形式の構成</a:t>
            </a:r>
            <a:r>
              <a:rPr lang="en-US" altLang="ja-JP" sz="1100" b="1">
                <a:solidFill>
                  <a:schemeClr val="tx1"/>
                </a:solidFill>
              </a:rPr>
              <a:t>structure of WAV format</a:t>
            </a:r>
            <a:r>
              <a:rPr lang="ja-JP" altLang="en-US" sz="3200" b="1">
                <a:solidFill>
                  <a:srgbClr val="FF0000"/>
                </a:solidFill>
              </a:rPr>
              <a:t> </a:t>
            </a:r>
            <a:endParaRPr lang="en-US" sz="3200">
              <a:solidFill>
                <a:srgbClr val="FF0000"/>
              </a:solidFill>
            </a:endParaRPr>
          </a:p>
        </p:txBody>
      </p:sp>
      <p:pic>
        <p:nvPicPr>
          <p:cNvPr id="12" name="図 11"/>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3" name="図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Tree>
    <p:extLst>
      <p:ext uri="{BB962C8B-B14F-4D97-AF65-F5344CB8AC3E}">
        <p14:creationId xmlns:p14="http://schemas.microsoft.com/office/powerpoint/2010/main" val="162313042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315028" y="464955"/>
            <a:ext cx="5335105" cy="381684"/>
          </a:xfrm>
        </p:spPr>
        <p:txBody>
          <a:bodyPr/>
          <a:lstStyle/>
          <a:p>
            <a:r>
              <a:rPr lang="en-US" sz="2800" b="1"/>
              <a:t>                               14</a:t>
            </a:r>
          </a:p>
        </p:txBody>
      </p:sp>
      <p:sp>
        <p:nvSpPr>
          <p:cNvPr id="5" name="TextBox 4">
            <a:extLst>
              <a:ext uri="{FF2B5EF4-FFF2-40B4-BE49-F238E27FC236}">
                <a16:creationId xmlns:a16="http://schemas.microsoft.com/office/drawing/2014/main" id="{88691852-EBDF-5437-AAAB-F1BF4AA1F280}"/>
              </a:ext>
            </a:extLst>
          </p:cNvPr>
          <p:cNvSpPr txBox="1"/>
          <p:nvPr/>
        </p:nvSpPr>
        <p:spPr>
          <a:xfrm>
            <a:off x="-1" y="2024305"/>
            <a:ext cx="12192000" cy="4401205"/>
          </a:xfrm>
          <a:prstGeom prst="rect">
            <a:avLst/>
          </a:prstGeom>
          <a:noFill/>
        </p:spPr>
        <p:txBody>
          <a:bodyPr wrap="square" rtlCol="0">
            <a:spAutoFit/>
          </a:bodyPr>
          <a:lstStyle/>
          <a:p>
            <a:r>
              <a:rPr lang="en-US" altLang="ja-JP" sz="3600"/>
              <a:t>1. </a:t>
            </a:r>
            <a:r>
              <a:rPr lang="ja-JP" altLang="ja-JP" sz="3200"/>
              <a:t>サンプルプログラムを利用・改造し，</a:t>
            </a:r>
            <a:r>
              <a:rPr lang="en-US" altLang="ja-JP" sz="3200"/>
              <a:t> WAV </a:t>
            </a:r>
            <a:r>
              <a:rPr lang="ja-JP" altLang="ja-JP" sz="3200"/>
              <a:t>ファイル入出力処理の実装方法を理解せよ</a:t>
            </a:r>
            <a:endParaRPr lang="en-US" sz="3200" b="1"/>
          </a:p>
          <a:p>
            <a:pPr algn="just"/>
            <a:r>
              <a:rPr lang="en-US" sz="1200"/>
              <a:t>Use and modify the sample program to understand how to implement WAV file input/output processing</a:t>
            </a:r>
          </a:p>
          <a:p>
            <a:pPr algn="just"/>
            <a:r>
              <a:rPr lang="en-US" altLang="ja-JP" sz="3600"/>
              <a:t>2. </a:t>
            </a:r>
            <a:r>
              <a:rPr lang="ja-JP" altLang="en-US" sz="3200">
                <a:latin typeface="+mn-ea"/>
                <a:ea typeface="+mn-ea"/>
              </a:rPr>
              <a:t>アプリのソース </a:t>
            </a:r>
            <a:r>
              <a:rPr lang="en-US" altLang="ja-JP" sz="3200" err="1">
                <a:latin typeface="+mn-ea"/>
                <a:ea typeface="+mn-ea"/>
              </a:rPr>
              <a:t>sin.c</a:t>
            </a:r>
            <a:r>
              <a:rPr lang="en-US" altLang="ja-JP" sz="3200">
                <a:latin typeface="+mn-ea"/>
                <a:ea typeface="+mn-ea"/>
              </a:rPr>
              <a:t> </a:t>
            </a:r>
            <a:r>
              <a:rPr lang="ja-JP" altLang="en-US" sz="3200">
                <a:latin typeface="+mn-ea"/>
                <a:ea typeface="+mn-ea"/>
              </a:rPr>
              <a:t>を改造し， </a:t>
            </a:r>
            <a:r>
              <a:rPr lang="en-US" altLang="ja-JP" sz="3200">
                <a:latin typeface="+mn-ea"/>
                <a:ea typeface="+mn-ea"/>
              </a:rPr>
              <a:t>PCM </a:t>
            </a:r>
            <a:r>
              <a:rPr lang="ja-JP" altLang="en-US" sz="3200">
                <a:latin typeface="+mn-ea"/>
                <a:ea typeface="+mn-ea"/>
              </a:rPr>
              <a:t>データ属性（量子化深度，チャネル数，標本化周波数）の異なる 複数の </a:t>
            </a:r>
            <a:r>
              <a:rPr lang="en-US" altLang="ja-JP" sz="3200">
                <a:latin typeface="+mn-ea"/>
                <a:ea typeface="+mn-ea"/>
              </a:rPr>
              <a:t>WAV </a:t>
            </a:r>
            <a:r>
              <a:rPr lang="ja-JP" altLang="en-US" sz="3200">
                <a:latin typeface="+mn-ea"/>
                <a:ea typeface="+mn-ea"/>
              </a:rPr>
              <a:t>ファイルを作成せよ． そして，それらのファイルのヘッダ部 （</a:t>
            </a:r>
            <a:r>
              <a:rPr lang="en-US" altLang="ja-JP" sz="3200">
                <a:latin typeface="+mn-ea"/>
                <a:ea typeface="+mn-ea"/>
              </a:rPr>
              <a:t>"</a:t>
            </a:r>
            <a:r>
              <a:rPr lang="en-US" altLang="ja-JP" sz="3200" err="1">
                <a:latin typeface="+mn-ea"/>
                <a:ea typeface="+mn-ea"/>
              </a:rPr>
              <a:t>RIFF"〜"data</a:t>
            </a:r>
            <a:r>
              <a:rPr lang="en-US" altLang="ja-JP" sz="3200">
                <a:latin typeface="+mn-ea"/>
                <a:ea typeface="+mn-ea"/>
              </a:rPr>
              <a:t>"</a:t>
            </a:r>
            <a:r>
              <a:rPr lang="ja-JP" altLang="en-US" sz="3200">
                <a:latin typeface="+mn-ea"/>
                <a:ea typeface="+mn-ea"/>
              </a:rPr>
              <a:t>の間の部分，</a:t>
            </a:r>
            <a:r>
              <a:rPr lang="en-US" altLang="ja-JP" sz="3200" err="1">
                <a:latin typeface="+mn-ea"/>
                <a:ea typeface="+mn-ea"/>
              </a:rPr>
              <a:t>fmt</a:t>
            </a:r>
            <a:r>
              <a:rPr lang="ja-JP" altLang="en-US" sz="3200">
                <a:latin typeface="+mn-ea"/>
                <a:ea typeface="+mn-ea"/>
              </a:rPr>
              <a:t>チャンク）にある バイナリデータの差異を </a:t>
            </a:r>
            <a:r>
              <a:rPr lang="en-US" altLang="ja-JP" sz="3200" err="1">
                <a:latin typeface="+mn-ea"/>
                <a:ea typeface="+mn-ea"/>
              </a:rPr>
              <a:t>hexdump</a:t>
            </a:r>
            <a:r>
              <a:rPr lang="en-US" altLang="ja-JP" sz="3200">
                <a:latin typeface="+mn-ea"/>
                <a:ea typeface="+mn-ea"/>
              </a:rPr>
              <a:t> </a:t>
            </a:r>
            <a:r>
              <a:rPr lang="ja-JP" altLang="en-US" sz="3200">
                <a:latin typeface="+mn-ea"/>
                <a:ea typeface="+mn-ea"/>
              </a:rPr>
              <a:t>によって分析せよ．</a:t>
            </a:r>
            <a:endParaRPr lang="en-US" sz="3200">
              <a:latin typeface="+mn-ea"/>
              <a:ea typeface="+mn-ea"/>
            </a:endParaRPr>
          </a:p>
          <a:p>
            <a:pPr algn="just"/>
            <a:r>
              <a:rPr lang="en-US" sz="1200"/>
              <a:t>Modify the application source </a:t>
            </a:r>
            <a:r>
              <a:rPr lang="en-US" sz="1200" b="1" err="1"/>
              <a:t>sin.c</a:t>
            </a:r>
            <a:r>
              <a:rPr lang="en-US" sz="1200"/>
              <a:t> and create multiple WAV files with different PCM data attributes (</a:t>
            </a:r>
            <a:r>
              <a:rPr lang="en-US" sz="1200" b="1"/>
              <a:t>quantization depth, number of channels, sampling frequency</a:t>
            </a:r>
            <a:r>
              <a:rPr lang="en-US" sz="1200"/>
              <a:t>). Then use</a:t>
            </a:r>
          </a:p>
          <a:p>
            <a:pPr algn="just"/>
            <a:r>
              <a:rPr lang="en-US" sz="1200" b="1" err="1"/>
              <a:t>Hexdump</a:t>
            </a:r>
            <a:r>
              <a:rPr lang="en-US" sz="1200" b="1"/>
              <a:t> </a:t>
            </a:r>
            <a:r>
              <a:rPr lang="en-US" sz="1200"/>
              <a:t>to analyze the differences in binary data in the header section (the part between “</a:t>
            </a:r>
            <a:r>
              <a:rPr lang="en-US" sz="1200" b="1"/>
              <a:t>RIFF” and “data” </a:t>
            </a:r>
            <a:r>
              <a:rPr lang="en-US" sz="1200"/>
              <a:t>, </a:t>
            </a:r>
            <a:r>
              <a:rPr lang="en-US" sz="1200" err="1"/>
              <a:t>fmt</a:t>
            </a:r>
            <a:r>
              <a:rPr lang="en-US" sz="1200"/>
              <a:t> chunk) of those files. Example:</a:t>
            </a:r>
            <a:endParaRPr lang="en-US" sz="1200" b="1"/>
          </a:p>
          <a:p>
            <a:pPr algn="just"/>
            <a:endParaRPr lang="en-US" sz="1200" b="1"/>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EF2ECF96-2C47-1A4E-A5E8-C6BFA9208E55}"/>
              </a:ext>
            </a:extLst>
          </p:cNvPr>
          <p:cNvSpPr/>
          <p:nvPr/>
        </p:nvSpPr>
        <p:spPr>
          <a:xfrm>
            <a:off x="3317789" y="252943"/>
            <a:ext cx="6987746"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b="1">
                <a:solidFill>
                  <a:schemeClr val="tx1"/>
                </a:solidFill>
              </a:rPr>
              <a:t>WAV </a:t>
            </a:r>
            <a:r>
              <a:rPr lang="ja-JP" altLang="ja-JP" sz="3200" b="1">
                <a:solidFill>
                  <a:schemeClr val="tx1"/>
                </a:solidFill>
              </a:rPr>
              <a:t>ファイルの入出力処理</a:t>
            </a:r>
            <a:r>
              <a:rPr lang="en-US" altLang="ja-JP" sz="1100" b="1">
                <a:solidFill>
                  <a:schemeClr val="tx1"/>
                </a:solidFill>
              </a:rPr>
              <a:t>WAV file input/output processing</a:t>
            </a:r>
            <a:r>
              <a:rPr lang="ja-JP" altLang="en-US" sz="3200" b="1">
                <a:solidFill>
                  <a:srgbClr val="FF0000"/>
                </a:solidFill>
              </a:rPr>
              <a:t> </a:t>
            </a:r>
            <a:endParaRPr lang="en-US" sz="3200">
              <a:solidFill>
                <a:srgbClr val="FF0000"/>
              </a:solidFill>
            </a:endParaRPr>
          </a:p>
        </p:txBody>
      </p:sp>
      <p:pic>
        <p:nvPicPr>
          <p:cNvPr id="12" name="図 11"/>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3" name="図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Tree>
    <p:extLst>
      <p:ext uri="{BB962C8B-B14F-4D97-AF65-F5344CB8AC3E}">
        <p14:creationId xmlns:p14="http://schemas.microsoft.com/office/powerpoint/2010/main" val="371677159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315028" y="464955"/>
            <a:ext cx="5335105" cy="381684"/>
          </a:xfrm>
        </p:spPr>
        <p:txBody>
          <a:bodyPr/>
          <a:lstStyle/>
          <a:p>
            <a:r>
              <a:rPr lang="en-US" sz="2800" b="1"/>
              <a:t>                               15</a:t>
            </a:r>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EF2ECF96-2C47-1A4E-A5E8-C6BFA9208E55}"/>
              </a:ext>
            </a:extLst>
          </p:cNvPr>
          <p:cNvSpPr/>
          <p:nvPr/>
        </p:nvSpPr>
        <p:spPr>
          <a:xfrm>
            <a:off x="3317789" y="252943"/>
            <a:ext cx="6987746"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b="1">
                <a:solidFill>
                  <a:schemeClr val="tx1"/>
                </a:solidFill>
              </a:rPr>
              <a:t>WAV </a:t>
            </a:r>
            <a:r>
              <a:rPr lang="ja-JP" altLang="ja-JP" sz="3200" b="1">
                <a:solidFill>
                  <a:schemeClr val="tx1"/>
                </a:solidFill>
              </a:rPr>
              <a:t>ファイルの入出力処理</a:t>
            </a:r>
            <a:r>
              <a:rPr lang="en-US" altLang="ja-JP" sz="1100" b="1">
                <a:solidFill>
                  <a:schemeClr val="tx1"/>
                </a:solidFill>
              </a:rPr>
              <a:t>WAV file input/output processing</a:t>
            </a:r>
            <a:r>
              <a:rPr lang="ja-JP" altLang="en-US" sz="3200" b="1">
                <a:solidFill>
                  <a:srgbClr val="FF0000"/>
                </a:solidFill>
              </a:rPr>
              <a:t> </a:t>
            </a:r>
            <a:endParaRPr lang="en-US" sz="3200">
              <a:solidFill>
                <a:srgbClr val="FF0000"/>
              </a:solidFill>
            </a:endParaRPr>
          </a:p>
        </p:txBody>
      </p:sp>
      <p:pic>
        <p:nvPicPr>
          <p:cNvPr id="12" name="図 11"/>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3" name="図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pic>
        <p:nvPicPr>
          <p:cNvPr id="2" name="図 1"/>
          <p:cNvPicPr>
            <a:picLocks noChangeAspect="1"/>
          </p:cNvPicPr>
          <p:nvPr/>
        </p:nvPicPr>
        <p:blipFill>
          <a:blip r:embed="rId5"/>
          <a:stretch>
            <a:fillRect/>
          </a:stretch>
        </p:blipFill>
        <p:spPr>
          <a:xfrm>
            <a:off x="0" y="1235282"/>
            <a:ext cx="6831623" cy="5013621"/>
          </a:xfrm>
          <a:prstGeom prst="rect">
            <a:avLst/>
          </a:prstGeom>
        </p:spPr>
      </p:pic>
      <p:sp>
        <p:nvSpPr>
          <p:cNvPr id="14" name="Rounded Rectangle 18">
            <a:extLst>
              <a:ext uri="{FF2B5EF4-FFF2-40B4-BE49-F238E27FC236}">
                <a16:creationId xmlns:a16="http://schemas.microsoft.com/office/drawing/2014/main" id="{EF2ECF96-2C47-1A4E-A5E8-C6BFA9208E55}"/>
              </a:ext>
            </a:extLst>
          </p:cNvPr>
          <p:cNvSpPr/>
          <p:nvPr/>
        </p:nvSpPr>
        <p:spPr>
          <a:xfrm>
            <a:off x="6831623" y="1142978"/>
            <a:ext cx="5081955" cy="5042855"/>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marL="514350" indent="-514350" algn="ctr">
              <a:buAutoNum type="arabicPeriod"/>
            </a:pPr>
            <a:r>
              <a:rPr lang="ja-JP" altLang="ja-JP" sz="2800">
                <a:solidFill>
                  <a:schemeClr val="tx1"/>
                </a:solidFill>
              </a:rPr>
              <a:t>各バイナリデータは</a:t>
            </a:r>
            <a:r>
              <a:rPr lang="en-US" altLang="ja-JP" sz="2800">
                <a:solidFill>
                  <a:schemeClr val="tx1"/>
                </a:solidFill>
              </a:rPr>
              <a:t> WAV </a:t>
            </a:r>
            <a:r>
              <a:rPr lang="ja-JP" altLang="ja-JP" sz="2800">
                <a:solidFill>
                  <a:schemeClr val="tx1"/>
                </a:solidFill>
              </a:rPr>
              <a:t>形式の仕様の通りでしょうか？</a:t>
            </a:r>
            <a:endParaRPr lang="en-US" altLang="ja-JP" sz="2800">
              <a:solidFill>
                <a:schemeClr val="tx1"/>
              </a:solidFill>
            </a:endParaRPr>
          </a:p>
          <a:p>
            <a:pPr algn="ctr"/>
            <a:r>
              <a:rPr lang="en-US" altLang="ja-JP" sz="1200" b="1">
                <a:solidFill>
                  <a:schemeClr val="tx1"/>
                </a:solidFill>
              </a:rPr>
              <a:t>Is each binary data as per WAV format specification?</a:t>
            </a:r>
          </a:p>
          <a:p>
            <a:pPr algn="ctr"/>
            <a:r>
              <a:rPr lang="en-US" altLang="ja-JP" sz="2800">
                <a:solidFill>
                  <a:schemeClr val="tx1"/>
                </a:solidFill>
              </a:rPr>
              <a:t>2. </a:t>
            </a:r>
            <a:r>
              <a:rPr lang="ja-JP" altLang="ja-JP" sz="2800">
                <a:solidFill>
                  <a:schemeClr val="tx1"/>
                </a:solidFill>
              </a:rPr>
              <a:t>チャネル数と標本化周波数の変更には，ソースコードの書き換えが必要</a:t>
            </a:r>
            <a:endParaRPr lang="en-US" altLang="ja-JP" sz="2800">
              <a:solidFill>
                <a:schemeClr val="tx1"/>
              </a:solidFill>
            </a:endParaRPr>
          </a:p>
          <a:p>
            <a:pPr algn="ctr"/>
            <a:r>
              <a:rPr lang="en-US" altLang="ja-JP" sz="1200" b="1">
                <a:solidFill>
                  <a:schemeClr val="tx1"/>
                </a:solidFill>
              </a:rPr>
              <a:t>Changing the number of channels and sampling frequency requires rewriting the source code.</a:t>
            </a:r>
          </a:p>
          <a:p>
            <a:pPr algn="ctr"/>
            <a:endParaRPr lang="en-US" sz="2800">
              <a:solidFill>
                <a:schemeClr val="tx1"/>
              </a:solidFill>
            </a:endParaRPr>
          </a:p>
        </p:txBody>
      </p:sp>
    </p:spTree>
    <p:extLst>
      <p:ext uri="{BB962C8B-B14F-4D97-AF65-F5344CB8AC3E}">
        <p14:creationId xmlns:p14="http://schemas.microsoft.com/office/powerpoint/2010/main" val="224037494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315028" y="464955"/>
            <a:ext cx="5335105" cy="381684"/>
          </a:xfrm>
        </p:spPr>
        <p:txBody>
          <a:bodyPr/>
          <a:lstStyle/>
          <a:p>
            <a:r>
              <a:rPr lang="en-US" sz="2800" b="1"/>
              <a:t>                               16</a:t>
            </a:r>
          </a:p>
        </p:txBody>
      </p:sp>
      <p:sp>
        <p:nvSpPr>
          <p:cNvPr id="5" name="TextBox 4">
            <a:extLst>
              <a:ext uri="{FF2B5EF4-FFF2-40B4-BE49-F238E27FC236}">
                <a16:creationId xmlns:a16="http://schemas.microsoft.com/office/drawing/2014/main" id="{88691852-EBDF-5437-AAAB-F1BF4AA1F280}"/>
              </a:ext>
            </a:extLst>
          </p:cNvPr>
          <p:cNvSpPr txBox="1"/>
          <p:nvPr/>
        </p:nvSpPr>
        <p:spPr>
          <a:xfrm>
            <a:off x="-1" y="2024305"/>
            <a:ext cx="12192000" cy="4401205"/>
          </a:xfrm>
          <a:prstGeom prst="rect">
            <a:avLst/>
          </a:prstGeom>
          <a:noFill/>
        </p:spPr>
        <p:txBody>
          <a:bodyPr wrap="square" rtlCol="0">
            <a:spAutoFit/>
          </a:bodyPr>
          <a:lstStyle/>
          <a:p>
            <a:pPr lvl="0"/>
            <a:r>
              <a:rPr lang="en-US" altLang="ja-JP" sz="3600"/>
              <a:t>1.</a:t>
            </a:r>
            <a:r>
              <a:rPr lang="ja-JP" altLang="ja-JP" sz="2800"/>
              <a:t>アプリのソース</a:t>
            </a:r>
            <a:r>
              <a:rPr lang="en-US" altLang="ja-JP" sz="2800"/>
              <a:t> </a:t>
            </a:r>
            <a:r>
              <a:rPr lang="en-US" altLang="ja-JP" sz="2800" err="1"/>
              <a:t>sin.c</a:t>
            </a:r>
            <a:r>
              <a:rPr lang="en-US" altLang="ja-JP" sz="2800"/>
              <a:t> </a:t>
            </a:r>
            <a:r>
              <a:rPr lang="ja-JP" altLang="ja-JP" sz="2800"/>
              <a:t>および</a:t>
            </a:r>
            <a:r>
              <a:rPr lang="en-US" altLang="ja-JP" sz="2800"/>
              <a:t> </a:t>
            </a:r>
            <a:r>
              <a:rPr lang="en-US" altLang="ja-JP" sz="2800" err="1"/>
              <a:t>thru.c</a:t>
            </a:r>
            <a:r>
              <a:rPr lang="en-US" altLang="ja-JP" sz="2800"/>
              <a:t> </a:t>
            </a:r>
            <a:r>
              <a:rPr lang="ja-JP" altLang="ja-JP" sz="2800"/>
              <a:t>を手がかりとして， ライブラリのソース</a:t>
            </a:r>
            <a:r>
              <a:rPr lang="en-US" altLang="ja-JP" sz="2800"/>
              <a:t> </a:t>
            </a:r>
            <a:r>
              <a:rPr lang="en-US" altLang="ja-JP" sz="2800" err="1"/>
              <a:t>pcm.c</a:t>
            </a:r>
            <a:r>
              <a:rPr lang="en-US" altLang="ja-JP" sz="2800"/>
              <a:t> </a:t>
            </a:r>
            <a:r>
              <a:rPr lang="ja-JP" altLang="ja-JP" sz="2800"/>
              <a:t>内の関数</a:t>
            </a:r>
            <a:r>
              <a:rPr lang="en-US" altLang="ja-JP" sz="2800"/>
              <a:t> </a:t>
            </a:r>
            <a:r>
              <a:rPr lang="en-US" altLang="ja-JP" sz="2800" err="1"/>
              <a:t>pcmInit</a:t>
            </a:r>
            <a:r>
              <a:rPr lang="en-US" altLang="ja-JP" sz="2800"/>
              <a:t>()</a:t>
            </a:r>
            <a:r>
              <a:rPr lang="ja-JP" altLang="ja-JP" sz="2800" err="1"/>
              <a:t>，</a:t>
            </a:r>
            <a:r>
              <a:rPr lang="en-US" altLang="ja-JP" sz="2800"/>
              <a:t> </a:t>
            </a:r>
            <a:r>
              <a:rPr lang="en-US" altLang="ja-JP" sz="2800" err="1"/>
              <a:t>pcmRead</a:t>
            </a:r>
            <a:r>
              <a:rPr lang="en-US" altLang="ja-JP" sz="2800"/>
              <a:t>(), </a:t>
            </a:r>
            <a:r>
              <a:rPr lang="en-US" altLang="ja-JP" sz="2800" err="1"/>
              <a:t>pcmWrite</a:t>
            </a:r>
            <a:r>
              <a:rPr lang="en-US" altLang="ja-JP" sz="2800"/>
              <a:t>()</a:t>
            </a:r>
            <a:r>
              <a:rPr lang="ja-JP" altLang="ja-JP" sz="2800" err="1"/>
              <a:t>，</a:t>
            </a:r>
            <a:r>
              <a:rPr lang="ja-JP" altLang="ja-JP" sz="2800"/>
              <a:t>等の処理内容を解剖せよ</a:t>
            </a:r>
          </a:p>
          <a:p>
            <a:pPr algn="just"/>
            <a:r>
              <a:rPr lang="en-US" sz="1200"/>
              <a:t>Using the application source </a:t>
            </a:r>
            <a:r>
              <a:rPr lang="en-US" sz="1200" b="1" err="1"/>
              <a:t>sin.c</a:t>
            </a:r>
            <a:r>
              <a:rPr lang="en-US" sz="1200"/>
              <a:t> and </a:t>
            </a:r>
            <a:r>
              <a:rPr lang="en-US" sz="1200" b="1" err="1"/>
              <a:t>thru.c</a:t>
            </a:r>
            <a:r>
              <a:rPr lang="en-US" sz="1200" b="1"/>
              <a:t> </a:t>
            </a:r>
            <a:r>
              <a:rPr lang="en-US" sz="1200"/>
              <a:t>as clues, dissect the processing of the functions </a:t>
            </a:r>
            <a:r>
              <a:rPr lang="en-US" sz="1200" b="1" err="1"/>
              <a:t>pcmInit</a:t>
            </a:r>
            <a:r>
              <a:rPr lang="en-US" sz="1200" b="1"/>
              <a:t>(), </a:t>
            </a:r>
            <a:r>
              <a:rPr lang="en-US" sz="1200" b="1" err="1"/>
              <a:t>pcmRead</a:t>
            </a:r>
            <a:r>
              <a:rPr lang="en-US" sz="1200" b="1"/>
              <a:t>(), </a:t>
            </a:r>
            <a:r>
              <a:rPr lang="en-US" sz="1200" b="1" err="1"/>
              <a:t>pcmWrite</a:t>
            </a:r>
            <a:r>
              <a:rPr lang="en-US" sz="1200" b="1"/>
              <a:t>(), </a:t>
            </a:r>
            <a:r>
              <a:rPr lang="en-US" sz="1200"/>
              <a:t>etc. in the library source </a:t>
            </a:r>
            <a:r>
              <a:rPr lang="en-US" sz="1200" b="1" err="1"/>
              <a:t>pcm.c</a:t>
            </a:r>
            <a:endParaRPr lang="en-US" sz="1200" b="1"/>
          </a:p>
          <a:p>
            <a:pPr algn="just"/>
            <a:endParaRPr lang="en-US" sz="1200" b="1"/>
          </a:p>
          <a:p>
            <a:pPr algn="just"/>
            <a:endParaRPr lang="en-US" sz="1200" b="1"/>
          </a:p>
          <a:p>
            <a:pPr algn="just"/>
            <a:r>
              <a:rPr lang="en-US" altLang="ja-JP" sz="3600"/>
              <a:t>2.</a:t>
            </a:r>
            <a:r>
              <a:rPr lang="ja-JP" altLang="ja-JP" sz="2800"/>
              <a:t>サンプルプログラムを利用し，再生速度の変更について理解せよ</a:t>
            </a:r>
            <a:endParaRPr lang="en-US" sz="2800">
              <a:latin typeface="+mn-ea"/>
              <a:ea typeface="+mn-ea"/>
            </a:endParaRPr>
          </a:p>
          <a:p>
            <a:pPr algn="just"/>
            <a:r>
              <a:rPr lang="en-US" sz="1200"/>
              <a:t>Using the sample program, understand how to change the playback speed. </a:t>
            </a:r>
          </a:p>
          <a:p>
            <a:pPr algn="just"/>
            <a:endParaRPr lang="en-US" sz="1200" b="1"/>
          </a:p>
          <a:p>
            <a:pPr algn="just"/>
            <a:endParaRPr lang="en-US" sz="1200" b="1"/>
          </a:p>
          <a:p>
            <a:pPr lvl="0" algn="just"/>
            <a:r>
              <a:rPr lang="en-US" sz="1200" b="1"/>
              <a:t> </a:t>
            </a:r>
            <a:r>
              <a:rPr lang="en-US" sz="1200" b="1">
                <a:sym typeface="Wingdings" panose="05000000000000000000" pitchFamily="2" charset="2"/>
              </a:rPr>
              <a:t></a:t>
            </a:r>
            <a:r>
              <a:rPr lang="ja-JP" altLang="ja-JP" sz="2800"/>
              <a:t>アプリ</a:t>
            </a:r>
            <a:r>
              <a:rPr lang="en-US" altLang="ja-JP" sz="2800"/>
              <a:t> rate </a:t>
            </a:r>
            <a:r>
              <a:rPr lang="ja-JP" altLang="ja-JP" sz="2800"/>
              <a:t>を利用し，標本化周波数を変更して音声を再生し， 効果を聴覚および</a:t>
            </a:r>
            <a:r>
              <a:rPr lang="en-US" altLang="ja-JP" sz="2800"/>
              <a:t> audacity </a:t>
            </a:r>
            <a:r>
              <a:rPr lang="ja-JP" altLang="ja-JP" sz="2800"/>
              <a:t>によって観察せよ</a:t>
            </a:r>
            <a:endParaRPr lang="en-US" altLang="ja-JP" sz="2800"/>
          </a:p>
          <a:p>
            <a:pPr lvl="0" algn="just"/>
            <a:r>
              <a:rPr lang="en-US" altLang="ja-JP" sz="1200"/>
              <a:t>Use the app rate to play back audio by changing the sampling frequency, and observe the effect by hearing and audacity. </a:t>
            </a:r>
            <a:endParaRPr lang="ja-JP" altLang="ja-JP" sz="1200"/>
          </a:p>
          <a:p>
            <a:pPr algn="just"/>
            <a:endParaRPr lang="en-US" sz="1200" b="1"/>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EF2ECF96-2C47-1A4E-A5E8-C6BFA9208E55}"/>
              </a:ext>
            </a:extLst>
          </p:cNvPr>
          <p:cNvSpPr/>
          <p:nvPr/>
        </p:nvSpPr>
        <p:spPr>
          <a:xfrm>
            <a:off x="3317789" y="252943"/>
            <a:ext cx="6987746"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b="1">
                <a:solidFill>
                  <a:schemeClr val="tx1"/>
                </a:solidFill>
              </a:rPr>
              <a:t>WAV </a:t>
            </a:r>
            <a:r>
              <a:rPr lang="ja-JP" altLang="ja-JP" sz="3200" b="1">
                <a:solidFill>
                  <a:schemeClr val="tx1"/>
                </a:solidFill>
              </a:rPr>
              <a:t>ファイルの入出力処理</a:t>
            </a:r>
            <a:r>
              <a:rPr lang="en-US" altLang="ja-JP" sz="1100" b="1">
                <a:solidFill>
                  <a:schemeClr val="tx1"/>
                </a:solidFill>
              </a:rPr>
              <a:t>WAV file input/output processing</a:t>
            </a:r>
            <a:r>
              <a:rPr lang="ja-JP" altLang="en-US" sz="3200" b="1">
                <a:solidFill>
                  <a:srgbClr val="FF0000"/>
                </a:solidFill>
              </a:rPr>
              <a:t> </a:t>
            </a:r>
            <a:endParaRPr lang="en-US" sz="3200">
              <a:solidFill>
                <a:srgbClr val="FF0000"/>
              </a:solidFill>
            </a:endParaRPr>
          </a:p>
        </p:txBody>
      </p:sp>
      <p:pic>
        <p:nvPicPr>
          <p:cNvPr id="12" name="図 11"/>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3" name="図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Tree>
    <p:extLst>
      <p:ext uri="{BB962C8B-B14F-4D97-AF65-F5344CB8AC3E}">
        <p14:creationId xmlns:p14="http://schemas.microsoft.com/office/powerpoint/2010/main" val="390967975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315028" y="464955"/>
            <a:ext cx="5335105" cy="381684"/>
          </a:xfrm>
        </p:spPr>
        <p:txBody>
          <a:bodyPr/>
          <a:lstStyle/>
          <a:p>
            <a:r>
              <a:rPr lang="en-US" sz="2800" b="1"/>
              <a:t>                               17</a:t>
            </a:r>
          </a:p>
        </p:txBody>
      </p:sp>
      <p:sp>
        <p:nvSpPr>
          <p:cNvPr id="5" name="TextBox 4">
            <a:extLst>
              <a:ext uri="{FF2B5EF4-FFF2-40B4-BE49-F238E27FC236}">
                <a16:creationId xmlns:a16="http://schemas.microsoft.com/office/drawing/2014/main" id="{88691852-EBDF-5437-AAAB-F1BF4AA1F280}"/>
              </a:ext>
            </a:extLst>
          </p:cNvPr>
          <p:cNvSpPr txBox="1"/>
          <p:nvPr/>
        </p:nvSpPr>
        <p:spPr>
          <a:xfrm>
            <a:off x="-1" y="2024305"/>
            <a:ext cx="12192000" cy="2492990"/>
          </a:xfrm>
          <a:prstGeom prst="rect">
            <a:avLst/>
          </a:prstGeom>
          <a:noFill/>
        </p:spPr>
        <p:txBody>
          <a:bodyPr wrap="square" rtlCol="0">
            <a:spAutoFit/>
          </a:bodyPr>
          <a:lstStyle/>
          <a:p>
            <a:pPr lvl="0"/>
            <a:r>
              <a:rPr lang="ja-JP" altLang="ja-JP" sz="4000"/>
              <a:t>ディジタルらしく，速度だけ変わって欲しいところですが， ピッチ（音程）も変わってしまい，アナログ感</a:t>
            </a:r>
            <a:r>
              <a:rPr lang="en-US" altLang="ja-JP" sz="4000"/>
              <a:t>... </a:t>
            </a:r>
            <a:r>
              <a:rPr lang="ja-JP" altLang="ja-JP" sz="4000"/>
              <a:t>速度だけ変更には，それなりの処理が必要ということね</a:t>
            </a:r>
            <a:endParaRPr lang="en-US" altLang="ja-JP" sz="4000"/>
          </a:p>
          <a:p>
            <a:pPr lvl="0"/>
            <a:r>
              <a:rPr lang="en-US" sz="1200"/>
              <a:t>I would like only the speed to change, like digital, but the pitch also changes, giving it an analog feel. I guess that only changing the speed requires a certain amount of processing.</a:t>
            </a:r>
            <a:endParaRPr lang="en-US" sz="1200" b="1"/>
          </a:p>
          <a:p>
            <a:pPr algn="just"/>
            <a:endParaRPr lang="en-US" sz="1200" b="1"/>
          </a:p>
          <a:p>
            <a:pPr algn="just"/>
            <a:endParaRPr lang="en-US" sz="1200" b="1"/>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EF2ECF96-2C47-1A4E-A5E8-C6BFA9208E55}"/>
              </a:ext>
            </a:extLst>
          </p:cNvPr>
          <p:cNvSpPr/>
          <p:nvPr/>
        </p:nvSpPr>
        <p:spPr>
          <a:xfrm>
            <a:off x="3317789" y="252943"/>
            <a:ext cx="6987746"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b="1">
                <a:solidFill>
                  <a:schemeClr val="tx1"/>
                </a:solidFill>
              </a:rPr>
              <a:t>WAV </a:t>
            </a:r>
            <a:r>
              <a:rPr lang="ja-JP" altLang="ja-JP" sz="3200" b="1">
                <a:solidFill>
                  <a:schemeClr val="tx1"/>
                </a:solidFill>
              </a:rPr>
              <a:t>ファイルの入出力処理</a:t>
            </a:r>
            <a:r>
              <a:rPr lang="en-US" altLang="ja-JP" sz="1100" b="1">
                <a:solidFill>
                  <a:schemeClr val="tx1"/>
                </a:solidFill>
              </a:rPr>
              <a:t>WAV file input/output processing</a:t>
            </a:r>
            <a:r>
              <a:rPr lang="ja-JP" altLang="en-US" sz="3200" b="1">
                <a:solidFill>
                  <a:srgbClr val="FF0000"/>
                </a:solidFill>
              </a:rPr>
              <a:t> </a:t>
            </a:r>
            <a:endParaRPr lang="en-US" sz="3200">
              <a:solidFill>
                <a:srgbClr val="FF0000"/>
              </a:solidFill>
            </a:endParaRPr>
          </a:p>
        </p:txBody>
      </p:sp>
      <p:pic>
        <p:nvPicPr>
          <p:cNvPr id="12" name="図 11"/>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3" name="図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Tree>
    <p:extLst>
      <p:ext uri="{BB962C8B-B14F-4D97-AF65-F5344CB8AC3E}">
        <p14:creationId xmlns:p14="http://schemas.microsoft.com/office/powerpoint/2010/main" val="62707198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315028" y="464955"/>
            <a:ext cx="5335105" cy="381684"/>
          </a:xfrm>
        </p:spPr>
        <p:txBody>
          <a:bodyPr/>
          <a:lstStyle/>
          <a:p>
            <a:r>
              <a:rPr lang="en-US" sz="2800" b="1"/>
              <a:t>                               18</a:t>
            </a:r>
          </a:p>
        </p:txBody>
      </p:sp>
      <p:sp>
        <p:nvSpPr>
          <p:cNvPr id="5" name="TextBox 4">
            <a:extLst>
              <a:ext uri="{FF2B5EF4-FFF2-40B4-BE49-F238E27FC236}">
                <a16:creationId xmlns:a16="http://schemas.microsoft.com/office/drawing/2014/main" id="{88691852-EBDF-5437-AAAB-F1BF4AA1F280}"/>
              </a:ext>
            </a:extLst>
          </p:cNvPr>
          <p:cNvSpPr txBox="1"/>
          <p:nvPr/>
        </p:nvSpPr>
        <p:spPr>
          <a:xfrm>
            <a:off x="-1" y="2024305"/>
            <a:ext cx="12192000" cy="4062651"/>
          </a:xfrm>
          <a:prstGeom prst="rect">
            <a:avLst/>
          </a:prstGeom>
          <a:noFill/>
        </p:spPr>
        <p:txBody>
          <a:bodyPr wrap="square" rtlCol="0">
            <a:spAutoFit/>
          </a:bodyPr>
          <a:lstStyle/>
          <a:p>
            <a:pPr lvl="0"/>
            <a:r>
              <a:rPr lang="ja-JP" altLang="ja-JP" sz="4000"/>
              <a:t>次回予告</a:t>
            </a:r>
            <a:endParaRPr lang="en-US" altLang="ja-JP" sz="4000"/>
          </a:p>
          <a:p>
            <a:pPr lvl="0"/>
            <a:r>
              <a:rPr lang="en-US" sz="1200"/>
              <a:t>Preview of the next installment</a:t>
            </a:r>
            <a:endParaRPr lang="en-US" sz="1200" b="1"/>
          </a:p>
          <a:p>
            <a:pPr algn="just"/>
            <a:endParaRPr lang="en-US" sz="1200" b="1"/>
          </a:p>
          <a:p>
            <a:pPr algn="just"/>
            <a:endParaRPr lang="en-US" sz="1200" b="1"/>
          </a:p>
          <a:p>
            <a:pPr algn="just"/>
            <a:endParaRPr lang="en-US" sz="1200" b="1"/>
          </a:p>
          <a:p>
            <a:pPr marL="342900" indent="-342900" algn="just">
              <a:buAutoNum type="arabicPeriod"/>
            </a:pPr>
            <a:r>
              <a:rPr lang="ja-JP" altLang="ja-JP" sz="3200"/>
              <a:t>複数の音の</a:t>
            </a:r>
            <a:r>
              <a:rPr lang="en-US" altLang="ja-JP" sz="3200"/>
              <a:t> WAV </a:t>
            </a:r>
            <a:r>
              <a:rPr lang="ja-JP" altLang="ja-JP" sz="3200"/>
              <a:t>ファイルを連結し，メロディを奏でよう</a:t>
            </a:r>
            <a:endParaRPr lang="en-US" altLang="ja-JP" sz="3200"/>
          </a:p>
          <a:p>
            <a:pPr algn="just"/>
            <a:r>
              <a:rPr lang="en-US" altLang="ja-JP" sz="3200"/>
              <a:t>  </a:t>
            </a:r>
            <a:r>
              <a:rPr lang="en-US" altLang="ja-JP" sz="1200"/>
              <a:t>Lets play a melody by concatenating WAV files of multiple sounds.</a:t>
            </a:r>
            <a:endParaRPr lang="en-US" altLang="ja-JP" sz="3200"/>
          </a:p>
          <a:p>
            <a:pPr marL="342900" indent="-342900" algn="just">
              <a:buAutoNum type="arabicPeriod"/>
            </a:pPr>
            <a:endParaRPr lang="en-US" altLang="ja-JP"/>
          </a:p>
          <a:p>
            <a:pPr algn="just"/>
            <a:r>
              <a:rPr lang="en-US" altLang="ja-JP" sz="3200"/>
              <a:t>2. </a:t>
            </a:r>
            <a:r>
              <a:rPr lang="ja-JP" altLang="ja-JP" sz="3200"/>
              <a:t>周波数の異なる正弦波を重ね合わせたり， 振幅を変調して，現実の楽器のような音色を生成しよう</a:t>
            </a:r>
            <a:endParaRPr lang="en-US" altLang="ja-JP" sz="3200"/>
          </a:p>
          <a:p>
            <a:pPr algn="just"/>
            <a:r>
              <a:rPr lang="en-US" sz="1200"/>
              <a:t>   Generate realistic instrument-like tones by superimposing sine waves of different frequencies and modulating their amplitude.</a:t>
            </a:r>
          </a:p>
          <a:p>
            <a:pPr algn="just"/>
            <a:endParaRPr lang="en-US" sz="1200" b="1"/>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EF2ECF96-2C47-1A4E-A5E8-C6BFA9208E55}"/>
              </a:ext>
            </a:extLst>
          </p:cNvPr>
          <p:cNvSpPr/>
          <p:nvPr/>
        </p:nvSpPr>
        <p:spPr>
          <a:xfrm>
            <a:off x="3317789" y="252943"/>
            <a:ext cx="6987746"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altLang="ja-JP" sz="3200" b="1">
                <a:solidFill>
                  <a:schemeClr val="tx1"/>
                </a:solidFill>
              </a:rPr>
              <a:t>WAV </a:t>
            </a:r>
            <a:r>
              <a:rPr lang="ja-JP" altLang="ja-JP" sz="3200" b="1">
                <a:solidFill>
                  <a:schemeClr val="tx1"/>
                </a:solidFill>
              </a:rPr>
              <a:t>ファイルの入出力処理</a:t>
            </a:r>
            <a:r>
              <a:rPr lang="en-US" altLang="ja-JP" sz="1100" b="1">
                <a:solidFill>
                  <a:schemeClr val="tx1"/>
                </a:solidFill>
              </a:rPr>
              <a:t>WAV file input/output processing</a:t>
            </a:r>
            <a:r>
              <a:rPr lang="ja-JP" altLang="en-US" sz="3200" b="1">
                <a:solidFill>
                  <a:srgbClr val="FF0000"/>
                </a:solidFill>
              </a:rPr>
              <a:t> </a:t>
            </a:r>
            <a:endParaRPr lang="en-US" sz="3200">
              <a:solidFill>
                <a:srgbClr val="FF0000"/>
              </a:solidFill>
            </a:endParaRPr>
          </a:p>
        </p:txBody>
      </p:sp>
      <p:pic>
        <p:nvPicPr>
          <p:cNvPr id="12" name="図 11"/>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3" name="図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Tree>
    <p:extLst>
      <p:ext uri="{BB962C8B-B14F-4D97-AF65-F5344CB8AC3E}">
        <p14:creationId xmlns:p14="http://schemas.microsoft.com/office/powerpoint/2010/main" val="262451991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315028" y="464955"/>
            <a:ext cx="5335105" cy="381684"/>
          </a:xfrm>
        </p:spPr>
        <p:txBody>
          <a:bodyPr/>
          <a:lstStyle/>
          <a:p>
            <a:r>
              <a:rPr lang="en-US" sz="2800" b="1"/>
              <a:t>                               5</a:t>
            </a:r>
          </a:p>
        </p:txBody>
      </p:sp>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401205"/>
          </a:xfrm>
          <a:prstGeom prst="rect">
            <a:avLst/>
          </a:prstGeom>
          <a:noFill/>
        </p:spPr>
        <p:txBody>
          <a:bodyPr wrap="square" rtlCol="0">
            <a:spAutoFit/>
          </a:bodyPr>
          <a:lstStyle/>
          <a:p>
            <a:pPr algn="l"/>
            <a:r>
              <a:rPr lang="en-US" sz="1200" b="1">
                <a:solidFill>
                  <a:srgbClr val="FF0000"/>
                </a:solidFill>
              </a:rPr>
              <a:t>       </a:t>
            </a:r>
            <a:r>
              <a:rPr lang="en-US" sz="1200"/>
              <a:t>d. </a:t>
            </a:r>
            <a:r>
              <a:rPr lang="en-US" sz="1200">
                <a:solidFill>
                  <a:srgbClr val="FF0000"/>
                </a:solidFill>
              </a:rPr>
              <a:t> </a:t>
            </a:r>
            <a:r>
              <a:rPr lang="en-US" altLang="zh-TW" sz="2400" i="0">
                <a:effectLst/>
                <a:latin typeface="Arial" panose="020B0604020202020204" pitchFamily="34" charset="0"/>
              </a:rPr>
              <a:t>A/D</a:t>
            </a:r>
            <a:r>
              <a:rPr lang="zh-TW" altLang="en-US" sz="2400" i="0">
                <a:effectLst/>
                <a:latin typeface="Arial" panose="020B0604020202020204" pitchFamily="34" charset="0"/>
              </a:rPr>
              <a:t>変換／</a:t>
            </a:r>
            <a:r>
              <a:rPr lang="en-US" altLang="zh-TW" sz="2400" i="0">
                <a:effectLst/>
                <a:latin typeface="Arial" panose="020B0604020202020204" pitchFamily="34" charset="0"/>
              </a:rPr>
              <a:t>D/A</a:t>
            </a:r>
            <a:r>
              <a:rPr lang="zh-TW" altLang="en-US" sz="2400" i="0">
                <a:effectLst/>
                <a:latin typeface="Arial" panose="020B0604020202020204" pitchFamily="34" charset="0"/>
              </a:rPr>
              <a:t>変換</a:t>
            </a:r>
            <a:endParaRPr lang="en-US" sz="2400" i="0">
              <a:effectLst/>
              <a:latin typeface="Arial" panose="020B0604020202020204" pitchFamily="34" charset="0"/>
            </a:endParaRPr>
          </a:p>
          <a:p>
            <a:pPr algn="l"/>
            <a:r>
              <a:rPr lang="en-US" sz="1200">
                <a:solidFill>
                  <a:srgbClr val="000000"/>
                </a:solidFill>
                <a:latin typeface="Arial" panose="020B0604020202020204" pitchFamily="34" charset="0"/>
              </a:rPr>
              <a:t>           A/D Conversion  / D/A  Conversion</a:t>
            </a:r>
          </a:p>
          <a:p>
            <a:pPr algn="l"/>
            <a:endParaRPr lang="en-US" sz="1200">
              <a:solidFill>
                <a:srgbClr val="000000"/>
              </a:solidFill>
              <a:latin typeface="Arial" panose="020B0604020202020204" pitchFamily="34" charset="0"/>
            </a:endParaRPr>
          </a:p>
          <a:p>
            <a:pPr algn="l"/>
            <a:r>
              <a:rPr lang="en-US" sz="1200">
                <a:solidFill>
                  <a:srgbClr val="000000"/>
                </a:solidFill>
                <a:latin typeface="Arial" panose="020B0604020202020204" pitchFamily="34" charset="0"/>
              </a:rPr>
              <a:t>       e. </a:t>
            </a:r>
            <a:r>
              <a:rPr lang="en-US" sz="1200">
                <a:latin typeface="Arial" panose="020B0604020202020204" pitchFamily="34" charset="0"/>
              </a:rPr>
              <a:t> </a:t>
            </a:r>
            <a:r>
              <a:rPr lang="ja-JP" altLang="en-US" sz="2400" b="1" i="0">
                <a:effectLst/>
                <a:latin typeface="Arial" panose="020B0604020202020204" pitchFamily="34" charset="0"/>
              </a:rPr>
              <a:t>ディジタルデータ</a:t>
            </a:r>
            <a:r>
              <a:rPr lang="ja-JP" altLang="en-US" sz="2400" b="0" i="0">
                <a:effectLst/>
                <a:latin typeface="Arial" panose="020B0604020202020204" pitchFamily="34" charset="0"/>
              </a:rPr>
              <a:t> </a:t>
            </a:r>
            <a:r>
              <a:rPr lang="en-US" altLang="ja-JP" sz="1200" b="0" i="0">
                <a:solidFill>
                  <a:srgbClr val="000000"/>
                </a:solidFill>
                <a:effectLst/>
                <a:latin typeface="Arial" panose="020B0604020202020204" pitchFamily="34" charset="0"/>
              </a:rPr>
              <a:t>"digital data"</a:t>
            </a:r>
            <a:r>
              <a:rPr lang="ja-JP" altLang="en-US" sz="1200" b="0" i="0">
                <a:solidFill>
                  <a:srgbClr val="000000"/>
                </a:solidFill>
                <a:effectLst/>
                <a:latin typeface="Arial" panose="020B0604020202020204" pitchFamily="34" charset="0"/>
              </a:rPr>
              <a:t>（</a:t>
            </a:r>
            <a:r>
              <a:rPr lang="ja-JP" altLang="en-US" sz="2400" b="0" i="0">
                <a:solidFill>
                  <a:srgbClr val="000000"/>
                </a:solidFill>
                <a:effectLst/>
                <a:latin typeface="Arial" panose="020B0604020202020204" pitchFamily="34" charset="0"/>
              </a:rPr>
              <a:t>バイナリデータ，ビット列</a:t>
            </a:r>
            <a:r>
              <a:rPr lang="ja-JP" altLang="en-US" sz="1200" b="0" i="0">
                <a:solidFill>
                  <a:srgbClr val="000000"/>
                </a:solidFill>
                <a:effectLst/>
                <a:latin typeface="Arial" panose="020B0604020202020204" pitchFamily="34" charset="0"/>
              </a:rPr>
              <a:t>）</a:t>
            </a:r>
            <a:endParaRPr lang="en-US" sz="1200" b="0" i="0">
              <a:solidFill>
                <a:srgbClr val="000000"/>
              </a:solidFill>
              <a:effectLst/>
              <a:latin typeface="Arial" panose="020B0604020202020204" pitchFamily="34" charset="0"/>
            </a:endParaRPr>
          </a:p>
          <a:p>
            <a:r>
              <a:rPr lang="en-US" sz="2000"/>
              <a:t>                                                      </a:t>
            </a:r>
            <a:r>
              <a:rPr lang="en-US" sz="1200"/>
              <a:t>binary data , bit sequence</a:t>
            </a:r>
          </a:p>
          <a:p>
            <a:r>
              <a:rPr lang="en-US" sz="1200"/>
              <a:t>         </a:t>
            </a:r>
            <a:r>
              <a:rPr lang="ja-JP" altLang="en-US" sz="2000" i="0">
                <a:effectLst/>
                <a:latin typeface="Arial" panose="020B0604020202020204" pitchFamily="34" charset="0"/>
              </a:rPr>
              <a:t>物理的な現象でもあるが，論理的な存在として取り扱う．</a:t>
            </a:r>
            <a:endParaRPr lang="en-US" altLang="ja-JP" sz="2000" i="0">
              <a:effectLst/>
              <a:latin typeface="Arial" panose="020B0604020202020204" pitchFamily="34" charset="0"/>
            </a:endParaRPr>
          </a:p>
          <a:p>
            <a:r>
              <a:rPr lang="en-US" sz="1200">
                <a:solidFill>
                  <a:srgbClr val="000000"/>
                </a:solidFill>
                <a:latin typeface="Arial" panose="020B0604020202020204" pitchFamily="34" charset="0"/>
              </a:rPr>
              <a:t>          Although it is physical phenomenon , but treated as logical entity. </a:t>
            </a:r>
          </a:p>
          <a:p>
            <a:endParaRPr lang="en-US" sz="1200">
              <a:solidFill>
                <a:srgbClr val="000000"/>
              </a:solidFill>
              <a:latin typeface="Arial" panose="020B0604020202020204" pitchFamily="34" charset="0"/>
            </a:endParaRPr>
          </a:p>
          <a:p>
            <a:endParaRPr lang="en-US" sz="1200">
              <a:solidFill>
                <a:srgbClr val="000000"/>
              </a:solidFill>
              <a:latin typeface="Arial" panose="020B0604020202020204" pitchFamily="34" charset="0"/>
            </a:endParaRPr>
          </a:p>
          <a:p>
            <a:r>
              <a:rPr lang="en-US" sz="1200">
                <a:solidFill>
                  <a:srgbClr val="000000"/>
                </a:solidFill>
                <a:latin typeface="Arial" panose="020B0604020202020204" pitchFamily="34" charset="0"/>
              </a:rPr>
              <a:t>       f.    </a:t>
            </a:r>
            <a:r>
              <a:rPr lang="zh-TW" altLang="en-US" sz="2400" i="0">
                <a:effectLst/>
                <a:latin typeface="Arial" panose="020B0604020202020204" pitchFamily="34" charset="0"/>
              </a:rPr>
              <a:t>加工，通信，記録／再生</a:t>
            </a:r>
            <a:endParaRPr lang="en-US" altLang="zh-TW" sz="2400" i="0">
              <a:effectLst/>
              <a:latin typeface="Arial" panose="020B0604020202020204" pitchFamily="34" charset="0"/>
            </a:endParaRPr>
          </a:p>
          <a:p>
            <a:r>
              <a:rPr lang="en-US" sz="1200">
                <a:solidFill>
                  <a:srgbClr val="000000"/>
                </a:solidFill>
                <a:latin typeface="Arial" panose="020B0604020202020204" pitchFamily="34" charset="0"/>
              </a:rPr>
              <a:t>           Processing , communication , recording / playback</a:t>
            </a:r>
          </a:p>
          <a:p>
            <a:endParaRPr lang="en-US" sz="1200" b="1">
              <a:solidFill>
                <a:srgbClr val="000000"/>
              </a:solidFill>
              <a:latin typeface="Arial" panose="020B0604020202020204" pitchFamily="34" charset="0"/>
            </a:endParaRPr>
          </a:p>
          <a:p>
            <a:r>
              <a:rPr lang="en-US" sz="1200" b="1">
                <a:solidFill>
                  <a:srgbClr val="000000"/>
                </a:solidFill>
                <a:latin typeface="Arial" panose="020B0604020202020204" pitchFamily="34" charset="0"/>
              </a:rPr>
              <a:t>       </a:t>
            </a:r>
            <a:r>
              <a:rPr lang="en-US" sz="1200">
                <a:solidFill>
                  <a:srgbClr val="000000"/>
                </a:solidFill>
                <a:latin typeface="Arial" panose="020B0604020202020204" pitchFamily="34" charset="0"/>
              </a:rPr>
              <a:t>g.   </a:t>
            </a:r>
            <a:r>
              <a:rPr lang="ja-JP" altLang="en-US" sz="2400" b="0" i="0">
                <a:solidFill>
                  <a:srgbClr val="000000"/>
                </a:solidFill>
                <a:effectLst/>
                <a:latin typeface="Arial" panose="020B0604020202020204" pitchFamily="34" charset="0"/>
              </a:rPr>
              <a:t>ディジタル信号波 </a:t>
            </a:r>
            <a:r>
              <a:rPr lang="en-US" altLang="ja-JP" sz="1200" b="0" i="0">
                <a:solidFill>
                  <a:srgbClr val="000000"/>
                </a:solidFill>
                <a:effectLst/>
                <a:latin typeface="Arial" panose="020B0604020202020204" pitchFamily="34" charset="0"/>
              </a:rPr>
              <a:t>"</a:t>
            </a:r>
            <a:r>
              <a:rPr lang="en-US" sz="1200" b="0" i="0">
                <a:solidFill>
                  <a:srgbClr val="000000"/>
                </a:solidFill>
                <a:effectLst/>
                <a:latin typeface="Arial" panose="020B0604020202020204" pitchFamily="34" charset="0"/>
              </a:rPr>
              <a:t>digital signal wave"，</a:t>
            </a:r>
            <a:r>
              <a:rPr lang="ja-JP" altLang="en-US" sz="2000" b="0" i="0">
                <a:solidFill>
                  <a:srgbClr val="000000"/>
                </a:solidFill>
                <a:effectLst/>
                <a:latin typeface="Arial" panose="020B0604020202020204" pitchFamily="34" charset="0"/>
              </a:rPr>
              <a:t>パルス</a:t>
            </a:r>
            <a:r>
              <a:rPr lang="ja-JP" altLang="en-US" sz="1200" b="0" i="0">
                <a:solidFill>
                  <a:srgbClr val="000000"/>
                </a:solidFill>
                <a:effectLst/>
                <a:latin typeface="Arial" panose="020B0604020202020204" pitchFamily="34" charset="0"/>
              </a:rPr>
              <a:t> </a:t>
            </a:r>
            <a:r>
              <a:rPr lang="en-US" altLang="ja-JP" sz="1200" b="0" i="0">
                <a:solidFill>
                  <a:srgbClr val="000000"/>
                </a:solidFill>
                <a:effectLst/>
                <a:latin typeface="Arial" panose="020B0604020202020204" pitchFamily="34" charset="0"/>
              </a:rPr>
              <a:t>"</a:t>
            </a:r>
            <a:r>
              <a:rPr lang="en-US" sz="1200" b="0" i="0">
                <a:solidFill>
                  <a:srgbClr val="000000"/>
                </a:solidFill>
                <a:effectLst/>
                <a:latin typeface="Arial" panose="020B0604020202020204" pitchFamily="34" charset="0"/>
              </a:rPr>
              <a:t>pulse train“</a:t>
            </a:r>
            <a:endParaRPr lang="en-US" sz="1200" b="1" i="0">
              <a:solidFill>
                <a:srgbClr val="000000"/>
              </a:solidFill>
              <a:effectLst/>
              <a:latin typeface="Arial" panose="020B0604020202020204" pitchFamily="34" charset="0"/>
            </a:endParaRPr>
          </a:p>
          <a:p>
            <a:r>
              <a:rPr lang="en-US" sz="1200" b="1">
                <a:solidFill>
                  <a:srgbClr val="000000"/>
                </a:solidFill>
                <a:latin typeface="Arial" panose="020B0604020202020204" pitchFamily="34" charset="0"/>
              </a:rPr>
              <a:t>         </a:t>
            </a:r>
            <a:r>
              <a:rPr lang="ja-JP" altLang="en-US" sz="2000" b="0" i="0">
                <a:solidFill>
                  <a:srgbClr val="000000"/>
                </a:solidFill>
                <a:effectLst/>
                <a:latin typeface="Arial" panose="020B0604020202020204" pitchFamily="34" charset="0"/>
              </a:rPr>
              <a:t>ディジタル信号波と云いつつ実体はアナログ信号波でもある． 電圧・電流とかレーザとか物理的な現象なので．</a:t>
            </a:r>
            <a:endParaRPr lang="en-US" sz="2000"/>
          </a:p>
          <a:p>
            <a:r>
              <a:rPr lang="en-US" sz="2000"/>
              <a:t>      </a:t>
            </a:r>
            <a:r>
              <a:rPr lang="en-US" sz="1200"/>
              <a:t>Although called digital signal waves , they are in fact also analogue signal waves.  It is a physical phenomenon such as voltage , current laser etc.</a:t>
            </a:r>
          </a:p>
          <a:p>
            <a:endParaRPr lang="en-US" sz="2000"/>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EF2ECF96-2C47-1A4E-A5E8-C6BFA9208E55}"/>
              </a:ext>
            </a:extLst>
          </p:cNvPr>
          <p:cNvSpPr/>
          <p:nvPr/>
        </p:nvSpPr>
        <p:spPr>
          <a:xfrm>
            <a:off x="4072546" y="252943"/>
            <a:ext cx="4773270"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altLang="en-US" sz="3200" b="1">
                <a:solidFill>
                  <a:srgbClr val="FF0000"/>
                </a:solidFill>
              </a:rPr>
              <a:t>本科目の概要</a:t>
            </a:r>
            <a:r>
              <a:rPr lang="ja-JP" altLang="en-US" sz="1100" b="1">
                <a:solidFill>
                  <a:srgbClr val="FF0000"/>
                </a:solidFill>
              </a:rPr>
              <a:t> </a:t>
            </a:r>
            <a:r>
              <a:rPr lang="en-US" altLang="ja-JP" sz="1100" b="1">
                <a:solidFill>
                  <a:schemeClr val="tx1"/>
                </a:solidFill>
              </a:rPr>
              <a:t>overview</a:t>
            </a:r>
            <a:r>
              <a:rPr lang="ja-JP" altLang="en-US" sz="3200" b="1">
                <a:solidFill>
                  <a:srgbClr val="FF0000"/>
                </a:solidFill>
              </a:rPr>
              <a:t> </a:t>
            </a:r>
            <a:endParaRPr lang="en-US" sz="3200">
              <a:solidFill>
                <a:srgbClr val="FF0000"/>
              </a:solidFill>
            </a:endParaRPr>
          </a:p>
        </p:txBody>
      </p: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Tree>
    <p:extLst>
      <p:ext uri="{BB962C8B-B14F-4D97-AF65-F5344CB8AC3E}">
        <p14:creationId xmlns:p14="http://schemas.microsoft.com/office/powerpoint/2010/main" val="157966122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315028" y="464955"/>
            <a:ext cx="5335105" cy="381684"/>
          </a:xfrm>
        </p:spPr>
        <p:txBody>
          <a:bodyPr/>
          <a:lstStyle/>
          <a:p>
            <a:r>
              <a:rPr lang="en-US" sz="2800" b="1"/>
              <a:t>                               6</a:t>
            </a:r>
          </a:p>
        </p:txBody>
      </p:sp>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3785652"/>
          </a:xfrm>
          <a:prstGeom prst="rect">
            <a:avLst/>
          </a:prstGeom>
          <a:noFill/>
        </p:spPr>
        <p:txBody>
          <a:bodyPr wrap="square" rtlCol="0">
            <a:spAutoFit/>
          </a:bodyPr>
          <a:lstStyle/>
          <a:p>
            <a:pPr algn="l"/>
            <a:r>
              <a:rPr lang="ja-JP" altLang="en-US" sz="2400" b="1"/>
              <a:t>アナログ信号処理：ハードウェア（電気・電子回路）による信号波に対する処理</a:t>
            </a:r>
            <a:endParaRPr lang="en-US" altLang="ja-JP" sz="2400" b="1"/>
          </a:p>
          <a:p>
            <a:pPr algn="l"/>
            <a:r>
              <a:rPr lang="en-US" altLang="ja-JP" sz="1200" b="1"/>
              <a:t>Analog signal processing : processing of signal waves by hardware</a:t>
            </a:r>
            <a:endParaRPr lang="ja-JP" altLang="en-US" sz="1200" b="1"/>
          </a:p>
          <a:p>
            <a:pPr algn="l"/>
            <a:r>
              <a:rPr lang="ja-JP" altLang="en-US" sz="1200" b="1"/>
              <a:t>応用例：</a:t>
            </a:r>
            <a:r>
              <a:rPr lang="en-US" altLang="ja-JP" sz="1200" b="1"/>
              <a:t>TV</a:t>
            </a:r>
            <a:r>
              <a:rPr lang="ja-JP" altLang="en-US" sz="1200" b="1"/>
              <a:t>（昭和期の</a:t>
            </a:r>
            <a:r>
              <a:rPr lang="en-US" altLang="ja-JP" sz="1200" b="1"/>
              <a:t>NTSC</a:t>
            </a:r>
            <a:r>
              <a:rPr lang="ja-JP" altLang="en-US" sz="1200" b="1"/>
              <a:t>），ラジオ（</a:t>
            </a:r>
            <a:r>
              <a:rPr lang="en-US" altLang="ja-JP" sz="1200" b="1"/>
              <a:t>AM</a:t>
            </a:r>
            <a:r>
              <a:rPr lang="ja-JP" altLang="en-US" sz="1200" b="1" err="1"/>
              <a:t>，</a:t>
            </a:r>
            <a:r>
              <a:rPr lang="en-US" altLang="ja-JP" sz="1200" b="1"/>
              <a:t>FM</a:t>
            </a:r>
            <a:r>
              <a:rPr lang="ja-JP" altLang="en-US" sz="1200" b="1"/>
              <a:t> ）， テープレコーダ（カセット，</a:t>
            </a:r>
            <a:r>
              <a:rPr lang="en-US" altLang="ja-JP" sz="1200" b="1"/>
              <a:t>VHS</a:t>
            </a:r>
            <a:r>
              <a:rPr lang="ja-JP" altLang="en-US" sz="1200" b="1"/>
              <a:t>）， 電子楽器（エレキギター，エフェクタ，シンセサイザ，等），</a:t>
            </a:r>
            <a:r>
              <a:rPr lang="en-US" altLang="ja-JP" sz="1200" b="1"/>
              <a:t>...</a:t>
            </a:r>
          </a:p>
          <a:p>
            <a:pPr algn="l"/>
            <a:r>
              <a:rPr lang="en-US" altLang="ja-JP" sz="1200" b="1" err="1"/>
              <a:t>Eg</a:t>
            </a:r>
            <a:r>
              <a:rPr lang="en-US" altLang="ja-JP" sz="1200" b="1"/>
              <a:t>. TV (NTSC), radio (AM,FM), tape recorder (cassette, VHS) electronic musical instruments (electric guitar, effector , synthesizer)</a:t>
            </a:r>
          </a:p>
          <a:p>
            <a:pPr algn="l"/>
            <a:endParaRPr lang="en-US" altLang="ja-JP" sz="1200" b="1"/>
          </a:p>
          <a:p>
            <a:pPr algn="l"/>
            <a:endParaRPr lang="en-US" altLang="ja-JP" sz="1200" b="1"/>
          </a:p>
          <a:p>
            <a:pPr algn="l"/>
            <a:r>
              <a:rPr lang="ja-JP" altLang="en-US" sz="1200" b="1"/>
              <a:t>アナログ信号の特徴：生成・変換の直後には原信号に忠実であっても，伝送・記録に伴い劣化し易い．</a:t>
            </a:r>
            <a:endParaRPr lang="en-US" altLang="ja-JP" sz="1200" b="1"/>
          </a:p>
          <a:p>
            <a:r>
              <a:rPr lang="en-US" altLang="ja-JP" sz="1200"/>
              <a:t>Characteristics of analog signals: Even if they </a:t>
            </a:r>
            <a:r>
              <a:rPr lang="en-US" altLang="ja-JP" sz="1200" b="1"/>
              <a:t>are faithful to the original signal</a:t>
            </a:r>
            <a:r>
              <a:rPr lang="en-US" altLang="ja-JP" sz="1200"/>
              <a:t> immediately after </a:t>
            </a:r>
            <a:r>
              <a:rPr lang="en-US" altLang="ja-JP" sz="1200" b="1"/>
              <a:t>generation and conversion</a:t>
            </a:r>
            <a:r>
              <a:rPr lang="en-US" altLang="ja-JP" sz="1200"/>
              <a:t>, they are </a:t>
            </a:r>
            <a:r>
              <a:rPr lang="en-US" altLang="ja-JP" sz="1200" b="1"/>
              <a:t>easily degraded </a:t>
            </a:r>
            <a:r>
              <a:rPr lang="en-US" altLang="ja-JP" sz="1200"/>
              <a:t>during transmission and recording.</a:t>
            </a:r>
          </a:p>
          <a:p>
            <a:endParaRPr lang="ja-JP" altLang="en-US" sz="1200" b="1"/>
          </a:p>
          <a:p>
            <a:pPr algn="l"/>
            <a:r>
              <a:rPr lang="en-US" altLang="ja-JP" sz="2400" b="1"/>
              <a:t>a. </a:t>
            </a:r>
            <a:r>
              <a:rPr lang="ja-JP" altLang="en-US" sz="2400" b="1"/>
              <a:t>時間的にも強度的にも連続的 </a:t>
            </a:r>
            <a:r>
              <a:rPr lang="en-US" altLang="ja-JP" sz="1200" b="1"/>
              <a:t>"continuous" → </a:t>
            </a:r>
            <a:r>
              <a:rPr lang="ja-JP" altLang="en-US" sz="2400" b="1"/>
              <a:t>情報量は無限 </a:t>
            </a:r>
            <a:r>
              <a:rPr lang="en-US" altLang="ja-JP" sz="1200" b="1"/>
              <a:t>"infinite“</a:t>
            </a:r>
          </a:p>
          <a:p>
            <a:pPr algn="l"/>
            <a:r>
              <a:rPr lang="en-US" altLang="ja-JP" sz="1200" b="1"/>
              <a:t> </a:t>
            </a:r>
            <a:r>
              <a:rPr lang="en-US" altLang="ja-JP" sz="1200" b="1">
                <a:sym typeface="Wingdings" panose="05000000000000000000" pitchFamily="2" charset="2"/>
              </a:rPr>
              <a:t> </a:t>
            </a:r>
            <a:r>
              <a:rPr lang="en-US" altLang="ja-JP" sz="1200">
                <a:sym typeface="Wingdings" panose="05000000000000000000" pitchFamily="2" charset="2"/>
              </a:rPr>
              <a:t>In time and intensity “continuous”     Infinite amount of information</a:t>
            </a:r>
          </a:p>
          <a:p>
            <a:pPr algn="l"/>
            <a:endParaRPr lang="en-US" altLang="ja-JP" sz="1200">
              <a:sym typeface="Wingdings" panose="05000000000000000000" pitchFamily="2" charset="2"/>
            </a:endParaRPr>
          </a:p>
          <a:p>
            <a:pPr algn="l"/>
            <a:endParaRPr lang="en-US" altLang="ja-JP" sz="1200"/>
          </a:p>
          <a:p>
            <a:pPr algn="l"/>
            <a:r>
              <a:rPr lang="en-US" altLang="ja-JP" sz="2400" b="1"/>
              <a:t>b. </a:t>
            </a:r>
            <a:r>
              <a:rPr lang="ja-JP" altLang="en-US" sz="2400" b="1"/>
              <a:t>劣化の種類</a:t>
            </a:r>
            <a:r>
              <a:rPr lang="ja-JP" altLang="en-US" sz="1200" b="1"/>
              <a:t>：</a:t>
            </a:r>
            <a:r>
              <a:rPr lang="ja-JP" altLang="en-US" sz="2400" b="1"/>
              <a:t>波形の歪 </a:t>
            </a:r>
            <a:r>
              <a:rPr lang="en-US" altLang="ja-JP" sz="1200" b="1"/>
              <a:t>"waveform distortion"</a:t>
            </a:r>
            <a:r>
              <a:rPr lang="ja-JP" altLang="en-US" sz="1200" b="1"/>
              <a:t>，</a:t>
            </a:r>
            <a:r>
              <a:rPr lang="ja-JP" altLang="en-US" sz="2400" b="1"/>
              <a:t>雑音</a:t>
            </a:r>
            <a:r>
              <a:rPr lang="ja-JP" altLang="en-US" sz="1200" b="1"/>
              <a:t> </a:t>
            </a:r>
            <a:r>
              <a:rPr lang="en-US" altLang="ja-JP" sz="1200" b="1"/>
              <a:t>"noise" </a:t>
            </a:r>
            <a:r>
              <a:rPr lang="ja-JP" altLang="en-US" sz="2400" b="1"/>
              <a:t>の混入</a:t>
            </a:r>
            <a:endParaRPr lang="en-US" altLang="ja-JP" sz="2400" b="1"/>
          </a:p>
          <a:p>
            <a:pPr algn="l"/>
            <a:r>
              <a:rPr lang="en-US" altLang="ja-JP" sz="1200"/>
              <a:t>Types of distortion </a:t>
            </a:r>
            <a:r>
              <a:rPr lang="en-US" altLang="ja-JP" sz="1200">
                <a:sym typeface="Wingdings" panose="05000000000000000000" pitchFamily="2" charset="2"/>
              </a:rPr>
              <a:t></a:t>
            </a:r>
            <a:r>
              <a:rPr lang="en-US" altLang="ja-JP" sz="1200"/>
              <a:t> waveform distortion  and inclusion of noise in the waveform</a:t>
            </a:r>
            <a:endParaRPr lang="ja-JP" altLang="en-US" sz="1200"/>
          </a:p>
          <a:p>
            <a:pPr algn="l"/>
            <a:endParaRPr lang="en-US" sz="1200"/>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EF2ECF96-2C47-1A4E-A5E8-C6BFA9208E55}"/>
              </a:ext>
            </a:extLst>
          </p:cNvPr>
          <p:cNvSpPr/>
          <p:nvPr/>
        </p:nvSpPr>
        <p:spPr>
          <a:xfrm>
            <a:off x="4072546" y="252943"/>
            <a:ext cx="4773270"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altLang="en-US" sz="3200">
                <a:solidFill>
                  <a:srgbClr val="FF0000"/>
                </a:solidFill>
              </a:rPr>
              <a:t>アナログ信号</a:t>
            </a:r>
            <a:r>
              <a:rPr lang="en-US" altLang="ja-JP" sz="1100" b="1">
                <a:solidFill>
                  <a:schemeClr val="tx1"/>
                </a:solidFill>
              </a:rPr>
              <a:t>analog signals</a:t>
            </a:r>
            <a:r>
              <a:rPr lang="ja-JP" altLang="en-US" sz="3200" b="1">
                <a:solidFill>
                  <a:srgbClr val="FF0000"/>
                </a:solidFill>
              </a:rPr>
              <a:t> </a:t>
            </a:r>
            <a:endParaRPr lang="en-US" sz="3200">
              <a:solidFill>
                <a:srgbClr val="FF0000"/>
              </a:solidFill>
            </a:endParaRPr>
          </a:p>
        </p:txBody>
      </p:sp>
      <p:pic>
        <p:nvPicPr>
          <p:cNvPr id="11" name="Picture 14">
            <a:extLst>
              <a:ext uri="{FF2B5EF4-FFF2-40B4-BE49-F238E27FC236}">
                <a16:creationId xmlns:a16="http://schemas.microsoft.com/office/drawing/2014/main" id="{B9A477C1-50FC-E9F3-DB09-6BE1FA1BF1BF}"/>
              </a:ext>
            </a:extLst>
          </p:cNvPr>
          <p:cNvPicPr>
            <a:picLocks noChangeAspect="1"/>
          </p:cNvPicPr>
          <p:nvPr/>
        </p:nvPicPr>
        <p:blipFill>
          <a:blip r:embed="rId3"/>
          <a:stretch>
            <a:fillRect/>
          </a:stretch>
        </p:blipFill>
        <p:spPr>
          <a:xfrm>
            <a:off x="8982580" y="4218764"/>
            <a:ext cx="3068310" cy="1974707"/>
          </a:xfrm>
          <a:prstGeom prst="rect">
            <a:avLst/>
          </a:prstGeom>
        </p:spPr>
      </p:pic>
      <p:pic>
        <p:nvPicPr>
          <p:cNvPr id="12" name="図 11"/>
          <p:cNvPicPr/>
          <p:nvPr/>
        </p:nvPicPr>
        <p:blipFill>
          <a:blip r:embed="rId4">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3" name="図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Tree>
    <p:extLst>
      <p:ext uri="{BB962C8B-B14F-4D97-AF65-F5344CB8AC3E}">
        <p14:creationId xmlns:p14="http://schemas.microsoft.com/office/powerpoint/2010/main" val="109087667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315028" y="464955"/>
            <a:ext cx="5335105" cy="381684"/>
          </a:xfrm>
        </p:spPr>
        <p:txBody>
          <a:bodyPr/>
          <a:lstStyle/>
          <a:p>
            <a:r>
              <a:rPr lang="en-US" sz="2800" b="1"/>
              <a:t>                               7</a:t>
            </a:r>
          </a:p>
        </p:txBody>
      </p:sp>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2862322"/>
          </a:xfrm>
          <a:prstGeom prst="rect">
            <a:avLst/>
          </a:prstGeom>
          <a:noFill/>
        </p:spPr>
        <p:txBody>
          <a:bodyPr wrap="square" rtlCol="0">
            <a:spAutoFit/>
          </a:bodyPr>
          <a:lstStyle/>
          <a:p>
            <a:r>
              <a:rPr lang="en-US" altLang="ja-JP" sz="2400" b="1"/>
              <a:t>c.</a:t>
            </a:r>
            <a:r>
              <a:rPr lang="ja-JP" altLang="en-US" sz="2400" b="1"/>
              <a:t>記録による劣化：記録媒体の物理的な変化</a:t>
            </a:r>
            <a:r>
              <a:rPr lang="ja-JP" altLang="en-US" sz="1200" b="1"/>
              <a:t>－</a:t>
            </a:r>
            <a:r>
              <a:rPr lang="en-US" altLang="ja-JP" sz="1200"/>
              <a:t>deterioration due to recording ; physical changes in the recording medium</a:t>
            </a:r>
            <a:endParaRPr lang="ja-JP" altLang="en-US" sz="2400"/>
          </a:p>
          <a:p>
            <a:pPr algn="l"/>
            <a:r>
              <a:rPr lang="ja-JP" altLang="en-US" sz="1200" b="1"/>
              <a:t>         具体例：磁気テープの伸縮→歪，レコード盤の傷→雑音，等</a:t>
            </a:r>
            <a:endParaRPr lang="en-US" altLang="ja-JP" sz="1200" b="1"/>
          </a:p>
          <a:p>
            <a:pPr algn="l"/>
            <a:r>
              <a:rPr lang="en-US" altLang="ja-JP" sz="1200" b="1"/>
              <a:t>          </a:t>
            </a:r>
            <a:r>
              <a:rPr lang="en-US" altLang="ja-JP" sz="1200"/>
              <a:t>Examples ; Expansion and Contraction of magnetic tape , distortion ,scratches on vinyl records, noise etc. .</a:t>
            </a:r>
          </a:p>
          <a:p>
            <a:pPr algn="l"/>
            <a:endParaRPr lang="en-US" altLang="ja-JP" sz="1200"/>
          </a:p>
          <a:p>
            <a:pPr algn="l"/>
            <a:endParaRPr lang="en-US" altLang="ja-JP" sz="1200"/>
          </a:p>
          <a:p>
            <a:pPr algn="l"/>
            <a:endParaRPr lang="en-US" altLang="ja-JP" sz="1200" b="1"/>
          </a:p>
          <a:p>
            <a:pPr algn="l"/>
            <a:endParaRPr lang="ja-JP" altLang="en-US" sz="1200" b="1"/>
          </a:p>
          <a:p>
            <a:pPr algn="l"/>
            <a:r>
              <a:rPr lang="en-US" altLang="ja-JP" sz="2400" b="1"/>
              <a:t>d. </a:t>
            </a:r>
            <a:r>
              <a:rPr lang="ja-JP" altLang="en-US" sz="2400" b="1"/>
              <a:t>伝送による劣化：伝送路の周波数特性  </a:t>
            </a:r>
            <a:r>
              <a:rPr lang="en-US" altLang="ja-JP" sz="1200" b="1"/>
              <a:t>- </a:t>
            </a:r>
            <a:r>
              <a:rPr lang="en-US" altLang="ja-JP" sz="1200"/>
              <a:t>distortion due to transmission ; Frequency response of transmission lines</a:t>
            </a:r>
          </a:p>
          <a:p>
            <a:pPr algn="l"/>
            <a:endParaRPr lang="ja-JP" altLang="en-US" sz="2400"/>
          </a:p>
          <a:p>
            <a:pPr algn="l"/>
            <a:r>
              <a:rPr lang="ja-JP" altLang="en-US" sz="1200" b="1"/>
              <a:t>具体例：周波数による伝わりやすさ（速度や減衰）の差異→ 伝送の前後でスペクトルが変化→歪，混信→ 雑音</a:t>
            </a:r>
            <a:endParaRPr lang="en-US" altLang="ja-JP" sz="1200" b="1"/>
          </a:p>
          <a:p>
            <a:pPr algn="l"/>
            <a:r>
              <a:rPr lang="en-US" sz="1200"/>
              <a:t>Example ; Difference in ease of transmission (speed and attenuation) due to frequency </a:t>
            </a:r>
            <a:r>
              <a:rPr lang="en-US" sz="1200">
                <a:sym typeface="Wingdings" panose="05000000000000000000" pitchFamily="2" charset="2"/>
              </a:rPr>
              <a:t> Spectrum changes </a:t>
            </a:r>
          </a:p>
          <a:p>
            <a:pPr algn="l"/>
            <a:r>
              <a:rPr lang="en-US" sz="1200">
                <a:sym typeface="Wingdings" panose="05000000000000000000" pitchFamily="2" charset="2"/>
              </a:rPr>
              <a:t>before and after transmission  distortion , interference  Noise </a:t>
            </a:r>
            <a:endParaRPr lang="en-US" sz="1200"/>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EF2ECF96-2C47-1A4E-A5E8-C6BFA9208E55}"/>
              </a:ext>
            </a:extLst>
          </p:cNvPr>
          <p:cNvSpPr/>
          <p:nvPr/>
        </p:nvSpPr>
        <p:spPr>
          <a:xfrm>
            <a:off x="4072546" y="252943"/>
            <a:ext cx="4773270"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altLang="en-US" sz="3200">
                <a:solidFill>
                  <a:srgbClr val="FF0000"/>
                </a:solidFill>
              </a:rPr>
              <a:t>アナログ信号</a:t>
            </a:r>
            <a:r>
              <a:rPr lang="en-US" altLang="ja-JP" sz="1100" b="1">
                <a:solidFill>
                  <a:schemeClr val="tx1"/>
                </a:solidFill>
              </a:rPr>
              <a:t>analog signals</a:t>
            </a:r>
            <a:r>
              <a:rPr lang="ja-JP" altLang="en-US" sz="3200" b="1">
                <a:solidFill>
                  <a:srgbClr val="FF0000"/>
                </a:solidFill>
              </a:rPr>
              <a:t> </a:t>
            </a:r>
            <a:endParaRPr lang="en-US" sz="3200">
              <a:solidFill>
                <a:srgbClr val="FF0000"/>
              </a:solidFill>
            </a:endParaRPr>
          </a:p>
        </p:txBody>
      </p:sp>
      <p:pic>
        <p:nvPicPr>
          <p:cNvPr id="12" name="図 11"/>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3" name="図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pic>
        <p:nvPicPr>
          <p:cNvPr id="14" name="Picture 6">
            <a:extLst>
              <a:ext uri="{FF2B5EF4-FFF2-40B4-BE49-F238E27FC236}">
                <a16:creationId xmlns:a16="http://schemas.microsoft.com/office/drawing/2014/main" id="{B87984C1-0633-960C-A54F-F1F45A9228C1}"/>
              </a:ext>
            </a:extLst>
          </p:cNvPr>
          <p:cNvPicPr>
            <a:picLocks noChangeAspect="1"/>
          </p:cNvPicPr>
          <p:nvPr/>
        </p:nvPicPr>
        <p:blipFill>
          <a:blip r:embed="rId5"/>
          <a:stretch>
            <a:fillRect/>
          </a:stretch>
        </p:blipFill>
        <p:spPr>
          <a:xfrm>
            <a:off x="8159720" y="4661178"/>
            <a:ext cx="4032280" cy="1483514"/>
          </a:xfrm>
          <a:prstGeom prst="rect">
            <a:avLst/>
          </a:prstGeom>
        </p:spPr>
      </p:pic>
    </p:spTree>
    <p:extLst>
      <p:ext uri="{BB962C8B-B14F-4D97-AF65-F5344CB8AC3E}">
        <p14:creationId xmlns:p14="http://schemas.microsoft.com/office/powerpoint/2010/main" val="157322941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315028" y="464955"/>
            <a:ext cx="5335105" cy="381684"/>
          </a:xfrm>
        </p:spPr>
        <p:txBody>
          <a:bodyPr/>
          <a:lstStyle/>
          <a:p>
            <a:r>
              <a:rPr lang="en-US" sz="2800" b="1"/>
              <a:t>                               8</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045275"/>
              </a:xfrm>
              <a:prstGeom prst="rect">
                <a:avLst/>
              </a:prstGeom>
              <a:noFill/>
            </p:spPr>
            <p:txBody>
              <a:bodyPr wrap="square" rtlCol="0">
                <a:spAutoFit/>
              </a:bodyPr>
              <a:lstStyle/>
              <a:p>
                <a:pPr marL="228600" indent="-228600">
                  <a:buAutoNum type="alphaLcPeriod"/>
                </a:pPr>
                <a:r>
                  <a:rPr lang="ja-JP" altLang="en-US" sz="2400"/>
                  <a:t>周波数スペクトル </a:t>
                </a:r>
                <a:r>
                  <a:rPr lang="en-US" altLang="ja-JP" sz="2400"/>
                  <a:t>"frequency spectrum"</a:t>
                </a:r>
                <a:r>
                  <a:rPr lang="ja-JP" altLang="en-US" sz="2400"/>
                  <a:t>：信号 </a:t>
                </a:r>
                <a:r>
                  <a:rPr lang="en-US" altLang="ja-JP" sz="2400"/>
                  <a:t>X(t) </a:t>
                </a:r>
                <a:r>
                  <a:rPr lang="ja-JP" altLang="en-US" sz="2400"/>
                  <a:t>を構成する周波数成分の分布 </a:t>
                </a:r>
                <a:r>
                  <a:rPr lang="en-US" altLang="ja-JP" sz="2400"/>
                  <a:t>X(w)</a:t>
                </a:r>
              </a:p>
              <a:p>
                <a:r>
                  <a:rPr lang="en-US" altLang="ja-JP" sz="1200"/>
                  <a:t>    Frequency Spectrum: Distribution of the frequency components that make up a signal</a:t>
                </a:r>
              </a:p>
              <a:p>
                <a:pPr marL="228600" indent="-228600">
                  <a:buAutoNum type="alphaLcPeriod"/>
                </a:pPr>
                <a:endParaRPr lang="en-US" altLang="ja-JP" sz="1200"/>
              </a:p>
              <a:p>
                <a:r>
                  <a:rPr lang="en-US" altLang="ja-JP" sz="2400"/>
                  <a:t>b. </a:t>
                </a:r>
                <a:r>
                  <a:rPr lang="ja-JP" altLang="en-US" sz="2400"/>
                  <a:t>フーリエ級数展開 </a:t>
                </a:r>
                <a:r>
                  <a:rPr lang="en-US" altLang="ja-JP" sz="2400"/>
                  <a:t>"Fourier series expansion"</a:t>
                </a:r>
                <a:r>
                  <a:rPr lang="ja-JP" altLang="en-US" sz="2400"/>
                  <a:t>：任意の周期波形＝</a:t>
                </a:r>
                <a:r>
                  <a:rPr lang="en-US" altLang="ja-JP" sz="2400"/>
                  <a:t>1/k</a:t>
                </a:r>
                <a:r>
                  <a:rPr lang="ja-JP" altLang="en-US" sz="2400"/>
                  <a:t>周期の正弦波の和</a:t>
                </a:r>
                <a:endParaRPr lang="en-US" altLang="ja-JP" sz="2400"/>
              </a:p>
              <a:p>
                <a:r>
                  <a:rPr lang="en-US" altLang="ja-JP" sz="1200"/>
                  <a:t>   Fourier series expansion : Sum of sinusoids of arbitrary periodic waveforms  = 1/k period</a:t>
                </a:r>
              </a:p>
              <a:p>
                <a:pPr marL="228600" indent="-228600">
                  <a:buFontTx/>
                  <a:buAutoNum type="alphaLcPeriod"/>
                </a:pPr>
                <a:endParaRPr lang="en-US" altLang="ja-JP" sz="1200"/>
              </a:p>
              <a:p>
                <a:r>
                  <a:rPr lang="en-US" altLang="ja-JP" sz="1200"/>
                  <a:t>                                                                                                                        </a:t>
                </a:r>
                <a14:m>
                  <m:oMath xmlns:m="http://schemas.openxmlformats.org/officeDocument/2006/math">
                    <m:r>
                      <a:rPr lang="en-US" altLang="ja-JP" sz="1200" i="1" dirty="0" smtClean="0">
                        <a:latin typeface="Cambria Math" panose="02040503050406030204" pitchFamily="18" charset="0"/>
                      </a:rPr>
                      <m:t>𝑥</m:t>
                    </m:r>
                    <m:d>
                      <m:dPr>
                        <m:ctrlPr>
                          <a:rPr lang="en-US" altLang="ja-JP" sz="1200" i="1" dirty="0" smtClean="0">
                            <a:latin typeface="Cambria Math" panose="02040503050406030204" pitchFamily="18" charset="0"/>
                          </a:rPr>
                        </m:ctrlPr>
                      </m:dPr>
                      <m:e>
                        <m:r>
                          <a:rPr lang="en-US" altLang="ja-JP" sz="1200" i="1" dirty="0" smtClean="0">
                            <a:latin typeface="Cambria Math" panose="02040503050406030204" pitchFamily="18" charset="0"/>
                          </a:rPr>
                          <m:t>𝑡</m:t>
                        </m:r>
                      </m:e>
                    </m:d>
                    <m:r>
                      <a:rPr lang="en-US" altLang="ja-JP" sz="1200" i="0" dirty="0" smtClean="0">
                        <a:latin typeface="Cambria Math" panose="02040503050406030204" pitchFamily="18" charset="0"/>
                      </a:rPr>
                      <m:t>=</m:t>
                    </m:r>
                    <m:nary>
                      <m:naryPr>
                        <m:chr m:val="∑"/>
                        <m:limLoc m:val="undOvr"/>
                        <m:grow m:val="on"/>
                        <m:ctrlPr>
                          <a:rPr lang="en-US" altLang="ja-JP" sz="1200" i="1" dirty="0" smtClean="0">
                            <a:latin typeface="Cambria Math" panose="02040503050406030204" pitchFamily="18" charset="0"/>
                          </a:rPr>
                        </m:ctrlPr>
                      </m:naryPr>
                      <m:sub>
                        <m:sSub>
                          <m:sSubPr>
                            <m:ctrlPr>
                              <a:rPr lang="en-US" altLang="ja-JP" sz="1200" i="1" dirty="0" smtClean="0">
                                <a:latin typeface="Cambria Math" panose="02040503050406030204" pitchFamily="18" charset="0"/>
                              </a:rPr>
                            </m:ctrlPr>
                          </m:sSubPr>
                          <m:e>
                            <m:r>
                              <a:rPr lang="en-US" altLang="ja-JP" sz="1200" i="1" dirty="0" smtClean="0">
                                <a:latin typeface="Cambria Math" panose="02040503050406030204" pitchFamily="18" charset="0"/>
                              </a:rPr>
                              <m:t>𝑧</m:t>
                            </m:r>
                          </m:e>
                          <m:sub>
                            <m:r>
                              <a:rPr lang="en-US" altLang="ja-JP" sz="1200" i="0" dirty="0" smtClean="0">
                                <a:latin typeface="Cambria Math" panose="02040503050406030204" pitchFamily="18" charset="0"/>
                              </a:rPr>
                              <m:t>−</m:t>
                            </m:r>
                          </m:sub>
                        </m:sSub>
                      </m:sub>
                      <m:sup>
                        <m:r>
                          <a:rPr lang="en-US" altLang="ja-JP" sz="1200" i="0" dirty="0" smtClean="0">
                            <a:latin typeface="Cambria Math" panose="02040503050406030204" pitchFamily="18" charset="0"/>
                          </a:rPr>
                          <m:t>∞</m:t>
                        </m:r>
                      </m:sup>
                      <m:e>
                        <m:sSup>
                          <m:sSupPr>
                            <m:ctrlPr>
                              <a:rPr lang="en-US" altLang="ja-JP" sz="1200" i="1" dirty="0" smtClean="0">
                                <a:latin typeface="Cambria Math" panose="02040503050406030204" pitchFamily="18" charset="0"/>
                              </a:rPr>
                            </m:ctrlPr>
                          </m:sSupPr>
                          <m:e>
                            <m:sSub>
                              <m:sSubPr>
                                <m:ctrlPr>
                                  <a:rPr lang="en-US" altLang="ja-JP" sz="1200" i="1" dirty="0" smtClean="0">
                                    <a:latin typeface="Cambria Math" panose="02040503050406030204" pitchFamily="18" charset="0"/>
                                  </a:rPr>
                                </m:ctrlPr>
                              </m:sSubPr>
                              <m:e>
                                <m:r>
                                  <a:rPr lang="en-US" altLang="ja-JP" sz="1200" b="0" i="1" dirty="0" smtClean="0">
                                    <a:latin typeface="Cambria Math" panose="02040503050406030204" pitchFamily="18" charset="0"/>
                                  </a:rPr>
                                  <m:t>𝑋</m:t>
                                </m:r>
                              </m:e>
                              <m:sub>
                                <m:r>
                                  <a:rPr lang="en-US" altLang="ja-JP" sz="1200" i="1" dirty="0">
                                    <a:latin typeface="Cambria Math" panose="02040503050406030204" pitchFamily="18" charset="0"/>
                                  </a:rPr>
                                  <m:t>𝑘</m:t>
                                </m:r>
                              </m:sub>
                            </m:sSub>
                          </m:e>
                          <m:sup>
                            <m:d>
                              <m:dPr>
                                <m:ctrlPr>
                                  <a:rPr lang="en-US" altLang="ja-JP" sz="1200" i="1" dirty="0" smtClean="0">
                                    <a:latin typeface="Cambria Math" panose="02040503050406030204" pitchFamily="18" charset="0"/>
                                  </a:rPr>
                                </m:ctrlPr>
                              </m:dPr>
                              <m:e>
                                <m:r>
                                  <a:rPr lang="en-US" altLang="ja-JP" sz="1200" b="0" i="1" dirty="0" smtClean="0">
                                    <a:latin typeface="Cambria Math" panose="02040503050406030204" pitchFamily="18" charset="0"/>
                                  </a:rPr>
                                  <m:t>𝑒</m:t>
                                </m:r>
                                <m:r>
                                  <a:rPr lang="en-US" altLang="ja-JP" sz="1200" i="1" dirty="0" smtClean="0">
                                    <a:latin typeface="Cambria Math" panose="02040503050406030204" pitchFamily="18" charset="0"/>
                                  </a:rPr>
                                  <m:t>𝑥𝑝</m:t>
                                </m:r>
                              </m:e>
                            </m:d>
                            <m:r>
                              <a:rPr lang="en-US" altLang="ja-JP" sz="1200" b="0" i="1" dirty="0" smtClean="0">
                                <a:latin typeface="Cambria Math" panose="02040503050406030204" pitchFamily="18" charset="0"/>
                              </a:rPr>
                              <m:t>𝑗</m:t>
                            </m:r>
                            <m:sSub>
                              <m:sSubPr>
                                <m:ctrlPr>
                                  <a:rPr lang="en-US" altLang="ja-JP" sz="1200" i="1" dirty="0" smtClean="0">
                                    <a:latin typeface="Cambria Math" panose="02040503050406030204" pitchFamily="18" charset="0"/>
                                  </a:rPr>
                                </m:ctrlPr>
                              </m:sSubPr>
                              <m:e>
                                <m:r>
                                  <a:rPr lang="en-US" altLang="ja-JP" sz="1200" i="1" dirty="0" smtClean="0">
                                    <a:latin typeface="Cambria Math" panose="02040503050406030204" pitchFamily="18" charset="0"/>
                                  </a:rPr>
                                  <m:t>𝜔</m:t>
                                </m:r>
                              </m:e>
                              <m:sub>
                                <m:r>
                                  <a:rPr lang="en-US" altLang="ja-JP" sz="1200" i="1" dirty="0" smtClean="0">
                                    <a:latin typeface="Cambria Math" panose="02040503050406030204" pitchFamily="18" charset="0"/>
                                  </a:rPr>
                                  <m:t>𝑘</m:t>
                                </m:r>
                              </m:sub>
                            </m:sSub>
                            <m:r>
                              <m:rPr>
                                <m:sty m:val="p"/>
                              </m:rPr>
                              <a:rPr lang="en-US" altLang="ja-JP" sz="1200" b="0" i="0" dirty="0" smtClean="0">
                                <a:latin typeface="Cambria Math" panose="02040503050406030204" pitchFamily="18" charset="0"/>
                              </a:rPr>
                              <m:t>t</m:t>
                            </m:r>
                            <m:r>
                              <a:rPr lang="en-US" altLang="ja-JP" sz="1200" b="0" i="0" dirty="0" smtClean="0">
                                <a:latin typeface="Cambria Math" panose="02040503050406030204" pitchFamily="18" charset="0"/>
                              </a:rPr>
                              <m:t> ,     </m:t>
                            </m:r>
                          </m:sup>
                        </m:sSup>
                        <m:sSub>
                          <m:sSubPr>
                            <m:ctrlPr>
                              <a:rPr lang="en-US" altLang="ja-JP" sz="1200" i="1" dirty="0" smtClean="0">
                                <a:latin typeface="Cambria Math" panose="02040503050406030204" pitchFamily="18" charset="0"/>
                              </a:rPr>
                            </m:ctrlPr>
                          </m:sSubPr>
                          <m:e>
                            <m:r>
                              <a:rPr lang="en-US" altLang="ja-JP" sz="1200" i="1" dirty="0">
                                <a:latin typeface="Cambria Math" panose="02040503050406030204" pitchFamily="18" charset="0"/>
                              </a:rPr>
                              <m:t>𝜔</m:t>
                            </m:r>
                          </m:e>
                          <m:sub>
                            <m:r>
                              <a:rPr lang="en-US" altLang="ja-JP" sz="1200" i="1" dirty="0">
                                <a:latin typeface="Cambria Math" panose="02040503050406030204" pitchFamily="18" charset="0"/>
                              </a:rPr>
                              <m:t>𝑘</m:t>
                            </m:r>
                          </m:sub>
                        </m:sSub>
                      </m:e>
                    </m:nary>
                    <m:r>
                      <a:rPr lang="en-US" altLang="ja-JP" sz="1200" i="0" dirty="0" smtClean="0">
                        <a:latin typeface="Cambria Math" panose="02040503050406030204" pitchFamily="18" charset="0"/>
                      </a:rPr>
                      <m:t>=</m:t>
                    </m:r>
                    <m:f>
                      <m:fPr>
                        <m:ctrlPr>
                          <a:rPr lang="en-US" altLang="ja-JP" sz="1200" i="1" dirty="0" smtClean="0">
                            <a:latin typeface="Cambria Math" panose="02040503050406030204" pitchFamily="18" charset="0"/>
                          </a:rPr>
                        </m:ctrlPr>
                      </m:fPr>
                      <m:num>
                        <m:r>
                          <a:rPr lang="en-US" altLang="ja-JP" sz="1200" i="0" dirty="0" smtClean="0">
                            <a:latin typeface="Cambria Math" panose="02040503050406030204" pitchFamily="18" charset="0"/>
                          </a:rPr>
                          <m:t>2</m:t>
                        </m:r>
                        <m:r>
                          <a:rPr lang="en-US" altLang="ja-JP" sz="1200" i="1" dirty="0" smtClean="0">
                            <a:latin typeface="Cambria Math" panose="02040503050406030204" pitchFamily="18" charset="0"/>
                          </a:rPr>
                          <m:t>𝜋</m:t>
                        </m:r>
                        <m:r>
                          <a:rPr lang="en-US" altLang="ja-JP" sz="1200" i="1" dirty="0" smtClean="0">
                            <a:latin typeface="Cambria Math" panose="02040503050406030204" pitchFamily="18" charset="0"/>
                          </a:rPr>
                          <m:t>𝑘</m:t>
                        </m:r>
                      </m:num>
                      <m:den>
                        <m:r>
                          <a:rPr lang="en-US" altLang="ja-JP" sz="1200" i="1" dirty="0" smtClean="0">
                            <a:latin typeface="Cambria Math" panose="02040503050406030204" pitchFamily="18" charset="0"/>
                          </a:rPr>
                          <m:t>𝑇</m:t>
                        </m:r>
                      </m:den>
                    </m:f>
                  </m:oMath>
                </a14:m>
                <a:endParaRPr lang="en-US" altLang="ja-JP" sz="1200"/>
              </a:p>
              <a:p>
                <a:r>
                  <a:rPr lang="en-US" altLang="ja-JP" sz="1200"/>
                  <a:t>                                                                                            </a:t>
                </a:r>
              </a:p>
              <a:p>
                <a:endParaRPr lang="en-US" altLang="ja-JP" sz="2400"/>
              </a:p>
              <a:p>
                <a:r>
                  <a:rPr lang="en-US" altLang="ja-JP" sz="2400"/>
                  <a:t>c.</a:t>
                </a:r>
                <a:r>
                  <a:rPr lang="ja-JP" altLang="en-US" sz="2400"/>
                  <a:t>フーリエ変換 </a:t>
                </a:r>
                <a:r>
                  <a:rPr lang="en-US" altLang="ja-JP" sz="2400"/>
                  <a:t>"Fourier transform"</a:t>
                </a:r>
                <a:r>
                  <a:rPr lang="ja-JP" altLang="en-US" sz="2400"/>
                  <a:t>：任意の波形＝あらゆる周波数の正弦波の和</a:t>
                </a:r>
                <a:endParaRPr lang="en-US" altLang="ja-JP" sz="2400"/>
              </a:p>
              <a:p>
                <a:r>
                  <a:rPr lang="en-US" altLang="ja-JP" sz="1200"/>
                  <a:t>      Fourier Transform : Arbitrary waveform = sum of sine waves of all frequencies </a:t>
                </a:r>
              </a:p>
              <a:p>
                <a:br>
                  <a:rPr lang="ja-JP" altLang="en-US" sz="1200"/>
                </a:br>
                <a:r>
                  <a:rPr lang="ja-JP" altLang="en-US" sz="1200"/>
                  <a:t>                                                                                                                        </a:t>
                </a:r>
                <a14:m>
                  <m:oMath xmlns:m="http://schemas.openxmlformats.org/officeDocument/2006/math">
                    <m:r>
                      <a:rPr lang="en-US" altLang="ja-JP" sz="1200" i="1" dirty="0" smtClean="0">
                        <a:latin typeface="Cambria Math" panose="02040503050406030204" pitchFamily="18" charset="0"/>
                      </a:rPr>
                      <m:t>𝑥</m:t>
                    </m:r>
                    <m:d>
                      <m:dPr>
                        <m:ctrlPr>
                          <a:rPr lang="en-US" altLang="ja-JP" sz="1200" i="1" dirty="0" smtClean="0">
                            <a:latin typeface="Cambria Math" panose="02040503050406030204" pitchFamily="18" charset="0"/>
                          </a:rPr>
                        </m:ctrlPr>
                      </m:dPr>
                      <m:e>
                        <m:r>
                          <a:rPr lang="en-US" altLang="ja-JP" sz="1200" i="1" dirty="0" smtClean="0">
                            <a:latin typeface="Cambria Math" panose="02040503050406030204" pitchFamily="18" charset="0"/>
                          </a:rPr>
                          <m:t>𝑡</m:t>
                        </m:r>
                      </m:e>
                    </m:d>
                    <m:r>
                      <a:rPr lang="en-US" altLang="ja-JP" sz="1200" i="0" dirty="0" smtClean="0">
                        <a:latin typeface="Cambria Math" panose="02040503050406030204" pitchFamily="18" charset="0"/>
                      </a:rPr>
                      <m:t>=</m:t>
                    </m:r>
                    <m:nary>
                      <m:naryPr>
                        <m:limLoc m:val="subSup"/>
                        <m:grow m:val="on"/>
                        <m:ctrlPr>
                          <a:rPr lang="en-US" altLang="ja-JP" sz="1200" i="1" dirty="0" smtClean="0">
                            <a:latin typeface="Cambria Math" panose="02040503050406030204" pitchFamily="18" charset="0"/>
                          </a:rPr>
                        </m:ctrlPr>
                      </m:naryPr>
                      <m:sub>
                        <m:r>
                          <a:rPr lang="en-US" altLang="ja-JP" sz="1200" i="0" dirty="0" smtClean="0">
                            <a:latin typeface="Cambria Math" panose="02040503050406030204" pitchFamily="18" charset="0"/>
                          </a:rPr>
                          <m:t>−</m:t>
                        </m:r>
                        <m:r>
                          <a:rPr lang="en-US" altLang="ja-JP" sz="1200" dirty="0">
                            <a:latin typeface="Cambria Math" panose="02040503050406030204" pitchFamily="18" charset="0"/>
                          </a:rPr>
                          <m:t>∞</m:t>
                        </m:r>
                      </m:sub>
                      <m:sup>
                        <m:r>
                          <a:rPr lang="en-US" altLang="ja-JP" sz="1200" i="0" dirty="0" smtClean="0">
                            <a:latin typeface="Cambria Math" panose="02040503050406030204" pitchFamily="18" charset="0"/>
                          </a:rPr>
                          <m:t>+</m:t>
                        </m:r>
                        <m:r>
                          <a:rPr lang="en-US" altLang="ja-JP" sz="1200" dirty="0">
                            <a:latin typeface="Cambria Math" panose="02040503050406030204" pitchFamily="18" charset="0"/>
                          </a:rPr>
                          <m:t>∞</m:t>
                        </m:r>
                      </m:sup>
                      <m:e>
                        <m:r>
                          <a:rPr lang="en-US" altLang="ja-JP" sz="1200" b="0" i="1" dirty="0" smtClean="0">
                            <a:latin typeface="Cambria Math" panose="02040503050406030204" pitchFamily="18" charset="0"/>
                          </a:rPr>
                          <m:t>  </m:t>
                        </m:r>
                        <m:r>
                          <a:rPr lang="en-US" altLang="ja-JP" sz="1200" b="0" i="1" dirty="0" smtClean="0">
                            <a:latin typeface="Cambria Math" panose="02040503050406030204" pitchFamily="18" charset="0"/>
                          </a:rPr>
                          <m:t>𝑋</m:t>
                        </m:r>
                        <m:d>
                          <m:dPr>
                            <m:ctrlPr>
                              <a:rPr lang="en-US" altLang="ja-JP" sz="1200" i="1" dirty="0" smtClean="0">
                                <a:latin typeface="Cambria Math" panose="02040503050406030204" pitchFamily="18" charset="0"/>
                              </a:rPr>
                            </m:ctrlPr>
                          </m:dPr>
                          <m:e>
                            <m:r>
                              <a:rPr lang="en-US" altLang="ja-JP" sz="1200" i="1" dirty="0" smtClean="0">
                                <a:latin typeface="Cambria Math" panose="02040503050406030204" pitchFamily="18" charset="0"/>
                              </a:rPr>
                              <m:t>𝑤</m:t>
                            </m:r>
                          </m:e>
                        </m:d>
                        <m:func>
                          <m:funcPr>
                            <m:ctrlPr>
                              <a:rPr lang="en-US" altLang="ja-JP" sz="1200" i="1" dirty="0" smtClean="0">
                                <a:latin typeface="Cambria Math" panose="02040503050406030204" pitchFamily="18" charset="0"/>
                              </a:rPr>
                            </m:ctrlPr>
                          </m:funcPr>
                          <m:fName>
                            <m:r>
                              <m:rPr>
                                <m:sty m:val="p"/>
                              </m:rPr>
                              <a:rPr lang="en-US" altLang="ja-JP" sz="1200" i="0" dirty="0" smtClean="0">
                                <a:latin typeface="Cambria Math" panose="02040503050406030204" pitchFamily="18" charset="0"/>
                              </a:rPr>
                              <m:t>exp</m:t>
                            </m:r>
                          </m:fName>
                          <m:e>
                            <m:r>
                              <a:rPr lang="en-US" altLang="ja-JP" sz="1200" i="1" dirty="0" smtClean="0">
                                <a:latin typeface="Cambria Math" panose="02040503050406030204" pitchFamily="18" charset="0"/>
                              </a:rPr>
                              <m:t>𝐽</m:t>
                            </m:r>
                            <m:r>
                              <a:rPr lang="en-US" altLang="ja-JP" sz="1200" i="1" dirty="0" smtClean="0">
                                <a:latin typeface="Cambria Math" panose="02040503050406030204" pitchFamily="18" charset="0"/>
                              </a:rPr>
                              <m:t>𝜔</m:t>
                            </m:r>
                            <m:r>
                              <a:rPr lang="en-US" altLang="ja-JP" sz="1200" i="1" dirty="0" smtClean="0">
                                <a:latin typeface="Cambria Math" panose="02040503050406030204" pitchFamily="18" charset="0"/>
                              </a:rPr>
                              <m:t>𝑡</m:t>
                            </m:r>
                          </m:e>
                        </m:func>
                        <m:r>
                          <a:rPr lang="en-US" altLang="ja-JP" sz="1200" i="0" dirty="0" smtClean="0">
                            <a:latin typeface="Cambria Math" panose="02040503050406030204" pitchFamily="18" charset="0"/>
                          </a:rPr>
                          <m:t>ⅆ</m:t>
                        </m:r>
                        <m:r>
                          <a:rPr lang="en-US" altLang="ja-JP" sz="1200" i="1" dirty="0" smtClean="0">
                            <a:latin typeface="Cambria Math" panose="02040503050406030204" pitchFamily="18" charset="0"/>
                          </a:rPr>
                          <m:t>𝑤</m:t>
                        </m:r>
                      </m:e>
                    </m:nary>
                  </m:oMath>
                </a14:m>
                <a:endParaRPr lang="en-US" altLang="ja-JP" sz="1200"/>
              </a:p>
              <a:p>
                <a:endParaRPr lang="en-US" altLang="ja-JP" sz="1200"/>
              </a:p>
              <a:p>
                <a:endParaRPr lang="ja-JP" altLang="en-US" sz="1200"/>
              </a:p>
              <a:p>
                <a:pPr algn="l"/>
                <a:endParaRPr lang="en-US" sz="1200"/>
              </a:p>
            </p:txBody>
          </p:sp>
        </mc:Choice>
        <mc:Fallback>
          <p:sp>
            <p:nvSpPr>
              <p:cNvPr id="5" name="TextBox 4">
                <a:extLst>
                  <a:ext uri="{FF2B5EF4-FFF2-40B4-BE49-F238E27FC236}">
                    <a16:creationId xmlns:a16="http://schemas.microsoft.com/office/drawing/2014/main" id="{88691852-EBDF-5437-AAAB-F1BF4AA1F280}"/>
                  </a:ext>
                </a:extLst>
              </p:cNvPr>
              <p:cNvSpPr txBox="1">
                <a:spLocks noRot="1" noChangeAspect="1" noMove="1" noResize="1" noEditPoints="1" noAdjustHandles="1" noChangeArrowheads="1" noChangeShapeType="1" noTextEdit="1"/>
              </p:cNvSpPr>
              <p:nvPr/>
            </p:nvSpPr>
            <p:spPr>
              <a:xfrm>
                <a:off x="0" y="2081203"/>
                <a:ext cx="12192000" cy="4045275"/>
              </a:xfrm>
              <a:prstGeom prst="rect">
                <a:avLst/>
              </a:prstGeom>
              <a:blipFill>
                <a:blip r:embed="rId3"/>
                <a:stretch>
                  <a:fillRect l="-750" t="-1657"/>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EF2ECF96-2C47-1A4E-A5E8-C6BFA9208E55}"/>
              </a:ext>
            </a:extLst>
          </p:cNvPr>
          <p:cNvSpPr/>
          <p:nvPr/>
        </p:nvSpPr>
        <p:spPr>
          <a:xfrm>
            <a:off x="4072546" y="252943"/>
            <a:ext cx="4773270"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altLang="en-US" sz="3200">
                <a:solidFill>
                  <a:srgbClr val="FF0000"/>
                </a:solidFill>
              </a:rPr>
              <a:t>周波数スペクトル</a:t>
            </a:r>
            <a:r>
              <a:rPr lang="en-US" altLang="ja-JP" sz="1100" b="1">
                <a:solidFill>
                  <a:schemeClr val="tx1"/>
                </a:solidFill>
              </a:rPr>
              <a:t>Frequency Spectrum</a:t>
            </a:r>
            <a:r>
              <a:rPr lang="ja-JP" altLang="en-US" sz="3200" b="1">
                <a:solidFill>
                  <a:srgbClr val="FF0000"/>
                </a:solidFill>
              </a:rPr>
              <a:t> </a:t>
            </a:r>
            <a:endParaRPr lang="en-US" sz="3200">
              <a:solidFill>
                <a:srgbClr val="FF0000"/>
              </a:solidFill>
            </a:endParaRPr>
          </a:p>
        </p:txBody>
      </p:sp>
      <p:pic>
        <p:nvPicPr>
          <p:cNvPr id="12" name="図 11"/>
          <p:cNvPicPr/>
          <p:nvPr/>
        </p:nvPicPr>
        <p:blipFill>
          <a:blip r:embed="rId4">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4" name="図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Tree>
    <p:extLst>
      <p:ext uri="{BB962C8B-B14F-4D97-AF65-F5344CB8AC3E}">
        <p14:creationId xmlns:p14="http://schemas.microsoft.com/office/powerpoint/2010/main" val="177634123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315028" y="464955"/>
            <a:ext cx="5335105" cy="381684"/>
          </a:xfrm>
        </p:spPr>
        <p:txBody>
          <a:bodyPr/>
          <a:lstStyle/>
          <a:p>
            <a:r>
              <a:rPr lang="en-US" sz="2800" b="1"/>
              <a:t>                               9</a:t>
            </a:r>
          </a:p>
        </p:txBody>
      </p:sp>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431983"/>
          </a:xfrm>
          <a:prstGeom prst="rect">
            <a:avLst/>
          </a:prstGeom>
          <a:noFill/>
        </p:spPr>
        <p:txBody>
          <a:bodyPr wrap="square" rtlCol="0">
            <a:spAutoFit/>
          </a:bodyPr>
          <a:lstStyle/>
          <a:p>
            <a:r>
              <a:rPr lang="ja-JP" altLang="en-US" sz="2400"/>
              <a:t>ディジタル信号処理 ：ソフトウェア</a:t>
            </a:r>
            <a:r>
              <a:rPr lang="en-US" altLang="ja-JP" sz="2400"/>
              <a:t>or</a:t>
            </a:r>
            <a:r>
              <a:rPr lang="ja-JP" altLang="en-US" sz="2400"/>
              <a:t>ハードウェアによる信号データに対する処理</a:t>
            </a:r>
            <a:endParaRPr lang="en-US" altLang="ja-JP" sz="2400"/>
          </a:p>
          <a:p>
            <a:r>
              <a:rPr lang="en-US" sz="1200"/>
              <a:t>Digital Signal Processing : Processing of signal data by software or hardware</a:t>
            </a:r>
          </a:p>
          <a:p>
            <a:endParaRPr lang="en-US" sz="1200"/>
          </a:p>
          <a:p>
            <a:r>
              <a:rPr lang="ja-JP" altLang="en-US" sz="2400"/>
              <a:t>応用例：</a:t>
            </a:r>
            <a:r>
              <a:rPr lang="en-US" altLang="ja-JP" sz="2400"/>
              <a:t>TV</a:t>
            </a:r>
            <a:r>
              <a:rPr lang="ja-JP" altLang="en-US" sz="2400"/>
              <a:t>（</a:t>
            </a:r>
            <a:r>
              <a:rPr lang="en-US" altLang="ja-JP" sz="2400"/>
              <a:t>HDTV</a:t>
            </a:r>
            <a:r>
              <a:rPr lang="ja-JP" altLang="en-US" sz="2400"/>
              <a:t>），</a:t>
            </a:r>
            <a:r>
              <a:rPr lang="en-US" altLang="ja-JP" sz="2400"/>
              <a:t>CD</a:t>
            </a:r>
            <a:r>
              <a:rPr lang="ja-JP" altLang="en-US" sz="2400" err="1"/>
              <a:t>，</a:t>
            </a:r>
            <a:r>
              <a:rPr lang="en-US" altLang="ja-JP" sz="2400"/>
              <a:t>DVD</a:t>
            </a:r>
            <a:r>
              <a:rPr lang="ja-JP" altLang="en-US" sz="2400" err="1"/>
              <a:t>，</a:t>
            </a:r>
            <a:r>
              <a:rPr lang="ja-JP" altLang="en-US" sz="2400"/>
              <a:t> 電子楽器（ディジタルシンセ，ボーカロイド，等），</a:t>
            </a:r>
            <a:r>
              <a:rPr lang="en-US" altLang="ja-JP" sz="2400"/>
              <a:t>..</a:t>
            </a:r>
          </a:p>
          <a:p>
            <a:r>
              <a:rPr lang="en-US" altLang="ja-JP" sz="1200"/>
              <a:t>Application Example : </a:t>
            </a:r>
            <a:r>
              <a:rPr lang="en-US" altLang="ja-JP" sz="1200" err="1"/>
              <a:t>Tv</a:t>
            </a:r>
            <a:r>
              <a:rPr lang="en-US" altLang="ja-JP" sz="1200"/>
              <a:t>(HDTV), CD, DVD, electronic musical instruments (digital synthesis, </a:t>
            </a:r>
            <a:r>
              <a:rPr lang="en-US" altLang="ja-JP" sz="1200" err="1"/>
              <a:t>vocaloids</a:t>
            </a:r>
            <a:r>
              <a:rPr lang="en-US" altLang="ja-JP" sz="1200"/>
              <a:t>)</a:t>
            </a:r>
          </a:p>
          <a:p>
            <a:r>
              <a:rPr lang="ja-JP" altLang="en-US" sz="2400"/>
              <a:t>ディジタル信号の特徴：ディジタル化の際に多少の劣化はあるが，伝送・記録に伴う劣化はほとんどない．</a:t>
            </a:r>
            <a:endParaRPr lang="en-US" altLang="ja-JP" sz="2400"/>
          </a:p>
          <a:p>
            <a:r>
              <a:rPr lang="en-US" altLang="ja-JP" sz="1200"/>
              <a:t>Characteristics of digital signals: Although there is deterioration during digitization, there is almost </a:t>
            </a:r>
            <a:r>
              <a:rPr lang="en-US" altLang="ja-JP" sz="1200" b="1"/>
              <a:t>no deterioration during transmission and recording</a:t>
            </a:r>
            <a:r>
              <a:rPr lang="en-US" altLang="ja-JP" sz="1200"/>
              <a:t>.</a:t>
            </a:r>
          </a:p>
          <a:p>
            <a:endParaRPr lang="en-US" altLang="ja-JP" sz="1200"/>
          </a:p>
          <a:p>
            <a:r>
              <a:rPr lang="ja-JP" altLang="en-US" b="1"/>
              <a:t>時間的にも強度的にも離散的 </a:t>
            </a:r>
            <a:r>
              <a:rPr lang="en-US" altLang="ja-JP" b="1"/>
              <a:t>"discrete" → </a:t>
            </a:r>
            <a:r>
              <a:rPr lang="ja-JP" altLang="en-US" b="1"/>
              <a:t>情報量は有限 </a:t>
            </a:r>
            <a:r>
              <a:rPr lang="en-US" altLang="ja-JP" b="1"/>
              <a:t>"finite“</a:t>
            </a:r>
          </a:p>
          <a:p>
            <a:r>
              <a:rPr lang="en-US" altLang="ja-JP" sz="1200"/>
              <a:t>Discrete in time and intensity </a:t>
            </a:r>
            <a:r>
              <a:rPr lang="en-US" altLang="ja-JP" sz="1200">
                <a:sym typeface="Wingdings" panose="05000000000000000000" pitchFamily="2" charset="2"/>
              </a:rPr>
              <a:t> finite amount of information</a:t>
            </a:r>
          </a:p>
          <a:p>
            <a:endParaRPr lang="en-US" altLang="ja-JP" sz="1200">
              <a:sym typeface="Wingdings" panose="05000000000000000000" pitchFamily="2" charset="2"/>
            </a:endParaRPr>
          </a:p>
          <a:p>
            <a:r>
              <a:rPr lang="ja-JP" altLang="en-US" sz="2400"/>
              <a:t>情報量が減った（というか無限は取り扱えない）分だけ劣化</a:t>
            </a:r>
            <a:r>
              <a:rPr lang="en-US" altLang="ja-JP" sz="2400"/>
              <a:t>...</a:t>
            </a:r>
            <a:r>
              <a:rPr lang="ja-JP" altLang="en-US" sz="2400"/>
              <a:t>しかし， アナログ信号としてのパルス波形がある程度まで変化しても，ディジタルデータとしては変化しない．</a:t>
            </a:r>
            <a:endParaRPr lang="en-US" altLang="ja-JP" sz="2400"/>
          </a:p>
          <a:p>
            <a:r>
              <a:rPr lang="en-US" altLang="ja-JP" sz="1200"/>
              <a:t>It deteriorates as the amount of information decreases (or rather, it cannot handle infinity).. However, even the pulse waveform as an analog signal changes to a certain extent,</a:t>
            </a:r>
          </a:p>
          <a:p>
            <a:r>
              <a:rPr lang="en-US" altLang="ja-JP" sz="1200"/>
              <a:t>It does not change as digital data. </a:t>
            </a:r>
          </a:p>
          <a:p>
            <a:endParaRPr lang="en-US" sz="1200"/>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EF2ECF96-2C47-1A4E-A5E8-C6BFA9208E55}"/>
              </a:ext>
            </a:extLst>
          </p:cNvPr>
          <p:cNvSpPr/>
          <p:nvPr/>
        </p:nvSpPr>
        <p:spPr>
          <a:xfrm>
            <a:off x="4072546" y="252943"/>
            <a:ext cx="4773270"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altLang="en-US" sz="3200" b="0" i="0">
                <a:solidFill>
                  <a:srgbClr val="FF0000"/>
                </a:solidFill>
                <a:effectLst/>
                <a:latin typeface="Arial" panose="020B0604020202020204" pitchFamily="34" charset="0"/>
              </a:rPr>
              <a:t>ディジタル信号</a:t>
            </a:r>
            <a:r>
              <a:rPr lang="en-US" altLang="ja-JP" sz="1100" b="1">
                <a:solidFill>
                  <a:schemeClr val="tx1"/>
                </a:solidFill>
              </a:rPr>
              <a:t>Digital Signals</a:t>
            </a:r>
            <a:r>
              <a:rPr lang="ja-JP" altLang="en-US" sz="3200" b="1">
                <a:solidFill>
                  <a:srgbClr val="FF0000"/>
                </a:solidFill>
              </a:rPr>
              <a:t> </a:t>
            </a:r>
            <a:endParaRPr lang="en-US" sz="3200">
              <a:solidFill>
                <a:srgbClr val="FF0000"/>
              </a:solidFill>
            </a:endParaRPr>
          </a:p>
        </p:txBody>
      </p: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Tree>
    <p:extLst>
      <p:ext uri="{BB962C8B-B14F-4D97-AF65-F5344CB8AC3E}">
        <p14:creationId xmlns:p14="http://schemas.microsoft.com/office/powerpoint/2010/main" val="130776840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315028" y="464955"/>
            <a:ext cx="5335105" cy="381684"/>
          </a:xfrm>
        </p:spPr>
        <p:txBody>
          <a:bodyPr/>
          <a:lstStyle/>
          <a:p>
            <a:r>
              <a:rPr lang="en-US" sz="2800" b="1"/>
              <a:t>                               10</a:t>
            </a:r>
          </a:p>
        </p:txBody>
      </p:sp>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3477940"/>
          </a:xfrm>
          <a:prstGeom prst="rect">
            <a:avLst/>
          </a:prstGeom>
          <a:noFill/>
        </p:spPr>
        <p:txBody>
          <a:bodyPr wrap="square" rtlCol="0">
            <a:spAutoFit/>
          </a:bodyPr>
          <a:lstStyle/>
          <a:p>
            <a:pPr marL="0" marR="0">
              <a:lnSpc>
                <a:spcPct val="107000"/>
              </a:lnSpc>
              <a:spcBef>
                <a:spcPts val="0"/>
              </a:spcBef>
              <a:spcAft>
                <a:spcPts val="800"/>
              </a:spcAft>
            </a:pPr>
            <a:r>
              <a:rPr lang="ja-JP" altLang="en-US" sz="2400"/>
              <a:t>アナログ→ディジタル変換（</a:t>
            </a:r>
            <a:r>
              <a:rPr lang="en-US" altLang="ja-JP" sz="2400"/>
              <a:t>A/D</a:t>
            </a:r>
            <a:r>
              <a:rPr lang="ja-JP" altLang="en-US" sz="2400"/>
              <a:t>変換）</a:t>
            </a:r>
            <a:r>
              <a:rPr lang="en-US" altLang="ja-JP" sz="2400"/>
              <a:t>"analog-to-digital conversion"</a:t>
            </a:r>
            <a:r>
              <a:rPr lang="ja-JP" altLang="en-US" sz="2400"/>
              <a:t>： 符号化 </a:t>
            </a:r>
            <a:r>
              <a:rPr lang="en-US" altLang="ja-JP" sz="2400"/>
              <a:t>"encoding“</a:t>
            </a:r>
          </a:p>
          <a:p>
            <a:pPr marL="0" marR="0">
              <a:lnSpc>
                <a:spcPct val="107000"/>
              </a:lnSpc>
              <a:spcBef>
                <a:spcPts val="0"/>
              </a:spcBef>
              <a:spcAft>
                <a:spcPts val="800"/>
              </a:spcAft>
            </a:pPr>
            <a:r>
              <a:rPr lang="en-US" altLang="ja-JP" sz="1200"/>
              <a:t>Analog to digital conversion - encoding</a:t>
            </a:r>
          </a:p>
          <a:p>
            <a:pPr marL="0" marR="0">
              <a:lnSpc>
                <a:spcPct val="107000"/>
              </a:lnSpc>
              <a:spcBef>
                <a:spcPts val="0"/>
              </a:spcBef>
              <a:spcAft>
                <a:spcPts val="800"/>
              </a:spcAft>
            </a:pPr>
            <a:r>
              <a:rPr lang="en-US" altLang="ja-JP" sz="2400"/>
              <a:t>PCM </a:t>
            </a:r>
            <a:r>
              <a:rPr lang="ja-JP" altLang="en-US" sz="2400"/>
              <a:t>を利用．</a:t>
            </a:r>
            <a:r>
              <a:rPr lang="en-US" sz="1200">
                <a:effectLst/>
                <a:latin typeface="Calibri" panose="020F0502020204030204" pitchFamily="34" charset="0"/>
                <a:ea typeface="游明朝" panose="02020400000000000000" pitchFamily="18" charset="-128"/>
                <a:cs typeface="Times New Roman" panose="02020603050405020304" pitchFamily="18" charset="0"/>
              </a:rPr>
              <a:t>PCM is used</a:t>
            </a:r>
          </a:p>
          <a:p>
            <a:pPr marL="0" marR="0">
              <a:lnSpc>
                <a:spcPct val="107000"/>
              </a:lnSpc>
              <a:spcBef>
                <a:spcPts val="0"/>
              </a:spcBef>
              <a:spcAft>
                <a:spcPts val="800"/>
              </a:spcAft>
            </a:pPr>
            <a:endParaRPr lang="en-US" b="1">
              <a:latin typeface="Calibri" panose="020F0502020204030204" pitchFamily="34" charset="0"/>
              <a:ea typeface="游明朝" panose="02020400000000000000" pitchFamily="18" charset="-128"/>
              <a:cs typeface="Times New Roman" panose="02020603050405020304" pitchFamily="18" charset="0"/>
            </a:endParaRPr>
          </a:p>
          <a:p>
            <a:pPr marL="0" marR="0">
              <a:lnSpc>
                <a:spcPct val="107000"/>
              </a:lnSpc>
              <a:spcBef>
                <a:spcPts val="0"/>
              </a:spcBef>
              <a:spcAft>
                <a:spcPts val="800"/>
              </a:spcAft>
            </a:pPr>
            <a:endParaRPr lang="en-US" sz="2400" b="1">
              <a:effectLst/>
              <a:latin typeface="Calibri" panose="020F0502020204030204" pitchFamily="34" charset="0"/>
              <a:ea typeface="游明朝" panose="02020400000000000000" pitchFamily="18" charset="-128"/>
              <a:cs typeface="Times New Roman" panose="02020603050405020304" pitchFamily="18" charset="0"/>
            </a:endParaRPr>
          </a:p>
          <a:p>
            <a:pPr marL="0" marR="0">
              <a:lnSpc>
                <a:spcPct val="107000"/>
              </a:lnSpc>
              <a:spcBef>
                <a:spcPts val="0"/>
              </a:spcBef>
              <a:spcAft>
                <a:spcPts val="800"/>
              </a:spcAft>
            </a:pPr>
            <a:r>
              <a:rPr lang="ja-JP" altLang="en-US" sz="2400"/>
              <a:t>ディジタル → アナログ変換（</a:t>
            </a:r>
            <a:r>
              <a:rPr lang="en-US" altLang="ja-JP" sz="2400"/>
              <a:t>D/A</a:t>
            </a:r>
            <a:r>
              <a:rPr lang="ja-JP" altLang="en-US" sz="2400"/>
              <a:t>変換）</a:t>
            </a:r>
            <a:r>
              <a:rPr lang="en-US" altLang="ja-JP" sz="2400"/>
              <a:t>"digital-to-analog conversion"</a:t>
            </a:r>
            <a:r>
              <a:rPr lang="ja-JP" altLang="en-US" sz="2400"/>
              <a:t>： 復号化 </a:t>
            </a:r>
            <a:r>
              <a:rPr lang="en-US" altLang="ja-JP" sz="2400"/>
              <a:t>"decoding“</a:t>
            </a:r>
          </a:p>
          <a:p>
            <a:pPr marL="0" marR="0">
              <a:lnSpc>
                <a:spcPct val="107000"/>
              </a:lnSpc>
              <a:spcBef>
                <a:spcPts val="0"/>
              </a:spcBef>
              <a:spcAft>
                <a:spcPts val="800"/>
              </a:spcAft>
            </a:pPr>
            <a:r>
              <a:rPr lang="en-US" sz="1200">
                <a:effectLst/>
                <a:latin typeface="Calibri" panose="020F0502020204030204" pitchFamily="34" charset="0"/>
                <a:ea typeface="游明朝" panose="02020400000000000000" pitchFamily="18" charset="-128"/>
                <a:cs typeface="Times New Roman" panose="02020603050405020304" pitchFamily="18" charset="0"/>
              </a:rPr>
              <a:t>Digital to analog conversion  - decoding</a:t>
            </a:r>
          </a:p>
          <a:p>
            <a:pPr marL="0" marR="0">
              <a:lnSpc>
                <a:spcPct val="107000"/>
              </a:lnSpc>
              <a:spcBef>
                <a:spcPts val="0"/>
              </a:spcBef>
              <a:spcAft>
                <a:spcPts val="800"/>
              </a:spcAft>
            </a:pPr>
            <a:r>
              <a:rPr lang="en-US" altLang="ja-JP" sz="2400"/>
              <a:t>PCM </a:t>
            </a:r>
            <a:r>
              <a:rPr lang="ja-JP" altLang="en-US" sz="2400"/>
              <a:t>の逆変換．</a:t>
            </a:r>
            <a:r>
              <a:rPr lang="en-US" altLang="ja-JP" sz="1200"/>
              <a:t>Inverse conversion of PCM</a:t>
            </a:r>
            <a:endParaRPr lang="en-US" sz="1200"/>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EF2ECF96-2C47-1A4E-A5E8-C6BFA9208E55}"/>
              </a:ext>
            </a:extLst>
          </p:cNvPr>
          <p:cNvSpPr/>
          <p:nvPr/>
        </p:nvSpPr>
        <p:spPr>
          <a:xfrm>
            <a:off x="3308627" y="327413"/>
            <a:ext cx="6883851"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sz="3200">
              <a:solidFill>
                <a:srgbClr val="000000"/>
              </a:solidFill>
              <a:latin typeface="Arial" panose="020B0604020202020204" pitchFamily="34" charset="0"/>
            </a:endParaRPr>
          </a:p>
          <a:p>
            <a:pPr algn="ctr"/>
            <a:r>
              <a:rPr lang="en-US" sz="3200" b="0" i="0">
                <a:solidFill>
                  <a:srgbClr val="FF0000"/>
                </a:solidFill>
                <a:effectLst/>
                <a:latin typeface="Arial" panose="020B0604020202020204" pitchFamily="34" charset="0"/>
              </a:rPr>
              <a:t>A/D</a:t>
            </a:r>
            <a:r>
              <a:rPr lang="ja-JP" altLang="en-US" sz="3200" b="0" i="0">
                <a:solidFill>
                  <a:srgbClr val="FF0000"/>
                </a:solidFill>
                <a:effectLst/>
                <a:latin typeface="Arial" panose="020B0604020202020204" pitchFamily="34" charset="0"/>
              </a:rPr>
              <a:t>変換</a:t>
            </a:r>
            <a:r>
              <a:rPr lang="en-US" altLang="ja-JP" sz="3200" b="1" i="0">
                <a:solidFill>
                  <a:srgbClr val="FF0000"/>
                </a:solidFill>
                <a:effectLst/>
                <a:latin typeface="Arial" panose="020B0604020202020204" pitchFamily="34" charset="0"/>
              </a:rPr>
              <a:t>, </a:t>
            </a:r>
            <a:r>
              <a:rPr lang="en-US" sz="3200" b="0" i="0">
                <a:solidFill>
                  <a:srgbClr val="FF0000"/>
                </a:solidFill>
                <a:effectLst/>
                <a:latin typeface="Arial" panose="020B0604020202020204" pitchFamily="34" charset="0"/>
              </a:rPr>
              <a:t>D/A</a:t>
            </a:r>
            <a:r>
              <a:rPr lang="ja-JP" altLang="en-US" sz="3200" b="0" i="0">
                <a:solidFill>
                  <a:srgbClr val="FF0000"/>
                </a:solidFill>
                <a:effectLst/>
                <a:latin typeface="Arial" panose="020B0604020202020204" pitchFamily="34" charset="0"/>
              </a:rPr>
              <a:t>変換</a:t>
            </a:r>
            <a:r>
              <a:rPr lang="en-US" altLang="ja-JP" sz="1100" b="1" i="0">
                <a:solidFill>
                  <a:schemeClr val="tx1"/>
                </a:solidFill>
                <a:effectLst/>
                <a:latin typeface="Arial" panose="020B0604020202020204" pitchFamily="34" charset="0"/>
              </a:rPr>
              <a:t>A/D , D/</a:t>
            </a:r>
            <a:r>
              <a:rPr lang="en-US" altLang="ja-JP" sz="1100" b="1">
                <a:solidFill>
                  <a:schemeClr val="tx1"/>
                </a:solidFill>
                <a:latin typeface="Arial" panose="020B0604020202020204" pitchFamily="34" charset="0"/>
              </a:rPr>
              <a:t>A conversion</a:t>
            </a:r>
            <a:endParaRPr lang="en-US" altLang="ja-JP" sz="1100" b="1">
              <a:solidFill>
                <a:schemeClr val="tx1"/>
              </a:solidFill>
            </a:endParaRPr>
          </a:p>
          <a:p>
            <a:pPr algn="ctr"/>
            <a:r>
              <a:rPr lang="ja-JP" altLang="en-US" sz="3200" b="1">
                <a:solidFill>
                  <a:srgbClr val="FF0000"/>
                </a:solidFill>
              </a:rPr>
              <a:t> </a:t>
            </a:r>
            <a:endParaRPr lang="en-US" sz="3200">
              <a:solidFill>
                <a:srgbClr val="FF0000"/>
              </a:solidFill>
            </a:endParaRPr>
          </a:p>
        </p:txBody>
      </p: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Tree>
    <p:extLst>
      <p:ext uri="{BB962C8B-B14F-4D97-AF65-F5344CB8AC3E}">
        <p14:creationId xmlns:p14="http://schemas.microsoft.com/office/powerpoint/2010/main" val="333707333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315028" y="464955"/>
            <a:ext cx="5335105" cy="381684"/>
          </a:xfrm>
        </p:spPr>
        <p:txBody>
          <a:bodyPr/>
          <a:lstStyle/>
          <a:p>
            <a:r>
              <a:rPr lang="en-US" sz="2800" b="1"/>
              <a:t>                               11</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3877985"/>
              </a:xfrm>
              <a:prstGeom prst="rect">
                <a:avLst/>
              </a:prstGeom>
              <a:noFill/>
            </p:spPr>
            <p:txBody>
              <a:bodyPr wrap="square" rtlCol="0">
                <a:spAutoFit/>
              </a:bodyPr>
              <a:lstStyle/>
              <a:p>
                <a:r>
                  <a:rPr lang="ja-JP" altLang="en-US" sz="2400"/>
                  <a:t>パルス符号変調 </a:t>
                </a:r>
                <a:r>
                  <a:rPr lang="en-US" altLang="ja-JP" sz="2400"/>
                  <a:t>"</a:t>
                </a:r>
                <a:r>
                  <a:rPr lang="en-US" altLang="ja-JP" sz="2400">
                    <a:solidFill>
                      <a:srgbClr val="FF0000"/>
                    </a:solidFill>
                  </a:rPr>
                  <a:t>pulse code modulation</a:t>
                </a:r>
                <a:r>
                  <a:rPr lang="en-US" altLang="ja-JP" sz="2400"/>
                  <a:t>"</a:t>
                </a:r>
                <a:r>
                  <a:rPr lang="ja-JP" altLang="en-US" sz="2400"/>
                  <a:t>： アナログ信号波 →</a:t>
                </a:r>
                <a:r>
                  <a:rPr lang="en-US" altLang="ja-JP" sz="2400"/>
                  <a:t>【</a:t>
                </a:r>
                <a:r>
                  <a:rPr lang="ja-JP" altLang="en-US" sz="2400"/>
                  <a:t>標本化</a:t>
                </a:r>
                <a:r>
                  <a:rPr lang="en-US" altLang="ja-JP" sz="2400"/>
                  <a:t>】→【</a:t>
                </a:r>
                <a:r>
                  <a:rPr lang="ja-JP" altLang="en-US" sz="2400"/>
                  <a:t>量子化</a:t>
                </a:r>
                <a:r>
                  <a:rPr lang="en-US" altLang="ja-JP" sz="2400"/>
                  <a:t>】→ </a:t>
                </a:r>
                <a:r>
                  <a:rPr lang="ja-JP" altLang="en-US" sz="2400"/>
                  <a:t>符号列（ビット列）</a:t>
                </a:r>
              </a:p>
              <a:p>
                <a:pPr algn="l"/>
                <a:r>
                  <a:rPr lang="en-US" sz="1800">
                    <a:effectLst/>
                    <a:latin typeface="Calibri" panose="020F0502020204030204" pitchFamily="34" charset="0"/>
                    <a:ea typeface="游明朝" panose="02020400000000000000" pitchFamily="18" charset="-128"/>
                    <a:cs typeface="Times New Roman" panose="02020603050405020304" pitchFamily="18" charset="0"/>
                  </a:rPr>
                  <a:t> </a:t>
                </a:r>
                <a:r>
                  <a:rPr lang="en-US" sz="1200" b="1">
                    <a:effectLst/>
                    <a:latin typeface="Calibri" panose="020F0502020204030204" pitchFamily="34" charset="0"/>
                    <a:ea typeface="游明朝" panose="02020400000000000000" pitchFamily="18" charset="-128"/>
                    <a:cs typeface="Times New Roman" panose="02020603050405020304" pitchFamily="18" charset="0"/>
                  </a:rPr>
                  <a:t>Pulse code modulation : Analogue signal wave </a:t>
                </a:r>
                <a:r>
                  <a:rPr lang="ja-JP" sz="1200" b="1">
                    <a:effectLst/>
                    <a:latin typeface="Calibri" panose="020F0502020204030204" pitchFamily="34" charset="0"/>
                    <a:ea typeface="游明朝" panose="02020400000000000000" pitchFamily="18" charset="-128"/>
                    <a:cs typeface="Times New Roman" panose="02020603050405020304" pitchFamily="18" charset="0"/>
                  </a:rPr>
                  <a:t>→</a:t>
                </a:r>
                <a:r>
                  <a:rPr lang="en-US" sz="1200" b="1">
                    <a:effectLst/>
                    <a:latin typeface="Calibri" panose="020F0502020204030204" pitchFamily="34" charset="0"/>
                    <a:ea typeface="游明朝" panose="02020400000000000000" pitchFamily="18" charset="-128"/>
                    <a:cs typeface="Times New Roman" panose="02020603050405020304" pitchFamily="18" charset="0"/>
                  </a:rPr>
                  <a:t> [sampling] </a:t>
                </a:r>
                <a:r>
                  <a:rPr lang="ja-JP" sz="1200" b="1">
                    <a:effectLst/>
                    <a:latin typeface="Calibri" panose="020F0502020204030204" pitchFamily="34" charset="0"/>
                    <a:ea typeface="游明朝" panose="02020400000000000000" pitchFamily="18" charset="-128"/>
                    <a:cs typeface="Times New Roman" panose="02020603050405020304" pitchFamily="18" charset="0"/>
                  </a:rPr>
                  <a:t>→</a:t>
                </a:r>
                <a:r>
                  <a:rPr lang="en-US" sz="1200" b="1">
                    <a:effectLst/>
                    <a:latin typeface="Calibri" panose="020F0502020204030204" pitchFamily="34" charset="0"/>
                    <a:ea typeface="游明朝" panose="02020400000000000000" pitchFamily="18" charset="-128"/>
                    <a:cs typeface="Times New Roman" panose="02020603050405020304" pitchFamily="18" charset="0"/>
                  </a:rPr>
                  <a:t> [quantization] </a:t>
                </a:r>
                <a:r>
                  <a:rPr lang="ja-JP" sz="1200" b="1">
                    <a:effectLst/>
                    <a:latin typeface="Calibri" panose="020F0502020204030204" pitchFamily="34" charset="0"/>
                    <a:ea typeface="游明朝" panose="02020400000000000000" pitchFamily="18" charset="-128"/>
                    <a:cs typeface="Times New Roman" panose="02020603050405020304" pitchFamily="18" charset="0"/>
                  </a:rPr>
                  <a:t>→</a:t>
                </a:r>
                <a:r>
                  <a:rPr lang="en-US" sz="1200" b="1">
                    <a:effectLst/>
                    <a:latin typeface="Calibri" panose="020F0502020204030204" pitchFamily="34" charset="0"/>
                    <a:ea typeface="游明朝" panose="02020400000000000000" pitchFamily="18" charset="-128"/>
                    <a:cs typeface="Times New Roman" panose="02020603050405020304" pitchFamily="18" charset="0"/>
                  </a:rPr>
                  <a:t> code string (bit string)</a:t>
                </a:r>
              </a:p>
              <a:p>
                <a:pPr algn="l"/>
                <a:r>
                  <a:rPr lang="en-US" altLang="ja-JP" sz="1200" b="1">
                    <a:solidFill>
                      <a:srgbClr val="FF0000"/>
                    </a:solidFill>
                    <a:latin typeface="Calibri" panose="020F0502020204030204" pitchFamily="34" charset="0"/>
                    <a:ea typeface="游明朝" panose="02020400000000000000" pitchFamily="18" charset="-128"/>
                    <a:cs typeface="Times New Roman" panose="02020603050405020304" pitchFamily="18" charset="0"/>
                  </a:rPr>
                  <a:t>  A method used to digitally  represent samples analog data.  Involves 3 steps, sampling, quantization and coding</a:t>
                </a:r>
              </a:p>
              <a:p>
                <a:pPr algn="l"/>
                <a:endParaRPr lang="en-US" altLang="ja-JP" sz="1200" b="1">
                  <a:latin typeface="Calibri" panose="020F0502020204030204" pitchFamily="34" charset="0"/>
                  <a:ea typeface="游明朝" panose="02020400000000000000" pitchFamily="18" charset="-128"/>
                  <a:cs typeface="Times New Roman" panose="02020603050405020304" pitchFamily="18" charset="0"/>
                </a:endParaRPr>
              </a:p>
              <a:p>
                <a:r>
                  <a:rPr lang="ja-JP" altLang="en-US" sz="2400"/>
                  <a:t>標本化 </a:t>
                </a:r>
                <a:r>
                  <a:rPr lang="en-US" altLang="ja-JP" sz="2400"/>
                  <a:t>"</a:t>
                </a:r>
                <a:r>
                  <a:rPr lang="en-US" altLang="ja-JP" sz="2400">
                    <a:solidFill>
                      <a:srgbClr val="FF0000"/>
                    </a:solidFill>
                  </a:rPr>
                  <a:t>sampling</a:t>
                </a:r>
                <a:r>
                  <a:rPr lang="en-US" altLang="ja-JP" sz="2400"/>
                  <a:t>"</a:t>
                </a:r>
                <a:endParaRPr lang="en-US" altLang="ja-JP" sz="2400" b="1"/>
              </a:p>
              <a:p>
                <a:pPr algn="l"/>
                <a:r>
                  <a:rPr lang="en-US" altLang="ja-JP" sz="1200"/>
                  <a:t>Sampling</a:t>
                </a:r>
              </a:p>
              <a:p>
                <a:pPr algn="l"/>
                <a:endParaRPr lang="en-US" altLang="ja-JP" sz="2400"/>
              </a:p>
              <a:p>
                <a:r>
                  <a:rPr lang="ja-JP" altLang="en-US" sz="2400"/>
                  <a:t>信号の時間方向の離散化 </a:t>
                </a:r>
                <a:r>
                  <a:rPr lang="en-US" altLang="ja-JP" sz="2400"/>
                  <a:t>"discretization"</a:t>
                </a:r>
                <a:r>
                  <a:rPr lang="ja-JP" altLang="en-US" sz="2400"/>
                  <a:t>：アナログ信号 </a:t>
                </a:r>
                <a14:m>
                  <m:oMath xmlns:m="http://schemas.openxmlformats.org/officeDocument/2006/math">
                    <m:r>
                      <a:rPr lang="en-US" altLang="ja-JP" sz="2400" i="1" dirty="0">
                        <a:latin typeface="Cambria Math" panose="02040503050406030204" pitchFamily="18" charset="0"/>
                      </a:rPr>
                      <m:t>𝑥</m:t>
                    </m:r>
                    <m:d>
                      <m:dPr>
                        <m:ctrlPr>
                          <a:rPr lang="en-US" altLang="ja-JP" sz="2400" i="1" dirty="0">
                            <a:latin typeface="Cambria Math" panose="02040503050406030204" pitchFamily="18" charset="0"/>
                          </a:rPr>
                        </m:ctrlPr>
                      </m:dPr>
                      <m:e>
                        <m:r>
                          <a:rPr lang="en-US" altLang="ja-JP" sz="2400" i="1" dirty="0">
                            <a:latin typeface="Cambria Math" panose="02040503050406030204" pitchFamily="18" charset="0"/>
                          </a:rPr>
                          <m:t>𝑡</m:t>
                        </m:r>
                      </m:e>
                    </m:d>
                  </m:oMath>
                </a14:m>
                <a:r>
                  <a:rPr lang="en-US" altLang="ja-JP" sz="2400"/>
                  <a:t> </a:t>
                </a:r>
                <a:r>
                  <a:rPr lang="ja-JP" altLang="en-US" sz="2400"/>
                  <a:t>の一定時間毎の強度（実数値）</a:t>
                </a:r>
                <a14:m>
                  <m:oMath xmlns:m="http://schemas.openxmlformats.org/officeDocument/2006/math">
                    <m:sSub>
                      <m:sSubPr>
                        <m:ctrlPr>
                          <a:rPr lang="en-US" altLang="ja-JP" sz="2400" i="1" dirty="0">
                            <a:latin typeface="Cambria Math" panose="02040503050406030204" pitchFamily="18" charset="0"/>
                          </a:rPr>
                        </m:ctrlPr>
                      </m:sSubPr>
                      <m:e>
                        <m:r>
                          <a:rPr lang="en-US" altLang="ja-JP" sz="2400" i="1" dirty="0">
                            <a:latin typeface="Cambria Math" panose="02040503050406030204" pitchFamily="18" charset="0"/>
                          </a:rPr>
                          <m:t>𝑋</m:t>
                        </m:r>
                      </m:e>
                      <m:sub>
                        <m:r>
                          <a:rPr lang="en-US" altLang="ja-JP" sz="2400" i="1" dirty="0">
                            <a:latin typeface="Cambria Math" panose="02040503050406030204" pitchFamily="18" charset="0"/>
                          </a:rPr>
                          <m:t>𝑘</m:t>
                        </m:r>
                      </m:sub>
                    </m:sSub>
                  </m:oMath>
                </a14:m>
                <a:r>
                  <a:rPr lang="en-US" altLang="ja-JP" sz="2400"/>
                  <a:t>= (</a:t>
                </a:r>
                <a14:m>
                  <m:oMath xmlns:m="http://schemas.openxmlformats.org/officeDocument/2006/math">
                    <m:sSub>
                      <m:sSubPr>
                        <m:ctrlPr>
                          <a:rPr lang="en-US" altLang="ja-JP" sz="2400" i="1" dirty="0">
                            <a:latin typeface="Cambria Math" panose="02040503050406030204" pitchFamily="18" charset="0"/>
                          </a:rPr>
                        </m:ctrlPr>
                      </m:sSubPr>
                      <m:e>
                        <m:r>
                          <a:rPr lang="en-US" altLang="ja-JP" sz="2400" b="0" i="1" dirty="0" smtClean="0">
                            <a:latin typeface="Cambria Math" panose="02040503050406030204" pitchFamily="18" charset="0"/>
                          </a:rPr>
                          <m:t>𝑘𝑡</m:t>
                        </m:r>
                      </m:e>
                      <m:sub>
                        <m:r>
                          <a:rPr lang="en-US" altLang="ja-JP" sz="2400" b="0" i="1" dirty="0" smtClean="0">
                            <a:latin typeface="Cambria Math" panose="02040503050406030204" pitchFamily="18" charset="0"/>
                          </a:rPr>
                          <m:t>𝑠</m:t>
                        </m:r>
                      </m:sub>
                    </m:sSub>
                  </m:oMath>
                </a14:m>
                <a:r>
                  <a:rPr lang="en-US" altLang="ja-JP" sz="2400"/>
                  <a:t>) </a:t>
                </a:r>
                <a:r>
                  <a:rPr lang="ja-JP" altLang="en-US" sz="2400"/>
                  <a:t>を取得．</a:t>
                </a:r>
              </a:p>
              <a:p>
                <a:r>
                  <a:rPr lang="en-US" altLang="ja-JP" sz="1200"/>
                  <a:t>                                                                                                                               </a:t>
                </a:r>
              </a:p>
              <a:p>
                <a:r>
                  <a:rPr lang="en-US" altLang="ja-JP" sz="1200"/>
                  <a:t>Discretization" of the signal in the direction of time: Get the intensity (real value) </a:t>
                </a:r>
                <a14:m>
                  <m:oMath xmlns:m="http://schemas.openxmlformats.org/officeDocument/2006/math">
                    <m:sSub>
                      <m:sSubPr>
                        <m:ctrlPr>
                          <a:rPr lang="en-US" altLang="ja-JP" sz="1200" i="1" dirty="0">
                            <a:latin typeface="Cambria Math" panose="02040503050406030204" pitchFamily="18" charset="0"/>
                          </a:rPr>
                        </m:ctrlPr>
                      </m:sSubPr>
                      <m:e>
                        <m:r>
                          <a:rPr lang="en-US" altLang="ja-JP" sz="1200" b="0" i="1" dirty="0">
                            <a:latin typeface="Cambria Math" panose="02040503050406030204" pitchFamily="18" charset="0"/>
                          </a:rPr>
                          <m:t>𝑋</m:t>
                        </m:r>
                      </m:e>
                      <m:sub>
                        <m:r>
                          <a:rPr lang="en-US" altLang="ja-JP" sz="1200" b="0" i="1" dirty="0">
                            <a:latin typeface="Cambria Math" panose="02040503050406030204" pitchFamily="18" charset="0"/>
                          </a:rPr>
                          <m:t>𝑘</m:t>
                        </m:r>
                      </m:sub>
                    </m:sSub>
                  </m:oMath>
                </a14:m>
                <a:r>
                  <a:rPr lang="en-US" altLang="ja-JP" sz="1200"/>
                  <a:t>= (</a:t>
                </a:r>
                <a14:m>
                  <m:oMath xmlns:m="http://schemas.openxmlformats.org/officeDocument/2006/math">
                    <m:sSub>
                      <m:sSubPr>
                        <m:ctrlPr>
                          <a:rPr lang="en-US" altLang="ja-JP" sz="1200" i="1" dirty="0">
                            <a:latin typeface="Cambria Math" panose="02040503050406030204" pitchFamily="18" charset="0"/>
                          </a:rPr>
                        </m:ctrlPr>
                      </m:sSubPr>
                      <m:e>
                        <m:r>
                          <a:rPr lang="en-US" altLang="ja-JP" sz="1200" b="0" i="1" dirty="0">
                            <a:latin typeface="Cambria Math" panose="02040503050406030204" pitchFamily="18" charset="0"/>
                          </a:rPr>
                          <m:t>𝑘𝑡</m:t>
                        </m:r>
                      </m:e>
                      <m:sub>
                        <m:r>
                          <a:rPr lang="en-US" altLang="ja-JP" sz="1200" b="0" i="1" dirty="0">
                            <a:latin typeface="Cambria Math" panose="02040503050406030204" pitchFamily="18" charset="0"/>
                          </a:rPr>
                          <m:t>𝑠</m:t>
                        </m:r>
                      </m:sub>
                    </m:sSub>
                  </m:oMath>
                </a14:m>
                <a:r>
                  <a:rPr lang="en-US" altLang="ja-JP" sz="1200"/>
                  <a:t>) of the analog signal </a:t>
                </a:r>
                <a14:m>
                  <m:oMath xmlns:m="http://schemas.openxmlformats.org/officeDocument/2006/math">
                    <m:r>
                      <a:rPr lang="en-US" altLang="ja-JP" sz="1200" b="0" i="1" dirty="0">
                        <a:latin typeface="Cambria Math" panose="02040503050406030204" pitchFamily="18" charset="0"/>
                      </a:rPr>
                      <m:t>𝑥</m:t>
                    </m:r>
                    <m:d>
                      <m:dPr>
                        <m:ctrlPr>
                          <a:rPr lang="en-US" altLang="ja-JP" sz="1200" i="1" dirty="0">
                            <a:latin typeface="Cambria Math" panose="02040503050406030204" pitchFamily="18" charset="0"/>
                          </a:rPr>
                        </m:ctrlPr>
                      </m:dPr>
                      <m:e>
                        <m:r>
                          <a:rPr lang="en-US" altLang="ja-JP" sz="1200" b="0" i="1" dirty="0">
                            <a:latin typeface="Cambria Math" panose="02040503050406030204" pitchFamily="18" charset="0"/>
                          </a:rPr>
                          <m:t>𝑡</m:t>
                        </m:r>
                      </m:e>
                    </m:d>
                  </m:oMath>
                </a14:m>
                <a:r>
                  <a:rPr lang="en-US" altLang="ja-JP" sz="1200"/>
                  <a:t> at regular time intervals</a:t>
                </a:r>
              </a:p>
              <a:p>
                <a:endParaRPr lang="ja-JP" altLang="en-US" sz="1200">
                  <a:effectLst/>
                </a:endParaRPr>
              </a:p>
              <a:p>
                <a:pPr algn="l"/>
                <a:endParaRPr lang="en-US" sz="1200"/>
              </a:p>
            </p:txBody>
          </p:sp>
        </mc:Choice>
        <mc:Fallback>
          <p:sp>
            <p:nvSpPr>
              <p:cNvPr id="5" name="TextBox 4">
                <a:extLst>
                  <a:ext uri="{FF2B5EF4-FFF2-40B4-BE49-F238E27FC236}">
                    <a16:creationId xmlns:a16="http://schemas.microsoft.com/office/drawing/2014/main" id="{88691852-EBDF-5437-AAAB-F1BF4AA1F280}"/>
                  </a:ext>
                </a:extLst>
              </p:cNvPr>
              <p:cNvSpPr txBox="1">
                <a:spLocks noRot="1" noChangeAspect="1" noMove="1" noResize="1" noEditPoints="1" noAdjustHandles="1" noChangeArrowheads="1" noChangeShapeType="1" noTextEdit="1"/>
              </p:cNvSpPr>
              <p:nvPr/>
            </p:nvSpPr>
            <p:spPr>
              <a:xfrm>
                <a:off x="0" y="2081203"/>
                <a:ext cx="12192000" cy="3877985"/>
              </a:xfrm>
              <a:prstGeom prst="rect">
                <a:avLst/>
              </a:prstGeom>
              <a:blipFill>
                <a:blip r:embed="rId3"/>
                <a:stretch>
                  <a:fillRect l="-750" t="-1727" r="-650"/>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EF2ECF96-2C47-1A4E-A5E8-C6BFA9208E55}"/>
              </a:ext>
            </a:extLst>
          </p:cNvPr>
          <p:cNvSpPr/>
          <p:nvPr/>
        </p:nvSpPr>
        <p:spPr>
          <a:xfrm>
            <a:off x="3242125" y="327413"/>
            <a:ext cx="6883851"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sz="3200">
              <a:solidFill>
                <a:srgbClr val="000000"/>
              </a:solidFill>
              <a:latin typeface="Arial" panose="020B0604020202020204" pitchFamily="34" charset="0"/>
            </a:endParaRPr>
          </a:p>
          <a:p>
            <a:pPr algn="ctr"/>
            <a:r>
              <a:rPr lang="en-US" altLang="ja-JP" sz="3200">
                <a:solidFill>
                  <a:srgbClr val="FF0000"/>
                </a:solidFill>
              </a:rPr>
              <a:t>PCM </a:t>
            </a:r>
            <a:r>
              <a:rPr lang="ja-JP" altLang="en-US" sz="3200">
                <a:solidFill>
                  <a:srgbClr val="FF0000"/>
                </a:solidFill>
              </a:rPr>
              <a:t>の基礎</a:t>
            </a:r>
            <a:r>
              <a:rPr lang="en-US" altLang="ja-JP" sz="1100" b="1">
                <a:solidFill>
                  <a:schemeClr val="tx1"/>
                </a:solidFill>
                <a:latin typeface="Arial" panose="020B0604020202020204" pitchFamily="34" charset="0"/>
              </a:rPr>
              <a:t>Basics of PCM</a:t>
            </a:r>
            <a:endParaRPr lang="en-US" altLang="ja-JP" sz="1100" b="1">
              <a:solidFill>
                <a:schemeClr val="tx1"/>
              </a:solidFill>
            </a:endParaRPr>
          </a:p>
          <a:p>
            <a:pPr algn="ctr"/>
            <a:r>
              <a:rPr lang="ja-JP" altLang="en-US" sz="3200" b="1">
                <a:solidFill>
                  <a:srgbClr val="FF0000"/>
                </a:solidFill>
              </a:rPr>
              <a:t> </a:t>
            </a:r>
            <a:endParaRPr lang="en-US" sz="3200">
              <a:solidFill>
                <a:srgbClr val="FF0000"/>
              </a:solidFill>
            </a:endParaRPr>
          </a:p>
        </p:txBody>
      </p:sp>
      <p:pic>
        <p:nvPicPr>
          <p:cNvPr id="11" name="図 10"/>
          <p:cNvPicPr/>
          <p:nvPr/>
        </p:nvPicPr>
        <p:blipFill>
          <a:blip r:embed="rId4">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Tree>
    <p:extLst>
      <p:ext uri="{BB962C8B-B14F-4D97-AF65-F5344CB8AC3E}">
        <p14:creationId xmlns:p14="http://schemas.microsoft.com/office/powerpoint/2010/main" val="27832388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315028" y="464955"/>
            <a:ext cx="5335105" cy="381684"/>
          </a:xfrm>
        </p:spPr>
        <p:txBody>
          <a:bodyPr/>
          <a:lstStyle/>
          <a:p>
            <a:r>
              <a:rPr lang="en-US" sz="2800" b="1"/>
              <a:t>                               12</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3046988"/>
              </a:xfrm>
              <a:prstGeom prst="rect">
                <a:avLst/>
              </a:prstGeom>
              <a:noFill/>
            </p:spPr>
            <p:txBody>
              <a:bodyPr wrap="square" rtlCol="0">
                <a:spAutoFit/>
              </a:bodyPr>
              <a:lstStyle/>
              <a:p>
                <a:r>
                  <a:rPr lang="ja-JP" altLang="en-US" sz="2400"/>
                  <a:t>標本化周期 </a:t>
                </a:r>
                <a:r>
                  <a:rPr lang="en-US" altLang="ja-JP" sz="2400"/>
                  <a:t>“sampling period”</a:t>
                </a:r>
                <a:r>
                  <a:rPr lang="ja-JP" altLang="en-US" sz="2400"/>
                  <a:t>（</a:t>
                </a:r>
                <a:r>
                  <a:rPr lang="en-US" altLang="ja-JP" sz="2400"/>
                  <a:t>or </a:t>
                </a:r>
                <a:r>
                  <a:rPr lang="ja-JP" altLang="en-US" sz="2400"/>
                  <a:t>標本化間隔 </a:t>
                </a:r>
                <a:r>
                  <a:rPr lang="en-US" altLang="ja-JP" sz="2400"/>
                  <a:t>“sampling interval”</a:t>
                </a:r>
                <a:r>
                  <a:rPr lang="ja-JP" altLang="en-US" sz="2400"/>
                  <a:t>） </a:t>
                </a:r>
                <a:r>
                  <a:rPr lang="en-US" altLang="ja-JP" sz="2400"/>
                  <a:t>: </a:t>
                </a:r>
                <a14:m>
                  <m:oMath xmlns:m="http://schemas.openxmlformats.org/officeDocument/2006/math">
                    <m:sSub>
                      <m:sSubPr>
                        <m:ctrlPr>
                          <a:rPr lang="en-US" altLang="ja-JP" sz="2400" i="1" dirty="0">
                            <a:latin typeface="Cambria Math" panose="02040503050406030204" pitchFamily="18" charset="0"/>
                          </a:rPr>
                        </m:ctrlPr>
                      </m:sSubPr>
                      <m:e>
                        <m:r>
                          <a:rPr lang="en-US" altLang="ja-JP" sz="2400" b="0" i="1" dirty="0" smtClean="0">
                            <a:latin typeface="Cambria Math" panose="02040503050406030204" pitchFamily="18" charset="0"/>
                          </a:rPr>
                          <m:t>𝑡</m:t>
                        </m:r>
                      </m:e>
                      <m:sub>
                        <m:r>
                          <a:rPr lang="en-US" altLang="ja-JP" sz="2400" b="0" i="1" dirty="0" smtClean="0">
                            <a:latin typeface="Cambria Math" panose="02040503050406030204" pitchFamily="18" charset="0"/>
                          </a:rPr>
                          <m:t>𝑠</m:t>
                        </m:r>
                      </m:sub>
                    </m:sSub>
                  </m:oMath>
                </a14:m>
                <a:r>
                  <a:rPr lang="en-US" altLang="ja-JP" sz="2400">
                    <a:effectLst/>
                  </a:rPr>
                  <a:t>   (or </a:t>
                </a:r>
                <a14:m>
                  <m:oMath xmlns:m="http://schemas.openxmlformats.org/officeDocument/2006/math">
                    <m:r>
                      <m:rPr>
                        <m:sty m:val="p"/>
                      </m:rPr>
                      <a:rPr lang="en-US" altLang="ja-JP" sz="2400" smtClean="0">
                        <a:effectLst/>
                        <a:latin typeface="Cambria Math" panose="02040503050406030204" pitchFamily="18" charset="0"/>
                      </a:rPr>
                      <m:t>Δ</m:t>
                    </m:r>
                  </m:oMath>
                </a14:m>
                <a:r>
                  <a:rPr lang="en-US" altLang="ja-JP" sz="2400">
                    <a:effectLst/>
                  </a:rPr>
                  <a:t>t)</a:t>
                </a:r>
              </a:p>
              <a:p>
                <a:endParaRPr lang="en-US" altLang="ja-JP" sz="1200"/>
              </a:p>
              <a:p>
                <a:r>
                  <a:rPr lang="en-US" altLang="ja-JP" sz="1200"/>
                  <a:t>Sampling period “sampling interval”: </a:t>
                </a:r>
                <a14:m>
                  <m:oMath xmlns:m="http://schemas.openxmlformats.org/officeDocument/2006/math">
                    <m:sSub>
                      <m:sSubPr>
                        <m:ctrlPr>
                          <a:rPr lang="en-US" altLang="ja-JP" sz="1200" i="1" dirty="0">
                            <a:latin typeface="Cambria Math" panose="02040503050406030204" pitchFamily="18" charset="0"/>
                          </a:rPr>
                        </m:ctrlPr>
                      </m:sSubPr>
                      <m:e>
                        <m:r>
                          <a:rPr lang="en-US" altLang="ja-JP" sz="1200" i="1" dirty="0">
                            <a:latin typeface="Cambria Math" panose="02040503050406030204" pitchFamily="18" charset="0"/>
                          </a:rPr>
                          <m:t>𝑡</m:t>
                        </m:r>
                      </m:e>
                      <m:sub>
                        <m:r>
                          <a:rPr lang="en-US" altLang="ja-JP" sz="1200" i="1" dirty="0">
                            <a:latin typeface="Cambria Math" panose="02040503050406030204" pitchFamily="18" charset="0"/>
                          </a:rPr>
                          <m:t>𝑠</m:t>
                        </m:r>
                      </m:sub>
                    </m:sSub>
                  </m:oMath>
                </a14:m>
                <a:r>
                  <a:rPr lang="en-US" altLang="ja-JP" sz="1200"/>
                  <a:t>   (or </a:t>
                </a:r>
                <a14:m>
                  <m:oMath xmlns:m="http://schemas.openxmlformats.org/officeDocument/2006/math">
                    <m:r>
                      <m:rPr>
                        <m:sty m:val="p"/>
                      </m:rPr>
                      <a:rPr lang="en-US" altLang="ja-JP" sz="1200">
                        <a:latin typeface="Cambria Math" panose="02040503050406030204" pitchFamily="18" charset="0"/>
                      </a:rPr>
                      <m:t>Δ</m:t>
                    </m:r>
                  </m:oMath>
                </a14:m>
                <a:r>
                  <a:rPr lang="en-US" altLang="ja-JP" sz="1200"/>
                  <a:t>t)</a:t>
                </a:r>
              </a:p>
              <a:p>
                <a:endParaRPr lang="en-US" altLang="ja-JP" sz="1200"/>
              </a:p>
              <a:p>
                <a:endParaRPr lang="en-US" altLang="ja-JP" sz="1200">
                  <a:effectLst/>
                </a:endParaRPr>
              </a:p>
              <a:p>
                <a:endParaRPr lang="en-US" altLang="ja-JP" sz="1200"/>
              </a:p>
              <a:p>
                <a:r>
                  <a:rPr lang="ja-JP" altLang="en-US" sz="2400"/>
                  <a:t>標本化周波数 </a:t>
                </a:r>
                <a:r>
                  <a:rPr lang="en-US" altLang="ja-JP" sz="2400"/>
                  <a:t>"sampling frequency" (or "sampling rate")  : </a:t>
                </a:r>
                <a14:m>
                  <m:oMath xmlns:m="http://schemas.openxmlformats.org/officeDocument/2006/math">
                    <m:sSub>
                      <m:sSubPr>
                        <m:ctrlPr>
                          <a:rPr lang="en-US" altLang="ja-JP" sz="2400" i="1" dirty="0">
                            <a:latin typeface="Cambria Math" panose="02040503050406030204" pitchFamily="18" charset="0"/>
                          </a:rPr>
                        </m:ctrlPr>
                      </m:sSubPr>
                      <m:e>
                        <m:r>
                          <a:rPr lang="en-US" altLang="ja-JP" sz="2400" b="0" i="1" dirty="0" smtClean="0">
                            <a:latin typeface="Cambria Math" panose="02040503050406030204" pitchFamily="18" charset="0"/>
                          </a:rPr>
                          <m:t>𝑓</m:t>
                        </m:r>
                      </m:e>
                      <m:sub>
                        <m:r>
                          <a:rPr lang="en-US" altLang="ja-JP" sz="2400" i="1" dirty="0">
                            <a:latin typeface="Cambria Math" panose="02040503050406030204" pitchFamily="18" charset="0"/>
                          </a:rPr>
                          <m:t>𝑠</m:t>
                        </m:r>
                      </m:sub>
                    </m:sSub>
                    <m:r>
                      <a:rPr lang="en-US" altLang="ja-JP" sz="2400" b="0" i="1" dirty="0" smtClean="0">
                        <a:latin typeface="Cambria Math" panose="02040503050406030204" pitchFamily="18" charset="0"/>
                      </a:rPr>
                      <m:t>=1/</m:t>
                    </m:r>
                    <m:sSub>
                      <m:sSubPr>
                        <m:ctrlPr>
                          <a:rPr lang="en-US" altLang="ja-JP" sz="2400" i="1" dirty="0">
                            <a:latin typeface="Cambria Math" panose="02040503050406030204" pitchFamily="18" charset="0"/>
                          </a:rPr>
                        </m:ctrlPr>
                      </m:sSubPr>
                      <m:e>
                        <m:r>
                          <a:rPr lang="en-US" altLang="ja-JP" sz="2400" i="1" dirty="0">
                            <a:latin typeface="Cambria Math" panose="02040503050406030204" pitchFamily="18" charset="0"/>
                          </a:rPr>
                          <m:t>𝑡</m:t>
                        </m:r>
                      </m:e>
                      <m:sub>
                        <m:r>
                          <a:rPr lang="en-US" altLang="ja-JP" sz="2400" i="1" dirty="0">
                            <a:latin typeface="Cambria Math" panose="02040503050406030204" pitchFamily="18" charset="0"/>
                          </a:rPr>
                          <m:t>𝑠</m:t>
                        </m:r>
                      </m:sub>
                    </m:sSub>
                  </m:oMath>
                </a14:m>
                <a:endParaRPr lang="en-US" altLang="ja-JP" sz="2400">
                  <a:effectLst/>
                </a:endParaRPr>
              </a:p>
              <a:p>
                <a:endParaRPr lang="en-US" altLang="ja-JP" sz="2400">
                  <a:effectLst/>
                </a:endParaRPr>
              </a:p>
              <a:p>
                <a:r>
                  <a:rPr lang="en-US" altLang="ja-JP" sz="1200">
                    <a:effectLst/>
                  </a:rPr>
                  <a:t>             </a:t>
                </a:r>
                <a:r>
                  <a:rPr lang="en-US" altLang="ja-JP" sz="1200">
                    <a:effectLst/>
                    <a:sym typeface="Wingdings" panose="05000000000000000000" pitchFamily="2" charset="2"/>
                  </a:rPr>
                  <a:t>  </a:t>
                </a:r>
                <a:r>
                  <a:rPr lang="ja-JP" altLang="en-US" sz="2400"/>
                  <a:t>標準的な標本化周波数は </a:t>
                </a:r>
                <a:r>
                  <a:rPr lang="en-US" altLang="ja-JP" sz="2400"/>
                  <a:t>44.1 kHz </a:t>
                </a:r>
                <a:r>
                  <a:rPr lang="ja-JP" altLang="en-US" sz="2400"/>
                  <a:t>や </a:t>
                </a:r>
                <a:r>
                  <a:rPr lang="en-US" altLang="ja-JP" sz="2400"/>
                  <a:t>48 kHz</a:t>
                </a:r>
                <a:r>
                  <a:rPr lang="ja-JP" altLang="en-US" sz="1200" err="1"/>
                  <a:t>．</a:t>
                </a:r>
                <a:endParaRPr lang="en-US" altLang="ja-JP" sz="1200"/>
              </a:p>
              <a:p>
                <a:endParaRPr lang="en-US" altLang="ja-JP" sz="1200">
                  <a:effectLst/>
                </a:endParaRPr>
              </a:p>
              <a:p>
                <a:r>
                  <a:rPr lang="en-US" altLang="ja-JP" sz="1200"/>
                  <a:t>                        The standard sampling frequency is 44.1 kHz or 48 kHz.</a:t>
                </a:r>
                <a:endParaRPr lang="ja-JP" altLang="en-US" sz="1200">
                  <a:effectLst/>
                </a:endParaRPr>
              </a:p>
              <a:p>
                <a:pPr algn="l"/>
                <a:endParaRPr lang="en-US" sz="1200"/>
              </a:p>
            </p:txBody>
          </p:sp>
        </mc:Choice>
        <mc:Fallback>
          <p:sp>
            <p:nvSpPr>
              <p:cNvPr id="5" name="TextBox 4">
                <a:extLst>
                  <a:ext uri="{FF2B5EF4-FFF2-40B4-BE49-F238E27FC236}">
                    <a16:creationId xmlns:a16="http://schemas.microsoft.com/office/drawing/2014/main" id="{88691852-EBDF-5437-AAAB-F1BF4AA1F280}"/>
                  </a:ext>
                </a:extLst>
              </p:cNvPr>
              <p:cNvSpPr txBox="1">
                <a:spLocks noRot="1" noChangeAspect="1" noMove="1" noResize="1" noEditPoints="1" noAdjustHandles="1" noChangeArrowheads="1" noChangeShapeType="1" noTextEdit="1"/>
              </p:cNvSpPr>
              <p:nvPr/>
            </p:nvSpPr>
            <p:spPr>
              <a:xfrm>
                <a:off x="0" y="2081203"/>
                <a:ext cx="12192000" cy="3046988"/>
              </a:xfrm>
              <a:prstGeom prst="rect">
                <a:avLst/>
              </a:prstGeom>
              <a:blipFill>
                <a:blip r:embed="rId3"/>
                <a:stretch>
                  <a:fillRect l="-750" t="-2200"/>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EF2ECF96-2C47-1A4E-A5E8-C6BFA9208E55}"/>
              </a:ext>
            </a:extLst>
          </p:cNvPr>
          <p:cNvSpPr/>
          <p:nvPr/>
        </p:nvSpPr>
        <p:spPr>
          <a:xfrm>
            <a:off x="3391754" y="319776"/>
            <a:ext cx="6883851"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sz="3200">
              <a:solidFill>
                <a:srgbClr val="000000"/>
              </a:solidFill>
              <a:latin typeface="Arial" panose="020B0604020202020204" pitchFamily="34" charset="0"/>
            </a:endParaRPr>
          </a:p>
          <a:p>
            <a:pPr algn="ctr"/>
            <a:r>
              <a:rPr lang="en-US" altLang="ja-JP" sz="3200">
                <a:solidFill>
                  <a:srgbClr val="FF0000"/>
                </a:solidFill>
              </a:rPr>
              <a:t>PCM </a:t>
            </a:r>
            <a:r>
              <a:rPr lang="ja-JP" altLang="en-US" sz="3200">
                <a:solidFill>
                  <a:srgbClr val="FF0000"/>
                </a:solidFill>
              </a:rPr>
              <a:t>の基礎</a:t>
            </a:r>
            <a:r>
              <a:rPr lang="en-US" altLang="ja-JP" sz="1100" b="1">
                <a:solidFill>
                  <a:schemeClr val="tx1"/>
                </a:solidFill>
                <a:latin typeface="Arial" panose="020B0604020202020204" pitchFamily="34" charset="0"/>
              </a:rPr>
              <a:t>Basics of PCM</a:t>
            </a:r>
            <a:endParaRPr lang="en-US" altLang="ja-JP" sz="1100" b="1">
              <a:solidFill>
                <a:schemeClr val="tx1"/>
              </a:solidFill>
            </a:endParaRPr>
          </a:p>
          <a:p>
            <a:pPr algn="ctr"/>
            <a:r>
              <a:rPr lang="ja-JP" altLang="en-US" sz="3200" b="1">
                <a:solidFill>
                  <a:srgbClr val="FF0000"/>
                </a:solidFill>
              </a:rPr>
              <a:t> </a:t>
            </a:r>
            <a:endParaRPr lang="en-US" sz="3200">
              <a:solidFill>
                <a:srgbClr val="FF0000"/>
              </a:solidFill>
            </a:endParaRPr>
          </a:p>
        </p:txBody>
      </p:sp>
      <p:pic>
        <p:nvPicPr>
          <p:cNvPr id="11" name="図 10"/>
          <p:cNvPicPr/>
          <p:nvPr/>
        </p:nvPicPr>
        <p:blipFill>
          <a:blip r:embed="rId4">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Tree>
    <p:extLst>
      <p:ext uri="{BB962C8B-B14F-4D97-AF65-F5344CB8AC3E}">
        <p14:creationId xmlns:p14="http://schemas.microsoft.com/office/powerpoint/2010/main" val="209132185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315028" y="464955"/>
            <a:ext cx="5335105" cy="381684"/>
          </a:xfrm>
        </p:spPr>
        <p:txBody>
          <a:bodyPr/>
          <a:lstStyle/>
          <a:p>
            <a:r>
              <a:rPr lang="en-US" sz="2800" b="1"/>
              <a:t>                               13</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3231654"/>
              </a:xfrm>
              <a:prstGeom prst="rect">
                <a:avLst/>
              </a:prstGeom>
              <a:noFill/>
            </p:spPr>
            <p:txBody>
              <a:bodyPr wrap="square" rtlCol="0">
                <a:spAutoFit/>
              </a:bodyPr>
              <a:lstStyle/>
              <a:p>
                <a:r>
                  <a:rPr lang="ja-JP" altLang="en-US" sz="2400"/>
                  <a:t>標本化周波数 </a:t>
                </a:r>
                <a14:m>
                  <m:oMath xmlns:m="http://schemas.openxmlformats.org/officeDocument/2006/math">
                    <m:sSub>
                      <m:sSubPr>
                        <m:ctrlPr>
                          <a:rPr lang="en-US" altLang="ja-JP" sz="2400" i="1" dirty="0">
                            <a:latin typeface="Cambria Math" panose="02040503050406030204" pitchFamily="18" charset="0"/>
                          </a:rPr>
                        </m:ctrlPr>
                      </m:sSubPr>
                      <m:e>
                        <m:r>
                          <a:rPr lang="en-US" altLang="ja-JP" sz="2400" i="1" dirty="0">
                            <a:latin typeface="Cambria Math" panose="02040503050406030204" pitchFamily="18" charset="0"/>
                          </a:rPr>
                          <m:t>𝑓</m:t>
                        </m:r>
                      </m:e>
                      <m:sub>
                        <m:r>
                          <a:rPr lang="en-US" altLang="ja-JP" sz="2400" i="1" dirty="0">
                            <a:latin typeface="Cambria Math" panose="02040503050406030204" pitchFamily="18" charset="0"/>
                          </a:rPr>
                          <m:t>𝑠</m:t>
                        </m:r>
                      </m:sub>
                    </m:sSub>
                  </m:oMath>
                </a14:m>
                <a:r>
                  <a:rPr lang="en-US" altLang="ja-JP" sz="2400"/>
                  <a:t> </a:t>
                </a:r>
                <a:r>
                  <a:rPr lang="ja-JP" altLang="en-US" sz="2400"/>
                  <a:t>が小さすぎると， 原信号 </a:t>
                </a:r>
                <a:r>
                  <a:rPr lang="en-US" altLang="ja-JP" sz="2400"/>
                  <a:t>"original signal" </a:t>
                </a:r>
                <a:r>
                  <a:rPr lang="ja-JP" altLang="en-US" sz="2400"/>
                  <a:t>に含まれていた情報の多くが失われてしまう．</a:t>
                </a:r>
              </a:p>
              <a:p>
                <a:endParaRPr lang="en-US" altLang="ja-JP" sz="1200"/>
              </a:p>
              <a:p>
                <a:r>
                  <a:rPr lang="en-US" altLang="ja-JP" sz="1200"/>
                  <a:t>If the sampling frequency </a:t>
                </a:r>
                <a14:m>
                  <m:oMath xmlns:m="http://schemas.openxmlformats.org/officeDocument/2006/math">
                    <m:sSub>
                      <m:sSubPr>
                        <m:ctrlPr>
                          <a:rPr lang="en-US" altLang="ja-JP" sz="1200" b="1" i="1" dirty="0">
                            <a:latin typeface="Cambria Math" panose="02040503050406030204" pitchFamily="18" charset="0"/>
                          </a:rPr>
                        </m:ctrlPr>
                      </m:sSubPr>
                      <m:e>
                        <m:r>
                          <a:rPr lang="en-US" altLang="ja-JP" sz="1200" b="1" i="1" dirty="0">
                            <a:latin typeface="Cambria Math" panose="02040503050406030204" pitchFamily="18" charset="0"/>
                          </a:rPr>
                          <m:t>𝒇</m:t>
                        </m:r>
                      </m:e>
                      <m:sub>
                        <m:r>
                          <a:rPr lang="en-US" altLang="ja-JP" sz="1200" b="1" i="1" dirty="0">
                            <a:latin typeface="Cambria Math" panose="02040503050406030204" pitchFamily="18" charset="0"/>
                          </a:rPr>
                          <m:t>𝒔</m:t>
                        </m:r>
                      </m:sub>
                    </m:sSub>
                  </m:oMath>
                </a14:m>
                <a:r>
                  <a:rPr lang="en-US" altLang="ja-JP" sz="1200" b="1"/>
                  <a:t> is too small</a:t>
                </a:r>
                <a:r>
                  <a:rPr lang="en-US" altLang="ja-JP" sz="1200"/>
                  <a:t>, much of the information contained in the "original signal" </a:t>
                </a:r>
                <a:r>
                  <a:rPr lang="en-US" altLang="ja-JP" sz="1200" b="1"/>
                  <a:t>is lost</a:t>
                </a:r>
                <a:r>
                  <a:rPr lang="en-US" altLang="ja-JP" sz="1200"/>
                  <a:t>.</a:t>
                </a:r>
              </a:p>
              <a:p>
                <a:endParaRPr lang="en-US" altLang="ja-JP" sz="1200">
                  <a:effectLst/>
                </a:endParaRPr>
              </a:p>
              <a:p>
                <a:endParaRPr lang="en-US" altLang="ja-JP" sz="1200"/>
              </a:p>
              <a:p>
                <a:r>
                  <a:rPr lang="ja-JP" altLang="en-US" sz="2400"/>
                  <a:t>一方，</a:t>
                </a:r>
                <a14:m>
                  <m:oMath xmlns:m="http://schemas.openxmlformats.org/officeDocument/2006/math">
                    <m:sSub>
                      <m:sSubPr>
                        <m:ctrlPr>
                          <a:rPr lang="en-US" altLang="ja-JP" sz="2400" i="1" dirty="0">
                            <a:latin typeface="Cambria Math" panose="02040503050406030204" pitchFamily="18" charset="0"/>
                          </a:rPr>
                        </m:ctrlPr>
                      </m:sSubPr>
                      <m:e>
                        <m:r>
                          <a:rPr lang="en-US" altLang="ja-JP" sz="2400" i="1" dirty="0">
                            <a:latin typeface="Cambria Math" panose="02040503050406030204" pitchFamily="18" charset="0"/>
                          </a:rPr>
                          <m:t>𝑓</m:t>
                        </m:r>
                      </m:e>
                      <m:sub>
                        <m:r>
                          <a:rPr lang="en-US" altLang="ja-JP" sz="2400" i="1" dirty="0">
                            <a:latin typeface="Cambria Math" panose="02040503050406030204" pitchFamily="18" charset="0"/>
                          </a:rPr>
                          <m:t>𝑠</m:t>
                        </m:r>
                      </m:sub>
                    </m:sSub>
                  </m:oMath>
                </a14:m>
                <a:r>
                  <a:rPr lang="ja-JP" altLang="en-US" sz="2400"/>
                  <a:t> が大きいと，データ量も肥大化してしまう</a:t>
                </a:r>
                <a:endParaRPr lang="en-US" altLang="ja-JP" sz="2400">
                  <a:effectLst/>
                </a:endParaRPr>
              </a:p>
              <a:p>
                <a:r>
                  <a:rPr lang="en-US" altLang="ja-JP" sz="1200"/>
                  <a:t>On the other hand, when </a:t>
                </a:r>
                <a14:m>
                  <m:oMath xmlns:m="http://schemas.openxmlformats.org/officeDocument/2006/math">
                    <m:sSub>
                      <m:sSubPr>
                        <m:ctrlPr>
                          <a:rPr lang="en-US" altLang="ja-JP" sz="1200" b="1" i="1" dirty="0">
                            <a:latin typeface="Cambria Math" panose="02040503050406030204" pitchFamily="18" charset="0"/>
                          </a:rPr>
                        </m:ctrlPr>
                      </m:sSubPr>
                      <m:e>
                        <m:r>
                          <a:rPr lang="en-US" altLang="ja-JP" sz="1200" b="1" i="1" dirty="0">
                            <a:latin typeface="Cambria Math" panose="02040503050406030204" pitchFamily="18" charset="0"/>
                          </a:rPr>
                          <m:t>𝒇</m:t>
                        </m:r>
                      </m:e>
                      <m:sub>
                        <m:r>
                          <a:rPr lang="en-US" altLang="ja-JP" sz="1200" b="1" i="1" dirty="0">
                            <a:latin typeface="Cambria Math" panose="02040503050406030204" pitchFamily="18" charset="0"/>
                          </a:rPr>
                          <m:t>𝒔</m:t>
                        </m:r>
                      </m:sub>
                    </m:sSub>
                  </m:oMath>
                </a14:m>
                <a:r>
                  <a:rPr lang="en-US" altLang="ja-JP" sz="1200" b="1"/>
                  <a:t> is large</a:t>
                </a:r>
                <a:r>
                  <a:rPr lang="en-US" altLang="ja-JP" sz="1200"/>
                  <a:t>, the amount of data is also </a:t>
                </a:r>
                <a:r>
                  <a:rPr lang="en-US" altLang="ja-JP" sz="1200" b="1"/>
                  <a:t>bloated</a:t>
                </a:r>
                <a:r>
                  <a:rPr lang="en-US" altLang="ja-JP" sz="1200"/>
                  <a:t>./excessive in amount.</a:t>
                </a:r>
              </a:p>
              <a:p>
                <a:endParaRPr lang="en-US" altLang="ja-JP" sz="1200"/>
              </a:p>
              <a:p>
                <a:endParaRPr lang="en-US" altLang="ja-JP" sz="1200">
                  <a:effectLst/>
                </a:endParaRPr>
              </a:p>
              <a:p>
                <a:r>
                  <a:rPr lang="en-US" altLang="ja-JP" sz="1200">
                    <a:effectLst/>
                  </a:rPr>
                  <a:t>             </a:t>
                </a:r>
                <a:r>
                  <a:rPr lang="en-US" altLang="ja-JP" sz="1200">
                    <a:effectLst/>
                    <a:sym typeface="Wingdings" panose="05000000000000000000" pitchFamily="2" charset="2"/>
                  </a:rPr>
                  <a:t> </a:t>
                </a:r>
                <a:r>
                  <a:rPr lang="ja-JP" altLang="en-US" sz="2400">
                    <a:solidFill>
                      <a:srgbClr val="FF0000"/>
                    </a:solidFill>
                  </a:rPr>
                  <a:t>原信号を完全に再現可能となるような必要最小限の </a:t>
                </a:r>
                <a14:m>
                  <m:oMath xmlns:m="http://schemas.openxmlformats.org/officeDocument/2006/math">
                    <m:sSub>
                      <m:sSubPr>
                        <m:ctrlPr>
                          <a:rPr lang="en-US" altLang="ja-JP" sz="2400" i="1" dirty="0">
                            <a:solidFill>
                              <a:srgbClr val="FF0000"/>
                            </a:solidFill>
                            <a:latin typeface="Cambria Math" panose="02040503050406030204" pitchFamily="18" charset="0"/>
                          </a:rPr>
                        </m:ctrlPr>
                      </m:sSubPr>
                      <m:e>
                        <m:r>
                          <a:rPr lang="en-US" altLang="ja-JP" sz="2400" i="1" dirty="0">
                            <a:solidFill>
                              <a:srgbClr val="FF0000"/>
                            </a:solidFill>
                            <a:latin typeface="Cambria Math" panose="02040503050406030204" pitchFamily="18" charset="0"/>
                          </a:rPr>
                          <m:t>𝑓</m:t>
                        </m:r>
                      </m:e>
                      <m:sub>
                        <m:r>
                          <a:rPr lang="en-US" altLang="ja-JP" sz="2400" i="1" dirty="0">
                            <a:solidFill>
                              <a:srgbClr val="FF0000"/>
                            </a:solidFill>
                            <a:latin typeface="Cambria Math" panose="02040503050406030204" pitchFamily="18" charset="0"/>
                          </a:rPr>
                          <m:t>𝑠</m:t>
                        </m:r>
                      </m:sub>
                    </m:sSub>
                  </m:oMath>
                </a14:m>
                <a:r>
                  <a:rPr lang="ja-JP" altLang="en-US" sz="2400">
                    <a:solidFill>
                      <a:srgbClr val="FF0000"/>
                    </a:solidFill>
                  </a:rPr>
                  <a:t> の値は？</a:t>
                </a:r>
                <a:endParaRPr lang="en-US" altLang="ja-JP" sz="2400">
                  <a:solidFill>
                    <a:srgbClr val="FF0000"/>
                  </a:solidFill>
                  <a:effectLst/>
                </a:endParaRPr>
              </a:p>
              <a:p>
                <a:r>
                  <a:rPr lang="en-US" altLang="ja-JP" sz="1200"/>
                  <a:t>                        What is the minimum value of </a:t>
                </a:r>
                <a14:m>
                  <m:oMath xmlns:m="http://schemas.openxmlformats.org/officeDocument/2006/math">
                    <m:sSub>
                      <m:sSubPr>
                        <m:ctrlPr>
                          <a:rPr lang="en-US" altLang="ja-JP" sz="1200" b="1" i="1" dirty="0">
                            <a:latin typeface="Cambria Math" panose="02040503050406030204" pitchFamily="18" charset="0"/>
                          </a:rPr>
                        </m:ctrlPr>
                      </m:sSubPr>
                      <m:e>
                        <m:r>
                          <a:rPr lang="en-US" altLang="ja-JP" sz="1200" b="1" i="1" dirty="0">
                            <a:latin typeface="Cambria Math" panose="02040503050406030204" pitchFamily="18" charset="0"/>
                          </a:rPr>
                          <m:t>𝒇</m:t>
                        </m:r>
                      </m:e>
                      <m:sub>
                        <m:r>
                          <a:rPr lang="en-US" altLang="ja-JP" sz="1200" b="1" i="1" dirty="0">
                            <a:latin typeface="Cambria Math" panose="02040503050406030204" pitchFamily="18" charset="0"/>
                          </a:rPr>
                          <m:t>𝒔</m:t>
                        </m:r>
                      </m:sub>
                    </m:sSub>
                  </m:oMath>
                </a14:m>
                <a:r>
                  <a:rPr lang="en-US" altLang="ja-JP" sz="1200"/>
                  <a:t> necessary to allow full reproduction of the original signal?</a:t>
                </a:r>
                <a:endParaRPr lang="ja-JP" altLang="en-US" sz="1200">
                  <a:effectLst/>
                </a:endParaRPr>
              </a:p>
              <a:p>
                <a:pPr algn="l"/>
                <a:endParaRPr lang="en-US" sz="1200"/>
              </a:p>
            </p:txBody>
          </p:sp>
        </mc:Choice>
        <mc:Fallback>
          <p:sp>
            <p:nvSpPr>
              <p:cNvPr id="5" name="TextBox 4">
                <a:extLst>
                  <a:ext uri="{FF2B5EF4-FFF2-40B4-BE49-F238E27FC236}">
                    <a16:creationId xmlns:a16="http://schemas.microsoft.com/office/drawing/2014/main" id="{88691852-EBDF-5437-AAAB-F1BF4AA1F280}"/>
                  </a:ext>
                </a:extLst>
              </p:cNvPr>
              <p:cNvSpPr txBox="1">
                <a:spLocks noRot="1" noChangeAspect="1" noMove="1" noResize="1" noEditPoints="1" noAdjustHandles="1" noChangeArrowheads="1" noChangeShapeType="1" noTextEdit="1"/>
              </p:cNvSpPr>
              <p:nvPr/>
            </p:nvSpPr>
            <p:spPr>
              <a:xfrm>
                <a:off x="0" y="2081203"/>
                <a:ext cx="12192000" cy="3231654"/>
              </a:xfrm>
              <a:prstGeom prst="rect">
                <a:avLst/>
              </a:prstGeom>
              <a:blipFill>
                <a:blip r:embed="rId3"/>
                <a:stretch>
                  <a:fillRect l="-750" t="-2072"/>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EF2ECF96-2C47-1A4E-A5E8-C6BFA9208E55}"/>
              </a:ext>
            </a:extLst>
          </p:cNvPr>
          <p:cNvSpPr/>
          <p:nvPr/>
        </p:nvSpPr>
        <p:spPr>
          <a:xfrm>
            <a:off x="3391754" y="319776"/>
            <a:ext cx="6883851"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sz="3200">
              <a:solidFill>
                <a:srgbClr val="000000"/>
              </a:solidFill>
              <a:latin typeface="Arial" panose="020B0604020202020204" pitchFamily="34" charset="0"/>
            </a:endParaRPr>
          </a:p>
          <a:p>
            <a:pPr algn="ctr"/>
            <a:r>
              <a:rPr lang="en-US" altLang="ja-JP" sz="3200">
                <a:solidFill>
                  <a:srgbClr val="FF0000"/>
                </a:solidFill>
              </a:rPr>
              <a:t>PCM </a:t>
            </a:r>
            <a:r>
              <a:rPr lang="ja-JP" altLang="en-US" sz="3200">
                <a:solidFill>
                  <a:srgbClr val="FF0000"/>
                </a:solidFill>
              </a:rPr>
              <a:t>の基礎</a:t>
            </a:r>
            <a:r>
              <a:rPr lang="en-US" altLang="ja-JP" sz="1100" b="1">
                <a:solidFill>
                  <a:schemeClr val="tx1"/>
                </a:solidFill>
                <a:latin typeface="Arial" panose="020B0604020202020204" pitchFamily="34" charset="0"/>
              </a:rPr>
              <a:t>Basics of PCM</a:t>
            </a:r>
            <a:endParaRPr lang="en-US" altLang="ja-JP" sz="1100" b="1">
              <a:solidFill>
                <a:schemeClr val="tx1"/>
              </a:solidFill>
            </a:endParaRPr>
          </a:p>
          <a:p>
            <a:pPr algn="ctr"/>
            <a:r>
              <a:rPr lang="ja-JP" altLang="en-US" sz="3200" b="1">
                <a:solidFill>
                  <a:srgbClr val="FF0000"/>
                </a:solidFill>
              </a:rPr>
              <a:t> </a:t>
            </a:r>
            <a:endParaRPr lang="en-US" sz="3200">
              <a:solidFill>
                <a:srgbClr val="FF0000"/>
              </a:solidFill>
            </a:endParaRPr>
          </a:p>
        </p:txBody>
      </p:sp>
      <p:pic>
        <p:nvPicPr>
          <p:cNvPr id="11" name="図 10"/>
          <p:cNvPicPr/>
          <p:nvPr/>
        </p:nvPicPr>
        <p:blipFill>
          <a:blip r:embed="rId4">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Tree>
    <p:extLst>
      <p:ext uri="{BB962C8B-B14F-4D97-AF65-F5344CB8AC3E}">
        <p14:creationId xmlns:p14="http://schemas.microsoft.com/office/powerpoint/2010/main" val="225465256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315028" y="464955"/>
            <a:ext cx="5335105" cy="381684"/>
          </a:xfrm>
        </p:spPr>
        <p:txBody>
          <a:bodyPr/>
          <a:lstStyle/>
          <a:p>
            <a:r>
              <a:rPr lang="en-US" sz="2800" b="1"/>
              <a:t>                               14</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154984"/>
              </a:xfrm>
              <a:prstGeom prst="rect">
                <a:avLst/>
              </a:prstGeom>
              <a:noFill/>
            </p:spPr>
            <p:txBody>
              <a:bodyPr wrap="square" rtlCol="0">
                <a:spAutoFit/>
              </a:bodyPr>
              <a:lstStyle/>
              <a:p>
                <a:r>
                  <a:rPr lang="ja-JP" altLang="en-US" sz="2400"/>
                  <a:t>ナイキスト</a:t>
                </a:r>
                <a:r>
                  <a:rPr lang="en-US" altLang="ja-JP" sz="2400"/>
                  <a:t>-</a:t>
                </a:r>
                <a:r>
                  <a:rPr lang="ja-JP" altLang="en-US" sz="2400"/>
                  <a:t>シャノンの標本化定理 </a:t>
                </a:r>
                <a:r>
                  <a:rPr lang="en-US" altLang="ja-JP" sz="2400"/>
                  <a:t>"</a:t>
                </a:r>
                <a:r>
                  <a:rPr lang="en-US" altLang="ja-JP" sz="2400" err="1">
                    <a:solidFill>
                      <a:srgbClr val="FF0000"/>
                    </a:solidFill>
                  </a:rPr>
                  <a:t>Nyquist</a:t>
                </a:r>
                <a:r>
                  <a:rPr lang="en-US" altLang="ja-JP" sz="2400">
                    <a:solidFill>
                      <a:srgbClr val="FF0000"/>
                    </a:solidFill>
                  </a:rPr>
                  <a:t>-Shannon sampling theorem</a:t>
                </a:r>
                <a:r>
                  <a:rPr lang="en-US" altLang="ja-JP" sz="2400"/>
                  <a:t>"</a:t>
                </a:r>
                <a:r>
                  <a:rPr lang="ja-JP" altLang="en-US" sz="2400"/>
                  <a:t>（</a:t>
                </a:r>
                <a:r>
                  <a:rPr lang="en-US" altLang="ja-JP" sz="2400"/>
                  <a:t>or "</a:t>
                </a:r>
                <a:r>
                  <a:rPr lang="en-US" altLang="ja-JP" sz="2400">
                    <a:solidFill>
                      <a:srgbClr val="FF0000"/>
                    </a:solidFill>
                  </a:rPr>
                  <a:t>sampling theorem</a:t>
                </a:r>
                <a:r>
                  <a:rPr lang="en-US" altLang="ja-JP" sz="2400"/>
                  <a:t>"</a:t>
                </a:r>
                <a:r>
                  <a:rPr lang="ja-JP" altLang="en-US" sz="2400"/>
                  <a:t>）： </a:t>
                </a:r>
                <a14:m>
                  <m:oMath xmlns:m="http://schemas.openxmlformats.org/officeDocument/2006/math">
                    <m:sSub>
                      <m:sSubPr>
                        <m:ctrlPr>
                          <a:rPr lang="en-US" altLang="ja-JP" sz="2400" i="1" dirty="0" smtClean="0">
                            <a:solidFill>
                              <a:srgbClr val="FF0000"/>
                            </a:solidFill>
                            <a:latin typeface="Cambria Math" panose="02040503050406030204" pitchFamily="18" charset="0"/>
                          </a:rPr>
                        </m:ctrlPr>
                      </m:sSubPr>
                      <m:e>
                        <m:r>
                          <a:rPr lang="en-US" altLang="ja-JP" sz="2400" i="1" dirty="0">
                            <a:solidFill>
                              <a:srgbClr val="FF0000"/>
                            </a:solidFill>
                            <a:latin typeface="Cambria Math" panose="02040503050406030204" pitchFamily="18" charset="0"/>
                          </a:rPr>
                          <m:t>𝑓</m:t>
                        </m:r>
                      </m:e>
                      <m:sub>
                        <m:r>
                          <a:rPr lang="en-US" altLang="ja-JP" sz="2400" i="1" dirty="0">
                            <a:solidFill>
                              <a:srgbClr val="FF0000"/>
                            </a:solidFill>
                            <a:latin typeface="Cambria Math" panose="02040503050406030204" pitchFamily="18" charset="0"/>
                          </a:rPr>
                          <m:t>𝑠</m:t>
                        </m:r>
                      </m:sub>
                    </m:sSub>
                    <m:r>
                      <a:rPr lang="en-US" altLang="ja-JP" sz="2400" b="0" i="0" dirty="0" smtClean="0">
                        <a:solidFill>
                          <a:srgbClr val="FF0000"/>
                        </a:solidFill>
                        <a:latin typeface="Cambria Math" panose="02040503050406030204" pitchFamily="18" charset="0"/>
                      </a:rPr>
                      <m:t> </m:t>
                    </m:r>
                  </m:oMath>
                </a14:m>
                <a:r>
                  <a:rPr lang="en-US" altLang="ja-JP" sz="2400">
                    <a:solidFill>
                      <a:srgbClr val="FF0000"/>
                    </a:solidFill>
                  </a:rPr>
                  <a:t>&gt; 2</a:t>
                </a:r>
                <a14:m>
                  <m:oMath xmlns:m="http://schemas.openxmlformats.org/officeDocument/2006/math">
                    <m:sSub>
                      <m:sSubPr>
                        <m:ctrlPr>
                          <a:rPr lang="en-US" altLang="ja-JP" sz="2400" i="1" dirty="0" smtClean="0">
                            <a:solidFill>
                              <a:srgbClr val="FF0000"/>
                            </a:solidFill>
                            <a:latin typeface="Cambria Math" panose="02040503050406030204" pitchFamily="18" charset="0"/>
                          </a:rPr>
                        </m:ctrlPr>
                      </m:sSubPr>
                      <m:e>
                        <m:r>
                          <a:rPr lang="en-US" altLang="ja-JP" sz="2400" i="1" dirty="0">
                            <a:solidFill>
                              <a:srgbClr val="FF0000"/>
                            </a:solidFill>
                            <a:latin typeface="Cambria Math" panose="02040503050406030204" pitchFamily="18" charset="0"/>
                          </a:rPr>
                          <m:t>𝑓</m:t>
                        </m:r>
                      </m:e>
                      <m:sub>
                        <m:r>
                          <a:rPr lang="en-US" altLang="ja-JP" sz="2400" b="0" i="1" dirty="0" smtClean="0">
                            <a:solidFill>
                              <a:srgbClr val="FF0000"/>
                            </a:solidFill>
                            <a:latin typeface="Cambria Math" panose="02040503050406030204" pitchFamily="18" charset="0"/>
                          </a:rPr>
                          <m:t>𝑚𝑎𝑥</m:t>
                        </m:r>
                      </m:sub>
                    </m:sSub>
                    <m:r>
                      <a:rPr lang="en-US" altLang="ja-JP" sz="2400" b="0" i="0" dirty="0" smtClean="0">
                        <a:latin typeface="Cambria Math" panose="02040503050406030204" pitchFamily="18" charset="0"/>
                      </a:rPr>
                      <m:t> </m:t>
                    </m:r>
                  </m:oMath>
                </a14:m>
                <a:r>
                  <a:rPr lang="en-US" altLang="ja-JP" sz="2400"/>
                  <a:t>→ </a:t>
                </a:r>
                <a:r>
                  <a:rPr lang="ja-JP" altLang="en-US" sz="2400"/>
                  <a:t>標本値から原信号を完全に再現可能．</a:t>
                </a:r>
              </a:p>
              <a:p>
                <a:endParaRPr lang="en-US" altLang="ja-JP" sz="1200"/>
              </a:p>
              <a:p>
                <a:r>
                  <a:rPr lang="en-US" altLang="ja-JP" sz="1200" err="1"/>
                  <a:t>Nyquist</a:t>
                </a:r>
                <a:r>
                  <a:rPr lang="en-US" altLang="ja-JP" sz="1200"/>
                  <a:t>-Shannon sampling theorem" (or "sampling theorem"): → The original signal can be completely reproduced from sampled values.</a:t>
                </a:r>
              </a:p>
              <a:p>
                <a:endParaRPr lang="en-US" altLang="ja-JP" sz="1200">
                  <a:effectLst/>
                </a:endParaRPr>
              </a:p>
              <a:p>
                <a:endParaRPr lang="en-US" altLang="ja-JP" sz="1200"/>
              </a:p>
              <a:p>
                <a14:m>
                  <m:oMath xmlns:m="http://schemas.openxmlformats.org/officeDocument/2006/math">
                    <m:sSub>
                      <m:sSubPr>
                        <m:ctrlPr>
                          <a:rPr lang="en-US" altLang="ja-JP" sz="2400" b="1" i="1" dirty="0">
                            <a:latin typeface="Cambria Math" panose="02040503050406030204" pitchFamily="18" charset="0"/>
                          </a:rPr>
                        </m:ctrlPr>
                      </m:sSubPr>
                      <m:e>
                        <m:r>
                          <a:rPr lang="en-US" altLang="ja-JP" sz="2400" b="1" i="1" dirty="0">
                            <a:latin typeface="Cambria Math" panose="02040503050406030204" pitchFamily="18" charset="0"/>
                          </a:rPr>
                          <m:t>𝒇</m:t>
                        </m:r>
                      </m:e>
                      <m:sub>
                        <m:r>
                          <a:rPr lang="en-US" altLang="ja-JP" sz="2400" b="1" i="1" dirty="0">
                            <a:latin typeface="Cambria Math" panose="02040503050406030204" pitchFamily="18" charset="0"/>
                          </a:rPr>
                          <m:t>𝒔</m:t>
                        </m:r>
                      </m:sub>
                    </m:sSub>
                  </m:oMath>
                </a14:m>
                <a:r>
                  <a:rPr lang="ja-JP" altLang="en-US" sz="2400"/>
                  <a:t> </a:t>
                </a:r>
                <a:r>
                  <a:rPr lang="en-US" altLang="ja-JP" sz="2400"/>
                  <a:t>/ 2  : </a:t>
                </a:r>
                <a:r>
                  <a:rPr lang="ja-JP" altLang="en-US" sz="2400"/>
                  <a:t>ナイキスト周波数 </a:t>
                </a:r>
                <a:r>
                  <a:rPr lang="en-US" altLang="ja-JP" sz="2400"/>
                  <a:t>"</a:t>
                </a:r>
                <a:r>
                  <a:rPr lang="en-US" altLang="ja-JP" sz="2400" err="1"/>
                  <a:t>Nyquist</a:t>
                </a:r>
                <a:r>
                  <a:rPr lang="en-US" altLang="ja-JP" sz="2400"/>
                  <a:t> frequency“</a:t>
                </a:r>
              </a:p>
              <a:p>
                <a:endParaRPr lang="en-US" altLang="ja-JP" sz="1200"/>
              </a:p>
              <a:p>
                <a:r>
                  <a:rPr lang="en-US" altLang="ja-JP" sz="1200">
                    <a:effectLst/>
                  </a:rPr>
                  <a:t>Sometimes referred as </a:t>
                </a:r>
                <a:r>
                  <a:rPr lang="en-US" altLang="ja-JP" sz="1200" b="1">
                    <a:effectLst/>
                  </a:rPr>
                  <a:t>folding frequency</a:t>
                </a:r>
              </a:p>
              <a:p>
                <a:endParaRPr lang="en-US" altLang="ja-JP" sz="1200" b="1"/>
              </a:p>
              <a:p>
                <a:endParaRPr lang="en-US" altLang="ja-JP" sz="1200" b="1">
                  <a:effectLst/>
                </a:endParaRPr>
              </a:p>
              <a:p>
                <a:endParaRPr lang="en-US" altLang="ja-JP" sz="1200" b="1"/>
              </a:p>
              <a:p>
                <a:endParaRPr lang="en-US" altLang="ja-JP" sz="1200" b="1">
                  <a:effectLst/>
                </a:endParaRPr>
              </a:p>
              <a:p>
                <a:endParaRPr lang="en-US" altLang="ja-JP" sz="1200"/>
              </a:p>
              <a:p>
                <a:endParaRPr lang="en-US" altLang="ja-JP" sz="1200">
                  <a:effectLst/>
                </a:endParaRPr>
              </a:p>
              <a:p>
                <a:pPr algn="l"/>
                <a:endParaRPr lang="en-US" sz="1200"/>
              </a:p>
              <a:p>
                <a:pPr algn="l"/>
                <a:endParaRPr lang="en-US" sz="1200"/>
              </a:p>
              <a:p>
                <a:r>
                  <a:rPr lang="en-US" sz="1200"/>
                  <a:t>                          </a:t>
                </a:r>
              </a:p>
              <a:p>
                <a:r>
                  <a:rPr lang="en-US" sz="1200"/>
                  <a:t>                                                                                                                                                                                        </a:t>
                </a:r>
                <a:r>
                  <a:rPr lang="en-US" sz="1000"/>
                  <a:t>https://en.wikipedia.org/wiki/Nyquist_frequency</a:t>
                </a:r>
              </a:p>
            </p:txBody>
          </p:sp>
        </mc:Choice>
        <mc:Fallback>
          <p:sp>
            <p:nvSpPr>
              <p:cNvPr id="5" name="TextBox 4">
                <a:extLst>
                  <a:ext uri="{FF2B5EF4-FFF2-40B4-BE49-F238E27FC236}">
                    <a16:creationId xmlns:a16="http://schemas.microsoft.com/office/drawing/2014/main" id="{88691852-EBDF-5437-AAAB-F1BF4AA1F280}"/>
                  </a:ext>
                </a:extLst>
              </p:cNvPr>
              <p:cNvSpPr txBox="1">
                <a:spLocks noRot="1" noChangeAspect="1" noMove="1" noResize="1" noEditPoints="1" noAdjustHandles="1" noChangeArrowheads="1" noChangeShapeType="1" noTextEdit="1"/>
              </p:cNvSpPr>
              <p:nvPr/>
            </p:nvSpPr>
            <p:spPr>
              <a:xfrm>
                <a:off x="0" y="2081203"/>
                <a:ext cx="12192000" cy="4154984"/>
              </a:xfrm>
              <a:prstGeom prst="rect">
                <a:avLst/>
              </a:prstGeom>
              <a:blipFill>
                <a:blip r:embed="rId3"/>
                <a:stretch>
                  <a:fillRect l="-750" t="-1613"/>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EF2ECF96-2C47-1A4E-A5E8-C6BFA9208E55}"/>
              </a:ext>
            </a:extLst>
          </p:cNvPr>
          <p:cNvSpPr/>
          <p:nvPr/>
        </p:nvSpPr>
        <p:spPr>
          <a:xfrm>
            <a:off x="3391754" y="319776"/>
            <a:ext cx="6883851"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sz="3200">
              <a:solidFill>
                <a:srgbClr val="000000"/>
              </a:solidFill>
              <a:latin typeface="Arial" panose="020B0604020202020204" pitchFamily="34" charset="0"/>
            </a:endParaRPr>
          </a:p>
          <a:p>
            <a:pPr algn="ctr"/>
            <a:r>
              <a:rPr lang="en-US" altLang="ja-JP" sz="3200">
                <a:solidFill>
                  <a:srgbClr val="FF0000"/>
                </a:solidFill>
              </a:rPr>
              <a:t>PCM </a:t>
            </a:r>
            <a:r>
              <a:rPr lang="ja-JP" altLang="en-US" sz="3200">
                <a:solidFill>
                  <a:srgbClr val="FF0000"/>
                </a:solidFill>
              </a:rPr>
              <a:t>の基礎</a:t>
            </a:r>
            <a:r>
              <a:rPr lang="en-US" altLang="ja-JP" sz="1100" b="1">
                <a:solidFill>
                  <a:schemeClr val="tx1"/>
                </a:solidFill>
                <a:latin typeface="Arial" panose="020B0604020202020204" pitchFamily="34" charset="0"/>
              </a:rPr>
              <a:t>Basics of PCM</a:t>
            </a:r>
            <a:endParaRPr lang="en-US" altLang="ja-JP" sz="1100" b="1">
              <a:solidFill>
                <a:schemeClr val="tx1"/>
              </a:solidFill>
            </a:endParaRPr>
          </a:p>
          <a:p>
            <a:pPr algn="ctr"/>
            <a:r>
              <a:rPr lang="ja-JP" altLang="en-US" sz="3200" b="1">
                <a:solidFill>
                  <a:srgbClr val="FF0000"/>
                </a:solidFill>
              </a:rPr>
              <a:t> </a:t>
            </a:r>
            <a:endParaRPr lang="en-US" sz="3200">
              <a:solidFill>
                <a:srgbClr val="FF0000"/>
              </a:solidFill>
            </a:endParaRPr>
          </a:p>
        </p:txBody>
      </p:sp>
      <p:pic>
        <p:nvPicPr>
          <p:cNvPr id="11" name="図 10"/>
          <p:cNvPicPr/>
          <p:nvPr/>
        </p:nvPicPr>
        <p:blipFill>
          <a:blip r:embed="rId4">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ectangle 1"/>
          <p:cNvSpPr>
            <a:spLocks noChangeArrowheads="1"/>
          </p:cNvSpPr>
          <p:nvPr/>
        </p:nvSpPr>
        <p:spPr bwMode="auto">
          <a:xfrm>
            <a:off x="0"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ja-JP" altLang="ja-JP" sz="1800" b="0" i="0" u="none" strike="noStrike" cap="none" normalizeH="0" baseline="0">
                <a:ln>
                  <a:noFill/>
                </a:ln>
                <a:solidFill>
                  <a:schemeClr val="tx1"/>
                </a:solidFill>
                <a:effectLst/>
                <a:latin typeface="Arial" panose="020B0604020202020204" pitchFamily="34" charset="0"/>
              </a:rPr>
            </a:b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7" name="Rectangle 2"/>
          <p:cNvSpPr>
            <a:spLocks noChangeArrowheads="1"/>
          </p:cNvSpPr>
          <p:nvPr/>
        </p:nvSpPr>
        <p:spPr bwMode="auto">
          <a:xfrm>
            <a:off x="152400" y="-1707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ja-JP" altLang="ja-JP" sz="1800" b="0" i="0" u="none" strike="noStrike" cap="none" normalizeH="0" baseline="0">
                <a:ln>
                  <a:noFill/>
                </a:ln>
                <a:solidFill>
                  <a:schemeClr val="tx1"/>
                </a:solidFill>
                <a:effectLst/>
                <a:latin typeface="Arial" panose="020B0604020202020204" pitchFamily="34" charset="0"/>
              </a:rPr>
            </a:br>
            <a:endParaRPr kumimoji="0" lang="ja-JP" altLang="ja-JP" sz="1800" b="0" i="0" u="none" strike="noStrike" cap="none" normalizeH="0" baseline="0">
              <a:ln>
                <a:noFill/>
              </a:ln>
              <a:solidFill>
                <a:schemeClr val="tx1"/>
              </a:solidFill>
              <a:effectLst/>
              <a:latin typeface="Arial" panose="020B0604020202020204" pitchFamily="34" charset="0"/>
            </a:endParaRPr>
          </a:p>
        </p:txBody>
      </p:sp>
      <p:pic>
        <p:nvPicPr>
          <p:cNvPr id="9" name="図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12429" y="3611708"/>
            <a:ext cx="4724400" cy="2192417"/>
          </a:xfrm>
          <a:prstGeom prst="rect">
            <a:avLst/>
          </a:prstGeom>
        </p:spPr>
      </p:pic>
    </p:spTree>
    <p:extLst>
      <p:ext uri="{BB962C8B-B14F-4D97-AF65-F5344CB8AC3E}">
        <p14:creationId xmlns:p14="http://schemas.microsoft.com/office/powerpoint/2010/main" val="22432620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315028" y="464955"/>
            <a:ext cx="5335105" cy="381684"/>
          </a:xfrm>
        </p:spPr>
        <p:txBody>
          <a:bodyPr/>
          <a:lstStyle/>
          <a:p>
            <a:r>
              <a:rPr lang="en-US" sz="2800" b="1"/>
              <a:t>                               15</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4708981"/>
              </a:xfrm>
              <a:prstGeom prst="rect">
                <a:avLst/>
              </a:prstGeom>
              <a:noFill/>
            </p:spPr>
            <p:txBody>
              <a:bodyPr wrap="square" rtlCol="0">
                <a:spAutoFit/>
              </a:bodyPr>
              <a:lstStyle/>
              <a:p>
                <a14:m>
                  <m:oMath xmlns:m="http://schemas.openxmlformats.org/officeDocument/2006/math">
                    <m:sSub>
                      <m:sSubPr>
                        <m:ctrlPr>
                          <a:rPr lang="en-US" altLang="ja-JP" sz="2400" b="1" i="1" dirty="0" smtClean="0">
                            <a:solidFill>
                              <a:schemeClr val="tx1"/>
                            </a:solidFill>
                            <a:latin typeface="Cambria Math" panose="02040503050406030204" pitchFamily="18" charset="0"/>
                          </a:rPr>
                        </m:ctrlPr>
                      </m:sSubPr>
                      <m:e>
                        <m:r>
                          <a:rPr lang="en-US" altLang="ja-JP" sz="2400" b="1" i="1" dirty="0">
                            <a:solidFill>
                              <a:schemeClr val="tx1"/>
                            </a:solidFill>
                            <a:latin typeface="Cambria Math" panose="02040503050406030204" pitchFamily="18" charset="0"/>
                          </a:rPr>
                          <m:t>𝒇</m:t>
                        </m:r>
                      </m:e>
                      <m:sub>
                        <m:r>
                          <a:rPr lang="en-US" altLang="ja-JP" sz="2400" b="1" i="1" dirty="0" smtClean="0">
                            <a:solidFill>
                              <a:schemeClr val="tx1"/>
                            </a:solidFill>
                            <a:latin typeface="Cambria Math" panose="02040503050406030204" pitchFamily="18" charset="0"/>
                          </a:rPr>
                          <m:t>𝒎𝒂𝒙</m:t>
                        </m:r>
                      </m:sub>
                    </m:sSub>
                    <m:r>
                      <a:rPr lang="en-US" altLang="ja-JP" sz="2400" b="1" i="0" dirty="0" smtClean="0">
                        <a:solidFill>
                          <a:schemeClr val="tx1"/>
                        </a:solidFill>
                        <a:latin typeface="Cambria Math" panose="02040503050406030204" pitchFamily="18" charset="0"/>
                      </a:rPr>
                      <m:t> </m:t>
                    </m:r>
                  </m:oMath>
                </a14:m>
                <a:r>
                  <a:rPr lang="en-US" altLang="ja-JP" sz="2400"/>
                  <a:t> </a:t>
                </a:r>
                <a:r>
                  <a:rPr lang="ja-JP" altLang="en-US" sz="2400"/>
                  <a:t>：原信号のスペクトルの最高周波数．</a:t>
                </a:r>
              </a:p>
              <a:p>
                <a:endParaRPr lang="en-US" altLang="ja-JP" sz="1200"/>
              </a:p>
              <a:p>
                <a14:m>
                  <m:oMath xmlns:m="http://schemas.openxmlformats.org/officeDocument/2006/math">
                    <m:sSub>
                      <m:sSubPr>
                        <m:ctrlPr>
                          <a:rPr lang="en-US" altLang="ja-JP" sz="1200" b="1" i="1" dirty="0">
                            <a:latin typeface="Cambria Math" panose="02040503050406030204" pitchFamily="18" charset="0"/>
                          </a:rPr>
                        </m:ctrlPr>
                      </m:sSubPr>
                      <m:e>
                        <m:r>
                          <a:rPr lang="en-US" altLang="ja-JP" sz="1200" b="1" i="1" dirty="0">
                            <a:latin typeface="Cambria Math" panose="02040503050406030204" pitchFamily="18" charset="0"/>
                          </a:rPr>
                          <m:t>𝒇</m:t>
                        </m:r>
                      </m:e>
                      <m:sub>
                        <m:r>
                          <a:rPr lang="en-US" altLang="ja-JP" sz="1200" b="1" i="1" dirty="0">
                            <a:latin typeface="Cambria Math" panose="02040503050406030204" pitchFamily="18" charset="0"/>
                          </a:rPr>
                          <m:t>𝒎𝒂𝒙</m:t>
                        </m:r>
                      </m:sub>
                    </m:sSub>
                    <m:r>
                      <a:rPr lang="en-US" altLang="ja-JP" sz="1200" b="1" dirty="0">
                        <a:latin typeface="Cambria Math" panose="02040503050406030204" pitchFamily="18" charset="0"/>
                      </a:rPr>
                      <m:t> </m:t>
                    </m:r>
                  </m:oMath>
                </a14:m>
                <a:r>
                  <a:rPr lang="en-US" altLang="ja-JP" sz="1200"/>
                  <a:t> : The highest frequency of the spectrum of the original signal.</a:t>
                </a:r>
              </a:p>
              <a:p>
                <a:endParaRPr lang="en-US" altLang="ja-JP" sz="1200"/>
              </a:p>
              <a:p>
                <a:endParaRPr lang="en-US" altLang="ja-JP" sz="1200">
                  <a:effectLst/>
                </a:endParaRPr>
              </a:p>
              <a:p>
                <a:endParaRPr lang="en-US" altLang="ja-JP" sz="1200"/>
              </a:p>
              <a:p>
                <a:r>
                  <a:rPr lang="ja-JP" altLang="en-US" sz="2400"/>
                  <a:t>逆に，標本化周波数の半分より高い周波数が含まれていると，再現不可能． 偽信号 </a:t>
                </a:r>
                <a:r>
                  <a:rPr lang="en-US" altLang="ja-JP" sz="2400"/>
                  <a:t>"alias" </a:t>
                </a:r>
                <a:r>
                  <a:rPr lang="ja-JP" altLang="en-US" sz="2400"/>
                  <a:t>が混入してしまう</a:t>
                </a:r>
                <a:endParaRPr lang="en-US" altLang="ja-JP" sz="1200"/>
              </a:p>
              <a:p>
                <a:r>
                  <a:rPr lang="en-US" altLang="ja-JP" sz="1200"/>
                  <a:t>Conversely, if frequencies higher than half the sampling frequency are included, they cannot be reproduced. </a:t>
                </a:r>
                <a:r>
                  <a:rPr lang="en-US" altLang="ja-JP" sz="1200" b="1"/>
                  <a:t>False signal "alias" will be mixed in</a:t>
                </a:r>
                <a:r>
                  <a:rPr lang="en-US" altLang="ja-JP" sz="1200"/>
                  <a:t>.</a:t>
                </a:r>
                <a:endParaRPr lang="en-US" altLang="ja-JP" sz="1200" b="1"/>
              </a:p>
              <a:p>
                <a:endParaRPr lang="en-US" altLang="ja-JP" sz="1200" b="1">
                  <a:effectLst/>
                </a:endParaRPr>
              </a:p>
              <a:p>
                <a:endParaRPr lang="en-US" altLang="ja-JP" sz="1200" b="1"/>
              </a:p>
              <a:p>
                <a:r>
                  <a:rPr lang="ja-JP" altLang="en-US" sz="2400"/>
                  <a:t>通常は，標本化の前に，信号の高周波成分をカットしておく． え？カットしちゃっていいのかい？ はい，人間の可聴周波数範囲は </a:t>
                </a:r>
                <a:r>
                  <a:rPr lang="en-US" altLang="ja-JP" sz="2400"/>
                  <a:t>20 Hz〜20 kHz </a:t>
                </a:r>
                <a:r>
                  <a:rPr lang="ja-JP" altLang="en-US" sz="2400" err="1"/>
                  <a:t>なので</a:t>
                </a:r>
                <a:r>
                  <a:rPr lang="ja-JP" altLang="en-US" sz="2400"/>
                  <a:t>無問題</a:t>
                </a:r>
                <a:endParaRPr lang="en-US" altLang="ja-JP" sz="2400" b="1">
                  <a:effectLst/>
                </a:endParaRPr>
              </a:p>
              <a:p>
                <a:r>
                  <a:rPr lang="en-US" altLang="ja-JP" sz="1200"/>
                  <a:t>Normally, the </a:t>
                </a:r>
                <a:r>
                  <a:rPr lang="en-US" altLang="ja-JP" sz="1200" b="1"/>
                  <a:t>high-frequency components of the signal </a:t>
                </a:r>
                <a:r>
                  <a:rPr lang="en-US" altLang="ja-JP" sz="1200"/>
                  <a:t>are </a:t>
                </a:r>
                <a:r>
                  <a:rPr lang="en-US" altLang="ja-JP" sz="1200" b="1"/>
                  <a:t>cut off </a:t>
                </a:r>
                <a:r>
                  <a:rPr lang="en-US" altLang="ja-JP" sz="1200"/>
                  <a:t>before </a:t>
                </a:r>
                <a:r>
                  <a:rPr lang="en-US" altLang="ja-JP" sz="1200" b="1"/>
                  <a:t>sampling</a:t>
                </a:r>
                <a:r>
                  <a:rPr lang="en-US" altLang="ja-JP" sz="1200"/>
                  <a:t>. What? Is it OK to cut them off? </a:t>
                </a:r>
                <a:r>
                  <a:rPr lang="en-US" altLang="ja-JP" sz="1200" b="1"/>
                  <a:t>Yes</a:t>
                </a:r>
                <a:r>
                  <a:rPr lang="en-US" altLang="ja-JP" sz="1200"/>
                  <a:t>, since the </a:t>
                </a:r>
                <a:r>
                  <a:rPr lang="en-US" altLang="ja-JP" sz="1200" b="1"/>
                  <a:t>human audible frequency</a:t>
                </a:r>
                <a:r>
                  <a:rPr lang="en-US" altLang="ja-JP" sz="1200"/>
                  <a:t> range is </a:t>
                </a:r>
                <a:r>
                  <a:rPr lang="en-US" altLang="ja-JP" sz="1200" b="1"/>
                  <a:t>20 Hz to 20 kHz.</a:t>
                </a:r>
              </a:p>
              <a:p>
                <a:endParaRPr lang="en-US" altLang="ja-JP" sz="1200">
                  <a:effectLst/>
                </a:endParaRPr>
              </a:p>
              <a:p>
                <a:pPr algn="l"/>
                <a:endParaRPr lang="en-US" sz="1200"/>
              </a:p>
              <a:p>
                <a:pPr algn="l"/>
                <a:endParaRPr lang="en-US" sz="1200"/>
              </a:p>
              <a:p>
                <a:r>
                  <a:rPr lang="en-US" sz="1200"/>
                  <a:t>                          </a:t>
                </a:r>
              </a:p>
              <a:p>
                <a:r>
                  <a:rPr lang="en-US" sz="1200"/>
                  <a:t>                                                                                                                                                                                        </a:t>
                </a:r>
                <a:endParaRPr lang="en-US" sz="1000"/>
              </a:p>
            </p:txBody>
          </p:sp>
        </mc:Choice>
        <mc:Fallback>
          <p:sp>
            <p:nvSpPr>
              <p:cNvPr id="5" name="TextBox 4">
                <a:extLst>
                  <a:ext uri="{FF2B5EF4-FFF2-40B4-BE49-F238E27FC236}">
                    <a16:creationId xmlns:a16="http://schemas.microsoft.com/office/drawing/2014/main" id="{88691852-EBDF-5437-AAAB-F1BF4AA1F280}"/>
                  </a:ext>
                </a:extLst>
              </p:cNvPr>
              <p:cNvSpPr txBox="1">
                <a:spLocks noRot="1" noChangeAspect="1" noMove="1" noResize="1" noEditPoints="1" noAdjustHandles="1" noChangeArrowheads="1" noChangeShapeType="1" noTextEdit="1"/>
              </p:cNvSpPr>
              <p:nvPr/>
            </p:nvSpPr>
            <p:spPr>
              <a:xfrm>
                <a:off x="0" y="2081203"/>
                <a:ext cx="12192000" cy="4708981"/>
              </a:xfrm>
              <a:prstGeom prst="rect">
                <a:avLst/>
              </a:prstGeom>
              <a:blipFill>
                <a:blip r:embed="rId3"/>
                <a:stretch>
                  <a:fillRect l="-750" t="-1423"/>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EF2ECF96-2C47-1A4E-A5E8-C6BFA9208E55}"/>
              </a:ext>
            </a:extLst>
          </p:cNvPr>
          <p:cNvSpPr/>
          <p:nvPr/>
        </p:nvSpPr>
        <p:spPr>
          <a:xfrm>
            <a:off x="3391754" y="319776"/>
            <a:ext cx="6883851"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sz="3200">
              <a:solidFill>
                <a:srgbClr val="000000"/>
              </a:solidFill>
              <a:latin typeface="Arial" panose="020B0604020202020204" pitchFamily="34" charset="0"/>
            </a:endParaRPr>
          </a:p>
          <a:p>
            <a:pPr algn="ctr"/>
            <a:r>
              <a:rPr lang="en-US" altLang="ja-JP" sz="3200">
                <a:solidFill>
                  <a:srgbClr val="FF0000"/>
                </a:solidFill>
              </a:rPr>
              <a:t>PCM </a:t>
            </a:r>
            <a:r>
              <a:rPr lang="ja-JP" altLang="en-US" sz="3200">
                <a:solidFill>
                  <a:srgbClr val="FF0000"/>
                </a:solidFill>
              </a:rPr>
              <a:t>の基礎</a:t>
            </a:r>
            <a:r>
              <a:rPr lang="en-US" altLang="ja-JP" sz="1100" b="1">
                <a:solidFill>
                  <a:schemeClr val="tx1"/>
                </a:solidFill>
                <a:latin typeface="Arial" panose="020B0604020202020204" pitchFamily="34" charset="0"/>
              </a:rPr>
              <a:t>Basics of PCM</a:t>
            </a:r>
            <a:endParaRPr lang="en-US" altLang="ja-JP" sz="1100" b="1">
              <a:solidFill>
                <a:schemeClr val="tx1"/>
              </a:solidFill>
            </a:endParaRPr>
          </a:p>
          <a:p>
            <a:pPr algn="ctr"/>
            <a:r>
              <a:rPr lang="ja-JP" altLang="en-US" sz="3200" b="1">
                <a:solidFill>
                  <a:srgbClr val="FF0000"/>
                </a:solidFill>
              </a:rPr>
              <a:t> </a:t>
            </a:r>
            <a:endParaRPr lang="en-US" sz="3200">
              <a:solidFill>
                <a:srgbClr val="FF0000"/>
              </a:solidFill>
            </a:endParaRPr>
          </a:p>
        </p:txBody>
      </p:sp>
      <p:pic>
        <p:nvPicPr>
          <p:cNvPr id="11" name="図 10"/>
          <p:cNvPicPr/>
          <p:nvPr/>
        </p:nvPicPr>
        <p:blipFill>
          <a:blip r:embed="rId4">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
        <p:nvSpPr>
          <p:cNvPr id="2" name="Rectangle 1"/>
          <p:cNvSpPr>
            <a:spLocks noChangeArrowheads="1"/>
          </p:cNvSpPr>
          <p:nvPr/>
        </p:nvSpPr>
        <p:spPr bwMode="auto">
          <a:xfrm>
            <a:off x="0"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ja-JP" altLang="ja-JP" sz="1800" b="0" i="0" u="none" strike="noStrike" cap="none" normalizeH="0" baseline="0">
                <a:ln>
                  <a:noFill/>
                </a:ln>
                <a:solidFill>
                  <a:schemeClr val="tx1"/>
                </a:solidFill>
                <a:effectLst/>
                <a:latin typeface="Arial" panose="020B0604020202020204" pitchFamily="34" charset="0"/>
              </a:rPr>
            </a:b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7" name="Rectangle 2"/>
          <p:cNvSpPr>
            <a:spLocks noChangeArrowheads="1"/>
          </p:cNvSpPr>
          <p:nvPr/>
        </p:nvSpPr>
        <p:spPr bwMode="auto">
          <a:xfrm>
            <a:off x="152400" y="-1707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ja-JP" altLang="ja-JP" sz="1800" b="0" i="0" u="none" strike="noStrike" cap="none" normalizeH="0" baseline="0">
                <a:ln>
                  <a:noFill/>
                </a:ln>
                <a:solidFill>
                  <a:schemeClr val="tx1"/>
                </a:solidFill>
                <a:effectLst/>
                <a:latin typeface="Arial" panose="020B0604020202020204" pitchFamily="34" charset="0"/>
              </a:rPr>
            </a:br>
            <a:endParaRPr kumimoji="0" lang="ja-JP" altLang="ja-JP"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7820044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315028" y="464955"/>
            <a:ext cx="5335105" cy="381684"/>
          </a:xfrm>
        </p:spPr>
        <p:txBody>
          <a:bodyPr/>
          <a:lstStyle/>
          <a:p>
            <a:r>
              <a:rPr lang="en-US" sz="2800" b="1"/>
              <a:t>                               16</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2677656"/>
              </a:xfrm>
              <a:prstGeom prst="rect">
                <a:avLst/>
              </a:prstGeom>
              <a:noFill/>
            </p:spPr>
            <p:txBody>
              <a:bodyPr wrap="square" rtlCol="0">
                <a:spAutoFit/>
              </a:bodyPr>
              <a:lstStyle/>
              <a:p>
                <a:r>
                  <a:rPr lang="ja-JP" altLang="en-US" sz="2400"/>
                  <a:t>量子化 </a:t>
                </a:r>
                <a:r>
                  <a:rPr lang="en-US" altLang="ja-JP" sz="2400"/>
                  <a:t>"quantization"</a:t>
                </a:r>
                <a:r>
                  <a:rPr lang="ja-JP" altLang="en-US" sz="2400"/>
                  <a:t>：</a:t>
                </a:r>
                <a:br>
                  <a:rPr lang="ja-JP" altLang="en-US" sz="2400"/>
                </a:br>
                <a:endParaRPr lang="ja-JP" altLang="en-US" sz="2400">
                  <a:effectLst/>
                </a:endParaRPr>
              </a:p>
              <a:p>
                <a:r>
                  <a:rPr lang="ja-JP" altLang="en-US" sz="2400"/>
                  <a:t>信号の強度方向の離散化：強度（実数値） </a:t>
                </a:r>
                <a14:m>
                  <m:oMath xmlns:m="http://schemas.openxmlformats.org/officeDocument/2006/math">
                    <m:r>
                      <a:rPr lang="en-US" altLang="ja-JP" sz="2400" i="1" dirty="0">
                        <a:latin typeface="Cambria Math" panose="02040503050406030204" pitchFamily="18" charset="0"/>
                      </a:rPr>
                      <m:t>𝑥</m:t>
                    </m:r>
                  </m:oMath>
                </a14:m>
                <a:r>
                  <a:rPr lang="en-US" sz="2400"/>
                  <a:t> </a:t>
                </a:r>
                <a:r>
                  <a:rPr lang="en-US" sz="2400">
                    <a:sym typeface="Wingdings" panose="05000000000000000000" pitchFamily="2" charset="2"/>
                  </a:rPr>
                  <a:t></a:t>
                </a:r>
                <a:r>
                  <a:rPr lang="ja-JP" altLang="en-US" sz="2400"/>
                  <a:t>バイナリデータ（整数値）</a:t>
                </a:r>
                <a14:m>
                  <m:oMath xmlns:m="http://schemas.openxmlformats.org/officeDocument/2006/math">
                    <m:sSup>
                      <m:sSupPr>
                        <m:ctrlPr>
                          <a:rPr lang="en-US" altLang="ja-JP" sz="2400" i="1" dirty="0">
                            <a:latin typeface="Cambria Math" panose="02040503050406030204" pitchFamily="18" charset="0"/>
                          </a:rPr>
                        </m:ctrlPr>
                      </m:sSupPr>
                      <m:e>
                        <m:r>
                          <m:rPr>
                            <m:nor/>
                          </m:rPr>
                          <a:rPr lang="ja-JP" altLang="en-US" sz="2400" dirty="0"/>
                          <m:t> </m:t>
                        </m:r>
                        <m:r>
                          <a:rPr lang="en-US" altLang="ja-JP" sz="2400" i="1" dirty="0">
                            <a:latin typeface="Cambria Math" panose="02040503050406030204" pitchFamily="18" charset="0"/>
                          </a:rPr>
                          <m:t>𝑥</m:t>
                        </m:r>
                        <m:r>
                          <m:rPr>
                            <m:nor/>
                          </m:rPr>
                          <a:rPr lang="en-US" altLang="ja-JP" sz="2400" dirty="0"/>
                          <m:t> </m:t>
                        </m:r>
                      </m:e>
                      <m:sup>
                        <m:r>
                          <a:rPr lang="en-US" altLang="ja-JP" sz="2400" dirty="0">
                            <a:latin typeface="Cambria Math" panose="02040503050406030204" pitchFamily="18" charset="0"/>
                          </a:rPr>
                          <m:t>′</m:t>
                        </m:r>
                      </m:sup>
                    </m:sSup>
                  </m:oMath>
                </a14:m>
                <a:endParaRPr lang="en-US" altLang="ja-JP" sz="2400"/>
              </a:p>
              <a:p>
                <a:r>
                  <a:rPr lang="en-US" altLang="ja-JP" sz="2400"/>
                  <a:t> </a:t>
                </a:r>
                <a:r>
                  <a:rPr lang="en-US" altLang="ja-JP" sz="1200"/>
                  <a:t>Discretization of signal intensity direction: intensity (real value) </a:t>
                </a:r>
                <a14:m>
                  <m:oMath xmlns:m="http://schemas.openxmlformats.org/officeDocument/2006/math">
                    <m:r>
                      <a:rPr lang="en-US" altLang="ja-JP" sz="1200" i="1" dirty="0">
                        <a:latin typeface="Cambria Math" panose="02040503050406030204" pitchFamily="18" charset="0"/>
                      </a:rPr>
                      <m:t>𝑥</m:t>
                    </m:r>
                  </m:oMath>
                </a14:m>
                <a:r>
                  <a:rPr lang="en-US" altLang="ja-JP" sz="1200"/>
                  <a:t> </a:t>
                </a:r>
                <a:r>
                  <a:rPr lang="en-US" altLang="ja-JP" sz="1200">
                    <a:sym typeface="Wingdings" panose="05000000000000000000" pitchFamily="2" charset="2"/>
                  </a:rPr>
                  <a:t> </a:t>
                </a:r>
                <a:r>
                  <a:rPr lang="en-US" altLang="ja-JP" sz="1200"/>
                  <a:t> à binary data (integer value) </a:t>
                </a:r>
                <a14:m>
                  <m:oMath xmlns:m="http://schemas.openxmlformats.org/officeDocument/2006/math">
                    <m:sSup>
                      <m:sSupPr>
                        <m:ctrlPr>
                          <a:rPr lang="en-US" altLang="ja-JP" sz="1200" i="1" dirty="0">
                            <a:latin typeface="Cambria Math" panose="02040503050406030204" pitchFamily="18" charset="0"/>
                          </a:rPr>
                        </m:ctrlPr>
                      </m:sSupPr>
                      <m:e>
                        <m:r>
                          <m:rPr>
                            <m:nor/>
                          </m:rPr>
                          <a:rPr lang="ja-JP" altLang="en-US" sz="1200" dirty="0"/>
                          <m:t> </m:t>
                        </m:r>
                        <m:r>
                          <a:rPr lang="en-US" altLang="ja-JP" sz="1200" i="1" dirty="0">
                            <a:latin typeface="Cambria Math" panose="02040503050406030204" pitchFamily="18" charset="0"/>
                          </a:rPr>
                          <m:t>𝑥</m:t>
                        </m:r>
                        <m:r>
                          <m:rPr>
                            <m:nor/>
                          </m:rPr>
                          <a:rPr lang="en-US" altLang="ja-JP" sz="1200" dirty="0"/>
                          <m:t> </m:t>
                        </m:r>
                      </m:e>
                      <m:sup>
                        <m:r>
                          <a:rPr lang="en-US" altLang="ja-JP" sz="1200" dirty="0">
                            <a:latin typeface="Cambria Math" panose="02040503050406030204" pitchFamily="18" charset="0"/>
                          </a:rPr>
                          <m:t>′</m:t>
                        </m:r>
                      </m:sup>
                    </m:sSup>
                  </m:oMath>
                </a14:m>
                <a:endParaRPr lang="en-US" altLang="ja-JP" sz="1200"/>
              </a:p>
              <a:p>
                <a:endParaRPr lang="en-US" altLang="ja-JP" sz="2400"/>
              </a:p>
              <a:p>
                <a:r>
                  <a:rPr lang="ja-JP" altLang="en-US" sz="2400"/>
                  <a:t>線形 </a:t>
                </a:r>
                <a:r>
                  <a:rPr lang="en-US" altLang="ja-JP" sz="2400"/>
                  <a:t>PCM </a:t>
                </a:r>
                <a:r>
                  <a:rPr lang="ja-JP" altLang="en-US" sz="2400"/>
                  <a:t>では  </a:t>
                </a:r>
                <a14:m>
                  <m:oMath xmlns:m="http://schemas.openxmlformats.org/officeDocument/2006/math">
                    <m:sSup>
                      <m:sSupPr>
                        <m:ctrlPr>
                          <a:rPr lang="en-US" altLang="ja-JP" sz="2400" i="1" dirty="0" smtClean="0">
                            <a:solidFill>
                              <a:srgbClr val="FF0000"/>
                            </a:solidFill>
                            <a:latin typeface="Cambria Math" panose="02040503050406030204" pitchFamily="18" charset="0"/>
                          </a:rPr>
                        </m:ctrlPr>
                      </m:sSupPr>
                      <m:e>
                        <m:r>
                          <m:rPr>
                            <m:nor/>
                          </m:rPr>
                          <a:rPr lang="ja-JP" altLang="en-US" sz="2400" dirty="0">
                            <a:solidFill>
                              <a:srgbClr val="FF0000"/>
                            </a:solidFill>
                          </a:rPr>
                          <m:t> </m:t>
                        </m:r>
                        <m:r>
                          <a:rPr lang="en-US" altLang="ja-JP" sz="2400" i="1" dirty="0">
                            <a:solidFill>
                              <a:srgbClr val="FF0000"/>
                            </a:solidFill>
                            <a:latin typeface="Cambria Math" panose="02040503050406030204" pitchFamily="18" charset="0"/>
                          </a:rPr>
                          <m:t>𝑥</m:t>
                        </m:r>
                        <m:r>
                          <m:rPr>
                            <m:nor/>
                          </m:rPr>
                          <a:rPr lang="en-US" altLang="ja-JP" sz="2400" dirty="0">
                            <a:solidFill>
                              <a:srgbClr val="FF0000"/>
                            </a:solidFill>
                          </a:rPr>
                          <m:t> </m:t>
                        </m:r>
                      </m:e>
                      <m:sup>
                        <m:r>
                          <a:rPr lang="en-US" altLang="ja-JP" sz="2400" i="0" dirty="0">
                            <a:solidFill>
                              <a:srgbClr val="FF0000"/>
                            </a:solidFill>
                            <a:latin typeface="Cambria Math" panose="02040503050406030204" pitchFamily="18" charset="0"/>
                          </a:rPr>
                          <m:t>′</m:t>
                        </m:r>
                      </m:sup>
                    </m:sSup>
                  </m:oMath>
                </a14:m>
                <a:r>
                  <a:rPr lang="en-US" altLang="ja-JP" sz="2400">
                    <a:solidFill>
                      <a:srgbClr val="FF0000"/>
                    </a:solidFill>
                  </a:rPr>
                  <a:t>  =  </a:t>
                </a:r>
                <a14:m>
                  <m:oMath xmlns:m="http://schemas.openxmlformats.org/officeDocument/2006/math">
                    <m:r>
                      <a:rPr lang="en-US" altLang="ja-JP" sz="2400" i="1" dirty="0" smtClean="0">
                        <a:solidFill>
                          <a:srgbClr val="FF0000"/>
                        </a:solidFill>
                        <a:latin typeface="Cambria Math" panose="02040503050406030204" pitchFamily="18" charset="0"/>
                      </a:rPr>
                      <m:t>𝛼</m:t>
                    </m:r>
                    <m:r>
                      <a:rPr lang="en-US" altLang="ja-JP" sz="2400" i="1" dirty="0" smtClean="0">
                        <a:solidFill>
                          <a:srgbClr val="FF0000"/>
                        </a:solidFill>
                        <a:latin typeface="Cambria Math" panose="02040503050406030204" pitchFamily="18" charset="0"/>
                      </a:rPr>
                      <m:t>𝑥</m:t>
                    </m:r>
                    <m:r>
                      <a:rPr lang="en-US" altLang="ja-JP" sz="2400" i="0" dirty="0">
                        <a:solidFill>
                          <a:srgbClr val="FF0000"/>
                        </a:solidFill>
                        <a:latin typeface="Cambria Math" panose="02040503050406030204" pitchFamily="18" charset="0"/>
                      </a:rPr>
                      <m:t>+</m:t>
                    </m:r>
                    <m:r>
                      <a:rPr lang="en-US" altLang="ja-JP" sz="2400" i="1" dirty="0">
                        <a:solidFill>
                          <a:srgbClr val="FF0000"/>
                        </a:solidFill>
                        <a:latin typeface="Cambria Math" panose="02040503050406030204" pitchFamily="18" charset="0"/>
                      </a:rPr>
                      <m:t>𝛽</m:t>
                    </m:r>
                  </m:oMath>
                </a14:m>
                <a:endParaRPr lang="en-US" altLang="ja-JP" sz="2400">
                  <a:solidFill>
                    <a:srgbClr val="FF0000"/>
                  </a:solidFill>
                </a:endParaRPr>
              </a:p>
              <a:p>
                <a:r>
                  <a:rPr lang="en-US" altLang="ja-JP" sz="1200"/>
                  <a:t>In linear PCM </a:t>
                </a:r>
              </a:p>
              <a:p>
                <a:endParaRPr lang="en-US" sz="1200"/>
              </a:p>
            </p:txBody>
          </p:sp>
        </mc:Choice>
        <mc:Fallback>
          <p:sp>
            <p:nvSpPr>
              <p:cNvPr id="5" name="TextBox 4">
                <a:extLst>
                  <a:ext uri="{FF2B5EF4-FFF2-40B4-BE49-F238E27FC236}">
                    <a16:creationId xmlns:a16="http://schemas.microsoft.com/office/drawing/2014/main" id="{88691852-EBDF-5437-AAAB-F1BF4AA1F280}"/>
                  </a:ext>
                </a:extLst>
              </p:cNvPr>
              <p:cNvSpPr txBox="1">
                <a:spLocks noRot="1" noChangeAspect="1" noMove="1" noResize="1" noEditPoints="1" noAdjustHandles="1" noChangeArrowheads="1" noChangeShapeType="1" noTextEdit="1"/>
              </p:cNvSpPr>
              <p:nvPr/>
            </p:nvSpPr>
            <p:spPr>
              <a:xfrm>
                <a:off x="0" y="2081203"/>
                <a:ext cx="12192000" cy="2677656"/>
              </a:xfrm>
              <a:prstGeom prst="rect">
                <a:avLst/>
              </a:prstGeom>
              <a:blipFill>
                <a:blip r:embed="rId3"/>
                <a:stretch>
                  <a:fillRect l="-750" t="-2500"/>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EF2ECF96-2C47-1A4E-A5E8-C6BFA9208E55}"/>
              </a:ext>
            </a:extLst>
          </p:cNvPr>
          <p:cNvSpPr/>
          <p:nvPr/>
        </p:nvSpPr>
        <p:spPr>
          <a:xfrm>
            <a:off x="3558009" y="319776"/>
            <a:ext cx="6883851"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sz="3200">
              <a:solidFill>
                <a:srgbClr val="000000"/>
              </a:solidFill>
              <a:latin typeface="Arial" panose="020B0604020202020204" pitchFamily="34" charset="0"/>
            </a:endParaRPr>
          </a:p>
          <a:p>
            <a:pPr algn="ctr"/>
            <a:r>
              <a:rPr lang="en-US" altLang="ja-JP" sz="3200">
                <a:solidFill>
                  <a:srgbClr val="FF0000"/>
                </a:solidFill>
              </a:rPr>
              <a:t>PCM </a:t>
            </a:r>
            <a:r>
              <a:rPr lang="ja-JP" altLang="en-US" sz="3200">
                <a:solidFill>
                  <a:srgbClr val="FF0000"/>
                </a:solidFill>
              </a:rPr>
              <a:t>の基礎</a:t>
            </a:r>
            <a:r>
              <a:rPr lang="en-US" altLang="ja-JP" sz="1100" b="1">
                <a:solidFill>
                  <a:schemeClr val="tx1"/>
                </a:solidFill>
                <a:latin typeface="Arial" panose="020B0604020202020204" pitchFamily="34" charset="0"/>
              </a:rPr>
              <a:t>Basics of PCM</a:t>
            </a:r>
            <a:endParaRPr lang="en-US" altLang="ja-JP" sz="1100" b="1">
              <a:solidFill>
                <a:schemeClr val="tx1"/>
              </a:solidFill>
            </a:endParaRPr>
          </a:p>
          <a:p>
            <a:pPr algn="ctr"/>
            <a:r>
              <a:rPr lang="ja-JP" altLang="en-US" sz="3200" b="1">
                <a:solidFill>
                  <a:srgbClr val="FF0000"/>
                </a:solidFill>
              </a:rPr>
              <a:t> </a:t>
            </a:r>
            <a:endParaRPr lang="en-US" sz="3200">
              <a:solidFill>
                <a:srgbClr val="FF0000"/>
              </a:solidFill>
            </a:endParaRPr>
          </a:p>
        </p:txBody>
      </p:sp>
      <p:pic>
        <p:nvPicPr>
          <p:cNvPr id="11" name="図 10"/>
          <p:cNvPicPr/>
          <p:nvPr/>
        </p:nvPicPr>
        <p:blipFill>
          <a:blip r:embed="rId4">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Tree>
    <p:extLst>
      <p:ext uri="{BB962C8B-B14F-4D97-AF65-F5344CB8AC3E}">
        <p14:creationId xmlns:p14="http://schemas.microsoft.com/office/powerpoint/2010/main" val="23203374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315028" y="464955"/>
            <a:ext cx="5335105" cy="381684"/>
          </a:xfrm>
        </p:spPr>
        <p:txBody>
          <a:bodyPr/>
          <a:lstStyle/>
          <a:p>
            <a:r>
              <a:rPr lang="en-US" sz="2800" b="1"/>
              <a:t>                               17</a:t>
            </a:r>
          </a:p>
        </p:txBody>
      </p:sp>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3046988"/>
          </a:xfrm>
          <a:prstGeom prst="rect">
            <a:avLst/>
          </a:prstGeom>
          <a:noFill/>
        </p:spPr>
        <p:txBody>
          <a:bodyPr wrap="square" rtlCol="0">
            <a:spAutoFit/>
          </a:bodyPr>
          <a:lstStyle/>
          <a:p>
            <a:r>
              <a:rPr lang="ja-JP" altLang="en-US" sz="2400"/>
              <a:t>量子化深度（量子化ビット数）</a:t>
            </a:r>
            <a:r>
              <a:rPr lang="en-US" altLang="ja-JP" sz="2400"/>
              <a:t>"quantization bit depth“</a:t>
            </a:r>
          </a:p>
          <a:p>
            <a:r>
              <a:rPr lang="en-US" altLang="ja-JP" sz="1200"/>
              <a:t>Quantization depth (number of quantization bits)</a:t>
            </a:r>
            <a:br>
              <a:rPr lang="ja-JP" altLang="en-US" sz="2400"/>
            </a:br>
            <a:endParaRPr lang="en-US" altLang="ja-JP" sz="2400"/>
          </a:p>
          <a:p>
            <a:endParaRPr lang="ja-JP" altLang="en-US" sz="2400">
              <a:effectLst/>
            </a:endParaRPr>
          </a:p>
          <a:p>
            <a:r>
              <a:rPr lang="ja-JP" altLang="en-US" sz="2400"/>
              <a:t>標準的な深度は </a:t>
            </a:r>
            <a:r>
              <a:rPr lang="en-US" altLang="ja-JP" sz="2400"/>
              <a:t>16 bit → 65,536 </a:t>
            </a:r>
            <a:r>
              <a:rPr lang="ja-JP" altLang="en-US" sz="2400"/>
              <a:t>階調． 深度は階調数 </a:t>
            </a:r>
            <a:r>
              <a:rPr lang="en-US" altLang="ja-JP" sz="2400"/>
              <a:t>"number of gradation levels" </a:t>
            </a:r>
            <a:r>
              <a:rPr lang="ja-JP" altLang="en-US" sz="2400"/>
              <a:t>そのものではありませんよ． 階調数の二進数の桁数−１です．</a:t>
            </a:r>
            <a:endParaRPr lang="en-US" altLang="ja-JP" sz="2400"/>
          </a:p>
          <a:p>
            <a:r>
              <a:rPr lang="en-US" altLang="ja-JP" sz="2400"/>
              <a:t> </a:t>
            </a:r>
            <a:r>
              <a:rPr lang="en-US" altLang="ja-JP" sz="1200">
                <a:solidFill>
                  <a:srgbClr val="FF0000"/>
                </a:solidFill>
              </a:rPr>
              <a:t>Typical depth is 16 bit → 65,536 gradations</a:t>
            </a:r>
            <a:r>
              <a:rPr lang="en-US" altLang="ja-JP" sz="1200"/>
              <a:t>. Depth is not the "number of gradation levels" itself. It is the number of binary digits of the number of gradation levels -1.</a:t>
            </a:r>
          </a:p>
          <a:p>
            <a:endParaRPr lang="en-US" altLang="ja-JP" sz="2400"/>
          </a:p>
          <a:p>
            <a:endParaRPr lang="en-US" sz="1200"/>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EF2ECF96-2C47-1A4E-A5E8-C6BFA9208E55}"/>
              </a:ext>
            </a:extLst>
          </p:cNvPr>
          <p:cNvSpPr/>
          <p:nvPr/>
        </p:nvSpPr>
        <p:spPr>
          <a:xfrm>
            <a:off x="3558009" y="319776"/>
            <a:ext cx="6883851"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sz="3200">
              <a:solidFill>
                <a:srgbClr val="000000"/>
              </a:solidFill>
              <a:latin typeface="Arial" panose="020B0604020202020204" pitchFamily="34" charset="0"/>
            </a:endParaRPr>
          </a:p>
          <a:p>
            <a:pPr algn="ctr"/>
            <a:r>
              <a:rPr lang="en-US" altLang="ja-JP" sz="3200">
                <a:solidFill>
                  <a:srgbClr val="FF0000"/>
                </a:solidFill>
              </a:rPr>
              <a:t>PCM </a:t>
            </a:r>
            <a:r>
              <a:rPr lang="ja-JP" altLang="en-US" sz="3200">
                <a:solidFill>
                  <a:srgbClr val="FF0000"/>
                </a:solidFill>
              </a:rPr>
              <a:t>の基礎</a:t>
            </a:r>
            <a:r>
              <a:rPr lang="en-US" altLang="ja-JP" sz="1100" b="1">
                <a:solidFill>
                  <a:schemeClr val="tx1"/>
                </a:solidFill>
                <a:latin typeface="Arial" panose="020B0604020202020204" pitchFamily="34" charset="0"/>
              </a:rPr>
              <a:t>Basics of PCM</a:t>
            </a:r>
            <a:endParaRPr lang="en-US" altLang="ja-JP" sz="1100" b="1">
              <a:solidFill>
                <a:schemeClr val="tx1"/>
              </a:solidFill>
            </a:endParaRPr>
          </a:p>
          <a:p>
            <a:pPr algn="ctr"/>
            <a:r>
              <a:rPr lang="ja-JP" altLang="en-US" sz="3200" b="1">
                <a:solidFill>
                  <a:srgbClr val="FF0000"/>
                </a:solidFill>
              </a:rPr>
              <a:t> </a:t>
            </a:r>
            <a:endParaRPr lang="en-US" sz="3200">
              <a:solidFill>
                <a:srgbClr val="FF0000"/>
              </a:solidFill>
            </a:endParaRPr>
          </a:p>
        </p:txBody>
      </p: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Tree>
    <p:extLst>
      <p:ext uri="{BB962C8B-B14F-4D97-AF65-F5344CB8AC3E}">
        <p14:creationId xmlns:p14="http://schemas.microsoft.com/office/powerpoint/2010/main" val="340461815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315028" y="464955"/>
            <a:ext cx="5335105" cy="381684"/>
          </a:xfrm>
        </p:spPr>
        <p:txBody>
          <a:bodyPr/>
          <a:lstStyle/>
          <a:p>
            <a:r>
              <a:rPr lang="en-US" sz="2800" b="1"/>
              <a:t>                               18</a:t>
            </a:r>
          </a:p>
        </p:txBody>
      </p:sp>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2862322"/>
          </a:xfrm>
          <a:prstGeom prst="rect">
            <a:avLst/>
          </a:prstGeom>
          <a:noFill/>
        </p:spPr>
        <p:txBody>
          <a:bodyPr wrap="square" rtlCol="0">
            <a:spAutoFit/>
          </a:bodyPr>
          <a:lstStyle/>
          <a:p>
            <a:r>
              <a:rPr lang="ja-JP" altLang="en-US" sz="2400"/>
              <a:t>量子化誤差 </a:t>
            </a:r>
            <a:r>
              <a:rPr lang="en-US" altLang="ja-JP" sz="2400"/>
              <a:t>"quantization error“</a:t>
            </a:r>
          </a:p>
          <a:p>
            <a:br>
              <a:rPr lang="ja-JP" altLang="en-US" sz="2400"/>
            </a:br>
            <a:endParaRPr lang="en-US" altLang="ja-JP" sz="2400"/>
          </a:p>
          <a:p>
            <a:endParaRPr lang="ja-JP" altLang="en-US" sz="2400">
              <a:effectLst/>
            </a:endParaRPr>
          </a:p>
          <a:p>
            <a:r>
              <a:rPr lang="ja-JP" altLang="en-US" sz="2400"/>
              <a:t>深度が小さいと誤差は大きい（精度は低い）． 一方，深度が大きいと誤差は小さい（精度は高い）が，データ量が肥大化</a:t>
            </a:r>
            <a:endParaRPr lang="en-US" altLang="ja-JP" sz="2400"/>
          </a:p>
          <a:p>
            <a:r>
              <a:rPr lang="en-US" altLang="ja-JP" sz="2400"/>
              <a:t> </a:t>
            </a:r>
            <a:r>
              <a:rPr lang="en-US" altLang="ja-JP" sz="1200"/>
              <a:t>Smaller depths have larger errors (lower accuracy). On the other hand, a large depth has a small error (high accuracy), but the amount of data becomes large</a:t>
            </a:r>
            <a:endParaRPr lang="en-US" altLang="ja-JP" sz="2400"/>
          </a:p>
          <a:p>
            <a:endParaRPr lang="en-US" sz="1200"/>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EF2ECF96-2C47-1A4E-A5E8-C6BFA9208E55}"/>
              </a:ext>
            </a:extLst>
          </p:cNvPr>
          <p:cNvSpPr/>
          <p:nvPr/>
        </p:nvSpPr>
        <p:spPr>
          <a:xfrm>
            <a:off x="3558009" y="319776"/>
            <a:ext cx="6883851"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sz="3200">
              <a:solidFill>
                <a:srgbClr val="000000"/>
              </a:solidFill>
              <a:latin typeface="Arial" panose="020B0604020202020204" pitchFamily="34" charset="0"/>
            </a:endParaRPr>
          </a:p>
          <a:p>
            <a:pPr algn="ctr"/>
            <a:r>
              <a:rPr lang="en-US" altLang="ja-JP" sz="3200">
                <a:solidFill>
                  <a:srgbClr val="FF0000"/>
                </a:solidFill>
              </a:rPr>
              <a:t>PCM </a:t>
            </a:r>
            <a:r>
              <a:rPr lang="ja-JP" altLang="en-US" sz="3200">
                <a:solidFill>
                  <a:srgbClr val="FF0000"/>
                </a:solidFill>
              </a:rPr>
              <a:t>の基礎</a:t>
            </a:r>
            <a:r>
              <a:rPr lang="en-US" altLang="ja-JP" sz="1100" b="1">
                <a:solidFill>
                  <a:schemeClr val="tx1"/>
                </a:solidFill>
                <a:latin typeface="Arial" panose="020B0604020202020204" pitchFamily="34" charset="0"/>
              </a:rPr>
              <a:t>Basics of PCM</a:t>
            </a:r>
            <a:endParaRPr lang="en-US" altLang="ja-JP" sz="1100" b="1">
              <a:solidFill>
                <a:schemeClr val="tx1"/>
              </a:solidFill>
            </a:endParaRPr>
          </a:p>
          <a:p>
            <a:pPr algn="ctr"/>
            <a:r>
              <a:rPr lang="ja-JP" altLang="en-US" sz="3200" b="1">
                <a:solidFill>
                  <a:srgbClr val="FF0000"/>
                </a:solidFill>
              </a:rPr>
              <a:t> </a:t>
            </a:r>
            <a:endParaRPr lang="en-US" sz="3200">
              <a:solidFill>
                <a:srgbClr val="FF0000"/>
              </a:solidFill>
            </a:endParaRPr>
          </a:p>
        </p:txBody>
      </p: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Tree>
    <p:extLst>
      <p:ext uri="{BB962C8B-B14F-4D97-AF65-F5344CB8AC3E}">
        <p14:creationId xmlns:p14="http://schemas.microsoft.com/office/powerpoint/2010/main" val="42624721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315028" y="464955"/>
            <a:ext cx="5335105" cy="381684"/>
          </a:xfrm>
        </p:spPr>
        <p:txBody>
          <a:bodyPr/>
          <a:lstStyle/>
          <a:p>
            <a:r>
              <a:rPr lang="en-US" sz="2800" b="1"/>
              <a:t>                               19</a:t>
            </a:r>
          </a:p>
        </p:txBody>
      </p:sp>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5945538"/>
          </a:xfrm>
          <a:prstGeom prst="rect">
            <a:avLst/>
          </a:prstGeom>
          <a:noFill/>
        </p:spPr>
        <p:txBody>
          <a:bodyPr wrap="square" rtlCol="0">
            <a:spAutoFit/>
          </a:bodyPr>
          <a:lstStyle/>
          <a:p>
            <a:pPr marL="0" marR="0">
              <a:lnSpc>
                <a:spcPct val="107000"/>
              </a:lnSpc>
              <a:spcBef>
                <a:spcPts val="0"/>
              </a:spcBef>
              <a:spcAft>
                <a:spcPts val="800"/>
              </a:spcAft>
            </a:pPr>
            <a:r>
              <a:rPr lang="en-US" altLang="ja-JP" sz="2400"/>
              <a:t>a.</a:t>
            </a:r>
            <a:r>
              <a:rPr lang="ja-JP" altLang="en-US" sz="2400"/>
              <a:t>線形</a:t>
            </a:r>
            <a:r>
              <a:rPr lang="en-US" altLang="ja-JP" sz="2400"/>
              <a:t>PCM "linear PCM"</a:t>
            </a:r>
            <a:r>
              <a:rPr lang="ja-JP" altLang="en-US" sz="2400"/>
              <a:t>：信号の瞬時値を均等間隔で量子化</a:t>
            </a:r>
            <a:endParaRPr lang="en-US" altLang="ja-JP" sz="2400"/>
          </a:p>
          <a:p>
            <a:pPr marL="0" marR="0">
              <a:lnSpc>
                <a:spcPct val="107000"/>
              </a:lnSpc>
              <a:spcBef>
                <a:spcPts val="0"/>
              </a:spcBef>
              <a:spcAft>
                <a:spcPts val="800"/>
              </a:spcAft>
            </a:pPr>
            <a:r>
              <a:rPr lang="ja-JP" altLang="en-US" sz="2400"/>
              <a:t>標準的な手法</a:t>
            </a:r>
            <a:endParaRPr lang="en-US" altLang="ja-JP" sz="2400">
              <a:latin typeface="Calibri" panose="020F0502020204030204" pitchFamily="34" charset="0"/>
              <a:ea typeface="游明朝" panose="02020400000000000000" pitchFamily="18" charset="-128"/>
              <a:cs typeface="Times New Roman" panose="02020603050405020304" pitchFamily="18" charset="0"/>
            </a:endParaRPr>
          </a:p>
          <a:p>
            <a:pPr marL="0" marR="0">
              <a:lnSpc>
                <a:spcPct val="107000"/>
              </a:lnSpc>
              <a:spcBef>
                <a:spcPts val="0"/>
              </a:spcBef>
              <a:spcAft>
                <a:spcPts val="800"/>
              </a:spcAft>
            </a:pPr>
            <a:r>
              <a:rPr lang="en-US" sz="1200">
                <a:effectLst/>
                <a:latin typeface="Calibri" panose="020F0502020204030204" pitchFamily="34" charset="0"/>
                <a:ea typeface="游明朝" panose="02020400000000000000" pitchFamily="18" charset="-128"/>
                <a:cs typeface="Times New Roman" panose="02020603050405020304" pitchFamily="18" charset="0"/>
              </a:rPr>
              <a:t>Linear PCM "linear PCM": quantization of the instantaneous values of a signal at </a:t>
            </a:r>
            <a:r>
              <a:rPr lang="en-US" sz="1200" b="1">
                <a:effectLst/>
                <a:latin typeface="Calibri" panose="020F0502020204030204" pitchFamily="34" charset="0"/>
                <a:ea typeface="游明朝" panose="02020400000000000000" pitchFamily="18" charset="-128"/>
                <a:cs typeface="Times New Roman" panose="02020603050405020304" pitchFamily="18" charset="0"/>
              </a:rPr>
              <a:t>equal intervals</a:t>
            </a:r>
            <a:r>
              <a:rPr lang="en-US" sz="1200">
                <a:effectLst/>
                <a:latin typeface="Calibri" panose="020F0502020204030204" pitchFamily="34" charset="0"/>
                <a:ea typeface="游明朝" panose="02020400000000000000" pitchFamily="18" charset="-128"/>
                <a:cs typeface="Times New Roman" panose="02020603050405020304" pitchFamily="18" charset="0"/>
              </a:rPr>
              <a:t>.</a:t>
            </a:r>
          </a:p>
          <a:p>
            <a:pPr marL="0" marR="0">
              <a:lnSpc>
                <a:spcPct val="107000"/>
              </a:lnSpc>
              <a:spcBef>
                <a:spcPts val="0"/>
              </a:spcBef>
              <a:spcAft>
                <a:spcPts val="800"/>
              </a:spcAft>
            </a:pPr>
            <a:r>
              <a:rPr lang="en-US" sz="1200" b="1">
                <a:solidFill>
                  <a:srgbClr val="FF0000"/>
                </a:solidFill>
                <a:effectLst/>
                <a:latin typeface="Calibri" panose="020F0502020204030204" pitchFamily="34" charset="0"/>
                <a:ea typeface="游明朝" panose="02020400000000000000" pitchFamily="18" charset="-128"/>
                <a:cs typeface="Times New Roman" panose="02020603050405020304" pitchFamily="18" charset="0"/>
              </a:rPr>
              <a:t>Standard method.</a:t>
            </a:r>
            <a:endParaRPr lang="en-US" sz="1200">
              <a:solidFill>
                <a:srgbClr val="FF0000"/>
              </a:solidFill>
              <a:effectLst/>
              <a:latin typeface="Calibri" panose="020F0502020204030204" pitchFamily="34" charset="0"/>
              <a:ea typeface="游明朝" panose="02020400000000000000" pitchFamily="18" charset="-128"/>
              <a:cs typeface="Times New Roman" panose="02020603050405020304" pitchFamily="18" charset="0"/>
            </a:endParaRPr>
          </a:p>
          <a:p>
            <a:pPr algn="l"/>
            <a:endParaRPr lang="en-US" altLang="ja-JP" sz="2400" b="1"/>
          </a:p>
          <a:p>
            <a:r>
              <a:rPr lang="en-US" altLang="ja-JP" sz="2400"/>
              <a:t>b.</a:t>
            </a:r>
            <a:r>
              <a:rPr lang="ja-JP" altLang="en-US" sz="2400"/>
              <a:t>非線形</a:t>
            </a:r>
            <a:r>
              <a:rPr lang="en-US" altLang="ja-JP" sz="2400"/>
              <a:t>PCM "</a:t>
            </a:r>
            <a:r>
              <a:rPr lang="en-US" altLang="ja-JP" sz="2400">
                <a:solidFill>
                  <a:srgbClr val="FF0000"/>
                </a:solidFill>
              </a:rPr>
              <a:t>nonlinear PCM</a:t>
            </a:r>
            <a:r>
              <a:rPr lang="en-US" altLang="ja-JP" sz="2400"/>
              <a:t>"</a:t>
            </a:r>
            <a:r>
              <a:rPr lang="ja-JP" altLang="en-US" sz="2400"/>
              <a:t>対数</a:t>
            </a:r>
            <a:r>
              <a:rPr lang="en-US" altLang="ja-JP" sz="2400"/>
              <a:t>PCM "</a:t>
            </a:r>
            <a:r>
              <a:rPr lang="en-US" altLang="ja-JP" sz="2400">
                <a:solidFill>
                  <a:srgbClr val="FF0000"/>
                </a:solidFill>
              </a:rPr>
              <a:t>log-PCM</a:t>
            </a:r>
            <a:r>
              <a:rPr lang="en-US" altLang="ja-JP" sz="2400"/>
              <a:t>"</a:t>
            </a:r>
            <a:r>
              <a:rPr lang="ja-JP" altLang="en-US" sz="2400"/>
              <a:t>：信号の瞬時値を対数スケールで量子化．</a:t>
            </a:r>
            <a:endParaRPr lang="en-US" altLang="ja-JP" sz="2400" b="1"/>
          </a:p>
          <a:p>
            <a:pPr marL="0" marR="0">
              <a:lnSpc>
                <a:spcPct val="107000"/>
              </a:lnSpc>
              <a:spcBef>
                <a:spcPts val="0"/>
              </a:spcBef>
              <a:spcAft>
                <a:spcPts val="800"/>
              </a:spcAft>
            </a:pPr>
            <a:r>
              <a:rPr lang="ja-JP" altLang="en-US" sz="2400"/>
              <a:t>感覚的な誤差を抑制しつつ， データ量の削減に効果的．</a:t>
            </a:r>
            <a:endParaRPr lang="en-US" sz="2400">
              <a:effectLst/>
              <a:latin typeface="Calibri" panose="020F0502020204030204" pitchFamily="34" charset="0"/>
              <a:ea typeface="游明朝" panose="02020400000000000000" pitchFamily="18" charset="-128"/>
              <a:cs typeface="Times New Roman" panose="02020603050405020304" pitchFamily="18" charset="0"/>
            </a:endParaRPr>
          </a:p>
          <a:p>
            <a:pPr marL="0" marR="0">
              <a:lnSpc>
                <a:spcPct val="107000"/>
              </a:lnSpc>
              <a:spcBef>
                <a:spcPts val="0"/>
              </a:spcBef>
              <a:spcAft>
                <a:spcPts val="800"/>
              </a:spcAft>
            </a:pPr>
            <a:endParaRPr lang="en-US" sz="1200">
              <a:latin typeface="Calibri" panose="020F0502020204030204" pitchFamily="34" charset="0"/>
              <a:ea typeface="游明朝" panose="02020400000000000000" pitchFamily="18" charset="-128"/>
              <a:cs typeface="Times New Roman" panose="02020603050405020304" pitchFamily="18" charset="0"/>
            </a:endParaRPr>
          </a:p>
          <a:p>
            <a:pPr marL="0" marR="0">
              <a:lnSpc>
                <a:spcPct val="107000"/>
              </a:lnSpc>
              <a:spcBef>
                <a:spcPts val="0"/>
              </a:spcBef>
              <a:spcAft>
                <a:spcPts val="800"/>
              </a:spcAft>
            </a:pPr>
            <a:r>
              <a:rPr lang="en-US" sz="1200">
                <a:effectLst/>
                <a:latin typeface="Calibri" panose="020F0502020204030204" pitchFamily="34" charset="0"/>
                <a:ea typeface="游明朝" panose="02020400000000000000" pitchFamily="18" charset="-128"/>
                <a:cs typeface="Times New Roman" panose="02020603050405020304" pitchFamily="18" charset="0"/>
              </a:rPr>
              <a:t>Non-linear PCM "nonlinear PCM", logarithmic PCM "log-PCM": Quantization of the instantaneous value of a signal on a logarithmic scale.</a:t>
            </a:r>
          </a:p>
          <a:p>
            <a:pPr>
              <a:lnSpc>
                <a:spcPct val="107000"/>
              </a:lnSpc>
              <a:spcBef>
                <a:spcPts val="0"/>
              </a:spcBef>
              <a:spcAft>
                <a:spcPts val="800"/>
              </a:spcAft>
            </a:pPr>
            <a:r>
              <a:rPr lang="en-US" sz="1200" b="1">
                <a:effectLst/>
                <a:latin typeface="Calibri" panose="020F0502020204030204" pitchFamily="34" charset="0"/>
                <a:ea typeface="游明朝" panose="02020400000000000000" pitchFamily="18" charset="-128"/>
                <a:cs typeface="Times New Roman" panose="02020603050405020304" pitchFamily="18" charset="0"/>
              </a:rPr>
              <a:t>Effective for reducing the amount of data while suppressing sensory errors.</a:t>
            </a:r>
          </a:p>
          <a:p>
            <a:pPr>
              <a:lnSpc>
                <a:spcPct val="107000"/>
              </a:lnSpc>
              <a:spcBef>
                <a:spcPts val="0"/>
              </a:spcBef>
              <a:spcAft>
                <a:spcPts val="800"/>
              </a:spcAft>
            </a:pPr>
            <a:endParaRPr lang="en-US" b="1">
              <a:latin typeface="Calibri" panose="020F0502020204030204" pitchFamily="34" charset="0"/>
              <a:ea typeface="游明朝" panose="02020400000000000000" pitchFamily="18" charset="-128"/>
              <a:cs typeface="Times New Roman" panose="02020603050405020304" pitchFamily="18" charset="0"/>
            </a:endParaRPr>
          </a:p>
          <a:p>
            <a:pPr>
              <a:lnSpc>
                <a:spcPct val="107000"/>
              </a:lnSpc>
              <a:spcBef>
                <a:spcPts val="0"/>
              </a:spcBef>
              <a:spcAft>
                <a:spcPts val="800"/>
              </a:spcAft>
            </a:pPr>
            <a:endParaRPr lang="en-US" sz="1800">
              <a:effectLst/>
              <a:latin typeface="Calibri" panose="020F0502020204030204" pitchFamily="34" charset="0"/>
              <a:ea typeface="游明朝" panose="02020400000000000000" pitchFamily="18" charset="-128"/>
              <a:cs typeface="Times New Roman" panose="02020603050405020304" pitchFamily="18" charset="0"/>
            </a:endParaRPr>
          </a:p>
          <a:p>
            <a:pPr marL="0" marR="0">
              <a:lnSpc>
                <a:spcPct val="107000"/>
              </a:lnSpc>
              <a:spcBef>
                <a:spcPts val="0"/>
              </a:spcBef>
              <a:spcAft>
                <a:spcPts val="800"/>
              </a:spcAft>
            </a:pPr>
            <a:endParaRPr lang="en-US" sz="1800">
              <a:effectLst/>
              <a:latin typeface="Calibri" panose="020F0502020204030204" pitchFamily="34" charset="0"/>
              <a:ea typeface="游明朝" panose="02020400000000000000" pitchFamily="18" charset="-128"/>
              <a:cs typeface="Times New Roman" panose="02020603050405020304" pitchFamily="18" charset="0"/>
            </a:endParaRPr>
          </a:p>
          <a:p>
            <a:pPr algn="l"/>
            <a:endParaRPr lang="ja-JP" altLang="en-US" sz="1200" b="1"/>
          </a:p>
          <a:p>
            <a:pPr algn="l"/>
            <a:endParaRPr lang="en-US" sz="1200" b="1"/>
          </a:p>
          <a:p>
            <a:pPr algn="l"/>
            <a:endParaRPr lang="en-US" sz="1200"/>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EF2ECF96-2C47-1A4E-A5E8-C6BFA9208E55}"/>
              </a:ext>
            </a:extLst>
          </p:cNvPr>
          <p:cNvSpPr/>
          <p:nvPr/>
        </p:nvSpPr>
        <p:spPr>
          <a:xfrm>
            <a:off x="3075871" y="353591"/>
            <a:ext cx="6883851"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sz="3200">
              <a:solidFill>
                <a:srgbClr val="000000"/>
              </a:solidFill>
              <a:latin typeface="Arial" panose="020B0604020202020204" pitchFamily="34" charset="0"/>
            </a:endParaRPr>
          </a:p>
          <a:p>
            <a:pPr algn="ctr"/>
            <a:r>
              <a:rPr lang="en-US" altLang="ja-JP" sz="3200">
                <a:solidFill>
                  <a:srgbClr val="FF0000"/>
                </a:solidFill>
              </a:rPr>
              <a:t>PCM</a:t>
            </a:r>
            <a:r>
              <a:rPr lang="ja-JP" altLang="en-US" sz="3200">
                <a:solidFill>
                  <a:srgbClr val="FF0000"/>
                </a:solidFill>
              </a:rPr>
              <a:t>のバリエーション</a:t>
            </a:r>
            <a:r>
              <a:rPr lang="en-US" altLang="ja-JP" sz="1100" b="1">
                <a:solidFill>
                  <a:schemeClr val="tx1"/>
                </a:solidFill>
                <a:latin typeface="Arial" panose="020B0604020202020204" pitchFamily="34" charset="0"/>
              </a:rPr>
              <a:t>Variations of PCM</a:t>
            </a:r>
            <a:endParaRPr lang="en-US" altLang="ja-JP" sz="1100" b="1">
              <a:solidFill>
                <a:schemeClr val="tx1"/>
              </a:solidFill>
            </a:endParaRPr>
          </a:p>
          <a:p>
            <a:pPr algn="ctr"/>
            <a:r>
              <a:rPr lang="ja-JP" altLang="en-US" sz="3200" b="1">
                <a:solidFill>
                  <a:srgbClr val="FF0000"/>
                </a:solidFill>
              </a:rPr>
              <a:t> </a:t>
            </a:r>
            <a:endParaRPr lang="en-US" sz="3200">
              <a:solidFill>
                <a:srgbClr val="FF0000"/>
              </a:solidFill>
            </a:endParaRPr>
          </a:p>
        </p:txBody>
      </p: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Tree>
    <p:extLst>
      <p:ext uri="{BB962C8B-B14F-4D97-AF65-F5344CB8AC3E}">
        <p14:creationId xmlns:p14="http://schemas.microsoft.com/office/powerpoint/2010/main" val="211759841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C59B7-7428-9779-B8B0-4412FD6C71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5EDA2B-E480-3488-39D7-5D08973C0226}"/>
              </a:ext>
            </a:extLst>
          </p:cNvPr>
          <p:cNvSpPr>
            <a:spLocks noGrp="1"/>
          </p:cNvSpPr>
          <p:nvPr>
            <p:ph type="body" sz="quarter" idx="12"/>
          </p:nvPr>
        </p:nvSpPr>
        <p:spPr>
          <a:xfrm>
            <a:off x="6315028" y="464955"/>
            <a:ext cx="5335105" cy="381684"/>
          </a:xfrm>
        </p:spPr>
        <p:txBody>
          <a:bodyPr/>
          <a:lstStyle/>
          <a:p>
            <a:r>
              <a:rPr lang="en-US" sz="2800" b="1"/>
              <a:t>                               20</a:t>
            </a:r>
          </a:p>
        </p:txBody>
      </p:sp>
      <p:sp>
        <p:nvSpPr>
          <p:cNvPr id="5" name="TextBox 4">
            <a:extLst>
              <a:ext uri="{FF2B5EF4-FFF2-40B4-BE49-F238E27FC236}">
                <a16:creationId xmlns:a16="http://schemas.microsoft.com/office/drawing/2014/main" id="{88691852-EBDF-5437-AAAB-F1BF4AA1F280}"/>
              </a:ext>
            </a:extLst>
          </p:cNvPr>
          <p:cNvSpPr txBox="1"/>
          <p:nvPr/>
        </p:nvSpPr>
        <p:spPr>
          <a:xfrm>
            <a:off x="0" y="2081203"/>
            <a:ext cx="12192000" cy="5620257"/>
          </a:xfrm>
          <a:prstGeom prst="rect">
            <a:avLst/>
          </a:prstGeom>
          <a:noFill/>
        </p:spPr>
        <p:txBody>
          <a:bodyPr wrap="square" rtlCol="0">
            <a:spAutoFit/>
          </a:bodyPr>
          <a:lstStyle/>
          <a:p>
            <a:pPr>
              <a:lnSpc>
                <a:spcPct val="107000"/>
              </a:lnSpc>
              <a:spcBef>
                <a:spcPts val="0"/>
              </a:spcBef>
              <a:spcAft>
                <a:spcPts val="800"/>
              </a:spcAft>
            </a:pPr>
            <a:r>
              <a:rPr lang="ja-JP" altLang="en-US" sz="2400"/>
              <a:t>ウェーバ</a:t>
            </a:r>
            <a:r>
              <a:rPr lang="en-US" altLang="ja-JP" sz="2400"/>
              <a:t>-</a:t>
            </a:r>
            <a:r>
              <a:rPr lang="ja-JP" altLang="en-US" sz="2400"/>
              <a:t>フェヒナーの法則 </a:t>
            </a:r>
            <a:r>
              <a:rPr lang="en-US" altLang="ja-JP" sz="2400"/>
              <a:t>"</a:t>
            </a:r>
            <a:r>
              <a:rPr lang="en-US" altLang="ja-JP" sz="2400">
                <a:solidFill>
                  <a:srgbClr val="FF0000"/>
                </a:solidFill>
              </a:rPr>
              <a:t>Weber-Fechner law</a:t>
            </a:r>
            <a:r>
              <a:rPr lang="en-US" altLang="ja-JP" sz="2400"/>
              <a:t>"</a:t>
            </a:r>
            <a:r>
              <a:rPr lang="ja-JP" altLang="en-US" sz="2400"/>
              <a:t>（</a:t>
            </a:r>
            <a:r>
              <a:rPr lang="en-US" altLang="ja-JP" sz="2400"/>
              <a:t>or "</a:t>
            </a:r>
            <a:r>
              <a:rPr lang="en-US" altLang="ja-JP" sz="2400" err="1">
                <a:solidFill>
                  <a:srgbClr val="FF0000"/>
                </a:solidFill>
              </a:rPr>
              <a:t>Fecher's</a:t>
            </a:r>
            <a:r>
              <a:rPr lang="en-US" altLang="ja-JP" sz="2400">
                <a:solidFill>
                  <a:srgbClr val="FF0000"/>
                </a:solidFill>
              </a:rPr>
              <a:t> law</a:t>
            </a:r>
            <a:r>
              <a:rPr lang="en-US" altLang="ja-JP" sz="2400"/>
              <a:t>"</a:t>
            </a:r>
            <a:r>
              <a:rPr lang="ja-JP" altLang="en-US" sz="2400"/>
              <a:t>）： 感覚量（心理的知覚）は物理量（物理的刺激）の対数に比例</a:t>
            </a:r>
            <a:endParaRPr lang="en-US" altLang="ja-JP" sz="2400"/>
          </a:p>
          <a:p>
            <a:pPr>
              <a:lnSpc>
                <a:spcPct val="107000"/>
              </a:lnSpc>
              <a:spcBef>
                <a:spcPts val="0"/>
              </a:spcBef>
              <a:spcAft>
                <a:spcPts val="800"/>
              </a:spcAft>
            </a:pPr>
            <a:r>
              <a:rPr lang="en-US" altLang="ja-JP" sz="1200">
                <a:latin typeface="Calibri" panose="020F0502020204030204" pitchFamily="34" charset="0"/>
                <a:ea typeface="游明朝" panose="02020400000000000000" pitchFamily="18" charset="-128"/>
                <a:cs typeface="Times New Roman" panose="02020603050405020304" pitchFamily="18" charset="0"/>
              </a:rPr>
              <a:t>Weber-Fechner law” (or “</a:t>
            </a:r>
            <a:r>
              <a:rPr lang="en-US" altLang="ja-JP" sz="1200" err="1">
                <a:latin typeface="Calibri" panose="020F0502020204030204" pitchFamily="34" charset="0"/>
                <a:ea typeface="游明朝" panose="02020400000000000000" pitchFamily="18" charset="-128"/>
                <a:cs typeface="Times New Roman" panose="02020603050405020304" pitchFamily="18" charset="0"/>
              </a:rPr>
              <a:t>Fecher’s</a:t>
            </a:r>
            <a:r>
              <a:rPr lang="en-US" altLang="ja-JP" sz="1200">
                <a:latin typeface="Calibri" panose="020F0502020204030204" pitchFamily="34" charset="0"/>
                <a:ea typeface="游明朝" panose="02020400000000000000" pitchFamily="18" charset="-128"/>
                <a:cs typeface="Times New Roman" panose="02020603050405020304" pitchFamily="18" charset="0"/>
              </a:rPr>
              <a:t> law”): </a:t>
            </a:r>
            <a:r>
              <a:rPr lang="en-US" altLang="ja-JP" sz="1200">
                <a:solidFill>
                  <a:srgbClr val="FF0000"/>
                </a:solidFill>
                <a:latin typeface="Calibri" panose="020F0502020204030204" pitchFamily="34" charset="0"/>
                <a:ea typeface="游明朝" panose="02020400000000000000" pitchFamily="18" charset="-128"/>
                <a:cs typeface="Times New Roman" panose="02020603050405020304" pitchFamily="18" charset="0"/>
              </a:rPr>
              <a:t>sensory quantity </a:t>
            </a:r>
            <a:r>
              <a:rPr lang="en-US" altLang="ja-JP" sz="1200">
                <a:latin typeface="Calibri" panose="020F0502020204030204" pitchFamily="34" charset="0"/>
                <a:ea typeface="游明朝" panose="02020400000000000000" pitchFamily="18" charset="-128"/>
                <a:cs typeface="Times New Roman" panose="02020603050405020304" pitchFamily="18" charset="0"/>
              </a:rPr>
              <a:t>(psychological perception) is </a:t>
            </a:r>
            <a:r>
              <a:rPr lang="en-US" altLang="ja-JP" sz="1200">
                <a:solidFill>
                  <a:srgbClr val="FF0000"/>
                </a:solidFill>
                <a:latin typeface="Calibri" panose="020F0502020204030204" pitchFamily="34" charset="0"/>
                <a:ea typeface="游明朝" panose="02020400000000000000" pitchFamily="18" charset="-128"/>
                <a:cs typeface="Times New Roman" panose="02020603050405020304" pitchFamily="18" charset="0"/>
              </a:rPr>
              <a:t>proportional</a:t>
            </a:r>
            <a:r>
              <a:rPr lang="en-US" altLang="ja-JP" sz="1200">
                <a:latin typeface="Calibri" panose="020F0502020204030204" pitchFamily="34" charset="0"/>
                <a:ea typeface="游明朝" panose="02020400000000000000" pitchFamily="18" charset="-128"/>
                <a:cs typeface="Times New Roman" panose="02020603050405020304" pitchFamily="18" charset="0"/>
              </a:rPr>
              <a:t> to the </a:t>
            </a:r>
            <a:r>
              <a:rPr lang="en-US" altLang="ja-JP" sz="1200">
                <a:solidFill>
                  <a:srgbClr val="FF0000"/>
                </a:solidFill>
                <a:latin typeface="Calibri" panose="020F0502020204030204" pitchFamily="34" charset="0"/>
                <a:ea typeface="游明朝" panose="02020400000000000000" pitchFamily="18" charset="-128"/>
                <a:cs typeface="Times New Roman" panose="02020603050405020304" pitchFamily="18" charset="0"/>
              </a:rPr>
              <a:t>logarithm of the physical quantity </a:t>
            </a:r>
            <a:r>
              <a:rPr lang="en-US" altLang="ja-JP" sz="1200">
                <a:latin typeface="Calibri" panose="020F0502020204030204" pitchFamily="34" charset="0"/>
                <a:ea typeface="游明朝" panose="02020400000000000000" pitchFamily="18" charset="-128"/>
                <a:cs typeface="Times New Roman" panose="02020603050405020304" pitchFamily="18" charset="0"/>
              </a:rPr>
              <a:t>(</a:t>
            </a:r>
            <a:r>
              <a:rPr lang="en-US" altLang="ja-JP" sz="1200" b="1">
                <a:latin typeface="Calibri" panose="020F0502020204030204" pitchFamily="34" charset="0"/>
                <a:ea typeface="游明朝" panose="02020400000000000000" pitchFamily="18" charset="-128"/>
                <a:cs typeface="Times New Roman" panose="02020603050405020304" pitchFamily="18" charset="0"/>
              </a:rPr>
              <a:t>physical stimulus</a:t>
            </a:r>
            <a:r>
              <a:rPr lang="en-US" altLang="ja-JP" sz="1200">
                <a:latin typeface="Calibri" panose="020F0502020204030204" pitchFamily="34" charset="0"/>
                <a:ea typeface="游明朝" panose="02020400000000000000" pitchFamily="18" charset="-128"/>
                <a:cs typeface="Times New Roman" panose="02020603050405020304" pitchFamily="18" charset="0"/>
              </a:rPr>
              <a:t>).</a:t>
            </a:r>
          </a:p>
          <a:p>
            <a:pPr>
              <a:lnSpc>
                <a:spcPct val="107000"/>
              </a:lnSpc>
              <a:spcBef>
                <a:spcPts val="0"/>
              </a:spcBef>
              <a:spcAft>
                <a:spcPts val="800"/>
              </a:spcAft>
            </a:pPr>
            <a:r>
              <a:rPr lang="ja-JP" altLang="en-US" sz="2400"/>
              <a:t>人間の知覚のダイナミックレンジ </a:t>
            </a:r>
            <a:r>
              <a:rPr lang="en-US" altLang="ja-JP" sz="2400"/>
              <a:t>"dynamic range"</a:t>
            </a:r>
            <a:r>
              <a:rPr lang="ja-JP" altLang="en-US" sz="2400"/>
              <a:t>（識別可能な最小値</a:t>
            </a:r>
            <a:r>
              <a:rPr lang="en-US" altLang="ja-JP" sz="2400"/>
              <a:t>〜</a:t>
            </a:r>
            <a:r>
              <a:rPr lang="ja-JP" altLang="en-US" sz="2400"/>
              <a:t>最大値の範囲）の広さの理由． 音量の単位「デシベル（</a:t>
            </a:r>
            <a:r>
              <a:rPr lang="en-US" altLang="ja-JP" sz="2400"/>
              <a:t>dB</a:t>
            </a:r>
            <a:r>
              <a:rPr lang="ja-JP" altLang="en-US" sz="2400"/>
              <a:t>）」もここから派生</a:t>
            </a:r>
            <a:endParaRPr lang="en-US" sz="2400">
              <a:latin typeface="Calibri" panose="020F0502020204030204" pitchFamily="34" charset="0"/>
              <a:ea typeface="游明朝" panose="02020400000000000000" pitchFamily="18" charset="-128"/>
              <a:cs typeface="Times New Roman" panose="02020603050405020304" pitchFamily="18" charset="0"/>
            </a:endParaRPr>
          </a:p>
          <a:p>
            <a:pPr>
              <a:lnSpc>
                <a:spcPct val="107000"/>
              </a:lnSpc>
              <a:spcBef>
                <a:spcPts val="0"/>
              </a:spcBef>
              <a:spcAft>
                <a:spcPts val="800"/>
              </a:spcAft>
            </a:pPr>
            <a:r>
              <a:rPr lang="en-US" sz="1200">
                <a:effectLst/>
                <a:latin typeface="Calibri" panose="020F0502020204030204" pitchFamily="34" charset="0"/>
                <a:ea typeface="游明朝" panose="02020400000000000000" pitchFamily="18" charset="-128"/>
                <a:cs typeface="Times New Roman" panose="02020603050405020304" pitchFamily="18" charset="0"/>
                <a:sym typeface="Wingdings" panose="05000000000000000000" pitchFamily="2" charset="2"/>
              </a:rPr>
              <a:t> </a:t>
            </a:r>
            <a:r>
              <a:rPr lang="en-US" sz="1200">
                <a:effectLst/>
                <a:latin typeface="Calibri" panose="020F0502020204030204" pitchFamily="34" charset="0"/>
                <a:ea typeface="游明朝" panose="02020400000000000000" pitchFamily="18" charset="-128"/>
                <a:cs typeface="Times New Roman" panose="02020603050405020304" pitchFamily="18" charset="0"/>
              </a:rPr>
              <a:t>Reason for the wide dynamic range of human perception “dynamic range” (the range between the minimum and maximum identifiable values). The unit of sound level, the decibel (dB), is also derived from this.</a:t>
            </a:r>
          </a:p>
          <a:p>
            <a:pPr>
              <a:lnSpc>
                <a:spcPct val="107000"/>
              </a:lnSpc>
              <a:spcBef>
                <a:spcPts val="0"/>
              </a:spcBef>
              <a:spcAft>
                <a:spcPts val="800"/>
              </a:spcAft>
            </a:pPr>
            <a:r>
              <a:rPr lang="en-US" altLang="ja-JP" sz="2400"/>
              <a:t>c.</a:t>
            </a:r>
            <a:r>
              <a:rPr lang="ja-JP" altLang="en-US" sz="2400"/>
              <a:t>差分</a:t>
            </a:r>
            <a:r>
              <a:rPr lang="en-US" altLang="ja-JP" sz="2400"/>
              <a:t>PCM</a:t>
            </a:r>
            <a:r>
              <a:rPr lang="ja-JP" altLang="en-US" sz="2400" err="1"/>
              <a:t>，</a:t>
            </a:r>
            <a:r>
              <a:rPr lang="ja-JP" altLang="en-US" sz="2400"/>
              <a:t>適応差分</a:t>
            </a:r>
            <a:r>
              <a:rPr lang="en-US" altLang="ja-JP" sz="2400"/>
              <a:t>PCM</a:t>
            </a:r>
            <a:r>
              <a:rPr lang="ja-JP" altLang="en-US" sz="2400"/>
              <a:t>：瞬時値自体ではなく，その変化量を量子化．</a:t>
            </a:r>
            <a:r>
              <a:rPr lang="en-US" sz="1200">
                <a:effectLst/>
                <a:latin typeface="Calibri" panose="020F0502020204030204" pitchFamily="34" charset="0"/>
                <a:ea typeface="游明朝" panose="02020400000000000000" pitchFamily="18" charset="-128"/>
                <a:cs typeface="Times New Roman" panose="02020603050405020304" pitchFamily="18" charset="0"/>
              </a:rPr>
              <a:t>Differential PCM, Adaptive Differential PCM: Quantizes not the instantaneous value itself, but the amount of change in it.</a:t>
            </a:r>
          </a:p>
          <a:p>
            <a:pPr marL="0" marR="0">
              <a:lnSpc>
                <a:spcPct val="107000"/>
              </a:lnSpc>
              <a:spcBef>
                <a:spcPts val="0"/>
              </a:spcBef>
              <a:spcAft>
                <a:spcPts val="800"/>
              </a:spcAft>
            </a:pPr>
            <a:r>
              <a:rPr lang="ja-JP" altLang="en-US" sz="2400"/>
              <a:t>量子化誤差 </a:t>
            </a:r>
            <a:r>
              <a:rPr lang="en-US" altLang="ja-JP" sz="2400"/>
              <a:t>and/or </a:t>
            </a:r>
            <a:r>
              <a:rPr lang="ja-JP" altLang="en-US" sz="2400"/>
              <a:t>データ量の削減に効果的．</a:t>
            </a:r>
            <a:r>
              <a:rPr lang="en-US" sz="1200" b="1">
                <a:effectLst/>
                <a:latin typeface="Calibri" panose="020F0502020204030204" pitchFamily="34" charset="0"/>
                <a:ea typeface="游明朝" panose="02020400000000000000" pitchFamily="18" charset="-128"/>
                <a:cs typeface="Times New Roman" panose="02020603050405020304" pitchFamily="18" charset="0"/>
              </a:rPr>
              <a:t>Effective in reducing quantization errors and/or data volume</a:t>
            </a:r>
            <a:r>
              <a:rPr lang="en-US" sz="1200">
                <a:effectLst/>
                <a:latin typeface="Calibri" panose="020F0502020204030204" pitchFamily="34" charset="0"/>
                <a:ea typeface="游明朝" panose="02020400000000000000" pitchFamily="18" charset="-128"/>
                <a:cs typeface="Times New Roman" panose="02020603050405020304" pitchFamily="18" charset="0"/>
              </a:rPr>
              <a:t>.</a:t>
            </a:r>
          </a:p>
          <a:p>
            <a:pPr>
              <a:lnSpc>
                <a:spcPct val="107000"/>
              </a:lnSpc>
              <a:spcBef>
                <a:spcPts val="0"/>
              </a:spcBef>
              <a:spcAft>
                <a:spcPts val="800"/>
              </a:spcAft>
            </a:pPr>
            <a:endParaRPr lang="en-US" sz="1800">
              <a:effectLst/>
              <a:latin typeface="Calibri" panose="020F0502020204030204" pitchFamily="34" charset="0"/>
              <a:ea typeface="游明朝" panose="02020400000000000000" pitchFamily="18" charset="-128"/>
              <a:cs typeface="Times New Roman" panose="02020603050405020304" pitchFamily="18" charset="0"/>
            </a:endParaRPr>
          </a:p>
          <a:p>
            <a:pPr>
              <a:lnSpc>
                <a:spcPct val="107000"/>
              </a:lnSpc>
              <a:spcBef>
                <a:spcPts val="0"/>
              </a:spcBef>
              <a:spcAft>
                <a:spcPts val="800"/>
              </a:spcAft>
            </a:pPr>
            <a:endParaRPr lang="en-US" sz="1800">
              <a:effectLst/>
              <a:latin typeface="Calibri" panose="020F0502020204030204" pitchFamily="34" charset="0"/>
              <a:ea typeface="游明朝" panose="02020400000000000000" pitchFamily="18" charset="-128"/>
              <a:cs typeface="Times New Roman" panose="02020603050405020304" pitchFamily="18" charset="0"/>
            </a:endParaRPr>
          </a:p>
          <a:p>
            <a:pPr marL="0" marR="0">
              <a:lnSpc>
                <a:spcPct val="107000"/>
              </a:lnSpc>
              <a:spcBef>
                <a:spcPts val="0"/>
              </a:spcBef>
              <a:spcAft>
                <a:spcPts val="800"/>
              </a:spcAft>
            </a:pPr>
            <a:endParaRPr lang="en-US" sz="1800">
              <a:effectLst/>
              <a:latin typeface="Calibri" panose="020F0502020204030204" pitchFamily="34" charset="0"/>
              <a:ea typeface="游明朝" panose="02020400000000000000" pitchFamily="18" charset="-128"/>
              <a:cs typeface="Times New Roman" panose="02020603050405020304" pitchFamily="18" charset="0"/>
            </a:endParaRPr>
          </a:p>
          <a:p>
            <a:pPr algn="l"/>
            <a:endParaRPr lang="ja-JP" altLang="en-US" sz="1200" b="1"/>
          </a:p>
          <a:p>
            <a:pPr algn="l"/>
            <a:endParaRPr lang="en-US" sz="1200" b="1"/>
          </a:p>
          <a:p>
            <a:pPr algn="l"/>
            <a:endParaRPr lang="en-US" sz="1200"/>
          </a:p>
        </p:txBody>
      </p:sp>
      <p:cxnSp>
        <p:nvCxnSpPr>
          <p:cNvPr id="10" name="Straight Connector 9">
            <a:extLst>
              <a:ext uri="{FF2B5EF4-FFF2-40B4-BE49-F238E27FC236}">
                <a16:creationId xmlns:a16="http://schemas.microsoft.com/office/drawing/2014/main" id="{4742B47D-6B26-6232-6DED-6C32957A3D54}"/>
              </a:ext>
            </a:extLst>
          </p:cNvPr>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a:extLst>
              <a:ext uri="{FF2B5EF4-FFF2-40B4-BE49-F238E27FC236}">
                <a16:creationId xmlns:a16="http://schemas.microsoft.com/office/drawing/2014/main" id="{664AA7C9-5227-2D4B-9BBF-3048C8F7E61A}"/>
              </a:ext>
            </a:extLst>
          </p:cNvPr>
          <p:cNvSpPr>
            <a:spLocks noGrp="1"/>
          </p:cNvSpPr>
          <p:nvPr>
            <p:ph type="body" sz="quarter" idx="14"/>
          </p:nvPr>
        </p:nvSpPr>
        <p:spPr/>
        <p:txBody>
          <a:bodyPr/>
          <a:lstStyle/>
          <a:p>
            <a:endParaRPr lang="en-US"/>
          </a:p>
        </p:txBody>
      </p:sp>
      <p:sp>
        <p:nvSpPr>
          <p:cNvPr id="20" name="Text Placeholder 19">
            <a:extLst>
              <a:ext uri="{FF2B5EF4-FFF2-40B4-BE49-F238E27FC236}">
                <a16:creationId xmlns:a16="http://schemas.microsoft.com/office/drawing/2014/main" id="{BB17259C-0B1F-0BBB-A293-B652CC3A3047}"/>
              </a:ext>
            </a:extLst>
          </p:cNvPr>
          <p:cNvSpPr>
            <a:spLocks noGrp="1"/>
          </p:cNvSpPr>
          <p:nvPr>
            <p:ph type="body" sz="quarter" idx="14"/>
          </p:nvPr>
        </p:nvSpPr>
        <p:spPr/>
        <p:txBody>
          <a:bodyPr/>
          <a:lstStyle/>
          <a:p>
            <a:endParaRPr lang="en-US"/>
          </a:p>
        </p:txBody>
      </p:sp>
      <p:sp>
        <p:nvSpPr>
          <p:cNvPr id="24" name="Text Placeholder 14">
            <a:extLst>
              <a:ext uri="{FF2B5EF4-FFF2-40B4-BE49-F238E27FC236}">
                <a16:creationId xmlns:a16="http://schemas.microsoft.com/office/drawing/2014/main" id="{46D4AB9E-FDD7-8965-663D-682071FD50F5}"/>
              </a:ext>
            </a:extLst>
          </p:cNvPr>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a:extLst>
              <a:ext uri="{FF2B5EF4-FFF2-40B4-BE49-F238E27FC236}">
                <a16:creationId xmlns:a16="http://schemas.microsoft.com/office/drawing/2014/main" id="{77B777DE-DC38-569E-F950-3985C4EAF1BF}"/>
              </a:ext>
            </a:extLst>
          </p:cNvPr>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76443FE0-1CDB-C31B-8A27-DBD4EC0709F4}"/>
              </a:ext>
            </a:extLst>
          </p:cNvPr>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ounded Rectangle 18">
            <a:extLst>
              <a:ext uri="{FF2B5EF4-FFF2-40B4-BE49-F238E27FC236}">
                <a16:creationId xmlns:a16="http://schemas.microsoft.com/office/drawing/2014/main" id="{EF2ECF96-2C47-1A4E-A5E8-C6BFA9208E55}"/>
              </a:ext>
            </a:extLst>
          </p:cNvPr>
          <p:cNvSpPr/>
          <p:nvPr/>
        </p:nvSpPr>
        <p:spPr>
          <a:xfrm>
            <a:off x="3341878" y="319776"/>
            <a:ext cx="6883851"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sz="3200">
              <a:solidFill>
                <a:srgbClr val="000000"/>
              </a:solidFill>
              <a:latin typeface="Arial" panose="020B0604020202020204" pitchFamily="34" charset="0"/>
            </a:endParaRPr>
          </a:p>
          <a:p>
            <a:pPr algn="ctr"/>
            <a:r>
              <a:rPr lang="en-US" altLang="ja-JP" sz="3200">
                <a:solidFill>
                  <a:srgbClr val="FF0000"/>
                </a:solidFill>
              </a:rPr>
              <a:t>PCM</a:t>
            </a:r>
            <a:r>
              <a:rPr lang="ja-JP" altLang="en-US" sz="3200">
                <a:solidFill>
                  <a:srgbClr val="FF0000"/>
                </a:solidFill>
              </a:rPr>
              <a:t>のバリエーション</a:t>
            </a:r>
            <a:r>
              <a:rPr lang="en-US" altLang="ja-JP" sz="1100" b="1">
                <a:solidFill>
                  <a:schemeClr val="tx1"/>
                </a:solidFill>
                <a:latin typeface="Arial" panose="020B0604020202020204" pitchFamily="34" charset="0"/>
              </a:rPr>
              <a:t>Variations of PCM</a:t>
            </a:r>
            <a:endParaRPr lang="en-US" altLang="ja-JP" sz="1100" b="1">
              <a:solidFill>
                <a:schemeClr val="tx1"/>
              </a:solidFill>
            </a:endParaRPr>
          </a:p>
          <a:p>
            <a:pPr algn="ctr"/>
            <a:r>
              <a:rPr lang="ja-JP" altLang="en-US" sz="3200" b="1">
                <a:solidFill>
                  <a:srgbClr val="FF0000"/>
                </a:solidFill>
              </a:rPr>
              <a:t> </a:t>
            </a:r>
            <a:endParaRPr lang="en-US" sz="3200">
              <a:solidFill>
                <a:srgbClr val="FF0000"/>
              </a:solidFill>
            </a:endParaRPr>
          </a:p>
        </p:txBody>
      </p:sp>
      <p:pic>
        <p:nvPicPr>
          <p:cNvPr id="11" name="図 10"/>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pic>
        <p:nvPicPr>
          <p:cNvPr id="12" name="図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spTree>
    <p:extLst>
      <p:ext uri="{BB962C8B-B14F-4D97-AF65-F5344CB8AC3E}">
        <p14:creationId xmlns:p14="http://schemas.microsoft.com/office/powerpoint/2010/main" val="415243566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315028" y="464955"/>
            <a:ext cx="5335105" cy="381684"/>
          </a:xfrm>
        </p:spPr>
        <p:txBody>
          <a:bodyPr/>
          <a:lstStyle/>
          <a:p>
            <a:r>
              <a:rPr lang="en-US" sz="2800" b="1"/>
              <a:t>19</a:t>
            </a:r>
          </a:p>
        </p:txBody>
      </p:sp>
      <p:sp>
        <p:nvSpPr>
          <p:cNvPr id="5" name="TextBox 4"/>
          <p:cNvSpPr txBox="1"/>
          <p:nvPr/>
        </p:nvSpPr>
        <p:spPr>
          <a:xfrm>
            <a:off x="0" y="2081203"/>
            <a:ext cx="12192000" cy="3354765"/>
          </a:xfrm>
          <a:prstGeom prst="rect">
            <a:avLst/>
          </a:prstGeom>
          <a:noFill/>
        </p:spPr>
        <p:txBody>
          <a:bodyPr wrap="square" rtlCol="0">
            <a:spAutoFit/>
          </a:bodyPr>
          <a:lstStyle/>
          <a:p>
            <a:endParaRPr lang="en-US" sz="2800" b="1"/>
          </a:p>
          <a:p>
            <a:endParaRPr lang="en-US" sz="2800" b="1"/>
          </a:p>
          <a:p>
            <a:endParaRPr lang="en-US" sz="2800" b="1"/>
          </a:p>
          <a:p>
            <a:endParaRPr lang="en-US" sz="2800" b="1"/>
          </a:p>
          <a:p>
            <a:r>
              <a:rPr lang="en-US" sz="2800" b="1"/>
              <a:t>                                </a:t>
            </a:r>
            <a:r>
              <a:rPr lang="en-US" sz="4000"/>
              <a:t>Thank you for listening ! </a:t>
            </a:r>
          </a:p>
          <a:p>
            <a:endParaRPr lang="en-US" sz="2000" b="1">
              <a:sym typeface="Wingdings" panose="05000000000000000000" pitchFamily="2" charset="2"/>
            </a:endParaRPr>
          </a:p>
          <a:p>
            <a:endParaRPr lang="en-US" sz="2000" b="1">
              <a:sym typeface="Wingdings" panose="05000000000000000000" pitchFamily="2" charset="2"/>
            </a:endParaRPr>
          </a:p>
          <a:p>
            <a:endParaRPr lang="en-US" sz="2000"/>
          </a:p>
        </p:txBody>
      </p:sp>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4" name="図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7221" y="293342"/>
            <a:ext cx="631768" cy="631768"/>
          </a:xfrm>
          <a:prstGeom prst="rect">
            <a:avLst/>
          </a:prstGeom>
        </p:spPr>
      </p:pic>
      <p:pic>
        <p:nvPicPr>
          <p:cNvPr id="15" name="図 14"/>
          <p:cNvPicPr/>
          <p:nvPr/>
        </p:nvPicPr>
        <p:blipFill>
          <a:blip r:embed="rId4">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spTree>
    <p:extLst>
      <p:ext uri="{BB962C8B-B14F-4D97-AF65-F5344CB8AC3E}">
        <p14:creationId xmlns:p14="http://schemas.microsoft.com/office/powerpoint/2010/main" val="354985266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315028" y="464955"/>
            <a:ext cx="5335105" cy="381684"/>
          </a:xfrm>
        </p:spPr>
        <p:txBody>
          <a:bodyPr/>
          <a:lstStyle/>
          <a:p>
            <a:r>
              <a:rPr lang="en-US" sz="2800" b="1"/>
              <a:t>3</a:t>
            </a:r>
          </a:p>
        </p:txBody>
      </p:sp>
      <p:sp>
        <p:nvSpPr>
          <p:cNvPr id="5" name="TextBox 4"/>
          <p:cNvSpPr txBox="1"/>
          <p:nvPr/>
        </p:nvSpPr>
        <p:spPr>
          <a:xfrm>
            <a:off x="0" y="2081203"/>
            <a:ext cx="12192000" cy="9048631"/>
          </a:xfrm>
          <a:prstGeom prst="rect">
            <a:avLst/>
          </a:prstGeom>
          <a:noFill/>
        </p:spPr>
        <p:txBody>
          <a:bodyPr wrap="square" rtlCol="0">
            <a:spAutoFit/>
          </a:bodyPr>
          <a:lstStyle/>
          <a:p>
            <a:endParaRPr lang="en-US" sz="1000"/>
          </a:p>
          <a:p>
            <a:r>
              <a:rPr lang="en-US" altLang="ja-JP" sz="3200">
                <a:effectLst/>
                <a:latin typeface="Calibri" panose="020F0502020204030204" pitchFamily="34" charset="0"/>
                <a:ea typeface="游明朝" panose="02020400000000000000" pitchFamily="18" charset="-128"/>
                <a:cs typeface="Times New Roman" panose="02020603050405020304" pitchFamily="18" charset="0"/>
                <a:sym typeface="Wingdings" panose="05000000000000000000" pitchFamily="2" charset="2"/>
              </a:rPr>
              <a:t>  </a:t>
            </a:r>
            <a:r>
              <a:rPr lang="ja-JP" sz="3200">
                <a:effectLst/>
                <a:latin typeface="Calibri" panose="020F0502020204030204" pitchFamily="34" charset="0"/>
                <a:ea typeface="游明朝" panose="02020400000000000000" pitchFamily="18" charset="-128"/>
                <a:cs typeface="Times New Roman" panose="02020603050405020304" pitchFamily="18" charset="0"/>
              </a:rPr>
              <a:t>信号や波の周波数成分を解析するための数学的な手法です。</a:t>
            </a:r>
            <a:endParaRPr lang="en-US" sz="3200" b="1">
              <a:solidFill>
                <a:srgbClr val="FF0000"/>
              </a:solidFill>
              <a:sym typeface="Wingdings" panose="05000000000000000000" pitchFamily="2" charset="2"/>
            </a:endParaRPr>
          </a:p>
          <a:p>
            <a:endParaRPr lang="en-US" sz="2000" b="1">
              <a:solidFill>
                <a:srgbClr val="FF0000"/>
              </a:solidFill>
              <a:sym typeface="Wingdings" panose="05000000000000000000" pitchFamily="2" charset="2"/>
            </a:endParaRPr>
          </a:p>
          <a:p>
            <a:pPr marL="285750" indent="-285750">
              <a:buFont typeface="Wingdings" panose="05000000000000000000" pitchFamily="2" charset="2"/>
              <a:buChar char="à"/>
            </a:pPr>
            <a:r>
              <a:rPr lang="ja-JP" sz="3200">
                <a:effectLst/>
                <a:latin typeface="Calibri" panose="020F0502020204030204" pitchFamily="34" charset="0"/>
                <a:ea typeface="游明朝" panose="02020400000000000000" pitchFamily="18" charset="-128"/>
                <a:cs typeface="Times New Roman" panose="02020603050405020304" pitchFamily="18" charset="0"/>
              </a:rPr>
              <a:t>フーリエ変換は時間領域（</a:t>
            </a:r>
            <a:r>
              <a:rPr lang="ja-JP" sz="3200" b="1">
                <a:effectLst/>
                <a:latin typeface="Calibri" panose="020F0502020204030204" pitchFamily="34" charset="0"/>
                <a:ea typeface="游明朝" panose="02020400000000000000" pitchFamily="18" charset="-128"/>
                <a:cs typeface="Times New Roman" panose="02020603050405020304" pitchFamily="18" charset="0"/>
              </a:rPr>
              <a:t>時間に対する信号の変化</a:t>
            </a:r>
            <a:r>
              <a:rPr lang="ja-JP" sz="3200">
                <a:effectLst/>
                <a:latin typeface="Calibri" panose="020F0502020204030204" pitchFamily="34" charset="0"/>
                <a:ea typeface="游明朝" panose="02020400000000000000" pitchFamily="18" charset="-128"/>
                <a:cs typeface="Times New Roman" panose="02020603050405020304" pitchFamily="18" charset="0"/>
              </a:rPr>
              <a:t>）から</a:t>
            </a:r>
            <a:endParaRPr lang="en-US" altLang="ja-JP" sz="3200">
              <a:effectLst/>
              <a:latin typeface="Calibri" panose="020F0502020204030204" pitchFamily="34" charset="0"/>
              <a:ea typeface="游明朝" panose="02020400000000000000" pitchFamily="18" charset="-128"/>
              <a:cs typeface="Times New Roman" panose="02020603050405020304" pitchFamily="18" charset="0"/>
            </a:endParaRPr>
          </a:p>
          <a:p>
            <a:r>
              <a:rPr lang="en-US" altLang="ja-JP" sz="3200">
                <a:latin typeface="Calibri" panose="020F0502020204030204" pitchFamily="34" charset="0"/>
                <a:ea typeface="游明朝" panose="02020400000000000000" pitchFamily="18" charset="-128"/>
                <a:cs typeface="Times New Roman" panose="02020603050405020304" pitchFamily="18" charset="0"/>
              </a:rPr>
              <a:t>         </a:t>
            </a:r>
            <a:r>
              <a:rPr lang="ja-JP" sz="3200">
                <a:effectLst/>
                <a:latin typeface="Calibri" panose="020F0502020204030204" pitchFamily="34" charset="0"/>
                <a:ea typeface="游明朝" panose="02020400000000000000" pitchFamily="18" charset="-128"/>
                <a:cs typeface="Times New Roman" panose="02020603050405020304" pitchFamily="18" charset="0"/>
              </a:rPr>
              <a:t>周波数領域（</a:t>
            </a:r>
            <a:r>
              <a:rPr lang="ja-JP" sz="3200" b="1">
                <a:effectLst/>
                <a:latin typeface="Calibri" panose="020F0502020204030204" pitchFamily="34" charset="0"/>
                <a:ea typeface="游明朝" panose="02020400000000000000" pitchFamily="18" charset="-128"/>
                <a:cs typeface="Times New Roman" panose="02020603050405020304" pitchFamily="18" charset="0"/>
              </a:rPr>
              <a:t>信号の周波数成分</a:t>
            </a:r>
            <a:r>
              <a:rPr lang="ja-JP" sz="3200">
                <a:effectLst/>
                <a:latin typeface="Calibri" panose="020F0502020204030204" pitchFamily="34" charset="0"/>
                <a:ea typeface="游明朝" panose="02020400000000000000" pitchFamily="18" charset="-128"/>
                <a:cs typeface="Times New Roman" panose="02020603050405020304" pitchFamily="18" charset="0"/>
              </a:rPr>
              <a:t>）に変換するものです。</a:t>
            </a:r>
            <a:endParaRPr lang="en-US" sz="3200" b="1">
              <a:solidFill>
                <a:srgbClr val="FF0000"/>
              </a:solidFill>
              <a:sym typeface="Wingdings" panose="05000000000000000000" pitchFamily="2" charset="2"/>
            </a:endParaRPr>
          </a:p>
          <a:p>
            <a:endParaRPr lang="en-US" sz="2000" b="1">
              <a:solidFill>
                <a:srgbClr val="FF0000"/>
              </a:solidFill>
              <a:sym typeface="Wingdings" panose="05000000000000000000" pitchFamily="2" charset="2"/>
            </a:endParaRPr>
          </a:p>
          <a:p>
            <a:endParaRPr lang="en-US" sz="2000" b="1">
              <a:solidFill>
                <a:srgbClr val="FF0000"/>
              </a:solidFill>
              <a:sym typeface="Wingdings" panose="05000000000000000000" pitchFamily="2" charset="2"/>
            </a:endParaRPr>
          </a:p>
          <a:p>
            <a:endParaRPr lang="en-US" sz="2000" b="1">
              <a:solidFill>
                <a:srgbClr val="FF0000"/>
              </a:solidFill>
              <a:sym typeface="Wingdings" panose="05000000000000000000" pitchFamily="2" charset="2"/>
            </a:endParaRPr>
          </a:p>
          <a:p>
            <a:endParaRPr lang="en-US" sz="2000" b="1">
              <a:solidFill>
                <a:srgbClr val="FF0000"/>
              </a:solidFill>
              <a:sym typeface="Wingdings" panose="05000000000000000000" pitchFamily="2" charset="2"/>
            </a:endParaRPr>
          </a:p>
          <a:p>
            <a:r>
              <a:rPr lang="en-US" sz="1200">
                <a:effectLst/>
                <a:latin typeface="Calibri" panose="020F0502020204030204" pitchFamily="34" charset="0"/>
                <a:ea typeface="游明朝" panose="02020400000000000000" pitchFamily="18" charset="-128"/>
                <a:cs typeface="Times New Roman" panose="02020603050405020304" pitchFamily="18" charset="0"/>
              </a:rPr>
              <a:t>Mathematical technique for analyzing the frequency components of </a:t>
            </a:r>
            <a:r>
              <a:rPr lang="en-US" sz="1200" b="1">
                <a:effectLst/>
                <a:latin typeface="Calibri" panose="020F0502020204030204" pitchFamily="34" charset="0"/>
                <a:ea typeface="游明朝" panose="02020400000000000000" pitchFamily="18" charset="-128"/>
                <a:cs typeface="Times New Roman" panose="02020603050405020304" pitchFamily="18" charset="0"/>
              </a:rPr>
              <a:t>signals </a:t>
            </a:r>
            <a:r>
              <a:rPr lang="en-US" sz="1200">
                <a:effectLst/>
                <a:latin typeface="Calibri" panose="020F0502020204030204" pitchFamily="34" charset="0"/>
                <a:ea typeface="游明朝" panose="02020400000000000000" pitchFamily="18" charset="-128"/>
                <a:cs typeface="Times New Roman" panose="02020603050405020304" pitchFamily="18" charset="0"/>
              </a:rPr>
              <a:t>and </a:t>
            </a:r>
            <a:r>
              <a:rPr lang="en-US" sz="1200" b="1">
                <a:effectLst/>
                <a:latin typeface="Calibri" panose="020F0502020204030204" pitchFamily="34" charset="0"/>
                <a:ea typeface="游明朝" panose="02020400000000000000" pitchFamily="18" charset="-128"/>
                <a:cs typeface="Times New Roman" panose="02020603050405020304" pitchFamily="18" charset="0"/>
              </a:rPr>
              <a:t>waves. </a:t>
            </a:r>
          </a:p>
          <a:p>
            <a:endParaRPr lang="en-US" sz="1200">
              <a:latin typeface="Calibri" panose="020F0502020204030204" pitchFamily="34" charset="0"/>
              <a:ea typeface="游明朝" panose="02020400000000000000" pitchFamily="18" charset="-128"/>
              <a:cs typeface="Times New Roman" panose="02020603050405020304" pitchFamily="18" charset="0"/>
            </a:endParaRPr>
          </a:p>
          <a:p>
            <a:r>
              <a:rPr lang="en-US" sz="1200">
                <a:effectLst/>
                <a:latin typeface="Calibri" panose="020F0502020204030204" pitchFamily="34" charset="0"/>
                <a:ea typeface="游明朝" panose="02020400000000000000" pitchFamily="18" charset="-128"/>
                <a:cs typeface="Times New Roman" panose="02020603050405020304" pitchFamily="18" charset="0"/>
              </a:rPr>
              <a:t>In brief, </a:t>
            </a:r>
            <a:r>
              <a:rPr lang="en-US" sz="1200">
                <a:latin typeface="Calibri" panose="020F0502020204030204" pitchFamily="34" charset="0"/>
                <a:ea typeface="游明朝" panose="02020400000000000000" pitchFamily="18" charset="-128"/>
                <a:cs typeface="Times New Roman" panose="02020603050405020304" pitchFamily="18" charset="0"/>
              </a:rPr>
              <a:t>it </a:t>
            </a:r>
            <a:r>
              <a:rPr lang="en-US" sz="1200">
                <a:effectLst/>
                <a:latin typeface="Calibri" panose="020F0502020204030204" pitchFamily="34" charset="0"/>
                <a:ea typeface="游明朝" panose="02020400000000000000" pitchFamily="18" charset="-128"/>
                <a:cs typeface="Times New Roman" panose="02020603050405020304" pitchFamily="18" charset="0"/>
              </a:rPr>
              <a:t>transforms from the </a:t>
            </a:r>
            <a:r>
              <a:rPr lang="en-US" sz="1200" b="1">
                <a:effectLst/>
                <a:latin typeface="Calibri" panose="020F0502020204030204" pitchFamily="34" charset="0"/>
                <a:ea typeface="游明朝" panose="02020400000000000000" pitchFamily="18" charset="-128"/>
                <a:cs typeface="Times New Roman" panose="02020603050405020304" pitchFamily="18" charset="0"/>
              </a:rPr>
              <a:t>time domain </a:t>
            </a:r>
            <a:r>
              <a:rPr lang="en-US" sz="1200">
                <a:effectLst/>
                <a:latin typeface="Calibri" panose="020F0502020204030204" pitchFamily="34" charset="0"/>
                <a:ea typeface="游明朝" panose="02020400000000000000" pitchFamily="18" charset="-128"/>
                <a:cs typeface="Times New Roman" panose="02020603050405020304" pitchFamily="18" charset="0"/>
              </a:rPr>
              <a:t>(the change of a signal with respect to time) to the </a:t>
            </a:r>
            <a:r>
              <a:rPr lang="en-US" sz="1200" b="1">
                <a:effectLst/>
                <a:latin typeface="Calibri" panose="020F0502020204030204" pitchFamily="34" charset="0"/>
                <a:ea typeface="游明朝" panose="02020400000000000000" pitchFamily="18" charset="-128"/>
                <a:cs typeface="Times New Roman" panose="02020603050405020304" pitchFamily="18" charset="0"/>
              </a:rPr>
              <a:t>frequency domain </a:t>
            </a:r>
            <a:r>
              <a:rPr lang="en-US" sz="1200">
                <a:effectLst/>
                <a:latin typeface="Calibri" panose="020F0502020204030204" pitchFamily="34" charset="0"/>
                <a:ea typeface="游明朝" panose="02020400000000000000" pitchFamily="18" charset="-128"/>
                <a:cs typeface="Times New Roman" panose="02020603050405020304" pitchFamily="18" charset="0"/>
              </a:rPr>
              <a:t>(the frequency components of a signal).</a:t>
            </a:r>
          </a:p>
          <a:p>
            <a:endParaRPr lang="en-US" sz="2000" b="1">
              <a:solidFill>
                <a:srgbClr val="FF0000"/>
              </a:solidFill>
              <a:sym typeface="Wingdings" panose="05000000000000000000" pitchFamily="2" charset="2"/>
            </a:endParaRPr>
          </a:p>
          <a:p>
            <a:r>
              <a:rPr lang="en-US" sz="2000" b="1">
                <a:solidFill>
                  <a:srgbClr val="FF0000"/>
                </a:solidFill>
                <a:sym typeface="Wingdings" panose="05000000000000000000" pitchFamily="2" charset="2"/>
              </a:rPr>
              <a:t>                                                         </a:t>
            </a:r>
            <a:endParaRPr lang="en-US" sz="2000">
              <a:solidFill>
                <a:srgbClr val="FF0000"/>
              </a:solidFill>
              <a:sym typeface="Wingdings" panose="05000000000000000000" pitchFamily="2" charset="2"/>
            </a:endParaRPr>
          </a:p>
          <a:p>
            <a:endParaRPr lang="en-US" sz="2000" b="1"/>
          </a:p>
          <a:p>
            <a:endParaRPr lang="en-US" sz="2000" b="1"/>
          </a:p>
          <a:p>
            <a:endParaRPr lang="en-US" sz="2000" b="1"/>
          </a:p>
          <a:p>
            <a:endParaRPr lang="en-US" sz="2000" b="1"/>
          </a:p>
          <a:p>
            <a:r>
              <a:rPr lang="en-US" sz="2000" b="1"/>
              <a:t>       </a:t>
            </a:r>
          </a:p>
          <a:p>
            <a:endParaRPr lang="en-US" sz="2000" b="1"/>
          </a:p>
          <a:p>
            <a:endParaRPr lang="en-US" sz="2000" b="1"/>
          </a:p>
          <a:p>
            <a:r>
              <a:rPr lang="en-US" sz="2000" b="1"/>
              <a:t>   </a:t>
            </a:r>
          </a:p>
          <a:p>
            <a:endParaRPr lang="en-US" sz="2000" b="1">
              <a:solidFill>
                <a:srgbClr val="FF0000"/>
              </a:solidFill>
            </a:endParaRPr>
          </a:p>
          <a:p>
            <a:endParaRPr lang="en-US" sz="2000" b="1">
              <a:solidFill>
                <a:srgbClr val="FF0000"/>
              </a:solidFill>
              <a:sym typeface="Wingdings" panose="05000000000000000000" pitchFamily="2" charset="2"/>
            </a:endParaRPr>
          </a:p>
          <a:p>
            <a:r>
              <a:rPr lang="en-US" sz="2000" b="1">
                <a:solidFill>
                  <a:srgbClr val="FF0000"/>
                </a:solidFill>
                <a:sym typeface="Wingdings" panose="05000000000000000000" pitchFamily="2" charset="2"/>
              </a:rPr>
              <a:t>      </a:t>
            </a:r>
            <a:endParaRPr lang="en-US" sz="2000" b="1">
              <a:solidFill>
                <a:srgbClr val="FF0000"/>
              </a:solidFill>
            </a:endParaRPr>
          </a:p>
          <a:p>
            <a:r>
              <a:rPr lang="en-US" sz="2000" b="1">
                <a:solidFill>
                  <a:srgbClr val="FF0000"/>
                </a:solidFill>
              </a:rPr>
              <a:t>  </a:t>
            </a:r>
            <a:endParaRPr lang="en-US" sz="2000" b="1"/>
          </a:p>
          <a:p>
            <a:endParaRPr lang="en-US" sz="2000" b="1"/>
          </a:p>
          <a:p>
            <a:endParaRPr lang="en-US" sz="2000" b="1">
              <a:solidFill>
                <a:srgbClr val="FF0000"/>
              </a:solidFill>
            </a:endParaRPr>
          </a:p>
          <a:p>
            <a:r>
              <a:rPr lang="en-US" sz="2000">
                <a:solidFill>
                  <a:srgbClr val="FF0000"/>
                </a:solidFill>
              </a:rPr>
              <a:t>   </a:t>
            </a:r>
          </a:p>
        </p:txBody>
      </p:sp>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18" name="Rounded Rectangle 18">
            <a:extLst>
              <a:ext uri="{FF2B5EF4-FFF2-40B4-BE49-F238E27FC236}">
                <a16:creationId xmlns:a16="http://schemas.microsoft.com/office/drawing/2014/main" id="{23A96D9D-8128-478A-A3C2-1F87CF6289ED}"/>
              </a:ext>
            </a:extLst>
          </p:cNvPr>
          <p:cNvSpPr/>
          <p:nvPr/>
        </p:nvSpPr>
        <p:spPr>
          <a:xfrm>
            <a:off x="4072546" y="252943"/>
            <a:ext cx="4773270"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ltLang="ja-JP" sz="3200" b="1">
              <a:solidFill>
                <a:srgbClr val="FF0000"/>
              </a:solidFill>
              <a:effectLst/>
              <a:latin typeface="Calibri" panose="020F0502020204030204" pitchFamily="34" charset="0"/>
              <a:ea typeface="游明朝" panose="02020400000000000000" pitchFamily="18" charset="-128"/>
              <a:cs typeface="Times New Roman" panose="02020603050405020304" pitchFamily="18" charset="0"/>
            </a:endParaRPr>
          </a:p>
          <a:p>
            <a:pPr algn="ctr"/>
            <a:r>
              <a:rPr lang="ja-JP" sz="3200" b="1">
                <a:solidFill>
                  <a:srgbClr val="FF0000"/>
                </a:solidFill>
                <a:effectLst/>
                <a:latin typeface="Calibri" panose="020F0502020204030204" pitchFamily="34" charset="0"/>
                <a:ea typeface="游明朝" panose="02020400000000000000" pitchFamily="18" charset="-128"/>
                <a:cs typeface="Times New Roman" panose="02020603050405020304" pitchFamily="18" charset="0"/>
              </a:rPr>
              <a:t>フーリエ変換は</a:t>
            </a:r>
            <a:r>
              <a:rPr lang="en-US" altLang="ja-JP" sz="3200" b="1">
                <a:solidFill>
                  <a:srgbClr val="FF0000"/>
                </a:solidFill>
                <a:effectLst/>
                <a:latin typeface="Calibri" panose="020F0502020204030204" pitchFamily="34" charset="0"/>
                <a:ea typeface="游明朝" panose="02020400000000000000" pitchFamily="18" charset="-128"/>
                <a:cs typeface="Times New Roman" panose="02020603050405020304" pitchFamily="18" charset="0"/>
              </a:rPr>
              <a:t> </a:t>
            </a:r>
            <a:endParaRPr lang="en-US" sz="3200" b="1">
              <a:solidFill>
                <a:srgbClr val="FF0000"/>
              </a:solidFill>
            </a:endParaRPr>
          </a:p>
          <a:p>
            <a:pPr algn="ctr"/>
            <a:endParaRPr lang="en-US" sz="3200">
              <a:solidFill>
                <a:srgbClr val="FF0000"/>
              </a:solidFill>
            </a:endParaRPr>
          </a:p>
        </p:txBody>
      </p:sp>
      <p:pic>
        <p:nvPicPr>
          <p:cNvPr id="14" name="図 13"/>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spTree>
    <p:extLst>
      <p:ext uri="{BB962C8B-B14F-4D97-AF65-F5344CB8AC3E}">
        <p14:creationId xmlns:p14="http://schemas.microsoft.com/office/powerpoint/2010/main" val="350929900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315028" y="464955"/>
            <a:ext cx="5335105" cy="381684"/>
          </a:xfrm>
        </p:spPr>
        <p:txBody>
          <a:bodyPr/>
          <a:lstStyle/>
          <a:p>
            <a:r>
              <a:rPr lang="en-US" sz="2800" b="1"/>
              <a:t>4</a:t>
            </a:r>
          </a:p>
        </p:txBody>
      </p:sp>
      <p:sp>
        <p:nvSpPr>
          <p:cNvPr id="5" name="TextBox 4"/>
          <p:cNvSpPr txBox="1"/>
          <p:nvPr/>
        </p:nvSpPr>
        <p:spPr>
          <a:xfrm>
            <a:off x="0" y="2081203"/>
            <a:ext cx="12192000" cy="9202519"/>
          </a:xfrm>
          <a:prstGeom prst="rect">
            <a:avLst/>
          </a:prstGeom>
          <a:noFill/>
        </p:spPr>
        <p:txBody>
          <a:bodyPr wrap="square" rtlCol="0">
            <a:spAutoFit/>
          </a:bodyPr>
          <a:lstStyle/>
          <a:p>
            <a:endParaRPr lang="en-US" sz="1000"/>
          </a:p>
          <a:p>
            <a:r>
              <a:rPr lang="en-US" altLang="ja-JP" sz="3200">
                <a:effectLst/>
                <a:latin typeface="Calibri" panose="020F0502020204030204" pitchFamily="34" charset="0"/>
                <a:ea typeface="游明朝" panose="02020400000000000000" pitchFamily="18" charset="-128"/>
                <a:cs typeface="Times New Roman" panose="02020603050405020304" pitchFamily="18" charset="0"/>
                <a:sym typeface="Wingdings" panose="05000000000000000000" pitchFamily="2" charset="2"/>
              </a:rPr>
              <a:t></a:t>
            </a:r>
            <a:r>
              <a:rPr lang="ja-JP" sz="2800">
                <a:effectLst/>
                <a:latin typeface="Calibri" panose="020F0502020204030204" pitchFamily="34" charset="0"/>
                <a:ea typeface="游明朝" panose="02020400000000000000" pitchFamily="18" charset="-128"/>
                <a:cs typeface="Times New Roman" panose="02020603050405020304" pitchFamily="18" charset="0"/>
              </a:rPr>
              <a:t>まず、フーリエ変換を理解するためには「</a:t>
            </a:r>
            <a:r>
              <a:rPr lang="ja-JP" sz="2800" b="1">
                <a:solidFill>
                  <a:srgbClr val="FF0000"/>
                </a:solidFill>
                <a:effectLst/>
                <a:latin typeface="Calibri" panose="020F0502020204030204" pitchFamily="34" charset="0"/>
                <a:ea typeface="游明朝" panose="02020400000000000000" pitchFamily="18" charset="-128"/>
                <a:cs typeface="Times New Roman" panose="02020603050405020304" pitchFamily="18" charset="0"/>
              </a:rPr>
              <a:t>信号</a:t>
            </a:r>
            <a:r>
              <a:rPr lang="ja-JP" sz="2800">
                <a:effectLst/>
                <a:latin typeface="Calibri" panose="020F0502020204030204" pitchFamily="34" charset="0"/>
                <a:ea typeface="游明朝" panose="02020400000000000000" pitchFamily="18" charset="-128"/>
                <a:cs typeface="Times New Roman" panose="02020603050405020304" pitchFamily="18" charset="0"/>
              </a:rPr>
              <a:t>」の概念が必要です。</a:t>
            </a:r>
            <a:endParaRPr lang="en-US" sz="2800" b="1">
              <a:solidFill>
                <a:srgbClr val="FF0000"/>
              </a:solidFill>
              <a:sym typeface="Wingdings" panose="05000000000000000000" pitchFamily="2" charset="2"/>
            </a:endParaRPr>
          </a:p>
          <a:p>
            <a:endParaRPr lang="en-US" sz="2000" b="1">
              <a:solidFill>
                <a:srgbClr val="FF0000"/>
              </a:solidFill>
              <a:sym typeface="Wingdings" panose="05000000000000000000" pitchFamily="2" charset="2"/>
            </a:endParaRPr>
          </a:p>
          <a:p>
            <a:pPr marL="285750" indent="-285750">
              <a:buFont typeface="Wingdings" panose="05000000000000000000" pitchFamily="2" charset="2"/>
              <a:buChar char="à"/>
            </a:pPr>
            <a:r>
              <a:rPr lang="en-US" altLang="ja-JP" sz="2800">
                <a:effectLst/>
                <a:latin typeface="Calibri" panose="020F0502020204030204" pitchFamily="34" charset="0"/>
                <a:ea typeface="游明朝" panose="02020400000000000000" pitchFamily="18" charset="-128"/>
                <a:cs typeface="Times New Roman" panose="02020603050405020304" pitchFamily="18" charset="0"/>
              </a:rPr>
              <a:t> </a:t>
            </a:r>
            <a:r>
              <a:rPr lang="ja-JP" sz="2800">
                <a:effectLst/>
                <a:latin typeface="Calibri" panose="020F0502020204030204" pitchFamily="34" charset="0"/>
                <a:ea typeface="游明朝" panose="02020400000000000000" pitchFamily="18" charset="-128"/>
                <a:cs typeface="Times New Roman" panose="02020603050405020304" pitchFamily="18" charset="0"/>
              </a:rPr>
              <a:t>信号は時間の経過に伴って変化するもので、例えば音声や音楽、振動などがあります。</a:t>
            </a:r>
            <a:endParaRPr lang="en-US" sz="2800" b="1">
              <a:solidFill>
                <a:srgbClr val="FF0000"/>
              </a:solidFill>
              <a:sym typeface="Wingdings" panose="05000000000000000000" pitchFamily="2" charset="2"/>
            </a:endParaRPr>
          </a:p>
          <a:p>
            <a:endParaRPr lang="en-US" sz="2000" b="1">
              <a:solidFill>
                <a:srgbClr val="FF0000"/>
              </a:solidFill>
              <a:sym typeface="Wingdings" panose="05000000000000000000" pitchFamily="2" charset="2"/>
            </a:endParaRPr>
          </a:p>
          <a:p>
            <a:endParaRPr lang="en-US" sz="2000" b="1">
              <a:solidFill>
                <a:srgbClr val="FF0000"/>
              </a:solidFill>
              <a:sym typeface="Wingdings" panose="05000000000000000000" pitchFamily="2" charset="2"/>
            </a:endParaRPr>
          </a:p>
          <a:p>
            <a:endParaRPr lang="en-US" sz="2000" b="1">
              <a:solidFill>
                <a:srgbClr val="FF0000"/>
              </a:solidFill>
              <a:sym typeface="Wingdings" panose="05000000000000000000" pitchFamily="2" charset="2"/>
            </a:endParaRPr>
          </a:p>
          <a:p>
            <a:endParaRPr lang="en-US" sz="2000" b="1">
              <a:solidFill>
                <a:srgbClr val="FF0000"/>
              </a:solidFill>
              <a:sym typeface="Wingdings" panose="05000000000000000000" pitchFamily="2" charset="2"/>
            </a:endParaRPr>
          </a:p>
          <a:p>
            <a:endParaRPr lang="en-US" sz="2000" b="1">
              <a:solidFill>
                <a:srgbClr val="FF0000"/>
              </a:solidFill>
              <a:sym typeface="Wingdings" panose="05000000000000000000" pitchFamily="2" charset="2"/>
            </a:endParaRPr>
          </a:p>
          <a:p>
            <a:endParaRPr lang="en-US" sz="2000" b="1">
              <a:solidFill>
                <a:srgbClr val="FF0000"/>
              </a:solidFill>
              <a:sym typeface="Wingdings" panose="05000000000000000000" pitchFamily="2" charset="2"/>
            </a:endParaRPr>
          </a:p>
          <a:p>
            <a:r>
              <a:rPr lang="en-US" sz="1200">
                <a:effectLst/>
                <a:latin typeface="Calibri" panose="020F0502020204030204" pitchFamily="34" charset="0"/>
                <a:ea typeface="游明朝" panose="02020400000000000000" pitchFamily="18" charset="-128"/>
                <a:cs typeface="Times New Roman" panose="02020603050405020304" pitchFamily="18" charset="0"/>
              </a:rPr>
              <a:t>**Understanding signals**: first, to understand the Fourier transform, the concept of 'signal' is necessary. </a:t>
            </a:r>
          </a:p>
          <a:p>
            <a:endParaRPr lang="en-US" sz="1200">
              <a:latin typeface="Calibri" panose="020F0502020204030204" pitchFamily="34" charset="0"/>
              <a:ea typeface="游明朝" panose="02020400000000000000" pitchFamily="18" charset="-128"/>
              <a:cs typeface="Times New Roman" panose="02020603050405020304" pitchFamily="18" charset="0"/>
            </a:endParaRPr>
          </a:p>
          <a:p>
            <a:r>
              <a:rPr lang="en-US" sz="1200">
                <a:effectLst/>
                <a:latin typeface="Calibri" panose="020F0502020204030204" pitchFamily="34" charset="0"/>
                <a:ea typeface="游明朝" panose="02020400000000000000" pitchFamily="18" charset="-128"/>
                <a:cs typeface="Times New Roman" panose="02020603050405020304" pitchFamily="18" charset="0"/>
              </a:rPr>
              <a:t>    A signal is something that changes over time, e.g. speech, music, vibrations, etc.</a:t>
            </a:r>
            <a:endParaRPr lang="en-US" sz="1200" b="1">
              <a:solidFill>
                <a:srgbClr val="FF0000"/>
              </a:solidFill>
              <a:sym typeface="Wingdings" panose="05000000000000000000" pitchFamily="2" charset="2"/>
            </a:endParaRPr>
          </a:p>
          <a:p>
            <a:r>
              <a:rPr lang="en-US" sz="2000" b="1">
                <a:solidFill>
                  <a:srgbClr val="FF0000"/>
                </a:solidFill>
                <a:sym typeface="Wingdings" panose="05000000000000000000" pitchFamily="2" charset="2"/>
              </a:rPr>
              <a:t>                                                         </a:t>
            </a:r>
            <a:endParaRPr lang="en-US" sz="2000">
              <a:solidFill>
                <a:srgbClr val="FF0000"/>
              </a:solidFill>
              <a:sym typeface="Wingdings" panose="05000000000000000000" pitchFamily="2" charset="2"/>
            </a:endParaRPr>
          </a:p>
          <a:p>
            <a:endParaRPr lang="en-US" sz="2000" b="1"/>
          </a:p>
          <a:p>
            <a:endParaRPr lang="en-US" sz="2000" b="1"/>
          </a:p>
          <a:p>
            <a:endParaRPr lang="en-US" sz="2000" b="1"/>
          </a:p>
          <a:p>
            <a:endParaRPr lang="en-US" sz="2000" b="1"/>
          </a:p>
          <a:p>
            <a:r>
              <a:rPr lang="en-US" sz="2000" b="1"/>
              <a:t>       </a:t>
            </a:r>
          </a:p>
          <a:p>
            <a:endParaRPr lang="en-US" sz="2000" b="1"/>
          </a:p>
          <a:p>
            <a:endParaRPr lang="en-US" sz="2000" b="1"/>
          </a:p>
          <a:p>
            <a:r>
              <a:rPr lang="en-US" sz="2000" b="1"/>
              <a:t>   </a:t>
            </a:r>
          </a:p>
          <a:p>
            <a:endParaRPr lang="en-US" sz="2000" b="1">
              <a:solidFill>
                <a:srgbClr val="FF0000"/>
              </a:solidFill>
            </a:endParaRPr>
          </a:p>
          <a:p>
            <a:endParaRPr lang="en-US" sz="2000" b="1">
              <a:solidFill>
                <a:srgbClr val="FF0000"/>
              </a:solidFill>
              <a:sym typeface="Wingdings" panose="05000000000000000000" pitchFamily="2" charset="2"/>
            </a:endParaRPr>
          </a:p>
          <a:p>
            <a:r>
              <a:rPr lang="en-US" sz="2000" b="1">
                <a:solidFill>
                  <a:srgbClr val="FF0000"/>
                </a:solidFill>
                <a:sym typeface="Wingdings" panose="05000000000000000000" pitchFamily="2" charset="2"/>
              </a:rPr>
              <a:t>      </a:t>
            </a:r>
            <a:endParaRPr lang="en-US" sz="2000" b="1">
              <a:solidFill>
                <a:srgbClr val="FF0000"/>
              </a:solidFill>
            </a:endParaRPr>
          </a:p>
          <a:p>
            <a:r>
              <a:rPr lang="en-US" sz="2000" b="1">
                <a:solidFill>
                  <a:srgbClr val="FF0000"/>
                </a:solidFill>
              </a:rPr>
              <a:t>  </a:t>
            </a:r>
            <a:endParaRPr lang="en-US" sz="2000" b="1"/>
          </a:p>
          <a:p>
            <a:endParaRPr lang="en-US" sz="2000" b="1"/>
          </a:p>
          <a:p>
            <a:endParaRPr lang="en-US" sz="2000" b="1">
              <a:solidFill>
                <a:srgbClr val="FF0000"/>
              </a:solidFill>
            </a:endParaRPr>
          </a:p>
          <a:p>
            <a:r>
              <a:rPr lang="en-US" sz="2000">
                <a:solidFill>
                  <a:srgbClr val="FF0000"/>
                </a:solidFill>
              </a:rPr>
              <a:t>   </a:t>
            </a:r>
          </a:p>
        </p:txBody>
      </p:sp>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18" name="Rounded Rectangle 18">
            <a:extLst>
              <a:ext uri="{FF2B5EF4-FFF2-40B4-BE49-F238E27FC236}">
                <a16:creationId xmlns:a16="http://schemas.microsoft.com/office/drawing/2014/main" id="{23A96D9D-8128-478A-A3C2-1F87CF6289ED}"/>
              </a:ext>
            </a:extLst>
          </p:cNvPr>
          <p:cNvSpPr/>
          <p:nvPr/>
        </p:nvSpPr>
        <p:spPr>
          <a:xfrm>
            <a:off x="4072546" y="252943"/>
            <a:ext cx="4773270"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sz="3200" b="1">
                <a:solidFill>
                  <a:srgbClr val="FF0000"/>
                </a:solidFill>
                <a:effectLst/>
                <a:latin typeface="Calibri" panose="020F0502020204030204" pitchFamily="34" charset="0"/>
                <a:ea typeface="游明朝" panose="02020400000000000000" pitchFamily="18" charset="-128"/>
                <a:cs typeface="Times New Roman" panose="02020603050405020304" pitchFamily="18" charset="0"/>
              </a:rPr>
              <a:t>信号の理解</a:t>
            </a:r>
            <a:endParaRPr lang="en-US" sz="3200" b="1">
              <a:solidFill>
                <a:srgbClr val="FF0000"/>
              </a:solidFill>
            </a:endParaRPr>
          </a:p>
        </p:txBody>
      </p:sp>
      <p:pic>
        <p:nvPicPr>
          <p:cNvPr id="2" name="Picture 1">
            <a:extLst>
              <a:ext uri="{FF2B5EF4-FFF2-40B4-BE49-F238E27FC236}">
                <a16:creationId xmlns:a16="http://schemas.microsoft.com/office/drawing/2014/main" id="{E9FD5D11-9D44-0FE0-46E5-32C0BCEF564F}"/>
              </a:ext>
            </a:extLst>
          </p:cNvPr>
          <p:cNvPicPr>
            <a:picLocks noChangeAspect="1"/>
          </p:cNvPicPr>
          <p:nvPr/>
        </p:nvPicPr>
        <p:blipFill>
          <a:blip r:embed="rId3"/>
          <a:stretch>
            <a:fillRect/>
          </a:stretch>
        </p:blipFill>
        <p:spPr>
          <a:xfrm>
            <a:off x="7251736" y="4493627"/>
            <a:ext cx="4784722" cy="1579194"/>
          </a:xfrm>
          <a:prstGeom prst="rect">
            <a:avLst/>
          </a:prstGeom>
        </p:spPr>
      </p:pic>
      <p:pic>
        <p:nvPicPr>
          <p:cNvPr id="15" name="図 14"/>
          <p:cNvPicPr/>
          <p:nvPr/>
        </p:nvPicPr>
        <p:blipFill>
          <a:blip r:embed="rId4">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spTree>
    <p:extLst>
      <p:ext uri="{BB962C8B-B14F-4D97-AF65-F5344CB8AC3E}">
        <p14:creationId xmlns:p14="http://schemas.microsoft.com/office/powerpoint/2010/main" val="259712336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315028" y="464955"/>
            <a:ext cx="5335105" cy="381684"/>
          </a:xfrm>
        </p:spPr>
        <p:txBody>
          <a:bodyPr/>
          <a:lstStyle/>
          <a:p>
            <a:r>
              <a:rPr lang="en-US" sz="2800" b="1"/>
              <a:t>5</a:t>
            </a:r>
          </a:p>
        </p:txBody>
      </p:sp>
      <p:sp>
        <p:nvSpPr>
          <p:cNvPr id="5" name="TextBox 4"/>
          <p:cNvSpPr txBox="1"/>
          <p:nvPr/>
        </p:nvSpPr>
        <p:spPr>
          <a:xfrm>
            <a:off x="0" y="2081203"/>
            <a:ext cx="12192000" cy="5232202"/>
          </a:xfrm>
          <a:prstGeom prst="rect">
            <a:avLst/>
          </a:prstGeom>
          <a:noFill/>
        </p:spPr>
        <p:txBody>
          <a:bodyPr wrap="square" rtlCol="0">
            <a:spAutoFit/>
          </a:bodyPr>
          <a:lstStyle/>
          <a:p>
            <a:r>
              <a:rPr lang="en-US" sz="1400"/>
              <a:t>  </a:t>
            </a:r>
            <a:r>
              <a:rPr lang="zh-TW" altLang="en-US" sz="2800"/>
              <a:t>連続時間信号  </a:t>
            </a:r>
            <a:r>
              <a:rPr lang="en-US" altLang="zh-TW" sz="2800">
                <a:sym typeface="Wingdings" panose="05000000000000000000" pitchFamily="2" charset="2"/>
              </a:rPr>
              <a:t>  </a:t>
            </a:r>
            <a:r>
              <a:rPr lang="ja-JP" altLang="en-US" sz="2800">
                <a:sym typeface="Wingdings" panose="05000000000000000000" pitchFamily="2" charset="2"/>
              </a:rPr>
              <a:t>連続的に定義された時間関数  </a:t>
            </a:r>
            <a:r>
              <a:rPr lang="en-US" altLang="ja-JP" sz="2800">
                <a:sym typeface="Wingdings" panose="05000000000000000000" pitchFamily="2" charset="2"/>
              </a:rPr>
              <a:t>. </a:t>
            </a:r>
          </a:p>
          <a:p>
            <a:r>
              <a:rPr lang="en-US" altLang="ja-JP" sz="2800">
                <a:sym typeface="Wingdings" panose="05000000000000000000" pitchFamily="2" charset="2"/>
              </a:rPr>
              <a:t> </a:t>
            </a:r>
            <a:r>
              <a:rPr lang="ja-JP" altLang="en-US" sz="2800">
                <a:sym typeface="Wingdings" panose="05000000000000000000" pitchFamily="2" charset="2"/>
              </a:rPr>
              <a:t>アナログオーディオの例 </a:t>
            </a:r>
            <a:endParaRPr lang="en-US" sz="2800" b="1"/>
          </a:p>
          <a:p>
            <a:endParaRPr lang="en-US" sz="1400"/>
          </a:p>
          <a:p>
            <a:endParaRPr lang="en-US" sz="2000" b="1">
              <a:solidFill>
                <a:srgbClr val="FF0000"/>
              </a:solidFill>
            </a:endParaRPr>
          </a:p>
          <a:p>
            <a:r>
              <a:rPr lang="ja-JP" altLang="en-US" sz="2800"/>
              <a:t>ディスクリート </a:t>
            </a:r>
            <a:r>
              <a:rPr lang="en-US" altLang="ja-JP" sz="2800"/>
              <a:t>- </a:t>
            </a:r>
            <a:r>
              <a:rPr lang="ja-JP" altLang="en-US" sz="2800"/>
              <a:t>時間信号 </a:t>
            </a:r>
            <a:r>
              <a:rPr lang="en-US" altLang="ja-JP" sz="2800">
                <a:sym typeface="Wingdings" panose="05000000000000000000" pitchFamily="2" charset="2"/>
              </a:rPr>
              <a:t> </a:t>
            </a:r>
            <a:r>
              <a:rPr lang="ja-JP" altLang="en-US" sz="2800">
                <a:sym typeface="Wingdings" panose="05000000000000000000" pitchFamily="2" charset="2"/>
              </a:rPr>
              <a:t>信号のサンプルは特定の時点のものである。</a:t>
            </a:r>
            <a:endParaRPr lang="en-US" altLang="ja-JP" sz="2800">
              <a:sym typeface="Wingdings" panose="05000000000000000000" pitchFamily="2" charset="2"/>
            </a:endParaRPr>
          </a:p>
          <a:p>
            <a:endParaRPr lang="en-US" altLang="ja-JP" sz="2800">
              <a:sym typeface="Wingdings" panose="05000000000000000000" pitchFamily="2" charset="2"/>
            </a:endParaRPr>
          </a:p>
          <a:p>
            <a:r>
              <a:rPr lang="ja-JP" altLang="en-US" sz="2800">
                <a:sym typeface="Wingdings" panose="05000000000000000000" pitchFamily="2" charset="2"/>
              </a:rPr>
              <a:t>デジタルオーディオの例</a:t>
            </a:r>
            <a:endParaRPr lang="en-US" sz="2800"/>
          </a:p>
          <a:p>
            <a:endParaRPr lang="en-US" sz="2000" b="1">
              <a:solidFill>
                <a:srgbClr val="FF0000"/>
              </a:solidFill>
            </a:endParaRPr>
          </a:p>
          <a:p>
            <a:endParaRPr lang="en-US" sz="2000" b="1">
              <a:solidFill>
                <a:srgbClr val="FF0000"/>
              </a:solidFill>
            </a:endParaRPr>
          </a:p>
          <a:p>
            <a:r>
              <a:rPr lang="en-US" sz="2000" b="1">
                <a:solidFill>
                  <a:srgbClr val="FF0000"/>
                </a:solidFill>
                <a:sym typeface="Wingdings" panose="05000000000000000000" pitchFamily="2" charset="2"/>
              </a:rPr>
              <a:t> </a:t>
            </a:r>
            <a:r>
              <a:rPr lang="en-US" sz="1200">
                <a:sym typeface="Wingdings" panose="05000000000000000000" pitchFamily="2" charset="2"/>
              </a:rPr>
              <a:t>Continues – time signals  time functions defined  in continuous  manner.  </a:t>
            </a:r>
            <a:r>
              <a:rPr lang="en-US" sz="1200" err="1">
                <a:sym typeface="Wingdings" panose="05000000000000000000" pitchFamily="2" charset="2"/>
              </a:rPr>
              <a:t>Eg</a:t>
            </a:r>
            <a:r>
              <a:rPr lang="en-US" sz="1200">
                <a:sym typeface="Wingdings" panose="05000000000000000000" pitchFamily="2" charset="2"/>
              </a:rPr>
              <a:t> Analog audio</a:t>
            </a:r>
            <a:endParaRPr lang="en-US" sz="2000">
              <a:sym typeface="Wingdings" panose="05000000000000000000" pitchFamily="2" charset="2"/>
            </a:endParaRPr>
          </a:p>
          <a:p>
            <a:r>
              <a:rPr lang="en-US" sz="2000">
                <a:sym typeface="Wingdings" panose="05000000000000000000" pitchFamily="2" charset="2"/>
              </a:rPr>
              <a:t> </a:t>
            </a:r>
            <a:r>
              <a:rPr lang="en-US" sz="1200">
                <a:sym typeface="Wingdings" panose="05000000000000000000" pitchFamily="2" charset="2"/>
              </a:rPr>
              <a:t>Discrete - time signals  signal samples at specific points in time. Digital audio  </a:t>
            </a:r>
          </a:p>
          <a:p>
            <a:endParaRPr lang="en-US" sz="2000" b="1"/>
          </a:p>
          <a:p>
            <a:endParaRPr lang="en-US" sz="2000"/>
          </a:p>
          <a:p>
            <a:r>
              <a:rPr lang="en-US" sz="2000" b="1">
                <a:solidFill>
                  <a:srgbClr val="FF0000"/>
                </a:solidFill>
                <a:sym typeface="Wingdings" panose="05000000000000000000" pitchFamily="2" charset="2"/>
              </a:rPr>
              <a:t>                              </a:t>
            </a:r>
            <a:endParaRPr lang="en-US" sz="2000" b="1">
              <a:solidFill>
                <a:srgbClr val="FF0000"/>
              </a:solidFill>
            </a:endParaRPr>
          </a:p>
          <a:p>
            <a:r>
              <a:rPr lang="en-US" sz="2000">
                <a:solidFill>
                  <a:srgbClr val="FF0000"/>
                </a:solidFill>
              </a:rPr>
              <a:t>   </a:t>
            </a:r>
          </a:p>
        </p:txBody>
      </p:sp>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pic>
        <p:nvPicPr>
          <p:cNvPr id="12" name="Picture 11">
            <a:extLst>
              <a:ext uri="{FF2B5EF4-FFF2-40B4-BE49-F238E27FC236}">
                <a16:creationId xmlns:a16="http://schemas.microsoft.com/office/drawing/2014/main" id="{E9E66AA5-D73D-DAA6-38BE-507BF2FA4256}"/>
              </a:ext>
            </a:extLst>
          </p:cNvPr>
          <p:cNvPicPr>
            <a:picLocks noChangeAspect="1"/>
          </p:cNvPicPr>
          <p:nvPr/>
        </p:nvPicPr>
        <p:blipFill>
          <a:blip r:embed="rId3"/>
          <a:stretch>
            <a:fillRect/>
          </a:stretch>
        </p:blipFill>
        <p:spPr>
          <a:xfrm>
            <a:off x="8532878" y="4144452"/>
            <a:ext cx="3454733" cy="1952430"/>
          </a:xfrm>
          <a:prstGeom prst="rect">
            <a:avLst/>
          </a:prstGeom>
        </p:spPr>
      </p:pic>
      <p:sp>
        <p:nvSpPr>
          <p:cNvPr id="13" name="Rounded Rectangle 18">
            <a:extLst>
              <a:ext uri="{FF2B5EF4-FFF2-40B4-BE49-F238E27FC236}">
                <a16:creationId xmlns:a16="http://schemas.microsoft.com/office/drawing/2014/main" id="{E0DEF935-6EBE-CE85-7430-6DD6F529FFBE}"/>
              </a:ext>
            </a:extLst>
          </p:cNvPr>
          <p:cNvSpPr/>
          <p:nvPr/>
        </p:nvSpPr>
        <p:spPr>
          <a:xfrm>
            <a:off x="4072546" y="252943"/>
            <a:ext cx="4773270"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altLang="en-US" sz="3200" b="1">
                <a:solidFill>
                  <a:srgbClr val="FF0000"/>
                </a:solidFill>
                <a:latin typeface="Calibri" panose="020F0502020204030204" pitchFamily="34" charset="0"/>
                <a:ea typeface="游明朝" panose="02020400000000000000" pitchFamily="18" charset="-128"/>
                <a:cs typeface="Times New Roman" panose="02020603050405020304" pitchFamily="18" charset="0"/>
              </a:rPr>
              <a:t>信号の種類</a:t>
            </a:r>
            <a:endParaRPr lang="en-US" sz="3200" b="1">
              <a:solidFill>
                <a:srgbClr val="FF0000"/>
              </a:solidFill>
            </a:endParaRPr>
          </a:p>
        </p:txBody>
      </p:sp>
      <p:pic>
        <p:nvPicPr>
          <p:cNvPr id="15" name="Picture 14">
            <a:extLst>
              <a:ext uri="{FF2B5EF4-FFF2-40B4-BE49-F238E27FC236}">
                <a16:creationId xmlns:a16="http://schemas.microsoft.com/office/drawing/2014/main" id="{B9A477C1-50FC-E9F3-DB09-6BE1FA1BF1BF}"/>
              </a:ext>
            </a:extLst>
          </p:cNvPr>
          <p:cNvPicPr>
            <a:picLocks noChangeAspect="1"/>
          </p:cNvPicPr>
          <p:nvPr/>
        </p:nvPicPr>
        <p:blipFill>
          <a:blip r:embed="rId4"/>
          <a:stretch>
            <a:fillRect/>
          </a:stretch>
        </p:blipFill>
        <p:spPr>
          <a:xfrm>
            <a:off x="8919301" y="1084384"/>
            <a:ext cx="3068310" cy="1974707"/>
          </a:xfrm>
          <a:prstGeom prst="rect">
            <a:avLst/>
          </a:prstGeom>
        </p:spPr>
      </p:pic>
      <p:pic>
        <p:nvPicPr>
          <p:cNvPr id="16" name="図 15"/>
          <p:cNvPicPr/>
          <p:nvPr/>
        </p:nvPicPr>
        <p:blipFill>
          <a:blip r:embed="rId5">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spTree>
    <p:extLst>
      <p:ext uri="{BB962C8B-B14F-4D97-AF65-F5344CB8AC3E}">
        <p14:creationId xmlns:p14="http://schemas.microsoft.com/office/powerpoint/2010/main" val="22028947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315028" y="464955"/>
            <a:ext cx="5335105" cy="381684"/>
          </a:xfrm>
        </p:spPr>
        <p:txBody>
          <a:bodyPr/>
          <a:lstStyle/>
          <a:p>
            <a:r>
              <a:rPr lang="en-US" sz="2800" b="1"/>
              <a:t>6</a:t>
            </a:r>
          </a:p>
        </p:txBody>
      </p:sp>
      <p:sp>
        <p:nvSpPr>
          <p:cNvPr id="5" name="TextBox 4"/>
          <p:cNvSpPr txBox="1"/>
          <p:nvPr/>
        </p:nvSpPr>
        <p:spPr>
          <a:xfrm>
            <a:off x="0" y="2081203"/>
            <a:ext cx="12192000" cy="9680086"/>
          </a:xfrm>
          <a:prstGeom prst="rect">
            <a:avLst/>
          </a:prstGeom>
          <a:noFill/>
        </p:spPr>
        <p:txBody>
          <a:bodyPr wrap="square" rtlCol="0">
            <a:spAutoFit/>
          </a:bodyPr>
          <a:lstStyle/>
          <a:p>
            <a:endParaRPr lang="en-US" sz="1000"/>
          </a:p>
          <a:p>
            <a:r>
              <a:rPr lang="en-US" altLang="ja-JP" sz="3200">
                <a:effectLst/>
                <a:latin typeface="Calibri" panose="020F0502020204030204" pitchFamily="34" charset="0"/>
                <a:ea typeface="游明朝" panose="02020400000000000000" pitchFamily="18" charset="-128"/>
                <a:cs typeface="Times New Roman" panose="02020603050405020304" pitchFamily="18" charset="0"/>
                <a:sym typeface="Wingdings" panose="05000000000000000000" pitchFamily="2" charset="2"/>
              </a:rPr>
              <a:t>  </a:t>
            </a:r>
            <a:r>
              <a:rPr lang="ja-JP" sz="3200">
                <a:effectLst/>
                <a:latin typeface="Calibri" panose="020F0502020204030204" pitchFamily="34" charset="0"/>
                <a:ea typeface="游明朝" panose="02020400000000000000" pitchFamily="18" charset="-128"/>
                <a:cs typeface="Times New Roman" panose="02020603050405020304" pitchFamily="18" charset="0"/>
              </a:rPr>
              <a:t>信号や波の周波数成分を解析するための数学的な手法です。</a:t>
            </a:r>
            <a:endParaRPr lang="en-US" sz="3200" b="1">
              <a:solidFill>
                <a:srgbClr val="FF0000"/>
              </a:solidFill>
              <a:sym typeface="Wingdings" panose="05000000000000000000" pitchFamily="2" charset="2"/>
            </a:endParaRPr>
          </a:p>
          <a:p>
            <a:endParaRPr lang="en-US" sz="2000" b="1">
              <a:solidFill>
                <a:srgbClr val="FF0000"/>
              </a:solidFill>
              <a:sym typeface="Wingdings" panose="05000000000000000000" pitchFamily="2" charset="2"/>
            </a:endParaRPr>
          </a:p>
          <a:p>
            <a:pPr marL="285750" indent="-285750">
              <a:buFont typeface="Wingdings" panose="05000000000000000000" pitchFamily="2" charset="2"/>
              <a:buChar char="à"/>
            </a:pPr>
            <a:r>
              <a:rPr lang="ja-JP" sz="3200">
                <a:effectLst/>
                <a:latin typeface="Calibri" panose="020F0502020204030204" pitchFamily="34" charset="0"/>
                <a:ea typeface="游明朝" panose="02020400000000000000" pitchFamily="18" charset="-128"/>
                <a:cs typeface="Times New Roman" panose="02020603050405020304" pitchFamily="18" charset="0"/>
              </a:rPr>
              <a:t>フーリエ変換は時間領域（</a:t>
            </a:r>
            <a:r>
              <a:rPr lang="ja-JP" sz="3200" b="1">
                <a:effectLst/>
                <a:latin typeface="Calibri" panose="020F0502020204030204" pitchFamily="34" charset="0"/>
                <a:ea typeface="游明朝" panose="02020400000000000000" pitchFamily="18" charset="-128"/>
                <a:cs typeface="Times New Roman" panose="02020603050405020304" pitchFamily="18" charset="0"/>
              </a:rPr>
              <a:t>時間に対する信号の変化</a:t>
            </a:r>
            <a:r>
              <a:rPr lang="ja-JP" sz="3200">
                <a:effectLst/>
                <a:latin typeface="Calibri" panose="020F0502020204030204" pitchFamily="34" charset="0"/>
                <a:ea typeface="游明朝" panose="02020400000000000000" pitchFamily="18" charset="-128"/>
                <a:cs typeface="Times New Roman" panose="02020603050405020304" pitchFamily="18" charset="0"/>
              </a:rPr>
              <a:t>）から</a:t>
            </a:r>
            <a:endParaRPr lang="en-US" altLang="ja-JP" sz="3200">
              <a:effectLst/>
              <a:latin typeface="Calibri" panose="020F0502020204030204" pitchFamily="34" charset="0"/>
              <a:ea typeface="游明朝" panose="02020400000000000000" pitchFamily="18" charset="-128"/>
              <a:cs typeface="Times New Roman" panose="02020603050405020304" pitchFamily="18" charset="0"/>
            </a:endParaRPr>
          </a:p>
          <a:p>
            <a:r>
              <a:rPr lang="en-US" altLang="ja-JP" sz="3200">
                <a:latin typeface="Calibri" panose="020F0502020204030204" pitchFamily="34" charset="0"/>
                <a:ea typeface="游明朝" panose="02020400000000000000" pitchFamily="18" charset="-128"/>
                <a:cs typeface="Times New Roman" panose="02020603050405020304" pitchFamily="18" charset="0"/>
              </a:rPr>
              <a:t>         </a:t>
            </a:r>
            <a:r>
              <a:rPr lang="ja-JP" sz="3200">
                <a:effectLst/>
                <a:latin typeface="Calibri" panose="020F0502020204030204" pitchFamily="34" charset="0"/>
                <a:ea typeface="游明朝" panose="02020400000000000000" pitchFamily="18" charset="-128"/>
                <a:cs typeface="Times New Roman" panose="02020603050405020304" pitchFamily="18" charset="0"/>
              </a:rPr>
              <a:t>周波数領域（</a:t>
            </a:r>
            <a:r>
              <a:rPr lang="ja-JP" sz="3200" b="1">
                <a:effectLst/>
                <a:latin typeface="Calibri" panose="020F0502020204030204" pitchFamily="34" charset="0"/>
                <a:ea typeface="游明朝" panose="02020400000000000000" pitchFamily="18" charset="-128"/>
                <a:cs typeface="Times New Roman" panose="02020603050405020304" pitchFamily="18" charset="0"/>
              </a:rPr>
              <a:t>信号の周波数成分</a:t>
            </a:r>
            <a:r>
              <a:rPr lang="ja-JP" sz="3200">
                <a:effectLst/>
                <a:latin typeface="Calibri" panose="020F0502020204030204" pitchFamily="34" charset="0"/>
                <a:ea typeface="游明朝" panose="02020400000000000000" pitchFamily="18" charset="-128"/>
                <a:cs typeface="Times New Roman" panose="02020603050405020304" pitchFamily="18" charset="0"/>
              </a:rPr>
              <a:t>）に変換するものです。</a:t>
            </a:r>
            <a:endParaRPr lang="en-US" sz="3200" b="1">
              <a:solidFill>
                <a:srgbClr val="FF0000"/>
              </a:solidFill>
              <a:sym typeface="Wingdings" panose="05000000000000000000" pitchFamily="2" charset="2"/>
            </a:endParaRPr>
          </a:p>
          <a:p>
            <a:endParaRPr lang="en-US" sz="2000" b="1">
              <a:solidFill>
                <a:srgbClr val="FF0000"/>
              </a:solidFill>
              <a:sym typeface="Wingdings" panose="05000000000000000000" pitchFamily="2" charset="2"/>
            </a:endParaRPr>
          </a:p>
          <a:p>
            <a:endParaRPr lang="en-US" sz="2000" b="1">
              <a:solidFill>
                <a:srgbClr val="FF0000"/>
              </a:solidFill>
              <a:sym typeface="Wingdings" panose="05000000000000000000" pitchFamily="2" charset="2"/>
            </a:endParaRPr>
          </a:p>
          <a:p>
            <a:endParaRPr lang="en-US" sz="2000" b="1">
              <a:solidFill>
                <a:srgbClr val="FF0000"/>
              </a:solidFill>
              <a:sym typeface="Wingdings" panose="05000000000000000000" pitchFamily="2" charset="2"/>
            </a:endParaRPr>
          </a:p>
          <a:p>
            <a:pPr marR="0" lvl="0">
              <a:lnSpc>
                <a:spcPct val="107000"/>
              </a:lnSpc>
              <a:spcBef>
                <a:spcPts val="0"/>
              </a:spcBef>
              <a:spcAft>
                <a:spcPts val="800"/>
              </a:spcAft>
            </a:pPr>
            <a:endParaRPr lang="en-US" sz="1800">
              <a:effectLst/>
              <a:latin typeface="Calibri" panose="020F0502020204030204" pitchFamily="34" charset="0"/>
              <a:ea typeface="游明朝" panose="02020400000000000000" pitchFamily="18" charset="-128"/>
              <a:cs typeface="Times New Roman" panose="02020603050405020304" pitchFamily="18" charset="0"/>
            </a:endParaRPr>
          </a:p>
          <a:p>
            <a:pPr marR="0" lvl="0">
              <a:lnSpc>
                <a:spcPct val="107000"/>
              </a:lnSpc>
              <a:spcBef>
                <a:spcPts val="0"/>
              </a:spcBef>
              <a:spcAft>
                <a:spcPts val="800"/>
              </a:spcAft>
            </a:pPr>
            <a:endParaRPr lang="en-US">
              <a:latin typeface="Calibri" panose="020F0502020204030204" pitchFamily="34" charset="0"/>
              <a:ea typeface="游明朝" panose="02020400000000000000" pitchFamily="18" charset="-128"/>
              <a:cs typeface="Times New Roman" panose="02020603050405020304" pitchFamily="18" charset="0"/>
            </a:endParaRPr>
          </a:p>
          <a:p>
            <a:pPr marR="0" lvl="0">
              <a:lnSpc>
                <a:spcPct val="107000"/>
              </a:lnSpc>
              <a:spcBef>
                <a:spcPts val="0"/>
              </a:spcBef>
              <a:spcAft>
                <a:spcPts val="800"/>
              </a:spcAft>
            </a:pPr>
            <a:r>
              <a:rPr lang="en-US" sz="1400">
                <a:effectLst/>
                <a:latin typeface="Calibri" panose="020F0502020204030204" pitchFamily="34" charset="0"/>
                <a:ea typeface="游明朝" panose="02020400000000000000" pitchFamily="18" charset="-128"/>
                <a:cs typeface="Times New Roman" panose="02020603050405020304" pitchFamily="18" charset="0"/>
              </a:rPr>
              <a:t>**Periodic waves**: the Fourier transform is a technique for decomposing periodic waves into their constituent elements. As an image, consider music, which is a mixture of waves of different frequencies.</a:t>
            </a:r>
          </a:p>
          <a:p>
            <a:endParaRPr lang="en-US" sz="2000" b="1">
              <a:solidFill>
                <a:srgbClr val="FF0000"/>
              </a:solidFill>
              <a:sym typeface="Wingdings" panose="05000000000000000000" pitchFamily="2" charset="2"/>
            </a:endParaRPr>
          </a:p>
          <a:p>
            <a:r>
              <a:rPr lang="en-US" sz="2000" b="1">
                <a:solidFill>
                  <a:srgbClr val="FF0000"/>
                </a:solidFill>
                <a:sym typeface="Wingdings" panose="05000000000000000000" pitchFamily="2" charset="2"/>
              </a:rPr>
              <a:t>                                                         </a:t>
            </a:r>
            <a:endParaRPr lang="en-US" sz="2000">
              <a:solidFill>
                <a:srgbClr val="FF0000"/>
              </a:solidFill>
              <a:sym typeface="Wingdings" panose="05000000000000000000" pitchFamily="2" charset="2"/>
            </a:endParaRPr>
          </a:p>
          <a:p>
            <a:endParaRPr lang="en-US" sz="2000" b="1"/>
          </a:p>
          <a:p>
            <a:endParaRPr lang="en-US" sz="2000" b="1"/>
          </a:p>
          <a:p>
            <a:endParaRPr lang="en-US" sz="2000" b="1"/>
          </a:p>
          <a:p>
            <a:endParaRPr lang="en-US" sz="2000" b="1"/>
          </a:p>
          <a:p>
            <a:r>
              <a:rPr lang="en-US" sz="2000" b="1"/>
              <a:t>       </a:t>
            </a:r>
          </a:p>
          <a:p>
            <a:endParaRPr lang="en-US" sz="2000" b="1"/>
          </a:p>
          <a:p>
            <a:endParaRPr lang="en-US" sz="2000" b="1"/>
          </a:p>
          <a:p>
            <a:r>
              <a:rPr lang="en-US" sz="2000" b="1"/>
              <a:t>   </a:t>
            </a:r>
          </a:p>
          <a:p>
            <a:endParaRPr lang="en-US" sz="2000" b="1">
              <a:solidFill>
                <a:srgbClr val="FF0000"/>
              </a:solidFill>
            </a:endParaRPr>
          </a:p>
          <a:p>
            <a:endParaRPr lang="en-US" sz="2000" b="1">
              <a:solidFill>
                <a:srgbClr val="FF0000"/>
              </a:solidFill>
              <a:sym typeface="Wingdings" panose="05000000000000000000" pitchFamily="2" charset="2"/>
            </a:endParaRPr>
          </a:p>
          <a:p>
            <a:r>
              <a:rPr lang="en-US" sz="2000" b="1">
                <a:solidFill>
                  <a:srgbClr val="FF0000"/>
                </a:solidFill>
                <a:sym typeface="Wingdings" panose="05000000000000000000" pitchFamily="2" charset="2"/>
              </a:rPr>
              <a:t>      </a:t>
            </a:r>
            <a:endParaRPr lang="en-US" sz="2000" b="1">
              <a:solidFill>
                <a:srgbClr val="FF0000"/>
              </a:solidFill>
            </a:endParaRPr>
          </a:p>
          <a:p>
            <a:r>
              <a:rPr lang="en-US" sz="2000" b="1">
                <a:solidFill>
                  <a:srgbClr val="FF0000"/>
                </a:solidFill>
              </a:rPr>
              <a:t>  </a:t>
            </a:r>
            <a:endParaRPr lang="en-US" sz="2000" b="1"/>
          </a:p>
          <a:p>
            <a:endParaRPr lang="en-US" sz="2000" b="1"/>
          </a:p>
          <a:p>
            <a:endParaRPr lang="en-US" sz="2000" b="1">
              <a:solidFill>
                <a:srgbClr val="FF0000"/>
              </a:solidFill>
            </a:endParaRPr>
          </a:p>
          <a:p>
            <a:r>
              <a:rPr lang="en-US" sz="2000">
                <a:solidFill>
                  <a:srgbClr val="FF0000"/>
                </a:solidFill>
              </a:rPr>
              <a:t>   </a:t>
            </a:r>
          </a:p>
        </p:txBody>
      </p:sp>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18" name="Rounded Rectangle 18">
            <a:extLst>
              <a:ext uri="{FF2B5EF4-FFF2-40B4-BE49-F238E27FC236}">
                <a16:creationId xmlns:a16="http://schemas.microsoft.com/office/drawing/2014/main" id="{23A96D9D-8128-478A-A3C2-1F87CF6289ED}"/>
              </a:ext>
            </a:extLst>
          </p:cNvPr>
          <p:cNvSpPr/>
          <p:nvPr/>
        </p:nvSpPr>
        <p:spPr>
          <a:xfrm>
            <a:off x="4072546" y="252943"/>
            <a:ext cx="4773270"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ltLang="ja-JP" sz="3200" b="1">
              <a:solidFill>
                <a:srgbClr val="FF0000"/>
              </a:solidFill>
              <a:effectLst/>
              <a:latin typeface="Calibri" panose="020F0502020204030204" pitchFamily="34" charset="0"/>
              <a:ea typeface="游明朝" panose="02020400000000000000" pitchFamily="18" charset="-128"/>
              <a:cs typeface="Times New Roman" panose="02020603050405020304" pitchFamily="18" charset="0"/>
            </a:endParaRPr>
          </a:p>
          <a:p>
            <a:pPr algn="ctr"/>
            <a:r>
              <a:rPr lang="ja-JP" sz="3200">
                <a:solidFill>
                  <a:srgbClr val="FF0000"/>
                </a:solidFill>
                <a:effectLst/>
                <a:latin typeface="Calibri" panose="020F0502020204030204" pitchFamily="34" charset="0"/>
                <a:ea typeface="游明朝" panose="02020400000000000000" pitchFamily="18" charset="-128"/>
                <a:cs typeface="Times New Roman" panose="02020603050405020304" pitchFamily="18" charset="0"/>
              </a:rPr>
              <a:t>周期的な波</a:t>
            </a:r>
            <a:r>
              <a:rPr lang="ja-JP" sz="3200" b="1">
                <a:solidFill>
                  <a:srgbClr val="FF0000"/>
                </a:solidFill>
                <a:effectLst/>
                <a:latin typeface="Calibri" panose="020F0502020204030204" pitchFamily="34" charset="0"/>
                <a:ea typeface="游明朝" panose="02020400000000000000" pitchFamily="18" charset="-128"/>
                <a:cs typeface="Times New Roman" panose="02020603050405020304" pitchFamily="18" charset="0"/>
              </a:rPr>
              <a:t>は</a:t>
            </a:r>
            <a:r>
              <a:rPr lang="en-US" altLang="ja-JP" sz="3200" b="1">
                <a:solidFill>
                  <a:srgbClr val="FF0000"/>
                </a:solidFill>
                <a:effectLst/>
                <a:latin typeface="Calibri" panose="020F0502020204030204" pitchFamily="34" charset="0"/>
                <a:ea typeface="游明朝" panose="02020400000000000000" pitchFamily="18" charset="-128"/>
                <a:cs typeface="Times New Roman" panose="02020603050405020304" pitchFamily="18" charset="0"/>
              </a:rPr>
              <a:t> </a:t>
            </a:r>
            <a:endParaRPr lang="en-US" sz="3200" b="1">
              <a:solidFill>
                <a:srgbClr val="FF0000"/>
              </a:solidFill>
            </a:endParaRPr>
          </a:p>
          <a:p>
            <a:pPr algn="ctr"/>
            <a:endParaRPr lang="en-US" sz="3200">
              <a:solidFill>
                <a:srgbClr val="FF0000"/>
              </a:solidFill>
            </a:endParaRPr>
          </a:p>
        </p:txBody>
      </p:sp>
      <p:pic>
        <p:nvPicPr>
          <p:cNvPr id="2" name="Picture 1">
            <a:extLst>
              <a:ext uri="{FF2B5EF4-FFF2-40B4-BE49-F238E27FC236}">
                <a16:creationId xmlns:a16="http://schemas.microsoft.com/office/drawing/2014/main" id="{3C22EFAC-1293-BD88-BFF5-5FD83CE2E5B5}"/>
              </a:ext>
            </a:extLst>
          </p:cNvPr>
          <p:cNvPicPr>
            <a:picLocks noChangeAspect="1"/>
          </p:cNvPicPr>
          <p:nvPr/>
        </p:nvPicPr>
        <p:blipFill>
          <a:blip r:embed="rId3"/>
          <a:stretch>
            <a:fillRect/>
          </a:stretch>
        </p:blipFill>
        <p:spPr>
          <a:xfrm>
            <a:off x="8982580" y="4062792"/>
            <a:ext cx="3054418" cy="1670150"/>
          </a:xfrm>
          <a:prstGeom prst="rect">
            <a:avLst/>
          </a:prstGeom>
        </p:spPr>
      </p:pic>
      <p:pic>
        <p:nvPicPr>
          <p:cNvPr id="15" name="図 14"/>
          <p:cNvPicPr/>
          <p:nvPr/>
        </p:nvPicPr>
        <p:blipFill>
          <a:blip r:embed="rId4">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spTree>
    <p:extLst>
      <p:ext uri="{BB962C8B-B14F-4D97-AF65-F5344CB8AC3E}">
        <p14:creationId xmlns:p14="http://schemas.microsoft.com/office/powerpoint/2010/main" val="173685168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315028" y="464955"/>
            <a:ext cx="5335105" cy="381684"/>
          </a:xfrm>
        </p:spPr>
        <p:txBody>
          <a:bodyPr/>
          <a:lstStyle/>
          <a:p>
            <a:r>
              <a:rPr lang="en-US" sz="2800" b="1"/>
              <a:t>7</a:t>
            </a:r>
          </a:p>
        </p:txBody>
      </p:sp>
      <p:sp>
        <p:nvSpPr>
          <p:cNvPr id="5" name="TextBox 4"/>
          <p:cNvSpPr txBox="1"/>
          <p:nvPr/>
        </p:nvSpPr>
        <p:spPr>
          <a:xfrm>
            <a:off x="0" y="2081203"/>
            <a:ext cx="12192000" cy="9465796"/>
          </a:xfrm>
          <a:prstGeom prst="rect">
            <a:avLst/>
          </a:prstGeom>
          <a:noFill/>
        </p:spPr>
        <p:txBody>
          <a:bodyPr wrap="square" rtlCol="0">
            <a:spAutoFit/>
          </a:bodyPr>
          <a:lstStyle/>
          <a:p>
            <a:endParaRPr lang="en-US" sz="1000"/>
          </a:p>
          <a:p>
            <a:pPr marL="0" marR="0">
              <a:lnSpc>
                <a:spcPct val="107000"/>
              </a:lnSpc>
              <a:spcBef>
                <a:spcPts val="0"/>
              </a:spcBef>
              <a:spcAft>
                <a:spcPts val="800"/>
              </a:spcAft>
            </a:pPr>
            <a:r>
              <a:rPr lang="en-US" altLang="ja-JP" sz="3200">
                <a:effectLst/>
                <a:latin typeface="Calibri" panose="020F0502020204030204" pitchFamily="34" charset="0"/>
                <a:ea typeface="游明朝" panose="02020400000000000000" pitchFamily="18" charset="-128"/>
                <a:cs typeface="Times New Roman" panose="02020603050405020304" pitchFamily="18" charset="0"/>
                <a:sym typeface="Wingdings" panose="05000000000000000000" pitchFamily="2" charset="2"/>
              </a:rPr>
              <a:t></a:t>
            </a:r>
            <a:r>
              <a:rPr lang="ja-JP" sz="2800">
                <a:effectLst/>
                <a:latin typeface="Calibri" panose="020F0502020204030204" pitchFamily="34" charset="0"/>
                <a:ea typeface="游明朝" panose="02020400000000000000" pitchFamily="18" charset="-128"/>
                <a:cs typeface="Times New Roman" panose="02020603050405020304" pitchFamily="18" charset="0"/>
              </a:rPr>
              <a:t>波には周波数と振幅があります。周波数は波が</a:t>
            </a:r>
            <a:r>
              <a:rPr lang="en-US" sz="2800">
                <a:effectLst/>
                <a:latin typeface="Calibri" panose="020F0502020204030204" pitchFamily="34" charset="0"/>
                <a:ea typeface="游明朝" panose="02020400000000000000" pitchFamily="18" charset="-128"/>
                <a:cs typeface="Times New Roman" panose="02020603050405020304" pitchFamily="18" charset="0"/>
              </a:rPr>
              <a:t>1</a:t>
            </a:r>
            <a:r>
              <a:rPr lang="ja-JP" sz="2800">
                <a:effectLst/>
                <a:latin typeface="Calibri" panose="020F0502020204030204" pitchFamily="34" charset="0"/>
                <a:ea typeface="游明朝" panose="02020400000000000000" pitchFamily="18" charset="-128"/>
                <a:cs typeface="Times New Roman" panose="02020603050405020304" pitchFamily="18" charset="0"/>
              </a:rPr>
              <a:t>秒間に何回繰り返されるかを示し、振幅は波の高さを表します</a:t>
            </a:r>
            <a:r>
              <a:rPr lang="ja-JP" sz="3200">
                <a:effectLst/>
                <a:latin typeface="Calibri" panose="020F0502020204030204" pitchFamily="34" charset="0"/>
                <a:ea typeface="游明朝" panose="02020400000000000000" pitchFamily="18" charset="-128"/>
                <a:cs typeface="Times New Roman" panose="02020603050405020304" pitchFamily="18" charset="0"/>
              </a:rPr>
              <a:t>。</a:t>
            </a:r>
            <a:endParaRPr lang="en-US" sz="3200" b="1">
              <a:solidFill>
                <a:srgbClr val="FF0000"/>
              </a:solidFill>
              <a:sym typeface="Wingdings" panose="05000000000000000000" pitchFamily="2" charset="2"/>
            </a:endParaRPr>
          </a:p>
          <a:p>
            <a:endParaRPr lang="en-US" sz="2000" b="1">
              <a:solidFill>
                <a:srgbClr val="FF0000"/>
              </a:solidFill>
              <a:sym typeface="Wingdings" panose="05000000000000000000" pitchFamily="2" charset="2"/>
            </a:endParaRPr>
          </a:p>
          <a:p>
            <a:endParaRPr lang="en-US" sz="2000" b="1">
              <a:solidFill>
                <a:srgbClr val="FF0000"/>
              </a:solidFill>
              <a:sym typeface="Wingdings" panose="05000000000000000000" pitchFamily="2" charset="2"/>
            </a:endParaRPr>
          </a:p>
          <a:p>
            <a:endParaRPr lang="en-US" sz="2000" b="1">
              <a:solidFill>
                <a:srgbClr val="FF0000"/>
              </a:solidFill>
              <a:sym typeface="Wingdings" panose="05000000000000000000" pitchFamily="2" charset="2"/>
            </a:endParaRPr>
          </a:p>
          <a:p>
            <a:endParaRPr lang="en-US" sz="2000" b="1">
              <a:solidFill>
                <a:srgbClr val="FF0000"/>
              </a:solidFill>
              <a:sym typeface="Wingdings" panose="05000000000000000000" pitchFamily="2" charset="2"/>
            </a:endParaRPr>
          </a:p>
          <a:p>
            <a:pPr marR="0" lvl="0">
              <a:lnSpc>
                <a:spcPct val="107000"/>
              </a:lnSpc>
              <a:spcBef>
                <a:spcPts val="0"/>
              </a:spcBef>
              <a:spcAft>
                <a:spcPts val="800"/>
              </a:spcAft>
            </a:pPr>
            <a:endParaRPr lang="en-US">
              <a:latin typeface="Calibri" panose="020F0502020204030204" pitchFamily="34" charset="0"/>
              <a:ea typeface="游明朝" panose="02020400000000000000" pitchFamily="18" charset="-128"/>
              <a:cs typeface="Times New Roman" panose="02020603050405020304" pitchFamily="18" charset="0"/>
            </a:endParaRPr>
          </a:p>
          <a:p>
            <a:pPr marL="0" marR="0">
              <a:lnSpc>
                <a:spcPct val="107000"/>
              </a:lnSpc>
              <a:spcBef>
                <a:spcPts val="0"/>
              </a:spcBef>
              <a:spcAft>
                <a:spcPts val="800"/>
              </a:spcAft>
            </a:pPr>
            <a:endParaRPr lang="en-US" sz="1200">
              <a:effectLst/>
              <a:latin typeface="Calibri" panose="020F0502020204030204" pitchFamily="34" charset="0"/>
              <a:ea typeface="游明朝" panose="02020400000000000000" pitchFamily="18" charset="-128"/>
              <a:cs typeface="Times New Roman" panose="02020603050405020304" pitchFamily="18" charset="0"/>
            </a:endParaRPr>
          </a:p>
          <a:p>
            <a:pPr marL="0" marR="0">
              <a:lnSpc>
                <a:spcPct val="107000"/>
              </a:lnSpc>
              <a:spcBef>
                <a:spcPts val="0"/>
              </a:spcBef>
              <a:spcAft>
                <a:spcPts val="800"/>
              </a:spcAft>
            </a:pPr>
            <a:endParaRPr lang="en-US" sz="1200">
              <a:latin typeface="Calibri" panose="020F0502020204030204" pitchFamily="34" charset="0"/>
              <a:ea typeface="游明朝" panose="02020400000000000000" pitchFamily="18" charset="-128"/>
              <a:cs typeface="Times New Roman" panose="02020603050405020304" pitchFamily="18" charset="0"/>
            </a:endParaRPr>
          </a:p>
          <a:p>
            <a:pPr marL="0" marR="0">
              <a:lnSpc>
                <a:spcPct val="107000"/>
              </a:lnSpc>
              <a:spcBef>
                <a:spcPts val="0"/>
              </a:spcBef>
              <a:spcAft>
                <a:spcPts val="800"/>
              </a:spcAft>
            </a:pPr>
            <a:r>
              <a:rPr lang="en-US" sz="1200">
                <a:effectLst/>
                <a:latin typeface="Calibri" panose="020F0502020204030204" pitchFamily="34" charset="0"/>
                <a:ea typeface="游明朝" panose="02020400000000000000" pitchFamily="18" charset="-128"/>
                <a:cs typeface="Times New Roman" panose="02020603050405020304" pitchFamily="18" charset="0"/>
              </a:rPr>
              <a:t>**2. frequency and amplitude**.</a:t>
            </a:r>
          </a:p>
          <a:p>
            <a:pPr marL="0" marR="0">
              <a:lnSpc>
                <a:spcPct val="107000"/>
              </a:lnSpc>
              <a:spcBef>
                <a:spcPts val="0"/>
              </a:spcBef>
              <a:spcAft>
                <a:spcPts val="800"/>
              </a:spcAft>
            </a:pPr>
            <a:r>
              <a:rPr lang="en-US" sz="1200">
                <a:effectLst/>
                <a:latin typeface="Calibri" panose="020F0502020204030204" pitchFamily="34" charset="0"/>
                <a:ea typeface="游明朝" panose="02020400000000000000" pitchFamily="18" charset="-128"/>
                <a:cs typeface="Times New Roman" panose="02020603050405020304" pitchFamily="18" charset="0"/>
              </a:rPr>
              <a:t>Waves have a frequency and an amplitude. Frequency shows how many times a wave repeats in a second, while amplitude shows the height of the wave.</a:t>
            </a:r>
          </a:p>
          <a:p>
            <a:endParaRPr lang="en-US" sz="2000" b="1">
              <a:solidFill>
                <a:srgbClr val="FF0000"/>
              </a:solidFill>
              <a:sym typeface="Wingdings" panose="05000000000000000000" pitchFamily="2" charset="2"/>
            </a:endParaRPr>
          </a:p>
          <a:p>
            <a:r>
              <a:rPr lang="en-US" sz="2000" b="1">
                <a:solidFill>
                  <a:srgbClr val="FF0000"/>
                </a:solidFill>
                <a:sym typeface="Wingdings" panose="05000000000000000000" pitchFamily="2" charset="2"/>
              </a:rPr>
              <a:t>                                                         </a:t>
            </a:r>
            <a:endParaRPr lang="en-US" sz="2000">
              <a:solidFill>
                <a:srgbClr val="FF0000"/>
              </a:solidFill>
              <a:sym typeface="Wingdings" panose="05000000000000000000" pitchFamily="2" charset="2"/>
            </a:endParaRPr>
          </a:p>
          <a:p>
            <a:endParaRPr lang="en-US" sz="2000" b="1"/>
          </a:p>
          <a:p>
            <a:endParaRPr lang="en-US" sz="2000" b="1"/>
          </a:p>
          <a:p>
            <a:endParaRPr lang="en-US" sz="2000" b="1"/>
          </a:p>
          <a:p>
            <a:endParaRPr lang="en-US" sz="2000" b="1"/>
          </a:p>
          <a:p>
            <a:r>
              <a:rPr lang="en-US" sz="2000" b="1"/>
              <a:t>       </a:t>
            </a:r>
          </a:p>
          <a:p>
            <a:endParaRPr lang="en-US" sz="2000" b="1"/>
          </a:p>
          <a:p>
            <a:endParaRPr lang="en-US" sz="2000" b="1"/>
          </a:p>
          <a:p>
            <a:r>
              <a:rPr lang="en-US" sz="2000" b="1"/>
              <a:t>   </a:t>
            </a:r>
          </a:p>
          <a:p>
            <a:endParaRPr lang="en-US" sz="2000" b="1">
              <a:solidFill>
                <a:srgbClr val="FF0000"/>
              </a:solidFill>
            </a:endParaRPr>
          </a:p>
          <a:p>
            <a:endParaRPr lang="en-US" sz="2000" b="1">
              <a:solidFill>
                <a:srgbClr val="FF0000"/>
              </a:solidFill>
              <a:sym typeface="Wingdings" panose="05000000000000000000" pitchFamily="2" charset="2"/>
            </a:endParaRPr>
          </a:p>
          <a:p>
            <a:r>
              <a:rPr lang="en-US" sz="2000" b="1">
                <a:solidFill>
                  <a:srgbClr val="FF0000"/>
                </a:solidFill>
                <a:sym typeface="Wingdings" panose="05000000000000000000" pitchFamily="2" charset="2"/>
              </a:rPr>
              <a:t>      </a:t>
            </a:r>
            <a:endParaRPr lang="en-US" sz="2000" b="1">
              <a:solidFill>
                <a:srgbClr val="FF0000"/>
              </a:solidFill>
            </a:endParaRPr>
          </a:p>
          <a:p>
            <a:r>
              <a:rPr lang="en-US" sz="2000" b="1">
                <a:solidFill>
                  <a:srgbClr val="FF0000"/>
                </a:solidFill>
              </a:rPr>
              <a:t>  </a:t>
            </a:r>
            <a:endParaRPr lang="en-US" sz="2000" b="1"/>
          </a:p>
          <a:p>
            <a:endParaRPr lang="en-US" sz="2000" b="1"/>
          </a:p>
          <a:p>
            <a:endParaRPr lang="en-US" sz="2000" b="1">
              <a:solidFill>
                <a:srgbClr val="FF0000"/>
              </a:solidFill>
            </a:endParaRPr>
          </a:p>
          <a:p>
            <a:r>
              <a:rPr lang="en-US" sz="2000">
                <a:solidFill>
                  <a:srgbClr val="FF0000"/>
                </a:solidFill>
              </a:rPr>
              <a:t>   </a:t>
            </a:r>
          </a:p>
        </p:txBody>
      </p:sp>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18" name="Rounded Rectangle 18">
            <a:extLst>
              <a:ext uri="{FF2B5EF4-FFF2-40B4-BE49-F238E27FC236}">
                <a16:creationId xmlns:a16="http://schemas.microsoft.com/office/drawing/2014/main" id="{23A96D9D-8128-478A-A3C2-1F87CF6289ED}"/>
              </a:ext>
            </a:extLst>
          </p:cNvPr>
          <p:cNvSpPr/>
          <p:nvPr/>
        </p:nvSpPr>
        <p:spPr>
          <a:xfrm>
            <a:off x="4072546" y="252943"/>
            <a:ext cx="4773270"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sz="3200" b="1">
                <a:solidFill>
                  <a:srgbClr val="FF0000"/>
                </a:solidFill>
                <a:effectLst/>
                <a:latin typeface="Calibri" panose="020F0502020204030204" pitchFamily="34" charset="0"/>
                <a:ea typeface="游明朝" panose="02020400000000000000" pitchFamily="18" charset="-128"/>
                <a:cs typeface="Times New Roman" panose="02020603050405020304" pitchFamily="18" charset="0"/>
              </a:rPr>
              <a:t>周波数と振幅</a:t>
            </a:r>
            <a:endParaRPr lang="en-US" sz="3200" b="1">
              <a:solidFill>
                <a:srgbClr val="FF0000"/>
              </a:solidFill>
            </a:endParaRPr>
          </a:p>
        </p:txBody>
      </p:sp>
      <p:pic>
        <p:nvPicPr>
          <p:cNvPr id="7" name="Picture 6">
            <a:extLst>
              <a:ext uri="{FF2B5EF4-FFF2-40B4-BE49-F238E27FC236}">
                <a16:creationId xmlns:a16="http://schemas.microsoft.com/office/drawing/2014/main" id="{FCF1AD1B-FB71-9AB7-06F5-4485B274FE42}"/>
              </a:ext>
            </a:extLst>
          </p:cNvPr>
          <p:cNvPicPr>
            <a:picLocks noChangeAspect="1"/>
          </p:cNvPicPr>
          <p:nvPr/>
        </p:nvPicPr>
        <p:blipFill>
          <a:blip r:embed="rId3"/>
          <a:stretch>
            <a:fillRect/>
          </a:stretch>
        </p:blipFill>
        <p:spPr>
          <a:xfrm>
            <a:off x="458217" y="3429000"/>
            <a:ext cx="4305347" cy="1620376"/>
          </a:xfrm>
          <a:prstGeom prst="rect">
            <a:avLst/>
          </a:prstGeom>
        </p:spPr>
      </p:pic>
      <p:pic>
        <p:nvPicPr>
          <p:cNvPr id="15" name="Picture 14">
            <a:extLst>
              <a:ext uri="{FF2B5EF4-FFF2-40B4-BE49-F238E27FC236}">
                <a16:creationId xmlns:a16="http://schemas.microsoft.com/office/drawing/2014/main" id="{20801FBE-CED6-084C-BF37-9A32A2577891}"/>
              </a:ext>
            </a:extLst>
          </p:cNvPr>
          <p:cNvPicPr>
            <a:picLocks noChangeAspect="1"/>
          </p:cNvPicPr>
          <p:nvPr/>
        </p:nvPicPr>
        <p:blipFill>
          <a:blip r:embed="rId4"/>
          <a:stretch>
            <a:fillRect/>
          </a:stretch>
        </p:blipFill>
        <p:spPr>
          <a:xfrm>
            <a:off x="5426140" y="3281372"/>
            <a:ext cx="3156175" cy="1997320"/>
          </a:xfrm>
          <a:prstGeom prst="rect">
            <a:avLst/>
          </a:prstGeom>
        </p:spPr>
      </p:pic>
      <p:pic>
        <p:nvPicPr>
          <p:cNvPr id="17" name="Picture 16">
            <a:extLst>
              <a:ext uri="{FF2B5EF4-FFF2-40B4-BE49-F238E27FC236}">
                <a16:creationId xmlns:a16="http://schemas.microsoft.com/office/drawing/2014/main" id="{58F6EA01-580A-484C-4622-4BD66E102505}"/>
              </a:ext>
            </a:extLst>
          </p:cNvPr>
          <p:cNvPicPr>
            <a:picLocks noChangeAspect="1"/>
          </p:cNvPicPr>
          <p:nvPr/>
        </p:nvPicPr>
        <p:blipFill>
          <a:blip r:embed="rId5"/>
          <a:stretch>
            <a:fillRect/>
          </a:stretch>
        </p:blipFill>
        <p:spPr>
          <a:xfrm>
            <a:off x="9244891" y="3287492"/>
            <a:ext cx="2819862" cy="1842460"/>
          </a:xfrm>
          <a:prstGeom prst="rect">
            <a:avLst/>
          </a:prstGeom>
        </p:spPr>
      </p:pic>
      <p:pic>
        <p:nvPicPr>
          <p:cNvPr id="19" name="図 18"/>
          <p:cNvPicPr/>
          <p:nvPr/>
        </p:nvPicPr>
        <p:blipFill>
          <a:blip r:embed="rId6">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spTree>
    <p:extLst>
      <p:ext uri="{BB962C8B-B14F-4D97-AF65-F5344CB8AC3E}">
        <p14:creationId xmlns:p14="http://schemas.microsoft.com/office/powerpoint/2010/main" val="26348983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315028" y="464955"/>
            <a:ext cx="5335105" cy="381684"/>
          </a:xfrm>
        </p:spPr>
        <p:txBody>
          <a:bodyPr/>
          <a:lstStyle/>
          <a:p>
            <a:r>
              <a:rPr lang="en-US" sz="2800" b="1"/>
              <a:t>8</a:t>
            </a:r>
          </a:p>
        </p:txBody>
      </p:sp>
      <p:sp>
        <p:nvSpPr>
          <p:cNvPr id="5" name="TextBox 4"/>
          <p:cNvSpPr txBox="1"/>
          <p:nvPr/>
        </p:nvSpPr>
        <p:spPr>
          <a:xfrm>
            <a:off x="0" y="2081203"/>
            <a:ext cx="12192000" cy="9450664"/>
          </a:xfrm>
          <a:prstGeom prst="rect">
            <a:avLst/>
          </a:prstGeom>
          <a:noFill/>
        </p:spPr>
        <p:txBody>
          <a:bodyPr wrap="square" rtlCol="0">
            <a:spAutoFit/>
          </a:bodyPr>
          <a:lstStyle/>
          <a:p>
            <a:endParaRPr lang="en-US" sz="1000"/>
          </a:p>
          <a:p>
            <a:r>
              <a:rPr lang="en-US" altLang="ja-JP" sz="3200">
                <a:effectLst/>
                <a:latin typeface="Calibri" panose="020F0502020204030204" pitchFamily="34" charset="0"/>
                <a:ea typeface="游明朝" panose="02020400000000000000" pitchFamily="18" charset="-128"/>
                <a:cs typeface="Times New Roman" panose="02020603050405020304" pitchFamily="18" charset="0"/>
                <a:sym typeface="Wingdings" panose="05000000000000000000" pitchFamily="2" charset="2"/>
              </a:rPr>
              <a:t></a:t>
            </a:r>
            <a:r>
              <a:rPr lang="en-US" altLang="ja-JP" sz="2800">
                <a:effectLst/>
                <a:latin typeface="Calibri" panose="020F0502020204030204" pitchFamily="34" charset="0"/>
                <a:ea typeface="游明朝" panose="02020400000000000000" pitchFamily="18" charset="-128"/>
                <a:cs typeface="Times New Roman" panose="02020603050405020304" pitchFamily="18" charset="0"/>
                <a:sym typeface="Wingdings" panose="05000000000000000000" pitchFamily="2" charset="2"/>
              </a:rPr>
              <a:t> </a:t>
            </a:r>
            <a:r>
              <a:rPr lang="ja-JP" sz="2800">
                <a:effectLst/>
                <a:latin typeface="Calibri" panose="020F0502020204030204" pitchFamily="34" charset="0"/>
                <a:ea typeface="游明朝" panose="02020400000000000000" pitchFamily="18" charset="-128"/>
                <a:cs typeface="Times New Roman" panose="02020603050405020304" pitchFamily="18" charset="0"/>
              </a:rPr>
              <a:t>フーリエ変換は、その波がどの周波数で構成されているかを示します。</a:t>
            </a:r>
            <a:endParaRPr lang="en-US" sz="2800" b="1">
              <a:solidFill>
                <a:srgbClr val="FF0000"/>
              </a:solidFill>
              <a:sym typeface="Wingdings" panose="05000000000000000000" pitchFamily="2" charset="2"/>
            </a:endParaRPr>
          </a:p>
          <a:p>
            <a:endParaRPr lang="en-US" sz="2000" b="1">
              <a:solidFill>
                <a:srgbClr val="FF0000"/>
              </a:solidFill>
              <a:sym typeface="Wingdings" panose="05000000000000000000" pitchFamily="2" charset="2"/>
            </a:endParaRPr>
          </a:p>
          <a:p>
            <a:pPr marL="285750" indent="-285750">
              <a:buFont typeface="Wingdings" panose="05000000000000000000" pitchFamily="2" charset="2"/>
              <a:buChar char="à"/>
            </a:pPr>
            <a:r>
              <a:rPr lang="ja-JP" sz="2800">
                <a:effectLst/>
                <a:latin typeface="Calibri" panose="020F0502020204030204" pitchFamily="34" charset="0"/>
                <a:ea typeface="游明朝" panose="02020400000000000000" pitchFamily="18" charset="-128"/>
                <a:cs typeface="Times New Roman" panose="02020603050405020304" pitchFamily="18" charset="0"/>
              </a:rPr>
              <a:t>たとえば、ある音楽が低い音と高い音で構成されている場合、フーリエ変換を通じてそれぞれの周波数を分析できます。</a:t>
            </a:r>
            <a:endParaRPr lang="en-US" sz="2800" b="1">
              <a:solidFill>
                <a:srgbClr val="FF0000"/>
              </a:solidFill>
              <a:sym typeface="Wingdings" panose="05000000000000000000" pitchFamily="2" charset="2"/>
            </a:endParaRPr>
          </a:p>
          <a:p>
            <a:endParaRPr lang="en-US" sz="2000" b="1">
              <a:solidFill>
                <a:srgbClr val="FF0000"/>
              </a:solidFill>
              <a:sym typeface="Wingdings" panose="05000000000000000000" pitchFamily="2" charset="2"/>
            </a:endParaRPr>
          </a:p>
          <a:p>
            <a:endParaRPr lang="en-US" sz="2000" b="1">
              <a:solidFill>
                <a:srgbClr val="FF0000"/>
              </a:solidFill>
              <a:sym typeface="Wingdings" panose="05000000000000000000" pitchFamily="2" charset="2"/>
            </a:endParaRPr>
          </a:p>
          <a:p>
            <a:pPr marR="0" lvl="0">
              <a:lnSpc>
                <a:spcPct val="107000"/>
              </a:lnSpc>
              <a:spcBef>
                <a:spcPts val="0"/>
              </a:spcBef>
              <a:spcAft>
                <a:spcPts val="800"/>
              </a:spcAft>
            </a:pPr>
            <a:endParaRPr lang="en-US" sz="1800">
              <a:effectLst/>
              <a:latin typeface="Calibri" panose="020F0502020204030204" pitchFamily="34" charset="0"/>
              <a:ea typeface="游明朝" panose="02020400000000000000" pitchFamily="18" charset="-128"/>
              <a:cs typeface="Times New Roman" panose="02020603050405020304" pitchFamily="18" charset="0"/>
            </a:endParaRPr>
          </a:p>
          <a:p>
            <a:pPr marR="0" lvl="0">
              <a:lnSpc>
                <a:spcPct val="107000"/>
              </a:lnSpc>
              <a:spcBef>
                <a:spcPts val="0"/>
              </a:spcBef>
              <a:spcAft>
                <a:spcPts val="800"/>
              </a:spcAft>
            </a:pPr>
            <a:endParaRPr lang="en-US">
              <a:latin typeface="Calibri" panose="020F0502020204030204" pitchFamily="34" charset="0"/>
              <a:ea typeface="游明朝" panose="02020400000000000000" pitchFamily="18" charset="-128"/>
              <a:cs typeface="Times New Roman" panose="02020603050405020304" pitchFamily="18" charset="0"/>
            </a:endParaRPr>
          </a:p>
          <a:p>
            <a:pPr marL="228600" marR="0">
              <a:lnSpc>
                <a:spcPct val="107000"/>
              </a:lnSpc>
              <a:spcBef>
                <a:spcPts val="0"/>
              </a:spcBef>
              <a:spcAft>
                <a:spcPts val="800"/>
              </a:spcAft>
            </a:pPr>
            <a:endParaRPr lang="en-US">
              <a:latin typeface="Calibri" panose="020F0502020204030204" pitchFamily="34" charset="0"/>
              <a:ea typeface="游明朝" panose="02020400000000000000" pitchFamily="18" charset="-128"/>
              <a:cs typeface="Times New Roman" panose="02020603050405020304" pitchFamily="18" charset="0"/>
            </a:endParaRPr>
          </a:p>
          <a:p>
            <a:pPr marL="228600" marR="0">
              <a:lnSpc>
                <a:spcPct val="107000"/>
              </a:lnSpc>
              <a:spcBef>
                <a:spcPts val="0"/>
              </a:spcBef>
              <a:spcAft>
                <a:spcPts val="800"/>
              </a:spcAft>
            </a:pPr>
            <a:r>
              <a:rPr lang="en-US" sz="1200">
                <a:effectLst/>
                <a:latin typeface="Calibri" panose="020F0502020204030204" pitchFamily="34" charset="0"/>
                <a:ea typeface="游明朝" panose="02020400000000000000" pitchFamily="18" charset="-128"/>
                <a:cs typeface="Times New Roman" panose="02020603050405020304" pitchFamily="18" charset="0"/>
              </a:rPr>
              <a:t>**Frequency decomposition**: the Fourier transform shows which frequencies the wave is made up of. For example, if a piece of music is made up of low and high notes, you can </a:t>
            </a:r>
            <a:r>
              <a:rPr lang="en-US" sz="1200" err="1">
                <a:effectLst/>
                <a:latin typeface="Calibri" panose="020F0502020204030204" pitchFamily="34" charset="0"/>
                <a:ea typeface="游明朝" panose="02020400000000000000" pitchFamily="18" charset="-128"/>
                <a:cs typeface="Times New Roman" panose="02020603050405020304" pitchFamily="18" charset="0"/>
              </a:rPr>
              <a:t>analyse</a:t>
            </a:r>
            <a:r>
              <a:rPr lang="en-US" sz="1200">
                <a:effectLst/>
                <a:latin typeface="Calibri" panose="020F0502020204030204" pitchFamily="34" charset="0"/>
                <a:ea typeface="游明朝" panose="02020400000000000000" pitchFamily="18" charset="-128"/>
                <a:cs typeface="Times New Roman" panose="02020603050405020304" pitchFamily="18" charset="0"/>
              </a:rPr>
              <a:t> each frequency through the Fourier transform.</a:t>
            </a:r>
          </a:p>
          <a:p>
            <a:endParaRPr lang="en-US" sz="2000" b="1">
              <a:solidFill>
                <a:srgbClr val="FF0000"/>
              </a:solidFill>
              <a:sym typeface="Wingdings" panose="05000000000000000000" pitchFamily="2" charset="2"/>
            </a:endParaRPr>
          </a:p>
          <a:p>
            <a:r>
              <a:rPr lang="en-US" sz="2000" b="1">
                <a:solidFill>
                  <a:srgbClr val="FF0000"/>
                </a:solidFill>
                <a:sym typeface="Wingdings" panose="05000000000000000000" pitchFamily="2" charset="2"/>
              </a:rPr>
              <a:t>                                                         </a:t>
            </a:r>
            <a:endParaRPr lang="en-US" sz="2000">
              <a:solidFill>
                <a:srgbClr val="FF0000"/>
              </a:solidFill>
              <a:sym typeface="Wingdings" panose="05000000000000000000" pitchFamily="2" charset="2"/>
            </a:endParaRPr>
          </a:p>
          <a:p>
            <a:endParaRPr lang="en-US" sz="2000" b="1"/>
          </a:p>
          <a:p>
            <a:endParaRPr lang="en-US" sz="2000" b="1"/>
          </a:p>
          <a:p>
            <a:endParaRPr lang="en-US" sz="2000" b="1"/>
          </a:p>
          <a:p>
            <a:endParaRPr lang="en-US" sz="2000" b="1"/>
          </a:p>
          <a:p>
            <a:r>
              <a:rPr lang="en-US" sz="2000" b="1"/>
              <a:t>       </a:t>
            </a:r>
          </a:p>
          <a:p>
            <a:endParaRPr lang="en-US" sz="2000" b="1"/>
          </a:p>
          <a:p>
            <a:endParaRPr lang="en-US" sz="2000" b="1"/>
          </a:p>
          <a:p>
            <a:r>
              <a:rPr lang="en-US" sz="2000" b="1"/>
              <a:t>   </a:t>
            </a:r>
          </a:p>
          <a:p>
            <a:endParaRPr lang="en-US" sz="2000" b="1">
              <a:solidFill>
                <a:srgbClr val="FF0000"/>
              </a:solidFill>
            </a:endParaRPr>
          </a:p>
          <a:p>
            <a:endParaRPr lang="en-US" sz="2000" b="1">
              <a:solidFill>
                <a:srgbClr val="FF0000"/>
              </a:solidFill>
              <a:sym typeface="Wingdings" panose="05000000000000000000" pitchFamily="2" charset="2"/>
            </a:endParaRPr>
          </a:p>
          <a:p>
            <a:r>
              <a:rPr lang="en-US" sz="2000" b="1">
                <a:solidFill>
                  <a:srgbClr val="FF0000"/>
                </a:solidFill>
                <a:sym typeface="Wingdings" panose="05000000000000000000" pitchFamily="2" charset="2"/>
              </a:rPr>
              <a:t>      </a:t>
            </a:r>
            <a:endParaRPr lang="en-US" sz="2000" b="1">
              <a:solidFill>
                <a:srgbClr val="FF0000"/>
              </a:solidFill>
            </a:endParaRPr>
          </a:p>
          <a:p>
            <a:r>
              <a:rPr lang="en-US" sz="2000" b="1">
                <a:solidFill>
                  <a:srgbClr val="FF0000"/>
                </a:solidFill>
              </a:rPr>
              <a:t>  </a:t>
            </a:r>
            <a:endParaRPr lang="en-US" sz="2000" b="1"/>
          </a:p>
          <a:p>
            <a:endParaRPr lang="en-US" sz="2000" b="1"/>
          </a:p>
          <a:p>
            <a:endParaRPr lang="en-US" sz="2000" b="1">
              <a:solidFill>
                <a:srgbClr val="FF0000"/>
              </a:solidFill>
            </a:endParaRPr>
          </a:p>
          <a:p>
            <a:r>
              <a:rPr lang="en-US" sz="2000">
                <a:solidFill>
                  <a:srgbClr val="FF0000"/>
                </a:solidFill>
              </a:rPr>
              <a:t>   </a:t>
            </a:r>
          </a:p>
        </p:txBody>
      </p:sp>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18" name="Rounded Rectangle 18">
            <a:extLst>
              <a:ext uri="{FF2B5EF4-FFF2-40B4-BE49-F238E27FC236}">
                <a16:creationId xmlns:a16="http://schemas.microsoft.com/office/drawing/2014/main" id="{23A96D9D-8128-478A-A3C2-1F87CF6289ED}"/>
              </a:ext>
            </a:extLst>
          </p:cNvPr>
          <p:cNvSpPr/>
          <p:nvPr/>
        </p:nvSpPr>
        <p:spPr>
          <a:xfrm>
            <a:off x="4072546" y="252943"/>
            <a:ext cx="4773270"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sz="3200" b="1">
                <a:solidFill>
                  <a:srgbClr val="FF0000"/>
                </a:solidFill>
                <a:effectLst/>
                <a:latin typeface="Calibri" panose="020F0502020204030204" pitchFamily="34" charset="0"/>
                <a:ea typeface="游明朝" panose="02020400000000000000" pitchFamily="18" charset="-128"/>
                <a:cs typeface="Times New Roman" panose="02020603050405020304" pitchFamily="18" charset="0"/>
              </a:rPr>
              <a:t>周波数の分解</a:t>
            </a:r>
            <a:endParaRPr lang="en-US" sz="3200" b="1">
              <a:solidFill>
                <a:srgbClr val="FF0000"/>
              </a:solidFill>
            </a:endParaRPr>
          </a:p>
        </p:txBody>
      </p:sp>
      <p:pic>
        <p:nvPicPr>
          <p:cNvPr id="6" name="Picture 5">
            <a:extLst>
              <a:ext uri="{FF2B5EF4-FFF2-40B4-BE49-F238E27FC236}">
                <a16:creationId xmlns:a16="http://schemas.microsoft.com/office/drawing/2014/main" id="{C15EEB6F-089E-C68C-7092-E098977E1073}"/>
              </a:ext>
            </a:extLst>
          </p:cNvPr>
          <p:cNvPicPr>
            <a:picLocks noChangeAspect="1"/>
          </p:cNvPicPr>
          <p:nvPr/>
        </p:nvPicPr>
        <p:blipFill>
          <a:blip r:embed="rId3"/>
          <a:srcRect/>
          <a:stretch/>
        </p:blipFill>
        <p:spPr>
          <a:xfrm>
            <a:off x="7218375" y="3881669"/>
            <a:ext cx="4734473" cy="1881452"/>
          </a:xfrm>
          <a:prstGeom prst="rect">
            <a:avLst/>
          </a:prstGeom>
        </p:spPr>
      </p:pic>
      <p:pic>
        <p:nvPicPr>
          <p:cNvPr id="15" name="図 14"/>
          <p:cNvPicPr/>
          <p:nvPr/>
        </p:nvPicPr>
        <p:blipFill>
          <a:blip r:embed="rId4">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spTree>
    <p:extLst>
      <p:ext uri="{BB962C8B-B14F-4D97-AF65-F5344CB8AC3E}">
        <p14:creationId xmlns:p14="http://schemas.microsoft.com/office/powerpoint/2010/main" val="229106822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315028" y="464955"/>
            <a:ext cx="5335105" cy="381684"/>
          </a:xfrm>
        </p:spPr>
        <p:txBody>
          <a:bodyPr/>
          <a:lstStyle/>
          <a:p>
            <a:r>
              <a:rPr lang="en-US" sz="2800" b="1"/>
              <a:t>9</a:t>
            </a:r>
          </a:p>
        </p:txBody>
      </p:sp>
      <p:sp>
        <p:nvSpPr>
          <p:cNvPr id="5" name="TextBox 4"/>
          <p:cNvSpPr txBox="1"/>
          <p:nvPr/>
        </p:nvSpPr>
        <p:spPr>
          <a:xfrm>
            <a:off x="0" y="2081203"/>
            <a:ext cx="12192000" cy="9482596"/>
          </a:xfrm>
          <a:prstGeom prst="rect">
            <a:avLst/>
          </a:prstGeom>
          <a:noFill/>
        </p:spPr>
        <p:txBody>
          <a:bodyPr wrap="square" rtlCol="0">
            <a:spAutoFit/>
          </a:bodyPr>
          <a:lstStyle/>
          <a:p>
            <a:endParaRPr lang="en-US" sz="1000"/>
          </a:p>
          <a:p>
            <a:r>
              <a:rPr lang="en-US" altLang="ja-JP" sz="3200">
                <a:effectLst/>
                <a:latin typeface="Calibri" panose="020F0502020204030204" pitchFamily="34" charset="0"/>
                <a:ea typeface="游明朝" panose="02020400000000000000" pitchFamily="18" charset="-128"/>
                <a:cs typeface="Times New Roman" panose="02020603050405020304" pitchFamily="18" charset="0"/>
                <a:sym typeface="Wingdings" panose="05000000000000000000" pitchFamily="2" charset="2"/>
              </a:rPr>
              <a:t> </a:t>
            </a:r>
            <a:r>
              <a:rPr lang="ja-JP" sz="2800">
                <a:effectLst/>
                <a:latin typeface="Calibri" panose="020F0502020204030204" pitchFamily="34" charset="0"/>
                <a:ea typeface="游明朝" panose="02020400000000000000" pitchFamily="18" charset="-128"/>
                <a:cs typeface="Times New Roman" panose="02020603050405020304" pitchFamily="18" charset="0"/>
              </a:rPr>
              <a:t>フーリエ変換は、音声処理や画像処理、通信工学、物理学など多くの分野で応用されています。</a:t>
            </a:r>
            <a:endParaRPr lang="en-US" sz="2800" b="1">
              <a:solidFill>
                <a:srgbClr val="FF0000"/>
              </a:solidFill>
              <a:sym typeface="Wingdings" panose="05000000000000000000" pitchFamily="2" charset="2"/>
            </a:endParaRPr>
          </a:p>
          <a:p>
            <a:endParaRPr lang="en-US" sz="2000" b="1">
              <a:solidFill>
                <a:srgbClr val="FF0000"/>
              </a:solidFill>
              <a:sym typeface="Wingdings" panose="05000000000000000000" pitchFamily="2" charset="2"/>
            </a:endParaRPr>
          </a:p>
          <a:p>
            <a:pPr marL="285750" indent="-285750">
              <a:buFont typeface="Wingdings" panose="05000000000000000000" pitchFamily="2" charset="2"/>
              <a:buChar char="à"/>
            </a:pPr>
            <a:r>
              <a:rPr lang="en-US" altLang="ja-JP" sz="2800">
                <a:effectLst/>
                <a:latin typeface="Calibri" panose="020F0502020204030204" pitchFamily="34" charset="0"/>
                <a:ea typeface="游明朝" panose="02020400000000000000" pitchFamily="18" charset="-128"/>
                <a:cs typeface="Times New Roman" panose="02020603050405020304" pitchFamily="18" charset="0"/>
              </a:rPr>
              <a:t> </a:t>
            </a:r>
            <a:r>
              <a:rPr lang="ja-JP" sz="2800">
                <a:effectLst/>
                <a:latin typeface="Calibri" panose="020F0502020204030204" pitchFamily="34" charset="0"/>
                <a:ea typeface="游明朝" panose="02020400000000000000" pitchFamily="18" charset="-128"/>
                <a:cs typeface="Times New Roman" panose="02020603050405020304" pitchFamily="18" charset="0"/>
              </a:rPr>
              <a:t>例えば、音声データを周波数ごとに分解して、音楽の高音や低音を分析するのに使われます。</a:t>
            </a:r>
            <a:endParaRPr lang="en-US" sz="2800" b="1">
              <a:solidFill>
                <a:srgbClr val="FF0000"/>
              </a:solidFill>
              <a:sym typeface="Wingdings" panose="05000000000000000000" pitchFamily="2" charset="2"/>
            </a:endParaRPr>
          </a:p>
          <a:p>
            <a:endParaRPr lang="en-US" sz="2000" b="1">
              <a:solidFill>
                <a:srgbClr val="FF0000"/>
              </a:solidFill>
              <a:sym typeface="Wingdings" panose="05000000000000000000" pitchFamily="2" charset="2"/>
            </a:endParaRPr>
          </a:p>
          <a:p>
            <a:endParaRPr lang="en-US" sz="2000" b="1">
              <a:solidFill>
                <a:srgbClr val="FF0000"/>
              </a:solidFill>
              <a:sym typeface="Wingdings" panose="05000000000000000000" pitchFamily="2" charset="2"/>
            </a:endParaRPr>
          </a:p>
          <a:p>
            <a:pPr marR="0" lvl="0">
              <a:lnSpc>
                <a:spcPct val="107000"/>
              </a:lnSpc>
              <a:spcBef>
                <a:spcPts val="0"/>
              </a:spcBef>
              <a:spcAft>
                <a:spcPts val="800"/>
              </a:spcAft>
            </a:pPr>
            <a:endParaRPr lang="en-US">
              <a:latin typeface="Calibri" panose="020F0502020204030204" pitchFamily="34" charset="0"/>
              <a:ea typeface="游明朝" panose="02020400000000000000" pitchFamily="18" charset="-128"/>
              <a:cs typeface="Times New Roman" panose="02020603050405020304" pitchFamily="18" charset="0"/>
            </a:endParaRPr>
          </a:p>
          <a:p>
            <a:pPr marR="0" lvl="0">
              <a:lnSpc>
                <a:spcPct val="107000"/>
              </a:lnSpc>
              <a:spcBef>
                <a:spcPts val="0"/>
              </a:spcBef>
              <a:spcAft>
                <a:spcPts val="800"/>
              </a:spcAft>
            </a:pPr>
            <a:endParaRPr lang="en-US">
              <a:latin typeface="Calibri" panose="020F0502020204030204" pitchFamily="34" charset="0"/>
              <a:ea typeface="游明朝" panose="02020400000000000000" pitchFamily="18" charset="-128"/>
              <a:cs typeface="Times New Roman" panose="02020603050405020304" pitchFamily="18" charset="0"/>
            </a:endParaRPr>
          </a:p>
          <a:p>
            <a:pPr marL="0" marR="0">
              <a:lnSpc>
                <a:spcPct val="107000"/>
              </a:lnSpc>
              <a:spcBef>
                <a:spcPts val="0"/>
              </a:spcBef>
              <a:spcAft>
                <a:spcPts val="800"/>
              </a:spcAft>
            </a:pPr>
            <a:r>
              <a:rPr lang="en-US" sz="1200">
                <a:effectLst/>
                <a:latin typeface="Calibri" panose="020F0502020204030204" pitchFamily="34" charset="0"/>
                <a:ea typeface="游明朝" panose="02020400000000000000" pitchFamily="18" charset="-128"/>
                <a:cs typeface="Times New Roman" panose="02020603050405020304" pitchFamily="18" charset="0"/>
              </a:rPr>
              <a:t>**Applications**: the Fourier transform has applications in many fields, including speech processing, image processing, communications engineering and physics. For example, it is used to break down speech data into frequencies to </a:t>
            </a:r>
            <a:r>
              <a:rPr lang="en-US" sz="1200" err="1">
                <a:effectLst/>
                <a:latin typeface="Calibri" panose="020F0502020204030204" pitchFamily="34" charset="0"/>
                <a:ea typeface="游明朝" panose="02020400000000000000" pitchFamily="18" charset="-128"/>
                <a:cs typeface="Times New Roman" panose="02020603050405020304" pitchFamily="18" charset="0"/>
              </a:rPr>
              <a:t>analyse</a:t>
            </a:r>
            <a:r>
              <a:rPr lang="en-US" sz="1200">
                <a:effectLst/>
                <a:latin typeface="Calibri" panose="020F0502020204030204" pitchFamily="34" charset="0"/>
                <a:ea typeface="游明朝" panose="02020400000000000000" pitchFamily="18" charset="-128"/>
                <a:cs typeface="Times New Roman" panose="02020603050405020304" pitchFamily="18" charset="0"/>
              </a:rPr>
              <a:t> the highs and lows of music.</a:t>
            </a:r>
          </a:p>
          <a:p>
            <a:endParaRPr lang="en-US" sz="2000" b="1">
              <a:solidFill>
                <a:srgbClr val="FF0000"/>
              </a:solidFill>
              <a:sym typeface="Wingdings" panose="05000000000000000000" pitchFamily="2" charset="2"/>
            </a:endParaRPr>
          </a:p>
          <a:p>
            <a:r>
              <a:rPr lang="en-US" sz="2000" b="1">
                <a:solidFill>
                  <a:srgbClr val="FF0000"/>
                </a:solidFill>
                <a:sym typeface="Wingdings" panose="05000000000000000000" pitchFamily="2" charset="2"/>
              </a:rPr>
              <a:t>                                                         </a:t>
            </a:r>
            <a:endParaRPr lang="en-US" sz="2000">
              <a:solidFill>
                <a:srgbClr val="FF0000"/>
              </a:solidFill>
              <a:sym typeface="Wingdings" panose="05000000000000000000" pitchFamily="2" charset="2"/>
            </a:endParaRPr>
          </a:p>
          <a:p>
            <a:endParaRPr lang="en-US" sz="2000" b="1"/>
          </a:p>
          <a:p>
            <a:endParaRPr lang="en-US" sz="2000" b="1"/>
          </a:p>
          <a:p>
            <a:endParaRPr lang="en-US" sz="2000" b="1"/>
          </a:p>
          <a:p>
            <a:endParaRPr lang="en-US" sz="2000" b="1"/>
          </a:p>
          <a:p>
            <a:r>
              <a:rPr lang="en-US" sz="2000" b="1"/>
              <a:t>       </a:t>
            </a:r>
          </a:p>
          <a:p>
            <a:endParaRPr lang="en-US" sz="2000" b="1"/>
          </a:p>
          <a:p>
            <a:endParaRPr lang="en-US" sz="2000" b="1"/>
          </a:p>
          <a:p>
            <a:r>
              <a:rPr lang="en-US" sz="2000" b="1"/>
              <a:t>   </a:t>
            </a:r>
          </a:p>
          <a:p>
            <a:endParaRPr lang="en-US" sz="2000" b="1">
              <a:solidFill>
                <a:srgbClr val="FF0000"/>
              </a:solidFill>
            </a:endParaRPr>
          </a:p>
          <a:p>
            <a:endParaRPr lang="en-US" sz="2000" b="1">
              <a:solidFill>
                <a:srgbClr val="FF0000"/>
              </a:solidFill>
              <a:sym typeface="Wingdings" panose="05000000000000000000" pitchFamily="2" charset="2"/>
            </a:endParaRPr>
          </a:p>
          <a:p>
            <a:r>
              <a:rPr lang="en-US" sz="2000" b="1">
                <a:solidFill>
                  <a:srgbClr val="FF0000"/>
                </a:solidFill>
                <a:sym typeface="Wingdings" panose="05000000000000000000" pitchFamily="2" charset="2"/>
              </a:rPr>
              <a:t>      </a:t>
            </a:r>
            <a:endParaRPr lang="en-US" sz="2000" b="1">
              <a:solidFill>
                <a:srgbClr val="FF0000"/>
              </a:solidFill>
            </a:endParaRPr>
          </a:p>
          <a:p>
            <a:r>
              <a:rPr lang="en-US" sz="2000" b="1">
                <a:solidFill>
                  <a:srgbClr val="FF0000"/>
                </a:solidFill>
              </a:rPr>
              <a:t>  </a:t>
            </a:r>
            <a:endParaRPr lang="en-US" sz="2000" b="1"/>
          </a:p>
          <a:p>
            <a:endParaRPr lang="en-US" sz="2000" b="1"/>
          </a:p>
          <a:p>
            <a:endParaRPr lang="en-US" sz="2000" b="1">
              <a:solidFill>
                <a:srgbClr val="FF0000"/>
              </a:solidFill>
            </a:endParaRPr>
          </a:p>
          <a:p>
            <a:r>
              <a:rPr lang="en-US" sz="2000">
                <a:solidFill>
                  <a:srgbClr val="FF0000"/>
                </a:solidFill>
              </a:rPr>
              <a:t>   </a:t>
            </a:r>
          </a:p>
        </p:txBody>
      </p:sp>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18" name="Rounded Rectangle 18">
            <a:extLst>
              <a:ext uri="{FF2B5EF4-FFF2-40B4-BE49-F238E27FC236}">
                <a16:creationId xmlns:a16="http://schemas.microsoft.com/office/drawing/2014/main" id="{23A96D9D-8128-478A-A3C2-1F87CF6289ED}"/>
              </a:ext>
            </a:extLst>
          </p:cNvPr>
          <p:cNvSpPr/>
          <p:nvPr/>
        </p:nvSpPr>
        <p:spPr>
          <a:xfrm>
            <a:off x="4072546" y="252943"/>
            <a:ext cx="4773270"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sz="3200" b="1">
                <a:solidFill>
                  <a:srgbClr val="FF0000"/>
                </a:solidFill>
                <a:effectLst/>
                <a:latin typeface="Calibri" panose="020F0502020204030204" pitchFamily="34" charset="0"/>
                <a:ea typeface="游明朝" panose="02020400000000000000" pitchFamily="18" charset="-128"/>
                <a:cs typeface="Times New Roman" panose="02020603050405020304" pitchFamily="18" charset="0"/>
              </a:rPr>
              <a:t>応用</a:t>
            </a:r>
            <a:endParaRPr lang="en-US" sz="3200" b="1">
              <a:solidFill>
                <a:srgbClr val="FF0000"/>
              </a:solidFill>
            </a:endParaRPr>
          </a:p>
        </p:txBody>
      </p:sp>
      <p:pic>
        <p:nvPicPr>
          <p:cNvPr id="14" name="図 13"/>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spTree>
    <p:extLst>
      <p:ext uri="{BB962C8B-B14F-4D97-AF65-F5344CB8AC3E}">
        <p14:creationId xmlns:p14="http://schemas.microsoft.com/office/powerpoint/2010/main" val="49394337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315028" y="464955"/>
            <a:ext cx="5335105" cy="381684"/>
          </a:xfrm>
        </p:spPr>
        <p:txBody>
          <a:bodyPr/>
          <a:lstStyle/>
          <a:p>
            <a:r>
              <a:rPr lang="en-US" sz="2800" b="1"/>
              <a:t>9</a:t>
            </a:r>
          </a:p>
        </p:txBody>
      </p:sp>
      <p:sp>
        <p:nvSpPr>
          <p:cNvPr id="5" name="TextBox 4"/>
          <p:cNvSpPr txBox="1"/>
          <p:nvPr/>
        </p:nvSpPr>
        <p:spPr>
          <a:xfrm>
            <a:off x="0" y="2081203"/>
            <a:ext cx="12192000" cy="8883714"/>
          </a:xfrm>
          <a:prstGeom prst="rect">
            <a:avLst/>
          </a:prstGeom>
          <a:noFill/>
        </p:spPr>
        <p:txBody>
          <a:bodyPr wrap="square" rtlCol="0">
            <a:spAutoFit/>
          </a:bodyPr>
          <a:lstStyle/>
          <a:p>
            <a:endParaRPr lang="en-US" sz="1000"/>
          </a:p>
          <a:p>
            <a:r>
              <a:rPr lang="en-US" altLang="ja-JP" sz="3200">
                <a:effectLst/>
                <a:latin typeface="Calibri" panose="020F0502020204030204" pitchFamily="34" charset="0"/>
                <a:ea typeface="游明朝" panose="02020400000000000000" pitchFamily="18" charset="-128"/>
                <a:cs typeface="Times New Roman" panose="02020603050405020304" pitchFamily="18" charset="0"/>
                <a:sym typeface="Wingdings" panose="05000000000000000000" pitchFamily="2" charset="2"/>
              </a:rPr>
              <a:t> </a:t>
            </a:r>
            <a:r>
              <a:rPr lang="ja-JP" sz="4800" b="1">
                <a:effectLst/>
                <a:latin typeface="Calibri" panose="020F0502020204030204" pitchFamily="34" charset="0"/>
                <a:ea typeface="游明朝" panose="02020400000000000000" pitchFamily="18" charset="-128"/>
                <a:cs typeface="Times New Roman" panose="02020603050405020304" pitchFamily="18" charset="0"/>
              </a:rPr>
              <a:t>フーリエ変換は複雑な波や信号を分解して、それがどのような周波数成分でできているかを理解する手法です。</a:t>
            </a:r>
            <a:endParaRPr lang="en-US" sz="4800" b="1">
              <a:solidFill>
                <a:srgbClr val="FF0000"/>
              </a:solidFill>
              <a:sym typeface="Wingdings" panose="05000000000000000000" pitchFamily="2" charset="2"/>
            </a:endParaRPr>
          </a:p>
          <a:p>
            <a:pPr marR="0" lvl="0">
              <a:lnSpc>
                <a:spcPct val="107000"/>
              </a:lnSpc>
              <a:spcBef>
                <a:spcPts val="0"/>
              </a:spcBef>
              <a:spcAft>
                <a:spcPts val="800"/>
              </a:spcAft>
            </a:pPr>
            <a:endParaRPr lang="en-US">
              <a:latin typeface="Calibri" panose="020F0502020204030204" pitchFamily="34" charset="0"/>
              <a:ea typeface="游明朝" panose="02020400000000000000" pitchFamily="18" charset="-128"/>
              <a:cs typeface="Times New Roman" panose="02020603050405020304" pitchFamily="18" charset="0"/>
            </a:endParaRPr>
          </a:p>
          <a:p>
            <a:pPr marL="0" marR="0">
              <a:lnSpc>
                <a:spcPct val="107000"/>
              </a:lnSpc>
              <a:spcBef>
                <a:spcPts val="0"/>
              </a:spcBef>
              <a:spcAft>
                <a:spcPts val="800"/>
              </a:spcAft>
            </a:pPr>
            <a:r>
              <a:rPr lang="en-US" sz="1800">
                <a:effectLst/>
                <a:latin typeface="Calibri" panose="020F0502020204030204" pitchFamily="34" charset="0"/>
                <a:ea typeface="游明朝" panose="02020400000000000000" pitchFamily="18" charset="-128"/>
                <a:cs typeface="Times New Roman" panose="02020603050405020304" pitchFamily="18" charset="0"/>
              </a:rPr>
              <a:t> </a:t>
            </a:r>
          </a:p>
          <a:p>
            <a:pPr marL="0" marR="0">
              <a:lnSpc>
                <a:spcPct val="107000"/>
              </a:lnSpc>
              <a:spcBef>
                <a:spcPts val="0"/>
              </a:spcBef>
              <a:spcAft>
                <a:spcPts val="800"/>
              </a:spcAft>
            </a:pPr>
            <a:endParaRPr lang="en-US" sz="1800">
              <a:effectLst/>
              <a:latin typeface="Calibri" panose="020F0502020204030204" pitchFamily="34" charset="0"/>
              <a:ea typeface="游明朝" panose="02020400000000000000" pitchFamily="18" charset="-128"/>
              <a:cs typeface="Times New Roman" panose="02020603050405020304" pitchFamily="18" charset="0"/>
            </a:endParaRPr>
          </a:p>
          <a:p>
            <a:pPr marL="0" marR="0">
              <a:lnSpc>
                <a:spcPct val="107000"/>
              </a:lnSpc>
              <a:spcBef>
                <a:spcPts val="0"/>
              </a:spcBef>
              <a:spcAft>
                <a:spcPts val="800"/>
              </a:spcAft>
            </a:pPr>
            <a:r>
              <a:rPr lang="en-US" sz="1200">
                <a:effectLst/>
                <a:latin typeface="Calibri" panose="020F0502020204030204" pitchFamily="34" charset="0"/>
                <a:ea typeface="游明朝" panose="02020400000000000000" pitchFamily="18" charset="-128"/>
                <a:cs typeface="Times New Roman" panose="02020603050405020304" pitchFamily="18" charset="0"/>
              </a:rPr>
              <a:t>Simply put, the Fourier transform is a technique for decomposing complex waves or signals to understand what frequency components they are made up of.</a:t>
            </a:r>
            <a:endParaRPr lang="en-US" sz="1200" b="1">
              <a:solidFill>
                <a:srgbClr val="FF0000"/>
              </a:solidFill>
              <a:sym typeface="Wingdings" panose="05000000000000000000" pitchFamily="2" charset="2"/>
            </a:endParaRPr>
          </a:p>
          <a:p>
            <a:r>
              <a:rPr lang="en-US" sz="2000" b="1">
                <a:solidFill>
                  <a:srgbClr val="FF0000"/>
                </a:solidFill>
                <a:sym typeface="Wingdings" panose="05000000000000000000" pitchFamily="2" charset="2"/>
              </a:rPr>
              <a:t>                                                         </a:t>
            </a:r>
            <a:endParaRPr lang="en-US" sz="2000">
              <a:solidFill>
                <a:srgbClr val="FF0000"/>
              </a:solidFill>
              <a:sym typeface="Wingdings" panose="05000000000000000000" pitchFamily="2" charset="2"/>
            </a:endParaRPr>
          </a:p>
          <a:p>
            <a:endParaRPr lang="en-US" sz="2000" b="1"/>
          </a:p>
          <a:p>
            <a:endParaRPr lang="en-US" sz="2000" b="1"/>
          </a:p>
          <a:p>
            <a:endParaRPr lang="en-US" sz="2000" b="1"/>
          </a:p>
          <a:p>
            <a:endParaRPr lang="en-US" sz="2000" b="1"/>
          </a:p>
          <a:p>
            <a:r>
              <a:rPr lang="en-US" sz="2000" b="1"/>
              <a:t>       </a:t>
            </a:r>
          </a:p>
          <a:p>
            <a:endParaRPr lang="en-US" sz="2000" b="1"/>
          </a:p>
          <a:p>
            <a:endParaRPr lang="en-US" sz="2000" b="1"/>
          </a:p>
          <a:p>
            <a:r>
              <a:rPr lang="en-US" sz="2000" b="1"/>
              <a:t>   </a:t>
            </a:r>
          </a:p>
          <a:p>
            <a:endParaRPr lang="en-US" sz="2000" b="1">
              <a:solidFill>
                <a:srgbClr val="FF0000"/>
              </a:solidFill>
            </a:endParaRPr>
          </a:p>
          <a:p>
            <a:endParaRPr lang="en-US" sz="2000" b="1">
              <a:solidFill>
                <a:srgbClr val="FF0000"/>
              </a:solidFill>
              <a:sym typeface="Wingdings" panose="05000000000000000000" pitchFamily="2" charset="2"/>
            </a:endParaRPr>
          </a:p>
          <a:p>
            <a:r>
              <a:rPr lang="en-US" sz="2000" b="1">
                <a:solidFill>
                  <a:srgbClr val="FF0000"/>
                </a:solidFill>
                <a:sym typeface="Wingdings" panose="05000000000000000000" pitchFamily="2" charset="2"/>
              </a:rPr>
              <a:t>      </a:t>
            </a:r>
            <a:endParaRPr lang="en-US" sz="2000" b="1">
              <a:solidFill>
                <a:srgbClr val="FF0000"/>
              </a:solidFill>
            </a:endParaRPr>
          </a:p>
          <a:p>
            <a:r>
              <a:rPr lang="en-US" sz="2000" b="1">
                <a:solidFill>
                  <a:srgbClr val="FF0000"/>
                </a:solidFill>
              </a:rPr>
              <a:t>  </a:t>
            </a:r>
            <a:endParaRPr lang="en-US" sz="2000" b="1"/>
          </a:p>
          <a:p>
            <a:endParaRPr lang="en-US" sz="2000" b="1"/>
          </a:p>
          <a:p>
            <a:endParaRPr lang="en-US" sz="2000" b="1">
              <a:solidFill>
                <a:srgbClr val="FF0000"/>
              </a:solidFill>
            </a:endParaRPr>
          </a:p>
          <a:p>
            <a:r>
              <a:rPr lang="en-US" sz="2000">
                <a:solidFill>
                  <a:srgbClr val="FF0000"/>
                </a:solidFill>
              </a:rPr>
              <a:t>   </a:t>
            </a:r>
          </a:p>
        </p:txBody>
      </p:sp>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18" name="Rounded Rectangle 18">
            <a:extLst>
              <a:ext uri="{FF2B5EF4-FFF2-40B4-BE49-F238E27FC236}">
                <a16:creationId xmlns:a16="http://schemas.microsoft.com/office/drawing/2014/main" id="{23A96D9D-8128-478A-A3C2-1F87CF6289ED}"/>
              </a:ext>
            </a:extLst>
          </p:cNvPr>
          <p:cNvSpPr/>
          <p:nvPr/>
        </p:nvSpPr>
        <p:spPr>
          <a:xfrm>
            <a:off x="4072546" y="252943"/>
            <a:ext cx="4773270"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sz="3200" b="1">
                <a:solidFill>
                  <a:srgbClr val="FF0000"/>
                </a:solidFill>
                <a:effectLst/>
                <a:latin typeface="Calibri" panose="020F0502020204030204" pitchFamily="34" charset="0"/>
                <a:ea typeface="游明朝" panose="02020400000000000000" pitchFamily="18" charset="-128"/>
                <a:cs typeface="Times New Roman" panose="02020603050405020304" pitchFamily="18" charset="0"/>
              </a:rPr>
              <a:t>簡単に言えば</a:t>
            </a:r>
            <a:endParaRPr lang="en-US" sz="3200" b="1">
              <a:solidFill>
                <a:srgbClr val="FF0000"/>
              </a:solidFill>
            </a:endParaRPr>
          </a:p>
        </p:txBody>
      </p:sp>
      <p:pic>
        <p:nvPicPr>
          <p:cNvPr id="14" name="図 13"/>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spTree>
    <p:extLst>
      <p:ext uri="{BB962C8B-B14F-4D97-AF65-F5344CB8AC3E}">
        <p14:creationId xmlns:p14="http://schemas.microsoft.com/office/powerpoint/2010/main" val="136601956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315028" y="464955"/>
            <a:ext cx="5335105" cy="381684"/>
          </a:xfrm>
        </p:spPr>
        <p:txBody>
          <a:bodyPr/>
          <a:lstStyle/>
          <a:p>
            <a:r>
              <a:rPr lang="en-US" sz="2800" b="1"/>
              <a:t>11</a:t>
            </a:r>
          </a:p>
        </p:txBody>
      </p:sp>
      <p:sp>
        <p:nvSpPr>
          <p:cNvPr id="5" name="TextBox 4"/>
          <p:cNvSpPr txBox="1"/>
          <p:nvPr/>
        </p:nvSpPr>
        <p:spPr>
          <a:xfrm>
            <a:off x="0" y="2081203"/>
            <a:ext cx="12192000" cy="2123658"/>
          </a:xfrm>
          <a:prstGeom prst="rect">
            <a:avLst/>
          </a:prstGeom>
          <a:noFill/>
        </p:spPr>
        <p:txBody>
          <a:bodyPr wrap="square" rtlCol="0">
            <a:spAutoFit/>
          </a:bodyPr>
          <a:lstStyle/>
          <a:p>
            <a:r>
              <a:rPr lang="en-US" sz="1400"/>
              <a:t>   </a:t>
            </a:r>
            <a:r>
              <a:rPr lang="en-US" sz="2400" b="1"/>
              <a:t>  </a:t>
            </a:r>
            <a:r>
              <a:rPr lang="en-US" sz="2400" b="1">
                <a:sym typeface="Wingdings" panose="05000000000000000000" pitchFamily="2" charset="2"/>
              </a:rPr>
              <a:t>  </a:t>
            </a:r>
            <a:r>
              <a:rPr lang="en-US" altLang="ja-JP" sz="2400" b="1">
                <a:sym typeface="Wingdings" panose="05000000000000000000" pitchFamily="2" charset="2"/>
              </a:rPr>
              <a:t>IFFT - </a:t>
            </a:r>
            <a:r>
              <a:rPr lang="ja-JP" altLang="en-US" sz="2400" b="1">
                <a:sym typeface="Wingdings" panose="05000000000000000000" pitchFamily="2" charset="2"/>
              </a:rPr>
              <a:t>信号を周波数領域から時間領域に変換する。</a:t>
            </a:r>
            <a:endParaRPr lang="en-US" sz="1400"/>
          </a:p>
          <a:p>
            <a:endParaRPr lang="en-US" sz="1400"/>
          </a:p>
          <a:p>
            <a:endParaRPr lang="en-US" sz="1400"/>
          </a:p>
          <a:p>
            <a:r>
              <a:rPr lang="en-US" sz="2000" b="1">
                <a:solidFill>
                  <a:srgbClr val="FF0000"/>
                </a:solidFill>
              </a:rPr>
              <a:t> </a:t>
            </a:r>
            <a:r>
              <a:rPr lang="en-US" sz="2000"/>
              <a:t>         </a:t>
            </a:r>
            <a:r>
              <a:rPr lang="en-US" sz="1200"/>
              <a:t>IFFT – Transform the signal back to time domain from frequency domain.</a:t>
            </a:r>
          </a:p>
          <a:p>
            <a:endParaRPr lang="en-US" sz="2000" b="1"/>
          </a:p>
          <a:p>
            <a:endParaRPr lang="en-US" sz="2000" b="1"/>
          </a:p>
          <a:p>
            <a:endParaRPr lang="en-US" sz="2000" b="1"/>
          </a:p>
        </p:txBody>
      </p:sp>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18" name="Rounded Rectangle 18">
            <a:extLst>
              <a:ext uri="{FF2B5EF4-FFF2-40B4-BE49-F238E27FC236}">
                <a16:creationId xmlns:a16="http://schemas.microsoft.com/office/drawing/2014/main" id="{23A96D9D-8128-478A-A3C2-1F87CF6289ED}"/>
              </a:ext>
            </a:extLst>
          </p:cNvPr>
          <p:cNvSpPr/>
          <p:nvPr/>
        </p:nvSpPr>
        <p:spPr>
          <a:xfrm>
            <a:off x="2663144" y="187692"/>
            <a:ext cx="6451134"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altLang="en-US" sz="2800">
                <a:solidFill>
                  <a:srgbClr val="FF0000"/>
                </a:solidFill>
                <a:sym typeface="Wingdings" panose="05000000000000000000" pitchFamily="2" charset="2"/>
              </a:rPr>
              <a:t>逆フーリェ変換</a:t>
            </a:r>
            <a:endParaRPr lang="en-US" sz="2800">
              <a:solidFill>
                <a:srgbClr val="FF0000"/>
              </a:solidFill>
            </a:endParaRPr>
          </a:p>
        </p:txBody>
      </p:sp>
      <p:pic>
        <p:nvPicPr>
          <p:cNvPr id="6" name="Picture 5">
            <a:extLst>
              <a:ext uri="{FF2B5EF4-FFF2-40B4-BE49-F238E27FC236}">
                <a16:creationId xmlns:a16="http://schemas.microsoft.com/office/drawing/2014/main" id="{766A9322-02D9-C7AB-632D-7E8D0522E491}"/>
              </a:ext>
            </a:extLst>
          </p:cNvPr>
          <p:cNvPicPr>
            <a:picLocks noChangeAspect="1"/>
          </p:cNvPicPr>
          <p:nvPr/>
        </p:nvPicPr>
        <p:blipFill>
          <a:blip r:embed="rId3"/>
          <a:stretch>
            <a:fillRect/>
          </a:stretch>
        </p:blipFill>
        <p:spPr>
          <a:xfrm>
            <a:off x="195698" y="3670535"/>
            <a:ext cx="5819207" cy="2320806"/>
          </a:xfrm>
          <a:prstGeom prst="rect">
            <a:avLst/>
          </a:prstGeom>
        </p:spPr>
      </p:pic>
      <p:pic>
        <p:nvPicPr>
          <p:cNvPr id="15" name="図 14"/>
          <p:cNvPicPr/>
          <p:nvPr/>
        </p:nvPicPr>
        <p:blipFill>
          <a:blip r:embed="rId4">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spTree>
    <p:extLst>
      <p:ext uri="{BB962C8B-B14F-4D97-AF65-F5344CB8AC3E}">
        <p14:creationId xmlns:p14="http://schemas.microsoft.com/office/powerpoint/2010/main" val="327581049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315028" y="464955"/>
            <a:ext cx="5335105" cy="381684"/>
          </a:xfrm>
        </p:spPr>
        <p:txBody>
          <a:bodyPr/>
          <a:lstStyle/>
          <a:p>
            <a:r>
              <a:rPr lang="en-US" sz="2800" b="1"/>
              <a:t>12</a:t>
            </a:r>
          </a:p>
        </p:txBody>
      </p:sp>
      <p:sp>
        <p:nvSpPr>
          <p:cNvPr id="5" name="TextBox 4"/>
          <p:cNvSpPr txBox="1"/>
          <p:nvPr/>
        </p:nvSpPr>
        <p:spPr>
          <a:xfrm>
            <a:off x="0" y="2081203"/>
            <a:ext cx="12192000" cy="4893647"/>
          </a:xfrm>
          <a:prstGeom prst="rect">
            <a:avLst/>
          </a:prstGeom>
          <a:noFill/>
        </p:spPr>
        <p:txBody>
          <a:bodyPr wrap="square" rtlCol="0">
            <a:spAutoFit/>
          </a:bodyPr>
          <a:lstStyle/>
          <a:p>
            <a:r>
              <a:rPr lang="en-US" sz="1400"/>
              <a:t>   </a:t>
            </a:r>
            <a:r>
              <a:rPr lang="en-US" sz="1200">
                <a:sym typeface="Wingdings" panose="05000000000000000000" pitchFamily="2" charset="2"/>
              </a:rPr>
              <a:t> Red line (function) is a Fourier series sum of 6 harmonically related sine waves (blue lines) </a:t>
            </a:r>
          </a:p>
          <a:p>
            <a:r>
              <a:rPr lang="en-US" sz="1200">
                <a:sym typeface="Wingdings" panose="05000000000000000000" pitchFamily="2" charset="2"/>
              </a:rPr>
              <a:t>    Its Fourier transform is frequency- domain representation with the amplitudes of summed sine wave </a:t>
            </a:r>
            <a:endParaRPr lang="en-US" sz="1200"/>
          </a:p>
          <a:p>
            <a:endParaRPr lang="en-US" sz="1400" b="1"/>
          </a:p>
          <a:p>
            <a:endParaRPr lang="en-US" sz="1400" b="1"/>
          </a:p>
          <a:p>
            <a:endParaRPr lang="en-US" sz="1400"/>
          </a:p>
          <a:p>
            <a:r>
              <a:rPr lang="en-US" sz="2000" b="1">
                <a:solidFill>
                  <a:srgbClr val="FF0000"/>
                </a:solidFill>
              </a:rPr>
              <a:t> </a:t>
            </a:r>
          </a:p>
          <a:p>
            <a:endParaRPr lang="en-US" sz="2000" b="1">
              <a:solidFill>
                <a:srgbClr val="FF0000"/>
              </a:solidFill>
            </a:endParaRPr>
          </a:p>
          <a:p>
            <a:endParaRPr lang="en-US" sz="2000" b="1">
              <a:solidFill>
                <a:srgbClr val="FF0000"/>
              </a:solidFill>
            </a:endParaRPr>
          </a:p>
          <a:p>
            <a:endParaRPr lang="en-US" sz="2000" b="1">
              <a:solidFill>
                <a:srgbClr val="FF0000"/>
              </a:solidFill>
            </a:endParaRPr>
          </a:p>
          <a:p>
            <a:endParaRPr lang="en-US" sz="2000" b="1">
              <a:solidFill>
                <a:srgbClr val="FF0000"/>
              </a:solidFill>
            </a:endParaRPr>
          </a:p>
          <a:p>
            <a:endParaRPr lang="en-US" sz="2000" b="1">
              <a:solidFill>
                <a:srgbClr val="FF0000"/>
              </a:solidFill>
            </a:endParaRPr>
          </a:p>
          <a:p>
            <a:r>
              <a:rPr lang="en-US" sz="1200"/>
              <a:t>  </a:t>
            </a:r>
          </a:p>
          <a:p>
            <a:r>
              <a:rPr lang="en-US" sz="1200"/>
              <a:t> Applicability –  used for periodic signals. Signals repeats themselves over time. Sine wave, square wave</a:t>
            </a:r>
          </a:p>
          <a:p>
            <a:r>
              <a:rPr lang="en-US" sz="1200"/>
              <a:t> Representation – represents periodic signal as sum of functions each with specific frequency and </a:t>
            </a:r>
          </a:p>
          <a:p>
            <a:r>
              <a:rPr lang="en-US" sz="1200"/>
              <a:t>                              amplitude </a:t>
            </a:r>
          </a:p>
          <a:p>
            <a:r>
              <a:rPr lang="en-US" sz="1200"/>
              <a:t> Time domain  - Represents signal as sum of components in terms of time</a:t>
            </a:r>
          </a:p>
          <a:p>
            <a:r>
              <a:rPr lang="en-US" sz="1200"/>
              <a:t>  Discreteness -   Discrete frequencies with integer multiples of fundamental frequency of periodic signal. </a:t>
            </a:r>
          </a:p>
          <a:p>
            <a:endParaRPr lang="en-US" sz="1200" b="1"/>
          </a:p>
          <a:p>
            <a:endParaRPr lang="en-US" sz="2000" b="1"/>
          </a:p>
          <a:p>
            <a:endParaRPr lang="en-US" sz="2000" b="1"/>
          </a:p>
        </p:txBody>
      </p:sp>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18" name="Rounded Rectangle 18">
            <a:extLst>
              <a:ext uri="{FF2B5EF4-FFF2-40B4-BE49-F238E27FC236}">
                <a16:creationId xmlns:a16="http://schemas.microsoft.com/office/drawing/2014/main" id="{23A96D9D-8128-478A-A3C2-1F87CF6289ED}"/>
              </a:ext>
            </a:extLst>
          </p:cNvPr>
          <p:cNvSpPr/>
          <p:nvPr/>
        </p:nvSpPr>
        <p:spPr>
          <a:xfrm>
            <a:off x="3355759" y="223623"/>
            <a:ext cx="5276675"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altLang="en-US" sz="2800">
                <a:solidFill>
                  <a:srgbClr val="FF0000"/>
                </a:solidFill>
              </a:rPr>
              <a:t>フュリエ・シリーズ拡大</a:t>
            </a:r>
            <a:endParaRPr lang="en-US" sz="2800">
              <a:solidFill>
                <a:srgbClr val="FF0000"/>
              </a:solidFill>
            </a:endParaRPr>
          </a:p>
        </p:txBody>
      </p:sp>
      <p:pic>
        <p:nvPicPr>
          <p:cNvPr id="6" name="Picture 5">
            <a:extLst>
              <a:ext uri="{FF2B5EF4-FFF2-40B4-BE49-F238E27FC236}">
                <a16:creationId xmlns:a16="http://schemas.microsoft.com/office/drawing/2014/main" id="{8E272A0C-F13B-9728-3C0F-0A261EDF4D1F}"/>
              </a:ext>
            </a:extLst>
          </p:cNvPr>
          <p:cNvPicPr>
            <a:picLocks noChangeAspect="1"/>
          </p:cNvPicPr>
          <p:nvPr/>
        </p:nvPicPr>
        <p:blipFill>
          <a:blip r:embed="rId3"/>
          <a:stretch>
            <a:fillRect/>
          </a:stretch>
        </p:blipFill>
        <p:spPr>
          <a:xfrm>
            <a:off x="9018689" y="1031246"/>
            <a:ext cx="2830454" cy="2276943"/>
          </a:xfrm>
          <a:prstGeom prst="rect">
            <a:avLst/>
          </a:prstGeom>
        </p:spPr>
      </p:pic>
      <p:pic>
        <p:nvPicPr>
          <p:cNvPr id="15" name="図 14"/>
          <p:cNvPicPr/>
          <p:nvPr/>
        </p:nvPicPr>
        <p:blipFill>
          <a:blip r:embed="rId4">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spTree>
    <p:extLst>
      <p:ext uri="{BB962C8B-B14F-4D97-AF65-F5344CB8AC3E}">
        <p14:creationId xmlns:p14="http://schemas.microsoft.com/office/powerpoint/2010/main" val="195111046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315028" y="464955"/>
            <a:ext cx="5335105" cy="381684"/>
          </a:xfrm>
        </p:spPr>
        <p:txBody>
          <a:bodyPr/>
          <a:lstStyle/>
          <a:p>
            <a:r>
              <a:rPr lang="en-US" sz="2800" b="1"/>
              <a:t>13</a:t>
            </a:r>
          </a:p>
        </p:txBody>
      </p:sp>
      <p:sp>
        <p:nvSpPr>
          <p:cNvPr id="5" name="TextBox 4"/>
          <p:cNvSpPr txBox="1"/>
          <p:nvPr/>
        </p:nvSpPr>
        <p:spPr>
          <a:xfrm>
            <a:off x="0" y="2081203"/>
            <a:ext cx="12192000" cy="9174819"/>
          </a:xfrm>
          <a:prstGeom prst="rect">
            <a:avLst/>
          </a:prstGeom>
          <a:noFill/>
        </p:spPr>
        <p:txBody>
          <a:bodyPr wrap="square" rtlCol="0">
            <a:spAutoFit/>
          </a:bodyPr>
          <a:lstStyle/>
          <a:p>
            <a:endParaRPr lang="en-US" sz="1000"/>
          </a:p>
          <a:p>
            <a:r>
              <a:rPr lang="en-US" altLang="ja-JP" sz="3200">
                <a:effectLst/>
                <a:latin typeface="Calibri" panose="020F0502020204030204" pitchFamily="34" charset="0"/>
                <a:ea typeface="游明朝" panose="02020400000000000000" pitchFamily="18" charset="-128"/>
                <a:cs typeface="Times New Roman" panose="02020603050405020304" pitchFamily="18" charset="0"/>
                <a:sym typeface="Wingdings" panose="05000000000000000000" pitchFamily="2" charset="2"/>
              </a:rPr>
              <a:t> </a:t>
            </a:r>
            <a:r>
              <a:rPr lang="ja-JP" sz="2800">
                <a:effectLst/>
                <a:latin typeface="Calibri" panose="020F0502020204030204" pitchFamily="34" charset="0"/>
                <a:ea typeface="游明朝" panose="02020400000000000000" pitchFamily="18" charset="-128"/>
                <a:cs typeface="Times New Roman" panose="02020603050405020304" pitchFamily="18" charset="0"/>
              </a:rPr>
              <a:t>フーリエ変換は、音声処理や画像処理、通信工学、物理学など多くの分野で応用されています。</a:t>
            </a:r>
            <a:endParaRPr lang="en-US" sz="2800" b="1">
              <a:solidFill>
                <a:srgbClr val="FF0000"/>
              </a:solidFill>
              <a:sym typeface="Wingdings" panose="05000000000000000000" pitchFamily="2" charset="2"/>
            </a:endParaRPr>
          </a:p>
          <a:p>
            <a:endParaRPr lang="en-US" sz="2000" b="1">
              <a:solidFill>
                <a:srgbClr val="FF0000"/>
              </a:solidFill>
              <a:sym typeface="Wingdings" panose="05000000000000000000" pitchFamily="2" charset="2"/>
            </a:endParaRPr>
          </a:p>
          <a:p>
            <a:pPr marL="285750" indent="-285750">
              <a:buFont typeface="Wingdings" panose="05000000000000000000" pitchFamily="2" charset="2"/>
              <a:buChar char="à"/>
            </a:pPr>
            <a:r>
              <a:rPr lang="en-US" altLang="ja-JP" sz="2800">
                <a:effectLst/>
                <a:latin typeface="Calibri" panose="020F0502020204030204" pitchFamily="34" charset="0"/>
                <a:ea typeface="游明朝" panose="02020400000000000000" pitchFamily="18" charset="-128"/>
                <a:cs typeface="Times New Roman" panose="02020603050405020304" pitchFamily="18" charset="0"/>
              </a:rPr>
              <a:t> </a:t>
            </a:r>
            <a:r>
              <a:rPr lang="ja-JP" sz="2800">
                <a:effectLst/>
                <a:latin typeface="Calibri" panose="020F0502020204030204" pitchFamily="34" charset="0"/>
                <a:ea typeface="游明朝" panose="02020400000000000000" pitchFamily="18" charset="-128"/>
                <a:cs typeface="Times New Roman" panose="02020603050405020304" pitchFamily="18" charset="0"/>
              </a:rPr>
              <a:t>例えば、音声データを周波数ごとに分解して、音楽の高音や低音を分析するのに使われます。</a:t>
            </a:r>
            <a:endParaRPr lang="en-US" sz="2800" b="1">
              <a:solidFill>
                <a:srgbClr val="FF0000"/>
              </a:solidFill>
              <a:sym typeface="Wingdings" panose="05000000000000000000" pitchFamily="2" charset="2"/>
            </a:endParaRPr>
          </a:p>
          <a:p>
            <a:endParaRPr lang="en-US" sz="2000" b="1">
              <a:solidFill>
                <a:srgbClr val="FF0000"/>
              </a:solidFill>
              <a:sym typeface="Wingdings" panose="05000000000000000000" pitchFamily="2" charset="2"/>
            </a:endParaRPr>
          </a:p>
          <a:p>
            <a:pPr marR="0" lvl="0">
              <a:lnSpc>
                <a:spcPct val="107000"/>
              </a:lnSpc>
              <a:spcBef>
                <a:spcPts val="0"/>
              </a:spcBef>
              <a:spcAft>
                <a:spcPts val="800"/>
              </a:spcAft>
            </a:pPr>
            <a:endParaRPr lang="en-US">
              <a:latin typeface="Calibri" panose="020F0502020204030204" pitchFamily="34" charset="0"/>
              <a:ea typeface="游明朝" panose="02020400000000000000" pitchFamily="18" charset="-128"/>
              <a:cs typeface="Times New Roman" panose="02020603050405020304" pitchFamily="18" charset="0"/>
            </a:endParaRPr>
          </a:p>
          <a:p>
            <a:pPr marR="0" lvl="0">
              <a:lnSpc>
                <a:spcPct val="107000"/>
              </a:lnSpc>
              <a:spcBef>
                <a:spcPts val="0"/>
              </a:spcBef>
              <a:spcAft>
                <a:spcPts val="800"/>
              </a:spcAft>
            </a:pPr>
            <a:endParaRPr lang="en-US">
              <a:latin typeface="Calibri" panose="020F0502020204030204" pitchFamily="34" charset="0"/>
              <a:ea typeface="游明朝" panose="02020400000000000000" pitchFamily="18" charset="-128"/>
              <a:cs typeface="Times New Roman" panose="02020603050405020304" pitchFamily="18" charset="0"/>
            </a:endParaRPr>
          </a:p>
          <a:p>
            <a:pPr marL="0" marR="0">
              <a:lnSpc>
                <a:spcPct val="107000"/>
              </a:lnSpc>
              <a:spcBef>
                <a:spcPts val="0"/>
              </a:spcBef>
              <a:spcAft>
                <a:spcPts val="800"/>
              </a:spcAft>
            </a:pPr>
            <a:r>
              <a:rPr lang="en-US" sz="1200">
                <a:effectLst/>
                <a:latin typeface="Calibri" panose="020F0502020204030204" pitchFamily="34" charset="0"/>
                <a:ea typeface="游明朝" panose="02020400000000000000" pitchFamily="18" charset="-128"/>
                <a:cs typeface="Times New Roman" panose="02020603050405020304" pitchFamily="18" charset="0"/>
              </a:rPr>
              <a:t>**Applications**: the Fourier transform has applications in many fields, including speech processing, image processing, communications engineering and physics. For example, it is used to break down speech data into frequencies to </a:t>
            </a:r>
            <a:r>
              <a:rPr lang="en-US" sz="1200" err="1">
                <a:effectLst/>
                <a:latin typeface="Calibri" panose="020F0502020204030204" pitchFamily="34" charset="0"/>
                <a:ea typeface="游明朝" panose="02020400000000000000" pitchFamily="18" charset="-128"/>
                <a:cs typeface="Times New Roman" panose="02020603050405020304" pitchFamily="18" charset="0"/>
              </a:rPr>
              <a:t>analyse</a:t>
            </a:r>
            <a:r>
              <a:rPr lang="en-US" sz="1200">
                <a:effectLst/>
                <a:latin typeface="Calibri" panose="020F0502020204030204" pitchFamily="34" charset="0"/>
                <a:ea typeface="游明朝" panose="02020400000000000000" pitchFamily="18" charset="-128"/>
                <a:cs typeface="Times New Roman" panose="02020603050405020304" pitchFamily="18" charset="0"/>
              </a:rPr>
              <a:t> the highs and lows of music.</a:t>
            </a:r>
          </a:p>
          <a:p>
            <a:endParaRPr lang="en-US" sz="2000" b="1">
              <a:solidFill>
                <a:srgbClr val="FF0000"/>
              </a:solidFill>
              <a:sym typeface="Wingdings" panose="05000000000000000000" pitchFamily="2" charset="2"/>
            </a:endParaRPr>
          </a:p>
          <a:p>
            <a:r>
              <a:rPr lang="en-US" sz="2000" b="1">
                <a:solidFill>
                  <a:srgbClr val="FF0000"/>
                </a:solidFill>
                <a:sym typeface="Wingdings" panose="05000000000000000000" pitchFamily="2" charset="2"/>
              </a:rPr>
              <a:t>                                                         </a:t>
            </a:r>
            <a:endParaRPr lang="en-US" sz="2000">
              <a:solidFill>
                <a:srgbClr val="FF0000"/>
              </a:solidFill>
              <a:sym typeface="Wingdings" panose="05000000000000000000" pitchFamily="2" charset="2"/>
            </a:endParaRPr>
          </a:p>
          <a:p>
            <a:endParaRPr lang="en-US" sz="2000" b="1"/>
          </a:p>
          <a:p>
            <a:endParaRPr lang="en-US" sz="2000" b="1"/>
          </a:p>
          <a:p>
            <a:endParaRPr lang="en-US" sz="2000" b="1"/>
          </a:p>
          <a:p>
            <a:endParaRPr lang="en-US" sz="2000" b="1"/>
          </a:p>
          <a:p>
            <a:r>
              <a:rPr lang="en-US" sz="2000" b="1"/>
              <a:t>       </a:t>
            </a:r>
          </a:p>
          <a:p>
            <a:endParaRPr lang="en-US" sz="2000" b="1"/>
          </a:p>
          <a:p>
            <a:endParaRPr lang="en-US" sz="2000" b="1"/>
          </a:p>
          <a:p>
            <a:r>
              <a:rPr lang="en-US" sz="2000" b="1"/>
              <a:t>   </a:t>
            </a:r>
          </a:p>
          <a:p>
            <a:endParaRPr lang="en-US" sz="2000" b="1">
              <a:solidFill>
                <a:srgbClr val="FF0000"/>
              </a:solidFill>
            </a:endParaRPr>
          </a:p>
          <a:p>
            <a:endParaRPr lang="en-US" sz="2000" b="1">
              <a:solidFill>
                <a:srgbClr val="FF0000"/>
              </a:solidFill>
              <a:sym typeface="Wingdings" panose="05000000000000000000" pitchFamily="2" charset="2"/>
            </a:endParaRPr>
          </a:p>
          <a:p>
            <a:r>
              <a:rPr lang="en-US" sz="2000" b="1">
                <a:solidFill>
                  <a:srgbClr val="FF0000"/>
                </a:solidFill>
                <a:sym typeface="Wingdings" panose="05000000000000000000" pitchFamily="2" charset="2"/>
              </a:rPr>
              <a:t>      </a:t>
            </a:r>
            <a:endParaRPr lang="en-US" sz="2000" b="1">
              <a:solidFill>
                <a:srgbClr val="FF0000"/>
              </a:solidFill>
            </a:endParaRPr>
          </a:p>
          <a:p>
            <a:r>
              <a:rPr lang="en-US" sz="2000" b="1">
                <a:solidFill>
                  <a:srgbClr val="FF0000"/>
                </a:solidFill>
              </a:rPr>
              <a:t>  </a:t>
            </a:r>
            <a:endParaRPr lang="en-US" sz="2000" b="1"/>
          </a:p>
          <a:p>
            <a:endParaRPr lang="en-US" sz="2000" b="1"/>
          </a:p>
          <a:p>
            <a:endParaRPr lang="en-US" sz="2000" b="1">
              <a:solidFill>
                <a:srgbClr val="FF0000"/>
              </a:solidFill>
            </a:endParaRPr>
          </a:p>
          <a:p>
            <a:r>
              <a:rPr lang="en-US" sz="2000">
                <a:solidFill>
                  <a:srgbClr val="FF0000"/>
                </a:solidFill>
              </a:rPr>
              <a:t>   </a:t>
            </a:r>
          </a:p>
        </p:txBody>
      </p:sp>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18" name="Rounded Rectangle 18">
            <a:extLst>
              <a:ext uri="{FF2B5EF4-FFF2-40B4-BE49-F238E27FC236}">
                <a16:creationId xmlns:a16="http://schemas.microsoft.com/office/drawing/2014/main" id="{23A96D9D-8128-478A-A3C2-1F87CF6289ED}"/>
              </a:ext>
            </a:extLst>
          </p:cNvPr>
          <p:cNvSpPr/>
          <p:nvPr/>
        </p:nvSpPr>
        <p:spPr>
          <a:xfrm>
            <a:off x="4072546" y="252943"/>
            <a:ext cx="4773270"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sz="3200" b="1">
                <a:solidFill>
                  <a:srgbClr val="FF0000"/>
                </a:solidFill>
                <a:effectLst/>
                <a:latin typeface="Calibri" panose="020F0502020204030204" pitchFamily="34" charset="0"/>
                <a:ea typeface="游明朝" panose="02020400000000000000" pitchFamily="18" charset="-128"/>
                <a:cs typeface="Times New Roman" panose="02020603050405020304" pitchFamily="18" charset="0"/>
              </a:rPr>
              <a:t>応用</a:t>
            </a:r>
            <a:endParaRPr lang="en-US" sz="3200" b="1">
              <a:solidFill>
                <a:srgbClr val="FF0000"/>
              </a:solidFill>
            </a:endParaRPr>
          </a:p>
        </p:txBody>
      </p:sp>
      <p:pic>
        <p:nvPicPr>
          <p:cNvPr id="14" name="図 13"/>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spTree>
    <p:extLst>
      <p:ext uri="{BB962C8B-B14F-4D97-AF65-F5344CB8AC3E}">
        <p14:creationId xmlns:p14="http://schemas.microsoft.com/office/powerpoint/2010/main" val="34218894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315028" y="464955"/>
            <a:ext cx="5335105" cy="381684"/>
          </a:xfrm>
        </p:spPr>
        <p:txBody>
          <a:bodyPr/>
          <a:lstStyle/>
          <a:p>
            <a:r>
              <a:rPr lang="en-US" sz="2800" b="1"/>
              <a:t>15</a:t>
            </a:r>
          </a:p>
        </p:txBody>
      </p:sp>
      <p:sp>
        <p:nvSpPr>
          <p:cNvPr id="5" name="TextBox 4"/>
          <p:cNvSpPr txBox="1"/>
          <p:nvPr/>
        </p:nvSpPr>
        <p:spPr>
          <a:xfrm>
            <a:off x="0" y="2081203"/>
            <a:ext cx="12192000" cy="3447098"/>
          </a:xfrm>
          <a:prstGeom prst="rect">
            <a:avLst/>
          </a:prstGeom>
          <a:noFill/>
        </p:spPr>
        <p:txBody>
          <a:bodyPr wrap="square" rtlCol="0">
            <a:spAutoFit/>
          </a:bodyPr>
          <a:lstStyle/>
          <a:p>
            <a:r>
              <a:rPr lang="en-US" sz="1400"/>
              <a:t>  </a:t>
            </a:r>
            <a:endParaRPr lang="en-US" sz="2000">
              <a:solidFill>
                <a:srgbClr val="FF0000"/>
              </a:solidFill>
              <a:sym typeface="Wingdings" panose="05000000000000000000" pitchFamily="2" charset="2"/>
            </a:endParaRPr>
          </a:p>
          <a:p>
            <a:r>
              <a:rPr lang="en-US" sz="1200" b="1"/>
              <a:t>Image and Video Processing</a:t>
            </a:r>
            <a:endParaRPr lang="en-US" sz="1200">
              <a:solidFill>
                <a:srgbClr val="FF0000"/>
              </a:solidFill>
            </a:endParaRPr>
          </a:p>
          <a:p>
            <a:r>
              <a:rPr lang="en-US" sz="1200" b="1"/>
              <a:t> </a:t>
            </a:r>
            <a:r>
              <a:rPr lang="en-US" sz="1200"/>
              <a:t>Image enhancement, image compression, computer vision</a:t>
            </a:r>
          </a:p>
          <a:p>
            <a:endParaRPr lang="en-US" sz="2000" b="1"/>
          </a:p>
          <a:p>
            <a:r>
              <a:rPr lang="en-US" sz="1200" b="1"/>
              <a:t>Biomedical Signal Processing</a:t>
            </a:r>
          </a:p>
          <a:p>
            <a:r>
              <a:rPr lang="en-US" sz="1200"/>
              <a:t>  Analyzing signals from human body for medical diagnosis and monitoring. </a:t>
            </a:r>
          </a:p>
          <a:p>
            <a:endParaRPr lang="en-US" sz="2000"/>
          </a:p>
          <a:p>
            <a:endParaRPr lang="en-US" sz="2000"/>
          </a:p>
          <a:p>
            <a:endParaRPr lang="en-US" sz="2000"/>
          </a:p>
          <a:p>
            <a:endParaRPr lang="en-US" sz="1200"/>
          </a:p>
          <a:p>
            <a:r>
              <a:rPr lang="en-US" sz="1200" b="1"/>
              <a:t>Control system </a:t>
            </a:r>
          </a:p>
          <a:p>
            <a:r>
              <a:rPr lang="en-US" sz="1200" b="1"/>
              <a:t> </a:t>
            </a:r>
            <a:r>
              <a:rPr lang="en-US" sz="1200"/>
              <a:t>Using signals to control system’s behavior. Such as in robotics or automation . </a:t>
            </a:r>
          </a:p>
          <a:p>
            <a:r>
              <a:rPr lang="en-US" sz="2000" b="1">
                <a:solidFill>
                  <a:srgbClr val="FF0000"/>
                </a:solidFill>
                <a:sym typeface="Wingdings" panose="05000000000000000000" pitchFamily="2" charset="2"/>
              </a:rPr>
              <a:t>                              </a:t>
            </a:r>
            <a:endParaRPr lang="en-US" sz="2000" b="1">
              <a:solidFill>
                <a:srgbClr val="FF0000"/>
              </a:solidFill>
            </a:endParaRPr>
          </a:p>
          <a:p>
            <a:r>
              <a:rPr lang="en-US" sz="2000">
                <a:solidFill>
                  <a:srgbClr val="FF0000"/>
                </a:solidFill>
              </a:rPr>
              <a:t>   </a:t>
            </a:r>
          </a:p>
        </p:txBody>
      </p:sp>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18" name="Rounded Rectangle 18">
            <a:extLst>
              <a:ext uri="{FF2B5EF4-FFF2-40B4-BE49-F238E27FC236}">
                <a16:creationId xmlns:a16="http://schemas.microsoft.com/office/drawing/2014/main" id="{23A96D9D-8128-478A-A3C2-1F87CF6289ED}"/>
              </a:ext>
            </a:extLst>
          </p:cNvPr>
          <p:cNvSpPr/>
          <p:nvPr/>
        </p:nvSpPr>
        <p:spPr>
          <a:xfrm>
            <a:off x="0" y="1060759"/>
            <a:ext cx="2608976"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sz="3200">
                <a:solidFill>
                  <a:srgbClr val="FF0000"/>
                </a:solidFill>
              </a:rPr>
              <a:t>Applications</a:t>
            </a:r>
          </a:p>
        </p:txBody>
      </p:sp>
      <p:pic>
        <p:nvPicPr>
          <p:cNvPr id="14" name="図 13"/>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spTree>
    <p:extLst>
      <p:ext uri="{BB962C8B-B14F-4D97-AF65-F5344CB8AC3E}">
        <p14:creationId xmlns:p14="http://schemas.microsoft.com/office/powerpoint/2010/main" val="145663430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315028" y="464955"/>
            <a:ext cx="5335105" cy="381684"/>
          </a:xfrm>
        </p:spPr>
        <p:txBody>
          <a:bodyPr/>
          <a:lstStyle/>
          <a:p>
            <a:r>
              <a:rPr lang="en-US" sz="2800" b="1"/>
              <a:t>16</a:t>
            </a:r>
          </a:p>
        </p:txBody>
      </p:sp>
      <p:sp>
        <p:nvSpPr>
          <p:cNvPr id="5" name="TextBox 4"/>
          <p:cNvSpPr txBox="1"/>
          <p:nvPr/>
        </p:nvSpPr>
        <p:spPr>
          <a:xfrm>
            <a:off x="0" y="2081203"/>
            <a:ext cx="12192000" cy="9521389"/>
          </a:xfrm>
          <a:prstGeom prst="rect">
            <a:avLst/>
          </a:prstGeom>
          <a:noFill/>
        </p:spPr>
        <p:txBody>
          <a:bodyPr wrap="square" rtlCol="0">
            <a:spAutoFit/>
          </a:bodyPr>
          <a:lstStyle/>
          <a:p>
            <a:endParaRPr lang="en-US" sz="1000"/>
          </a:p>
          <a:p>
            <a:pPr marL="0" marR="0">
              <a:lnSpc>
                <a:spcPct val="107000"/>
              </a:lnSpc>
              <a:spcBef>
                <a:spcPts val="0"/>
              </a:spcBef>
              <a:spcAft>
                <a:spcPts val="800"/>
              </a:spcAft>
            </a:pPr>
            <a:r>
              <a:rPr lang="en-US" altLang="ja-JP" sz="2400">
                <a:effectLst/>
                <a:latin typeface="Calibri" panose="020F0502020204030204" pitchFamily="34" charset="0"/>
                <a:ea typeface="游明朝" panose="02020400000000000000" pitchFamily="18" charset="-128"/>
                <a:cs typeface="Times New Roman" panose="02020603050405020304" pitchFamily="18" charset="0"/>
                <a:sym typeface="Wingdings" panose="05000000000000000000" pitchFamily="2" charset="2"/>
              </a:rPr>
              <a:t> </a:t>
            </a:r>
            <a:r>
              <a:rPr lang="en-US" sz="2400">
                <a:effectLst/>
                <a:latin typeface="Calibri" panose="020F0502020204030204" pitchFamily="34" charset="0"/>
                <a:ea typeface="游明朝" panose="02020400000000000000" pitchFamily="18" charset="-128"/>
                <a:cs typeface="Times New Roman" panose="02020603050405020304" pitchFamily="18" charset="0"/>
              </a:rPr>
              <a:t> </a:t>
            </a:r>
            <a:r>
              <a:rPr lang="ja-JP" sz="2400">
                <a:effectLst/>
                <a:latin typeface="Calibri" panose="020F0502020204030204" pitchFamily="34" charset="0"/>
                <a:ea typeface="游明朝" panose="02020400000000000000" pitchFamily="18" charset="-128"/>
                <a:cs typeface="Times New Roman" panose="02020603050405020304" pitchFamily="18" charset="0"/>
              </a:rPr>
              <a:t>音の分析：音の周波数成分を調べて、その音の特徴をつかむことができます。</a:t>
            </a:r>
            <a:endParaRPr lang="en-US" sz="2400">
              <a:effectLst/>
              <a:latin typeface="Calibri" panose="020F0502020204030204" pitchFamily="34" charset="0"/>
              <a:ea typeface="游明朝" panose="02020400000000000000" pitchFamily="18" charset="-128"/>
              <a:cs typeface="Times New Roman" panose="02020603050405020304" pitchFamily="18" charset="0"/>
            </a:endParaRPr>
          </a:p>
          <a:p>
            <a:endParaRPr lang="en-US" sz="2400" b="1">
              <a:solidFill>
                <a:srgbClr val="FF0000"/>
              </a:solidFill>
              <a:sym typeface="Wingdings" panose="05000000000000000000" pitchFamily="2" charset="2"/>
            </a:endParaRPr>
          </a:p>
          <a:p>
            <a:pPr marL="285750" indent="-285750">
              <a:buFont typeface="Wingdings" panose="05000000000000000000" pitchFamily="2" charset="2"/>
              <a:buChar char="à"/>
            </a:pPr>
            <a:r>
              <a:rPr lang="en-US" altLang="ja-JP" sz="2400">
                <a:effectLst/>
                <a:latin typeface="Calibri" panose="020F0502020204030204" pitchFamily="34" charset="0"/>
                <a:ea typeface="游明朝" panose="02020400000000000000" pitchFamily="18" charset="-128"/>
                <a:cs typeface="Times New Roman" panose="02020603050405020304" pitchFamily="18" charset="0"/>
              </a:rPr>
              <a:t> </a:t>
            </a:r>
            <a:r>
              <a:rPr lang="ja-JP" sz="2400">
                <a:effectLst/>
                <a:latin typeface="Calibri" panose="020F0502020204030204" pitchFamily="34" charset="0"/>
                <a:ea typeface="游明朝" panose="02020400000000000000" pitchFamily="18" charset="-128"/>
                <a:cs typeface="Times New Roman" panose="02020603050405020304" pitchFamily="18" charset="0"/>
              </a:rPr>
              <a:t>画像の圧縮：画像の周波数成分を削除して、画像のサイズを小さくすることができます。</a:t>
            </a:r>
            <a:endParaRPr lang="en-US" altLang="ja-JP" sz="2400">
              <a:effectLst/>
              <a:latin typeface="Calibri" panose="020F0502020204030204" pitchFamily="34" charset="0"/>
              <a:ea typeface="游明朝" panose="02020400000000000000" pitchFamily="18" charset="-128"/>
              <a:cs typeface="Times New Roman" panose="02020603050405020304" pitchFamily="18" charset="0"/>
            </a:endParaRPr>
          </a:p>
          <a:p>
            <a:pPr marL="285750" indent="-285750">
              <a:buFont typeface="Wingdings" panose="05000000000000000000" pitchFamily="2" charset="2"/>
              <a:buChar char="à"/>
            </a:pPr>
            <a:endParaRPr lang="en-US" sz="2400" b="1">
              <a:solidFill>
                <a:srgbClr val="FF0000"/>
              </a:solidFill>
              <a:latin typeface="Calibri" panose="020F0502020204030204" pitchFamily="34" charset="0"/>
              <a:ea typeface="游明朝" panose="02020400000000000000" pitchFamily="18" charset="-128"/>
              <a:cs typeface="Times New Roman" panose="02020603050405020304" pitchFamily="18" charset="0"/>
              <a:sym typeface="Wingdings" panose="05000000000000000000" pitchFamily="2" charset="2"/>
            </a:endParaRPr>
          </a:p>
          <a:p>
            <a:pPr marL="285750" indent="-285750">
              <a:buFont typeface="Wingdings" panose="05000000000000000000" pitchFamily="2" charset="2"/>
              <a:buChar char="à"/>
            </a:pPr>
            <a:r>
              <a:rPr lang="ja-JP" sz="2400">
                <a:effectLst/>
                <a:latin typeface="Calibri" panose="020F0502020204030204" pitchFamily="34" charset="0"/>
                <a:ea typeface="游明朝" panose="02020400000000000000" pitchFamily="18" charset="-128"/>
                <a:cs typeface="Times New Roman" panose="02020603050405020304" pitchFamily="18" charset="0"/>
              </a:rPr>
              <a:t>信号処理：音や画像などの信号を加工するときに使われます。</a:t>
            </a:r>
            <a:endParaRPr lang="en-US" sz="2000" b="1">
              <a:solidFill>
                <a:srgbClr val="FF0000"/>
              </a:solidFill>
              <a:sym typeface="Wingdings" panose="05000000000000000000" pitchFamily="2" charset="2"/>
            </a:endParaRPr>
          </a:p>
          <a:p>
            <a:pPr marR="0" lvl="0">
              <a:lnSpc>
                <a:spcPct val="107000"/>
              </a:lnSpc>
              <a:spcBef>
                <a:spcPts val="0"/>
              </a:spcBef>
              <a:spcAft>
                <a:spcPts val="800"/>
              </a:spcAft>
            </a:pPr>
            <a:endParaRPr lang="en-US">
              <a:latin typeface="Calibri" panose="020F0502020204030204" pitchFamily="34" charset="0"/>
              <a:ea typeface="游明朝" panose="02020400000000000000" pitchFamily="18" charset="-128"/>
              <a:cs typeface="Times New Roman" panose="02020603050405020304" pitchFamily="18" charset="0"/>
            </a:endParaRPr>
          </a:p>
          <a:p>
            <a:pPr marR="0" lvl="0">
              <a:lnSpc>
                <a:spcPct val="107000"/>
              </a:lnSpc>
              <a:spcBef>
                <a:spcPts val="0"/>
              </a:spcBef>
              <a:spcAft>
                <a:spcPts val="800"/>
              </a:spcAft>
            </a:pPr>
            <a:endParaRPr lang="en-US">
              <a:latin typeface="Calibri" panose="020F0502020204030204" pitchFamily="34" charset="0"/>
              <a:ea typeface="游明朝" panose="02020400000000000000" pitchFamily="18" charset="-128"/>
              <a:cs typeface="Times New Roman" panose="02020603050405020304" pitchFamily="18" charset="0"/>
            </a:endParaRPr>
          </a:p>
          <a:p>
            <a:pPr marL="0" marR="0">
              <a:lnSpc>
                <a:spcPct val="107000"/>
              </a:lnSpc>
              <a:spcBef>
                <a:spcPts val="0"/>
              </a:spcBef>
              <a:spcAft>
                <a:spcPts val="800"/>
              </a:spcAft>
            </a:pPr>
            <a:r>
              <a:rPr lang="en-US" sz="1200">
                <a:effectLst/>
                <a:latin typeface="Calibri" panose="020F0502020204030204" pitchFamily="34" charset="0"/>
                <a:ea typeface="游明朝" panose="02020400000000000000" pitchFamily="18" charset="-128"/>
                <a:cs typeface="Times New Roman" panose="02020603050405020304" pitchFamily="18" charset="0"/>
              </a:rPr>
              <a:t>* Sound analysis: you can examine the frequency components of a sound to get a sense of its characteristics.</a:t>
            </a:r>
          </a:p>
          <a:p>
            <a:pPr marL="0" marR="0">
              <a:lnSpc>
                <a:spcPct val="107000"/>
              </a:lnSpc>
              <a:spcBef>
                <a:spcPts val="0"/>
              </a:spcBef>
              <a:spcAft>
                <a:spcPts val="800"/>
              </a:spcAft>
            </a:pPr>
            <a:r>
              <a:rPr lang="en-US" sz="1200">
                <a:effectLst/>
                <a:latin typeface="Calibri" panose="020F0502020204030204" pitchFamily="34" charset="0"/>
                <a:ea typeface="游明朝" panose="02020400000000000000" pitchFamily="18" charset="-128"/>
                <a:cs typeface="Times New Roman" panose="02020603050405020304" pitchFamily="18" charset="0"/>
              </a:rPr>
              <a:t>* Image compression: the frequency components of an image can be removed to reduce the size of the image.</a:t>
            </a:r>
          </a:p>
          <a:p>
            <a:pPr marL="0" marR="0">
              <a:lnSpc>
                <a:spcPct val="107000"/>
              </a:lnSpc>
              <a:spcBef>
                <a:spcPts val="0"/>
              </a:spcBef>
              <a:spcAft>
                <a:spcPts val="800"/>
              </a:spcAft>
            </a:pPr>
            <a:r>
              <a:rPr lang="en-US" sz="1200">
                <a:effectLst/>
                <a:latin typeface="Calibri" panose="020F0502020204030204" pitchFamily="34" charset="0"/>
                <a:ea typeface="游明朝" panose="02020400000000000000" pitchFamily="18" charset="-128"/>
                <a:cs typeface="Times New Roman" panose="02020603050405020304" pitchFamily="18" charset="0"/>
              </a:rPr>
              <a:t>* Signal processing: used to process signals such as sounds and images.</a:t>
            </a:r>
          </a:p>
          <a:p>
            <a:endParaRPr lang="en-US" sz="2000" b="1">
              <a:solidFill>
                <a:srgbClr val="FF0000"/>
              </a:solidFill>
              <a:sym typeface="Wingdings" panose="05000000000000000000" pitchFamily="2" charset="2"/>
            </a:endParaRPr>
          </a:p>
          <a:p>
            <a:r>
              <a:rPr lang="en-US" sz="2000" b="1">
                <a:solidFill>
                  <a:srgbClr val="FF0000"/>
                </a:solidFill>
                <a:sym typeface="Wingdings" panose="05000000000000000000" pitchFamily="2" charset="2"/>
              </a:rPr>
              <a:t>                                                         </a:t>
            </a:r>
            <a:endParaRPr lang="en-US" sz="2000">
              <a:solidFill>
                <a:srgbClr val="FF0000"/>
              </a:solidFill>
              <a:sym typeface="Wingdings" panose="05000000000000000000" pitchFamily="2" charset="2"/>
            </a:endParaRPr>
          </a:p>
          <a:p>
            <a:endParaRPr lang="en-US" sz="2000" b="1"/>
          </a:p>
          <a:p>
            <a:endParaRPr lang="en-US" sz="2000" b="1"/>
          </a:p>
          <a:p>
            <a:endParaRPr lang="en-US" sz="2000" b="1"/>
          </a:p>
          <a:p>
            <a:endParaRPr lang="en-US" sz="2000" b="1"/>
          </a:p>
          <a:p>
            <a:r>
              <a:rPr lang="en-US" sz="2000" b="1"/>
              <a:t>       </a:t>
            </a:r>
          </a:p>
          <a:p>
            <a:endParaRPr lang="en-US" sz="2000" b="1"/>
          </a:p>
          <a:p>
            <a:endParaRPr lang="en-US" sz="2000" b="1"/>
          </a:p>
          <a:p>
            <a:r>
              <a:rPr lang="en-US" sz="2000" b="1"/>
              <a:t>   </a:t>
            </a:r>
          </a:p>
          <a:p>
            <a:endParaRPr lang="en-US" sz="2000" b="1">
              <a:solidFill>
                <a:srgbClr val="FF0000"/>
              </a:solidFill>
            </a:endParaRPr>
          </a:p>
          <a:p>
            <a:endParaRPr lang="en-US" sz="2000" b="1">
              <a:solidFill>
                <a:srgbClr val="FF0000"/>
              </a:solidFill>
              <a:sym typeface="Wingdings" panose="05000000000000000000" pitchFamily="2" charset="2"/>
            </a:endParaRPr>
          </a:p>
          <a:p>
            <a:r>
              <a:rPr lang="en-US" sz="2000" b="1">
                <a:solidFill>
                  <a:srgbClr val="FF0000"/>
                </a:solidFill>
                <a:sym typeface="Wingdings" panose="05000000000000000000" pitchFamily="2" charset="2"/>
              </a:rPr>
              <a:t>      </a:t>
            </a:r>
            <a:endParaRPr lang="en-US" sz="2000" b="1">
              <a:solidFill>
                <a:srgbClr val="FF0000"/>
              </a:solidFill>
            </a:endParaRPr>
          </a:p>
          <a:p>
            <a:r>
              <a:rPr lang="en-US" sz="2000" b="1">
                <a:solidFill>
                  <a:srgbClr val="FF0000"/>
                </a:solidFill>
              </a:rPr>
              <a:t>  </a:t>
            </a:r>
            <a:endParaRPr lang="en-US" sz="2000" b="1"/>
          </a:p>
          <a:p>
            <a:endParaRPr lang="en-US" sz="2000" b="1"/>
          </a:p>
          <a:p>
            <a:endParaRPr lang="en-US" sz="2000" b="1">
              <a:solidFill>
                <a:srgbClr val="FF0000"/>
              </a:solidFill>
            </a:endParaRPr>
          </a:p>
          <a:p>
            <a:r>
              <a:rPr lang="en-US" sz="2000">
                <a:solidFill>
                  <a:srgbClr val="FF0000"/>
                </a:solidFill>
              </a:rPr>
              <a:t>   </a:t>
            </a:r>
          </a:p>
        </p:txBody>
      </p:sp>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18" name="Rounded Rectangle 18">
            <a:extLst>
              <a:ext uri="{FF2B5EF4-FFF2-40B4-BE49-F238E27FC236}">
                <a16:creationId xmlns:a16="http://schemas.microsoft.com/office/drawing/2014/main" id="{23A96D9D-8128-478A-A3C2-1F87CF6289ED}"/>
              </a:ext>
            </a:extLst>
          </p:cNvPr>
          <p:cNvSpPr/>
          <p:nvPr/>
        </p:nvSpPr>
        <p:spPr>
          <a:xfrm>
            <a:off x="4072546" y="252943"/>
            <a:ext cx="4773270"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ja-JP" sz="3200" b="1">
                <a:solidFill>
                  <a:srgbClr val="FF0000"/>
                </a:solidFill>
                <a:effectLst/>
                <a:latin typeface="Calibri" panose="020F0502020204030204" pitchFamily="34" charset="0"/>
                <a:ea typeface="游明朝" panose="02020400000000000000" pitchFamily="18" charset="-128"/>
                <a:cs typeface="Times New Roman" panose="02020603050405020304" pitchFamily="18" charset="0"/>
              </a:rPr>
              <a:t>フーリエ変換の使い方</a:t>
            </a:r>
            <a:endParaRPr lang="en-US" sz="3200" b="1">
              <a:solidFill>
                <a:srgbClr val="FF0000"/>
              </a:solidFill>
            </a:endParaRPr>
          </a:p>
        </p:txBody>
      </p:sp>
      <p:pic>
        <p:nvPicPr>
          <p:cNvPr id="14" name="図 13"/>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spTree>
    <p:extLst>
      <p:ext uri="{BB962C8B-B14F-4D97-AF65-F5344CB8AC3E}">
        <p14:creationId xmlns:p14="http://schemas.microsoft.com/office/powerpoint/2010/main" val="83466456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315028" y="464955"/>
            <a:ext cx="5335105" cy="381684"/>
          </a:xfrm>
        </p:spPr>
        <p:txBody>
          <a:bodyPr/>
          <a:lstStyle/>
          <a:p>
            <a:r>
              <a:rPr lang="en-US" sz="2800" b="1"/>
              <a:t>17</a:t>
            </a:r>
          </a:p>
        </p:txBody>
      </p:sp>
      <p:sp>
        <p:nvSpPr>
          <p:cNvPr id="5" name="TextBox 4"/>
          <p:cNvSpPr txBox="1"/>
          <p:nvPr/>
        </p:nvSpPr>
        <p:spPr>
          <a:xfrm>
            <a:off x="0" y="2081203"/>
            <a:ext cx="12192000" cy="3385542"/>
          </a:xfrm>
          <a:prstGeom prst="rect">
            <a:avLst/>
          </a:prstGeom>
          <a:noFill/>
        </p:spPr>
        <p:txBody>
          <a:bodyPr wrap="square" rtlCol="0">
            <a:spAutoFit/>
          </a:bodyPr>
          <a:lstStyle/>
          <a:p>
            <a:r>
              <a:rPr lang="en-US" sz="1400"/>
              <a:t>  </a:t>
            </a:r>
            <a:r>
              <a:rPr lang="en-US" sz="1200" b="1"/>
              <a:t>Online Streaming  </a:t>
            </a:r>
            <a:endParaRPr lang="en-US" sz="1200"/>
          </a:p>
          <a:p>
            <a:r>
              <a:rPr lang="en-US" sz="1200" b="1">
                <a:solidFill>
                  <a:srgbClr val="FF0000"/>
                </a:solidFill>
              </a:rPr>
              <a:t> </a:t>
            </a:r>
            <a:r>
              <a:rPr lang="en-US" sz="1200">
                <a:sym typeface="Wingdings" panose="05000000000000000000" pitchFamily="2" charset="2"/>
              </a:rPr>
              <a:t>FFT in a streaming allows continuous data arriving and processed in real time. </a:t>
            </a:r>
          </a:p>
          <a:p>
            <a:r>
              <a:rPr lang="en-US" sz="1200">
                <a:sym typeface="Wingdings" panose="05000000000000000000" pitchFamily="2" charset="2"/>
              </a:rPr>
              <a:t>  Audio and Video streaming </a:t>
            </a:r>
          </a:p>
          <a:p>
            <a:endParaRPr lang="en-US" sz="2000">
              <a:sym typeface="Wingdings" panose="05000000000000000000" pitchFamily="2" charset="2"/>
            </a:endParaRPr>
          </a:p>
          <a:p>
            <a:endParaRPr lang="en-US" sz="2000">
              <a:sym typeface="Wingdings" panose="05000000000000000000" pitchFamily="2" charset="2"/>
            </a:endParaRPr>
          </a:p>
          <a:p>
            <a:endParaRPr lang="en-US" sz="2000">
              <a:sym typeface="Wingdings" panose="05000000000000000000" pitchFamily="2" charset="2"/>
            </a:endParaRPr>
          </a:p>
          <a:p>
            <a:endParaRPr lang="en-US" sz="2000">
              <a:sym typeface="Wingdings" panose="05000000000000000000" pitchFamily="2" charset="2"/>
            </a:endParaRPr>
          </a:p>
          <a:p>
            <a:endParaRPr lang="en-US" sz="1200">
              <a:sym typeface="Wingdings" panose="05000000000000000000" pitchFamily="2" charset="2"/>
            </a:endParaRPr>
          </a:p>
          <a:p>
            <a:r>
              <a:rPr lang="en-US" sz="1200">
                <a:sym typeface="Wingdings" panose="05000000000000000000" pitchFamily="2" charset="2"/>
              </a:rPr>
              <a:t> </a:t>
            </a:r>
            <a:r>
              <a:rPr lang="en-US" sz="1200" b="1"/>
              <a:t>Cooley – Tukey Algorithm</a:t>
            </a:r>
            <a:endParaRPr lang="en-US" sz="1200">
              <a:sym typeface="Wingdings" panose="05000000000000000000" pitchFamily="2" charset="2"/>
            </a:endParaRPr>
          </a:p>
          <a:p>
            <a:r>
              <a:rPr lang="en-US" sz="1200">
                <a:sym typeface="Wingdings" panose="05000000000000000000" pitchFamily="2" charset="2"/>
              </a:rPr>
              <a:t> Audio compression, noise reduction , special effects.   </a:t>
            </a:r>
          </a:p>
          <a:p>
            <a:r>
              <a:rPr lang="en-US" sz="2000"/>
              <a:t> </a:t>
            </a:r>
          </a:p>
          <a:p>
            <a:r>
              <a:rPr lang="en-US" sz="2000" b="1">
                <a:solidFill>
                  <a:srgbClr val="FF0000"/>
                </a:solidFill>
                <a:sym typeface="Wingdings" panose="05000000000000000000" pitchFamily="2" charset="2"/>
              </a:rPr>
              <a:t>                              </a:t>
            </a:r>
            <a:endParaRPr lang="en-US" sz="2000" b="1">
              <a:solidFill>
                <a:srgbClr val="FF0000"/>
              </a:solidFill>
            </a:endParaRPr>
          </a:p>
          <a:p>
            <a:r>
              <a:rPr lang="en-US" sz="2000">
                <a:solidFill>
                  <a:srgbClr val="FF0000"/>
                </a:solidFill>
              </a:rPr>
              <a:t>   </a:t>
            </a:r>
          </a:p>
        </p:txBody>
      </p:sp>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18" name="Rounded Rectangle 18">
            <a:extLst>
              <a:ext uri="{FF2B5EF4-FFF2-40B4-BE49-F238E27FC236}">
                <a16:creationId xmlns:a16="http://schemas.microsoft.com/office/drawing/2014/main" id="{23A96D9D-8128-478A-A3C2-1F87CF6289ED}"/>
              </a:ext>
            </a:extLst>
          </p:cNvPr>
          <p:cNvSpPr/>
          <p:nvPr/>
        </p:nvSpPr>
        <p:spPr>
          <a:xfrm>
            <a:off x="0" y="1060759"/>
            <a:ext cx="3305262"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sz="3200">
                <a:solidFill>
                  <a:srgbClr val="FF0000"/>
                </a:solidFill>
              </a:rPr>
              <a:t>FFT INOVATIONS </a:t>
            </a:r>
          </a:p>
        </p:txBody>
      </p:sp>
      <p:pic>
        <p:nvPicPr>
          <p:cNvPr id="14" name="図 13"/>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spTree>
    <p:extLst>
      <p:ext uri="{BB962C8B-B14F-4D97-AF65-F5344CB8AC3E}">
        <p14:creationId xmlns:p14="http://schemas.microsoft.com/office/powerpoint/2010/main" val="282800187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315028" y="464955"/>
            <a:ext cx="5335105" cy="381684"/>
          </a:xfrm>
        </p:spPr>
        <p:txBody>
          <a:bodyPr/>
          <a:lstStyle/>
          <a:p>
            <a:r>
              <a:rPr lang="en-US" sz="2800" b="1"/>
              <a:t>17</a:t>
            </a:r>
          </a:p>
        </p:txBody>
      </p:sp>
      <p:sp>
        <p:nvSpPr>
          <p:cNvPr id="5" name="TextBox 4"/>
          <p:cNvSpPr txBox="1"/>
          <p:nvPr/>
        </p:nvSpPr>
        <p:spPr>
          <a:xfrm>
            <a:off x="0" y="2081203"/>
            <a:ext cx="12192000" cy="4924425"/>
          </a:xfrm>
          <a:prstGeom prst="rect">
            <a:avLst/>
          </a:prstGeom>
          <a:noFill/>
        </p:spPr>
        <p:txBody>
          <a:bodyPr wrap="square" rtlCol="0">
            <a:spAutoFit/>
          </a:bodyPr>
          <a:lstStyle/>
          <a:p>
            <a:r>
              <a:rPr lang="en-US" sz="1400"/>
              <a:t>  </a:t>
            </a:r>
            <a:r>
              <a:rPr lang="en-US" sz="1200" b="1"/>
              <a:t>PCM – Method  used to convert analog signals to digital signals</a:t>
            </a:r>
          </a:p>
          <a:p>
            <a:endParaRPr lang="en-US" sz="1200" b="1"/>
          </a:p>
          <a:p>
            <a:endParaRPr lang="en-US" sz="1200" b="1"/>
          </a:p>
          <a:p>
            <a:r>
              <a:rPr lang="en-US" sz="1200" b="1"/>
              <a:t> </a:t>
            </a:r>
            <a:r>
              <a:rPr lang="en-US" sz="1200" b="1">
                <a:sym typeface="Wingdings" panose="05000000000000000000" pitchFamily="2" charset="2"/>
              </a:rPr>
              <a:t>PCM Consists of 3 steps   </a:t>
            </a:r>
          </a:p>
          <a:p>
            <a:r>
              <a:rPr lang="en-US" sz="1200" b="1">
                <a:sym typeface="Wingdings" panose="05000000000000000000" pitchFamily="2" charset="2"/>
              </a:rPr>
              <a:t> - Sampling </a:t>
            </a:r>
          </a:p>
          <a:p>
            <a:r>
              <a:rPr lang="en-US" sz="1200" b="1">
                <a:sym typeface="Wingdings" panose="05000000000000000000" pitchFamily="2" charset="2"/>
              </a:rPr>
              <a:t> - Quantizing </a:t>
            </a:r>
          </a:p>
          <a:p>
            <a:r>
              <a:rPr lang="en-US" sz="1200" b="1">
                <a:sym typeface="Wingdings" panose="05000000000000000000" pitchFamily="2" charset="2"/>
              </a:rPr>
              <a:t> -  Encoding </a:t>
            </a:r>
          </a:p>
          <a:p>
            <a:endParaRPr lang="en-US" sz="1200" b="1">
              <a:sym typeface="Wingdings" panose="05000000000000000000" pitchFamily="2" charset="2"/>
            </a:endParaRPr>
          </a:p>
          <a:p>
            <a:endParaRPr lang="en-US" sz="1200" b="1">
              <a:sym typeface="Wingdings" panose="05000000000000000000" pitchFamily="2" charset="2"/>
            </a:endParaRPr>
          </a:p>
          <a:p>
            <a:r>
              <a:rPr lang="en-US" sz="1200" b="1">
                <a:sym typeface="Wingdings" panose="05000000000000000000" pitchFamily="2" charset="2"/>
              </a:rPr>
              <a:t>  Sampling      (PAM Signal)</a:t>
            </a:r>
          </a:p>
          <a:p>
            <a:r>
              <a:rPr lang="en-US" sz="1200" b="1">
                <a:sym typeface="Wingdings" panose="05000000000000000000" pitchFamily="2" charset="2"/>
              </a:rPr>
              <a:t>   </a:t>
            </a:r>
            <a:r>
              <a:rPr lang="en-US" sz="1200" b="0" i="0">
                <a:solidFill>
                  <a:srgbClr val="202122"/>
                </a:solidFill>
                <a:effectLst/>
                <a:latin typeface="Arial" panose="020B0604020202020204" pitchFamily="34" charset="0"/>
              </a:rPr>
              <a:t>reduction of a </a:t>
            </a:r>
            <a:r>
              <a:rPr lang="en-US" sz="1200" b="0" i="0" u="none" strike="noStrike">
                <a:solidFill>
                  <a:srgbClr val="3366CC"/>
                </a:solidFill>
                <a:effectLst/>
                <a:latin typeface="Arial" panose="020B0604020202020204" pitchFamily="34" charset="0"/>
                <a:hlinkClick r:id="rId3" tooltip="Continuous-time signal"/>
              </a:rPr>
              <a:t>continuous-time signal</a:t>
            </a:r>
            <a:r>
              <a:rPr lang="en-US" sz="1200" b="0" i="0">
                <a:solidFill>
                  <a:srgbClr val="202122"/>
                </a:solidFill>
                <a:effectLst/>
                <a:latin typeface="Arial" panose="020B0604020202020204" pitchFamily="34" charset="0"/>
              </a:rPr>
              <a:t> to a </a:t>
            </a:r>
            <a:r>
              <a:rPr lang="en-US" sz="1200" b="0" i="0" u="none" strike="noStrike">
                <a:solidFill>
                  <a:srgbClr val="3366CC"/>
                </a:solidFill>
                <a:effectLst/>
                <a:latin typeface="Arial" panose="020B0604020202020204" pitchFamily="34" charset="0"/>
                <a:hlinkClick r:id="rId4" tooltip="Discrete-time signal"/>
              </a:rPr>
              <a:t>discrete-time signal</a:t>
            </a:r>
            <a:r>
              <a:rPr lang="en-US" sz="1200" b="0" i="0">
                <a:solidFill>
                  <a:srgbClr val="202122"/>
                </a:solidFill>
                <a:effectLst/>
                <a:latin typeface="Arial" panose="020B0604020202020204" pitchFamily="34" charset="0"/>
              </a:rPr>
              <a:t>. A common example is the conversion of a </a:t>
            </a:r>
            <a:r>
              <a:rPr lang="en-US" sz="1200" b="0" i="0" u="none" strike="noStrike">
                <a:solidFill>
                  <a:srgbClr val="3366CC"/>
                </a:solidFill>
                <a:effectLst/>
                <a:latin typeface="Arial" panose="020B0604020202020204" pitchFamily="34" charset="0"/>
                <a:hlinkClick r:id="rId5" tooltip="Sound wave"/>
              </a:rPr>
              <a:t>sound wave</a:t>
            </a:r>
            <a:r>
              <a:rPr lang="en-US" sz="1200" b="0" i="0">
                <a:solidFill>
                  <a:srgbClr val="202122"/>
                </a:solidFill>
                <a:effectLst/>
                <a:latin typeface="Arial" panose="020B0604020202020204" pitchFamily="34" charset="0"/>
              </a:rPr>
              <a:t> to a sequence of "samples". A </a:t>
            </a:r>
            <a:r>
              <a:rPr lang="en-US" sz="1200" b="1" i="0">
                <a:solidFill>
                  <a:srgbClr val="202122"/>
                </a:solidFill>
                <a:effectLst/>
                <a:latin typeface="Arial" panose="020B0604020202020204" pitchFamily="34" charset="0"/>
              </a:rPr>
              <a:t>sample</a:t>
            </a:r>
            <a:r>
              <a:rPr lang="en-US" sz="1200" b="0" i="0">
                <a:solidFill>
                  <a:srgbClr val="202122"/>
                </a:solidFill>
                <a:effectLst/>
                <a:latin typeface="Arial" panose="020B0604020202020204" pitchFamily="34" charset="0"/>
              </a:rPr>
              <a:t> is a value of the </a:t>
            </a:r>
            <a:r>
              <a:rPr lang="en-US" sz="1200" b="0" i="0" u="none" strike="noStrike">
                <a:solidFill>
                  <a:srgbClr val="3366CC"/>
                </a:solidFill>
                <a:effectLst/>
                <a:latin typeface="Arial" panose="020B0604020202020204" pitchFamily="34" charset="0"/>
                <a:hlinkClick r:id="rId6" tooltip="Signal"/>
              </a:rPr>
              <a:t>signal</a:t>
            </a:r>
            <a:r>
              <a:rPr lang="en-US" sz="1200" b="0" i="0">
                <a:solidFill>
                  <a:srgbClr val="202122"/>
                </a:solidFill>
                <a:effectLst/>
                <a:latin typeface="Arial" panose="020B0604020202020204" pitchFamily="34" charset="0"/>
              </a:rPr>
              <a:t> at a point in time and/or space; this definition differs from </a:t>
            </a:r>
            <a:r>
              <a:rPr lang="en-US" sz="1200" b="0" i="0" u="none" strike="noStrike">
                <a:solidFill>
                  <a:srgbClr val="3366CC"/>
                </a:solidFill>
                <a:effectLst/>
                <a:latin typeface="Arial" panose="020B0604020202020204" pitchFamily="34" charset="0"/>
                <a:hlinkClick r:id="rId7" tooltip="Sampling (statistics)"/>
              </a:rPr>
              <a:t>the term's usage in statistics</a:t>
            </a:r>
            <a:r>
              <a:rPr lang="en-US" sz="1200" b="0" i="0">
                <a:solidFill>
                  <a:srgbClr val="202122"/>
                </a:solidFill>
                <a:effectLst/>
                <a:latin typeface="Arial" panose="020B0604020202020204" pitchFamily="34" charset="0"/>
              </a:rPr>
              <a:t>, which refers to a set of such values.</a:t>
            </a:r>
            <a:r>
              <a:rPr lang="en-US" sz="1200" b="0" i="0" u="none" strike="noStrike" baseline="30000">
                <a:solidFill>
                  <a:srgbClr val="3366CC"/>
                </a:solidFill>
                <a:effectLst/>
                <a:latin typeface="Arial" panose="020B0604020202020204" pitchFamily="34" charset="0"/>
                <a:hlinkClick r:id="rId8"/>
              </a:rPr>
              <a:t>[A]</a:t>
            </a:r>
            <a:endParaRPr lang="en-US" sz="1200" b="0" i="0" u="none" strike="noStrike" baseline="30000">
              <a:solidFill>
                <a:srgbClr val="3366CC"/>
              </a:solidFill>
              <a:effectLst/>
              <a:latin typeface="Arial" panose="020B0604020202020204" pitchFamily="34" charset="0"/>
            </a:endParaRPr>
          </a:p>
          <a:p>
            <a:endParaRPr lang="en-US" sz="1200" b="1">
              <a:sym typeface="Wingdings" panose="05000000000000000000" pitchFamily="2" charset="2"/>
            </a:endParaRPr>
          </a:p>
          <a:p>
            <a:r>
              <a:rPr lang="en-US" sz="1200" b="1"/>
              <a:t> sample rate telephone analog  8KHz (8000 samples per sec)</a:t>
            </a:r>
          </a:p>
          <a:p>
            <a:r>
              <a:rPr lang="en-US" sz="1200" b="1"/>
              <a:t> sample rate voice over </a:t>
            </a:r>
            <a:r>
              <a:rPr lang="en-US" sz="1200" b="1" err="1"/>
              <a:t>ip</a:t>
            </a:r>
            <a:r>
              <a:rPr lang="en-US" sz="1200" b="1"/>
              <a:t>  is doubled – 16KHz</a:t>
            </a:r>
          </a:p>
          <a:p>
            <a:r>
              <a:rPr lang="en-US" sz="1200" b="1"/>
              <a:t>Sample rate for audio CD or MP3 – 44KHz </a:t>
            </a:r>
          </a:p>
          <a:p>
            <a:endParaRPr lang="en-US" sz="1200" b="1"/>
          </a:p>
          <a:p>
            <a:r>
              <a:rPr lang="en-US" sz="1200" b="1"/>
              <a:t>Blue ray disc – close to 1MHz (1 million samples per sec)</a:t>
            </a:r>
          </a:p>
          <a:p>
            <a:endParaRPr lang="en-US" sz="1200" b="1"/>
          </a:p>
          <a:p>
            <a:endParaRPr lang="en-US" sz="1200" b="1">
              <a:sym typeface="Wingdings" panose="05000000000000000000" pitchFamily="2" charset="2"/>
            </a:endParaRPr>
          </a:p>
          <a:p>
            <a:r>
              <a:rPr lang="en-US" sz="1200">
                <a:sym typeface="Wingdings" panose="05000000000000000000" pitchFamily="2" charset="2"/>
              </a:rPr>
              <a:t>Like converting time-varying signal into discrete-time signal , a sequence of real numbers. It is like drawing vertical lines with regular intervals . </a:t>
            </a:r>
          </a:p>
          <a:p>
            <a:r>
              <a:rPr lang="en-US" sz="2000"/>
              <a:t> </a:t>
            </a:r>
          </a:p>
          <a:p>
            <a:r>
              <a:rPr lang="en-US" sz="2000" b="1">
                <a:solidFill>
                  <a:srgbClr val="FF0000"/>
                </a:solidFill>
                <a:sym typeface="Wingdings" panose="05000000000000000000" pitchFamily="2" charset="2"/>
              </a:rPr>
              <a:t>                              </a:t>
            </a:r>
            <a:endParaRPr lang="en-US" sz="2000" b="1">
              <a:solidFill>
                <a:srgbClr val="FF0000"/>
              </a:solidFill>
            </a:endParaRPr>
          </a:p>
          <a:p>
            <a:r>
              <a:rPr lang="en-US" sz="2000">
                <a:solidFill>
                  <a:srgbClr val="FF0000"/>
                </a:solidFill>
              </a:rPr>
              <a:t>   </a:t>
            </a:r>
          </a:p>
        </p:txBody>
      </p:sp>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18" name="Rounded Rectangle 18">
            <a:extLst>
              <a:ext uri="{FF2B5EF4-FFF2-40B4-BE49-F238E27FC236}">
                <a16:creationId xmlns:a16="http://schemas.microsoft.com/office/drawing/2014/main" id="{23A96D9D-8128-478A-A3C2-1F87CF6289ED}"/>
              </a:ext>
            </a:extLst>
          </p:cNvPr>
          <p:cNvSpPr/>
          <p:nvPr/>
        </p:nvSpPr>
        <p:spPr>
          <a:xfrm>
            <a:off x="0" y="1060759"/>
            <a:ext cx="4656406"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sz="3200">
                <a:solidFill>
                  <a:srgbClr val="FF0000"/>
                </a:solidFill>
              </a:rPr>
              <a:t>PULSE-code modulation  </a:t>
            </a:r>
          </a:p>
        </p:txBody>
      </p:sp>
      <p:pic>
        <p:nvPicPr>
          <p:cNvPr id="14" name="図 13"/>
          <p:cNvPicPr/>
          <p:nvPr/>
        </p:nvPicPr>
        <p:blipFill>
          <a:blip r:embed="rId9">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spTree>
    <p:extLst>
      <p:ext uri="{BB962C8B-B14F-4D97-AF65-F5344CB8AC3E}">
        <p14:creationId xmlns:p14="http://schemas.microsoft.com/office/powerpoint/2010/main" val="131067787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315028" y="464955"/>
            <a:ext cx="5335105" cy="381684"/>
          </a:xfrm>
        </p:spPr>
        <p:txBody>
          <a:bodyPr/>
          <a:lstStyle/>
          <a:p>
            <a:r>
              <a:rPr lang="en-US" sz="2800" b="1"/>
              <a:t>17</a:t>
            </a:r>
          </a:p>
        </p:txBody>
      </p:sp>
      <p:sp>
        <p:nvSpPr>
          <p:cNvPr id="5" name="TextBox 4"/>
          <p:cNvSpPr txBox="1"/>
          <p:nvPr/>
        </p:nvSpPr>
        <p:spPr>
          <a:xfrm>
            <a:off x="0" y="2081203"/>
            <a:ext cx="12192000" cy="4616648"/>
          </a:xfrm>
          <a:prstGeom prst="rect">
            <a:avLst/>
          </a:prstGeom>
          <a:noFill/>
        </p:spPr>
        <p:txBody>
          <a:bodyPr wrap="square" rtlCol="0">
            <a:spAutoFit/>
          </a:bodyPr>
          <a:lstStyle/>
          <a:p>
            <a:r>
              <a:rPr lang="en-US" sz="1400"/>
              <a:t>  </a:t>
            </a:r>
            <a:r>
              <a:rPr lang="en-US" sz="1200" b="1"/>
              <a:t>PCM – Method  used to convert analog signals to digital signals</a:t>
            </a:r>
          </a:p>
          <a:p>
            <a:endParaRPr lang="en-US" sz="1200" b="1"/>
          </a:p>
          <a:p>
            <a:endParaRPr lang="en-US" sz="1200" b="1"/>
          </a:p>
          <a:p>
            <a:r>
              <a:rPr lang="en-US" sz="1200" b="1"/>
              <a:t> </a:t>
            </a:r>
            <a:r>
              <a:rPr lang="en-US" sz="1200" b="1">
                <a:sym typeface="Wingdings" panose="05000000000000000000" pitchFamily="2" charset="2"/>
              </a:rPr>
              <a:t>PCM Consists of 3 steps   </a:t>
            </a:r>
          </a:p>
          <a:p>
            <a:r>
              <a:rPr lang="en-US" sz="1200" b="1">
                <a:sym typeface="Wingdings" panose="05000000000000000000" pitchFamily="2" charset="2"/>
              </a:rPr>
              <a:t> - Sampling </a:t>
            </a:r>
          </a:p>
          <a:p>
            <a:r>
              <a:rPr lang="en-US" sz="1200" b="1">
                <a:sym typeface="Wingdings" panose="05000000000000000000" pitchFamily="2" charset="2"/>
              </a:rPr>
              <a:t> - Quantizing </a:t>
            </a:r>
          </a:p>
          <a:p>
            <a:r>
              <a:rPr lang="en-US" sz="1200" b="1">
                <a:sym typeface="Wingdings" panose="05000000000000000000" pitchFamily="2" charset="2"/>
              </a:rPr>
              <a:t> -  Encoding </a:t>
            </a:r>
          </a:p>
          <a:p>
            <a:endParaRPr lang="en-US" sz="1200" b="1">
              <a:sym typeface="Wingdings" panose="05000000000000000000" pitchFamily="2" charset="2"/>
            </a:endParaRPr>
          </a:p>
          <a:p>
            <a:endParaRPr lang="en-US" sz="1200" b="1">
              <a:sym typeface="Wingdings" panose="05000000000000000000" pitchFamily="2" charset="2"/>
            </a:endParaRPr>
          </a:p>
          <a:p>
            <a:r>
              <a:rPr lang="en-US" sz="1200" b="1">
                <a:sym typeface="Wingdings" panose="05000000000000000000" pitchFamily="2" charset="2"/>
              </a:rPr>
              <a:t>  Quantizing</a:t>
            </a:r>
          </a:p>
          <a:p>
            <a:r>
              <a:rPr lang="en-US" sz="1200" b="1">
                <a:sym typeface="Wingdings" panose="05000000000000000000" pitchFamily="2" charset="2"/>
              </a:rPr>
              <a:t> </a:t>
            </a:r>
            <a:r>
              <a:rPr lang="en-US" sz="1200" b="1" i="0">
                <a:solidFill>
                  <a:srgbClr val="202122"/>
                </a:solidFill>
                <a:effectLst/>
                <a:latin typeface="Arial" panose="020B0604020202020204" pitchFamily="34" charset="0"/>
              </a:rPr>
              <a:t>Quantization</a:t>
            </a:r>
            <a:r>
              <a:rPr lang="en-US" sz="1200" b="0" i="0">
                <a:solidFill>
                  <a:srgbClr val="202122"/>
                </a:solidFill>
                <a:effectLst/>
                <a:latin typeface="Arial" panose="020B0604020202020204" pitchFamily="34" charset="0"/>
              </a:rPr>
              <a:t>, in mathematics and </a:t>
            </a:r>
            <a:r>
              <a:rPr lang="en-US" sz="1200" b="0" i="0" u="none" strike="noStrike">
                <a:solidFill>
                  <a:srgbClr val="3366CC"/>
                </a:solidFill>
                <a:effectLst/>
                <a:latin typeface="Arial" panose="020B0604020202020204" pitchFamily="34" charset="0"/>
                <a:hlinkClick r:id="rId3" tooltip="Digital signal processing"/>
              </a:rPr>
              <a:t>digital signal processing</a:t>
            </a:r>
            <a:r>
              <a:rPr lang="en-US" sz="1200" b="0" i="0">
                <a:solidFill>
                  <a:srgbClr val="202122"/>
                </a:solidFill>
                <a:effectLst/>
                <a:latin typeface="Arial" panose="020B0604020202020204" pitchFamily="34" charset="0"/>
              </a:rPr>
              <a:t>, is the process of mapping input values from a large set (often a continuous set) to output values in a (countable) smaller set, often with a finite </a:t>
            </a:r>
            <a:r>
              <a:rPr lang="en-US" sz="1200" b="0" i="0" u="none" strike="noStrike">
                <a:solidFill>
                  <a:srgbClr val="3366CC"/>
                </a:solidFill>
                <a:effectLst/>
                <a:latin typeface="Arial" panose="020B0604020202020204" pitchFamily="34" charset="0"/>
                <a:hlinkClick r:id="rId4" tooltip="Cardinality"/>
              </a:rPr>
              <a:t>number of elements</a:t>
            </a:r>
            <a:r>
              <a:rPr lang="en-US" sz="1200" b="0" i="0">
                <a:solidFill>
                  <a:srgbClr val="202122"/>
                </a:solidFill>
                <a:effectLst/>
                <a:latin typeface="Arial" panose="020B0604020202020204" pitchFamily="34" charset="0"/>
              </a:rPr>
              <a:t>. </a:t>
            </a:r>
            <a:r>
              <a:rPr lang="en-US" sz="1200" b="0" i="0" u="none" strike="noStrike">
                <a:solidFill>
                  <a:srgbClr val="3366CC"/>
                </a:solidFill>
                <a:effectLst/>
                <a:latin typeface="Arial" panose="020B0604020202020204" pitchFamily="34" charset="0"/>
                <a:hlinkClick r:id="rId5" tooltip="Rounding"/>
              </a:rPr>
              <a:t>Rounding</a:t>
            </a:r>
            <a:r>
              <a:rPr lang="en-US" sz="1200" b="0" i="0">
                <a:solidFill>
                  <a:srgbClr val="202122"/>
                </a:solidFill>
                <a:effectLst/>
                <a:latin typeface="Arial" panose="020B0604020202020204" pitchFamily="34" charset="0"/>
              </a:rPr>
              <a:t> and </a:t>
            </a:r>
            <a:r>
              <a:rPr lang="en-US" sz="1200" b="0" i="0" u="none" strike="noStrike">
                <a:solidFill>
                  <a:srgbClr val="3366CC"/>
                </a:solidFill>
                <a:effectLst/>
                <a:latin typeface="Arial" panose="020B0604020202020204" pitchFamily="34" charset="0"/>
                <a:hlinkClick r:id="rId6" tooltip="Truncation"/>
              </a:rPr>
              <a:t>truncation</a:t>
            </a:r>
            <a:r>
              <a:rPr lang="en-US" sz="1200" b="0" i="0">
                <a:solidFill>
                  <a:srgbClr val="202122"/>
                </a:solidFill>
                <a:effectLst/>
                <a:latin typeface="Arial" panose="020B0604020202020204" pitchFamily="34" charset="0"/>
              </a:rPr>
              <a:t> are typical examples of quantization processes.</a:t>
            </a:r>
            <a:endParaRPr lang="en-US" sz="1200" b="1">
              <a:sym typeface="Wingdings" panose="05000000000000000000" pitchFamily="2" charset="2"/>
            </a:endParaRPr>
          </a:p>
          <a:p>
            <a:endParaRPr lang="en-US" sz="1200" b="1">
              <a:sym typeface="Wingdings" panose="05000000000000000000" pitchFamily="2" charset="2"/>
            </a:endParaRPr>
          </a:p>
          <a:p>
            <a:r>
              <a:rPr lang="en-US" sz="1200" b="1"/>
              <a:t> </a:t>
            </a:r>
            <a:r>
              <a:rPr lang="en-US" sz="1200" b="0" i="0">
                <a:solidFill>
                  <a:srgbClr val="202122"/>
                </a:solidFill>
                <a:effectLst/>
                <a:latin typeface="Arial" panose="020B0604020202020204" pitchFamily="34" charset="0"/>
              </a:rPr>
              <a:t> An </a:t>
            </a:r>
            <a:r>
              <a:rPr lang="en-US" sz="1200" b="0" i="0" u="none" strike="noStrike">
                <a:solidFill>
                  <a:srgbClr val="3366CC"/>
                </a:solidFill>
                <a:effectLst/>
                <a:latin typeface="Arial" panose="020B0604020202020204" pitchFamily="34" charset="0"/>
                <a:hlinkClick r:id="rId7" tooltip="Analog-to-digital converter"/>
              </a:rPr>
              <a:t>analog-to-digital converter</a:t>
            </a:r>
            <a:r>
              <a:rPr lang="en-US" sz="1200" b="0" i="0">
                <a:solidFill>
                  <a:srgbClr val="202122"/>
                </a:solidFill>
                <a:effectLst/>
                <a:latin typeface="Arial" panose="020B0604020202020204" pitchFamily="34" charset="0"/>
              </a:rPr>
              <a:t> is an example of a quantizer.</a:t>
            </a:r>
            <a:endParaRPr lang="en-US" sz="1200" b="1"/>
          </a:p>
          <a:p>
            <a:endParaRPr lang="en-US" sz="1200" b="1">
              <a:sym typeface="Wingdings" panose="05000000000000000000" pitchFamily="2" charset="2"/>
            </a:endParaRPr>
          </a:p>
          <a:p>
            <a:endParaRPr lang="en-US" sz="1200">
              <a:sym typeface="Wingdings" panose="05000000000000000000" pitchFamily="2" charset="2"/>
            </a:endParaRPr>
          </a:p>
          <a:p>
            <a:r>
              <a:rPr lang="en-US" sz="2000"/>
              <a:t> Like drawing horizontal lines each with specific measurable bit value. Then making each sample </a:t>
            </a:r>
          </a:p>
          <a:p>
            <a:r>
              <a:rPr lang="en-US" sz="2000"/>
              <a:t> flat top match a specific horizontal line.  </a:t>
            </a:r>
          </a:p>
          <a:p>
            <a:r>
              <a:rPr lang="en-US" sz="2000">
                <a:sym typeface="Wingdings" panose="05000000000000000000" pitchFamily="2" charset="2"/>
              </a:rPr>
              <a:t> In this way, each sample can be uniformly encoded with specific bit values. </a:t>
            </a:r>
            <a:endParaRPr lang="en-US" sz="2000"/>
          </a:p>
          <a:p>
            <a:r>
              <a:rPr lang="en-US" sz="2000" b="1">
                <a:solidFill>
                  <a:srgbClr val="FF0000"/>
                </a:solidFill>
                <a:sym typeface="Wingdings" panose="05000000000000000000" pitchFamily="2" charset="2"/>
              </a:rPr>
              <a:t>                              </a:t>
            </a:r>
            <a:endParaRPr lang="en-US" sz="2000" b="1">
              <a:solidFill>
                <a:srgbClr val="FF0000"/>
              </a:solidFill>
            </a:endParaRPr>
          </a:p>
          <a:p>
            <a:r>
              <a:rPr lang="en-US" sz="2000">
                <a:solidFill>
                  <a:srgbClr val="FF0000"/>
                </a:solidFill>
              </a:rPr>
              <a:t>   </a:t>
            </a:r>
          </a:p>
        </p:txBody>
      </p:sp>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18" name="Rounded Rectangle 18">
            <a:extLst>
              <a:ext uri="{FF2B5EF4-FFF2-40B4-BE49-F238E27FC236}">
                <a16:creationId xmlns:a16="http://schemas.microsoft.com/office/drawing/2014/main" id="{23A96D9D-8128-478A-A3C2-1F87CF6289ED}"/>
              </a:ext>
            </a:extLst>
          </p:cNvPr>
          <p:cNvSpPr/>
          <p:nvPr/>
        </p:nvSpPr>
        <p:spPr>
          <a:xfrm>
            <a:off x="0" y="1060759"/>
            <a:ext cx="4656406"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sz="3200">
                <a:solidFill>
                  <a:srgbClr val="FF0000"/>
                </a:solidFill>
              </a:rPr>
              <a:t>PULSE-code modulation  </a:t>
            </a:r>
          </a:p>
        </p:txBody>
      </p:sp>
      <p:pic>
        <p:nvPicPr>
          <p:cNvPr id="14" name="図 13"/>
          <p:cNvPicPr/>
          <p:nvPr/>
        </p:nvPicPr>
        <p:blipFill>
          <a:blip r:embed="rId8">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spTree>
    <p:extLst>
      <p:ext uri="{BB962C8B-B14F-4D97-AF65-F5344CB8AC3E}">
        <p14:creationId xmlns:p14="http://schemas.microsoft.com/office/powerpoint/2010/main" val="377290025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315028" y="464955"/>
            <a:ext cx="5335105" cy="381684"/>
          </a:xfrm>
        </p:spPr>
        <p:txBody>
          <a:bodyPr/>
          <a:lstStyle/>
          <a:p>
            <a:r>
              <a:rPr lang="en-US" sz="2800" b="1"/>
              <a:t>17</a:t>
            </a:r>
          </a:p>
        </p:txBody>
      </p:sp>
      <p:sp>
        <p:nvSpPr>
          <p:cNvPr id="5" name="TextBox 4"/>
          <p:cNvSpPr txBox="1"/>
          <p:nvPr/>
        </p:nvSpPr>
        <p:spPr>
          <a:xfrm>
            <a:off x="0" y="2081203"/>
            <a:ext cx="12192000" cy="3816429"/>
          </a:xfrm>
          <a:prstGeom prst="rect">
            <a:avLst/>
          </a:prstGeom>
          <a:noFill/>
        </p:spPr>
        <p:txBody>
          <a:bodyPr wrap="square" rtlCol="0">
            <a:spAutoFit/>
          </a:bodyPr>
          <a:lstStyle/>
          <a:p>
            <a:r>
              <a:rPr lang="en-US" sz="1400"/>
              <a:t>  </a:t>
            </a:r>
            <a:r>
              <a:rPr lang="en-US" sz="1200" b="1"/>
              <a:t>PCM – Method  used to convert analog signals to digital signals</a:t>
            </a:r>
          </a:p>
          <a:p>
            <a:endParaRPr lang="en-US" sz="1200" b="1"/>
          </a:p>
          <a:p>
            <a:endParaRPr lang="en-US" sz="1200" b="1"/>
          </a:p>
          <a:p>
            <a:r>
              <a:rPr lang="en-US" sz="1200" b="1"/>
              <a:t> </a:t>
            </a:r>
            <a:r>
              <a:rPr lang="en-US" sz="1200" b="1">
                <a:sym typeface="Wingdings" panose="05000000000000000000" pitchFamily="2" charset="2"/>
              </a:rPr>
              <a:t>PCM Consists of 3 steps   </a:t>
            </a:r>
          </a:p>
          <a:p>
            <a:r>
              <a:rPr lang="en-US" sz="1200" b="1">
                <a:sym typeface="Wingdings" panose="05000000000000000000" pitchFamily="2" charset="2"/>
              </a:rPr>
              <a:t> - Sampling </a:t>
            </a:r>
          </a:p>
          <a:p>
            <a:r>
              <a:rPr lang="en-US" sz="1200" b="1">
                <a:sym typeface="Wingdings" panose="05000000000000000000" pitchFamily="2" charset="2"/>
              </a:rPr>
              <a:t> - Quantizing </a:t>
            </a:r>
          </a:p>
          <a:p>
            <a:r>
              <a:rPr lang="en-US" sz="1200" b="1">
                <a:sym typeface="Wingdings" panose="05000000000000000000" pitchFamily="2" charset="2"/>
              </a:rPr>
              <a:t> -  Encoding </a:t>
            </a:r>
          </a:p>
          <a:p>
            <a:endParaRPr lang="en-US" sz="1200" b="1">
              <a:sym typeface="Wingdings" panose="05000000000000000000" pitchFamily="2" charset="2"/>
            </a:endParaRPr>
          </a:p>
          <a:p>
            <a:endParaRPr lang="en-US" sz="1200" b="1">
              <a:sym typeface="Wingdings" panose="05000000000000000000" pitchFamily="2" charset="2"/>
            </a:endParaRPr>
          </a:p>
          <a:p>
            <a:r>
              <a:rPr lang="en-US" sz="1200" b="1">
                <a:sym typeface="Wingdings" panose="05000000000000000000" pitchFamily="2" charset="2"/>
              </a:rPr>
              <a:t>  Encoding </a:t>
            </a:r>
          </a:p>
          <a:p>
            <a:endParaRPr lang="en-US" sz="1200" b="1">
              <a:sym typeface="Wingdings" panose="05000000000000000000" pitchFamily="2" charset="2"/>
            </a:endParaRPr>
          </a:p>
          <a:p>
            <a:endParaRPr lang="en-US" sz="1200" b="1">
              <a:sym typeface="Wingdings" panose="05000000000000000000" pitchFamily="2" charset="2"/>
            </a:endParaRPr>
          </a:p>
          <a:p>
            <a:r>
              <a:rPr lang="en-US" sz="1200" b="1"/>
              <a:t> </a:t>
            </a:r>
          </a:p>
          <a:p>
            <a:endParaRPr lang="en-US" sz="1200" b="1">
              <a:sym typeface="Wingdings" panose="05000000000000000000" pitchFamily="2" charset="2"/>
            </a:endParaRPr>
          </a:p>
          <a:p>
            <a:endParaRPr lang="en-US" sz="1200">
              <a:sym typeface="Wingdings" panose="05000000000000000000" pitchFamily="2" charset="2"/>
            </a:endParaRPr>
          </a:p>
          <a:p>
            <a:r>
              <a:rPr lang="en-US" sz="2000"/>
              <a:t> </a:t>
            </a:r>
          </a:p>
          <a:p>
            <a:r>
              <a:rPr lang="en-US" sz="2000" b="1">
                <a:solidFill>
                  <a:srgbClr val="FF0000"/>
                </a:solidFill>
                <a:sym typeface="Wingdings" panose="05000000000000000000" pitchFamily="2" charset="2"/>
              </a:rPr>
              <a:t>                              </a:t>
            </a:r>
            <a:endParaRPr lang="en-US" sz="2000" b="1">
              <a:solidFill>
                <a:srgbClr val="FF0000"/>
              </a:solidFill>
            </a:endParaRPr>
          </a:p>
          <a:p>
            <a:r>
              <a:rPr lang="en-US" sz="2000">
                <a:solidFill>
                  <a:srgbClr val="FF0000"/>
                </a:solidFill>
              </a:rPr>
              <a:t>   </a:t>
            </a:r>
          </a:p>
        </p:txBody>
      </p:sp>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18" name="Rounded Rectangle 18">
            <a:extLst>
              <a:ext uri="{FF2B5EF4-FFF2-40B4-BE49-F238E27FC236}">
                <a16:creationId xmlns:a16="http://schemas.microsoft.com/office/drawing/2014/main" id="{23A96D9D-8128-478A-A3C2-1F87CF6289ED}"/>
              </a:ext>
            </a:extLst>
          </p:cNvPr>
          <p:cNvSpPr/>
          <p:nvPr/>
        </p:nvSpPr>
        <p:spPr>
          <a:xfrm>
            <a:off x="0" y="1060759"/>
            <a:ext cx="4656406"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sz="3200">
                <a:solidFill>
                  <a:srgbClr val="FF0000"/>
                </a:solidFill>
              </a:rPr>
              <a:t>PULSE-code modulation  </a:t>
            </a:r>
          </a:p>
        </p:txBody>
      </p:sp>
      <p:pic>
        <p:nvPicPr>
          <p:cNvPr id="14" name="図 13"/>
          <p:cNvPicPr/>
          <p:nvPr/>
        </p:nvPicPr>
        <p:blipFill>
          <a:blip r:embed="rId3">
            <a:extLst>
              <a:ext uri="{28A0092B-C50C-407E-A947-70E740481C1C}">
                <a14:useLocalDpi xmlns:a14="http://schemas.microsoft.com/office/drawing/2010/main" val="0"/>
              </a:ext>
            </a:extLst>
          </a:blip>
          <a:srcRect/>
          <a:stretch>
            <a:fillRect/>
          </a:stretch>
        </p:blipFill>
        <p:spPr bwMode="auto">
          <a:xfrm>
            <a:off x="83127" y="348701"/>
            <a:ext cx="1774479" cy="524265"/>
          </a:xfrm>
          <a:prstGeom prst="rect">
            <a:avLst/>
          </a:prstGeom>
          <a:noFill/>
          <a:ln>
            <a:noFill/>
          </a:ln>
        </p:spPr>
      </p:pic>
    </p:spTree>
    <p:extLst>
      <p:ext uri="{BB962C8B-B14F-4D97-AF65-F5344CB8AC3E}">
        <p14:creationId xmlns:p14="http://schemas.microsoft.com/office/powerpoint/2010/main" val="69431533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315028" y="464955"/>
            <a:ext cx="5335105" cy="381684"/>
          </a:xfrm>
        </p:spPr>
        <p:txBody>
          <a:bodyPr/>
          <a:lstStyle/>
          <a:p>
            <a:r>
              <a:rPr lang="en-US" sz="2800" b="1"/>
              <a:t>5</a:t>
            </a:r>
          </a:p>
        </p:txBody>
      </p:sp>
      <p:sp>
        <p:nvSpPr>
          <p:cNvPr id="5" name="TextBox 4"/>
          <p:cNvSpPr txBox="1"/>
          <p:nvPr/>
        </p:nvSpPr>
        <p:spPr>
          <a:xfrm>
            <a:off x="0" y="2081203"/>
            <a:ext cx="12192000" cy="4555093"/>
          </a:xfrm>
          <a:prstGeom prst="rect">
            <a:avLst/>
          </a:prstGeom>
          <a:noFill/>
        </p:spPr>
        <p:txBody>
          <a:bodyPr wrap="square" rtlCol="0">
            <a:spAutoFit/>
          </a:bodyPr>
          <a:lstStyle/>
          <a:p>
            <a:r>
              <a:rPr lang="en-US" sz="1400"/>
              <a:t>  </a:t>
            </a:r>
          </a:p>
          <a:p>
            <a:endParaRPr lang="en-US" sz="1400" b="1"/>
          </a:p>
          <a:p>
            <a:r>
              <a:rPr lang="en-US" sz="2400" b="1"/>
              <a:t>Fourier Transform  </a:t>
            </a:r>
          </a:p>
          <a:p>
            <a:endParaRPr lang="en-US" sz="1400"/>
          </a:p>
          <a:p>
            <a:r>
              <a:rPr lang="en-US" sz="2000" b="1">
                <a:solidFill>
                  <a:srgbClr val="FF0000"/>
                </a:solidFill>
              </a:rPr>
              <a:t> </a:t>
            </a:r>
            <a:r>
              <a:rPr lang="en-US" sz="2000">
                <a:sym typeface="Wingdings" panose="05000000000000000000" pitchFamily="2" charset="2"/>
              </a:rPr>
              <a:t>Tool  that converts  signal from time domain to frequency domain. </a:t>
            </a:r>
          </a:p>
          <a:p>
            <a:endParaRPr lang="en-US" sz="2000">
              <a:sym typeface="Wingdings" panose="05000000000000000000" pitchFamily="2" charset="2"/>
            </a:endParaRPr>
          </a:p>
          <a:p>
            <a:r>
              <a:rPr lang="en-US" sz="2000">
                <a:sym typeface="Wingdings" panose="05000000000000000000" pitchFamily="2" charset="2"/>
              </a:rPr>
              <a:t> Discrete - time signals  signal samples at specific points in time. </a:t>
            </a:r>
            <a:r>
              <a:rPr lang="en-US" sz="2000">
                <a:solidFill>
                  <a:srgbClr val="FF0000"/>
                </a:solidFill>
                <a:sym typeface="Wingdings" panose="05000000000000000000" pitchFamily="2" charset="2"/>
              </a:rPr>
              <a:t>Digital audio  </a:t>
            </a:r>
            <a:endParaRPr lang="en-US" sz="2000">
              <a:solidFill>
                <a:srgbClr val="FF0000"/>
              </a:solidFill>
            </a:endParaRPr>
          </a:p>
          <a:p>
            <a:endParaRPr lang="en-US" sz="2000" b="1"/>
          </a:p>
          <a:p>
            <a:r>
              <a:rPr lang="en-US" sz="2000" b="1"/>
              <a:t> </a:t>
            </a:r>
            <a:r>
              <a:rPr lang="en-US" sz="2400" b="1"/>
              <a:t>Sampling and Reconstruction</a:t>
            </a:r>
          </a:p>
          <a:p>
            <a:r>
              <a:rPr lang="en-US" sz="2000" b="1"/>
              <a:t> </a:t>
            </a:r>
          </a:p>
          <a:p>
            <a:r>
              <a:rPr lang="en-US" sz="2000" b="1"/>
              <a:t> </a:t>
            </a:r>
            <a:r>
              <a:rPr lang="en-US" sz="2000"/>
              <a:t>Sampling – Process of converting continuous-time signal to discrete-time signal </a:t>
            </a:r>
          </a:p>
          <a:p>
            <a:endParaRPr lang="en-US" sz="2000" b="1"/>
          </a:p>
          <a:p>
            <a:r>
              <a:rPr lang="en-US" sz="2000" b="1"/>
              <a:t> </a:t>
            </a:r>
            <a:r>
              <a:rPr lang="en-US" sz="2000"/>
              <a:t>Reconstruction – Converting discrete – time signal to continuous-time signal. </a:t>
            </a:r>
          </a:p>
          <a:p>
            <a:r>
              <a:rPr lang="en-US" sz="2000" b="1">
                <a:solidFill>
                  <a:srgbClr val="FF0000"/>
                </a:solidFill>
                <a:sym typeface="Wingdings" panose="05000000000000000000" pitchFamily="2" charset="2"/>
              </a:rPr>
              <a:t>                              </a:t>
            </a:r>
            <a:endParaRPr lang="en-US" sz="2000" b="1">
              <a:solidFill>
                <a:srgbClr val="FF0000"/>
              </a:solidFill>
            </a:endParaRPr>
          </a:p>
          <a:p>
            <a:r>
              <a:rPr lang="en-US" sz="2000">
                <a:solidFill>
                  <a:srgbClr val="FF0000"/>
                </a:solidFill>
              </a:rPr>
              <a:t>   </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111"/>
            <a:ext cx="726363" cy="993731"/>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9168" y="562031"/>
            <a:ext cx="1088136" cy="377952"/>
          </a:xfrm>
          <a:prstGeom prst="rect">
            <a:avLst/>
          </a:prstGeom>
        </p:spPr>
      </p:pic>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06286" y="-10992"/>
            <a:ext cx="685714" cy="419048"/>
          </a:xfrm>
          <a:prstGeom prst="rect">
            <a:avLst/>
          </a:prstGeom>
        </p:spPr>
      </p:pic>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18" name="Rounded Rectangle 18">
            <a:extLst>
              <a:ext uri="{FF2B5EF4-FFF2-40B4-BE49-F238E27FC236}">
                <a16:creationId xmlns:a16="http://schemas.microsoft.com/office/drawing/2014/main" id="{23A96D9D-8128-478A-A3C2-1F87CF6289ED}"/>
              </a:ext>
            </a:extLst>
          </p:cNvPr>
          <p:cNvSpPr/>
          <p:nvPr/>
        </p:nvSpPr>
        <p:spPr>
          <a:xfrm>
            <a:off x="0" y="1060759"/>
            <a:ext cx="2608976"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sz="3200">
                <a:solidFill>
                  <a:srgbClr val="FF0000"/>
                </a:solidFill>
              </a:rPr>
              <a:t>Key concepts</a:t>
            </a:r>
          </a:p>
        </p:txBody>
      </p:sp>
      <p:pic>
        <p:nvPicPr>
          <p:cNvPr id="6" name="Picture 5">
            <a:extLst>
              <a:ext uri="{FF2B5EF4-FFF2-40B4-BE49-F238E27FC236}">
                <a16:creationId xmlns:a16="http://schemas.microsoft.com/office/drawing/2014/main" id="{FF6B4B9E-3792-E51C-699C-7A297B7E6D2B}"/>
              </a:ext>
            </a:extLst>
          </p:cNvPr>
          <p:cNvPicPr>
            <a:picLocks noChangeAspect="1"/>
          </p:cNvPicPr>
          <p:nvPr/>
        </p:nvPicPr>
        <p:blipFill>
          <a:blip r:embed="rId6"/>
          <a:stretch>
            <a:fillRect/>
          </a:stretch>
        </p:blipFill>
        <p:spPr>
          <a:xfrm>
            <a:off x="6990573" y="1054333"/>
            <a:ext cx="5093461" cy="2024111"/>
          </a:xfrm>
          <a:prstGeom prst="rect">
            <a:avLst/>
          </a:prstGeom>
        </p:spPr>
      </p:pic>
    </p:spTree>
    <p:extLst>
      <p:ext uri="{BB962C8B-B14F-4D97-AF65-F5344CB8AC3E}">
        <p14:creationId xmlns:p14="http://schemas.microsoft.com/office/powerpoint/2010/main" val="210347595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315028" y="464955"/>
            <a:ext cx="5335105" cy="381684"/>
          </a:xfrm>
        </p:spPr>
        <p:txBody>
          <a:bodyPr/>
          <a:lstStyle/>
          <a:p>
            <a:r>
              <a:rPr lang="en-US" sz="2800" b="1"/>
              <a:t>6</a:t>
            </a:r>
          </a:p>
        </p:txBody>
      </p:sp>
      <p:sp>
        <p:nvSpPr>
          <p:cNvPr id="5" name="TextBox 4"/>
          <p:cNvSpPr txBox="1"/>
          <p:nvPr/>
        </p:nvSpPr>
        <p:spPr>
          <a:xfrm>
            <a:off x="0" y="2081203"/>
            <a:ext cx="12192000" cy="3970318"/>
          </a:xfrm>
          <a:prstGeom prst="rect">
            <a:avLst/>
          </a:prstGeom>
          <a:noFill/>
        </p:spPr>
        <p:txBody>
          <a:bodyPr wrap="square" rtlCol="0">
            <a:spAutoFit/>
          </a:bodyPr>
          <a:lstStyle/>
          <a:p>
            <a:r>
              <a:rPr lang="en-US" sz="1400"/>
              <a:t>   </a:t>
            </a:r>
            <a:r>
              <a:rPr lang="en-US" sz="2400" b="1"/>
              <a:t>Fourier Transform  </a:t>
            </a:r>
          </a:p>
          <a:p>
            <a:endParaRPr lang="en-US" sz="1400"/>
          </a:p>
          <a:p>
            <a:endParaRPr lang="en-US" sz="1400"/>
          </a:p>
          <a:p>
            <a:r>
              <a:rPr lang="en-US" sz="2000" b="1">
                <a:solidFill>
                  <a:srgbClr val="FF0000"/>
                </a:solidFill>
              </a:rPr>
              <a:t> </a:t>
            </a:r>
            <a:r>
              <a:rPr lang="en-US" sz="2000"/>
              <a:t> Signal (audio, image ) – wave varies over time </a:t>
            </a:r>
          </a:p>
          <a:p>
            <a:endParaRPr lang="en-US" sz="2000"/>
          </a:p>
          <a:p>
            <a:endParaRPr lang="en-US" sz="2000"/>
          </a:p>
          <a:p>
            <a:r>
              <a:rPr lang="en-US" sz="2000"/>
              <a:t>  FFT breaks down signal to constituent frequencies and their respective amplitude.</a:t>
            </a:r>
          </a:p>
          <a:p>
            <a:r>
              <a:rPr lang="en-US" sz="2000"/>
              <a:t> </a:t>
            </a:r>
          </a:p>
          <a:p>
            <a:endParaRPr lang="en-US" sz="2000"/>
          </a:p>
          <a:p>
            <a:r>
              <a:rPr lang="en-US" sz="2000" b="1">
                <a:solidFill>
                  <a:srgbClr val="FF0000"/>
                </a:solidFill>
                <a:sym typeface="Wingdings" panose="05000000000000000000" pitchFamily="2" charset="2"/>
              </a:rPr>
              <a:t>                              </a:t>
            </a:r>
            <a:endParaRPr lang="en-US" sz="2000" b="1">
              <a:solidFill>
                <a:srgbClr val="FF0000"/>
              </a:solidFill>
            </a:endParaRPr>
          </a:p>
          <a:p>
            <a:r>
              <a:rPr lang="en-US" sz="2000">
                <a:solidFill>
                  <a:srgbClr val="FF0000"/>
                </a:solidFill>
              </a:rPr>
              <a:t>  </a:t>
            </a:r>
            <a:r>
              <a:rPr lang="en-US" sz="2000" b="1"/>
              <a:t>FFT helps to understand what frequencies are present in the signal. </a:t>
            </a:r>
          </a:p>
          <a:p>
            <a:endParaRPr lang="en-US" sz="2000" b="1"/>
          </a:p>
          <a:p>
            <a:endParaRPr lang="en-US" sz="2000" b="1"/>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111"/>
            <a:ext cx="726363" cy="993731"/>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9168" y="562031"/>
            <a:ext cx="1088136" cy="377952"/>
          </a:xfrm>
          <a:prstGeom prst="rect">
            <a:avLst/>
          </a:prstGeom>
        </p:spPr>
      </p:pic>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06286" y="-10992"/>
            <a:ext cx="685714" cy="419048"/>
          </a:xfrm>
          <a:prstGeom prst="rect">
            <a:avLst/>
          </a:prstGeom>
        </p:spPr>
      </p:pic>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18" name="Rounded Rectangle 18">
            <a:extLst>
              <a:ext uri="{FF2B5EF4-FFF2-40B4-BE49-F238E27FC236}">
                <a16:creationId xmlns:a16="http://schemas.microsoft.com/office/drawing/2014/main" id="{23A96D9D-8128-478A-A3C2-1F87CF6289ED}"/>
              </a:ext>
            </a:extLst>
          </p:cNvPr>
          <p:cNvSpPr/>
          <p:nvPr/>
        </p:nvSpPr>
        <p:spPr>
          <a:xfrm>
            <a:off x="0" y="1060759"/>
            <a:ext cx="5016618"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sz="2800">
                <a:solidFill>
                  <a:srgbClr val="FF0000"/>
                </a:solidFill>
              </a:rPr>
              <a:t>FAST FOURIER TRANSFORM (FFT)</a:t>
            </a:r>
          </a:p>
        </p:txBody>
      </p:sp>
      <p:pic>
        <p:nvPicPr>
          <p:cNvPr id="6" name="Picture 5">
            <a:extLst>
              <a:ext uri="{FF2B5EF4-FFF2-40B4-BE49-F238E27FC236}">
                <a16:creationId xmlns:a16="http://schemas.microsoft.com/office/drawing/2014/main" id="{2D114EC9-6F4A-F8B8-CE03-6653075447F3}"/>
              </a:ext>
            </a:extLst>
          </p:cNvPr>
          <p:cNvPicPr>
            <a:picLocks noChangeAspect="1"/>
          </p:cNvPicPr>
          <p:nvPr/>
        </p:nvPicPr>
        <p:blipFill>
          <a:blip r:embed="rId6"/>
          <a:stretch>
            <a:fillRect/>
          </a:stretch>
        </p:blipFill>
        <p:spPr>
          <a:xfrm>
            <a:off x="7046185" y="1031246"/>
            <a:ext cx="5042352" cy="2757148"/>
          </a:xfrm>
          <a:prstGeom prst="rect">
            <a:avLst/>
          </a:prstGeom>
        </p:spPr>
      </p:pic>
    </p:spTree>
    <p:extLst>
      <p:ext uri="{BB962C8B-B14F-4D97-AF65-F5344CB8AC3E}">
        <p14:creationId xmlns:p14="http://schemas.microsoft.com/office/powerpoint/2010/main" val="6003232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315028" y="464955"/>
            <a:ext cx="5335105" cy="381684"/>
          </a:xfrm>
        </p:spPr>
        <p:txBody>
          <a:bodyPr/>
          <a:lstStyle/>
          <a:p>
            <a:r>
              <a:rPr lang="en-US" sz="2800" b="1"/>
              <a:t>7</a:t>
            </a:r>
          </a:p>
        </p:txBody>
      </p:sp>
      <p:sp>
        <p:nvSpPr>
          <p:cNvPr id="5" name="TextBox 4"/>
          <p:cNvSpPr txBox="1"/>
          <p:nvPr/>
        </p:nvSpPr>
        <p:spPr>
          <a:xfrm>
            <a:off x="0" y="2081203"/>
            <a:ext cx="12192000" cy="2523768"/>
          </a:xfrm>
          <a:prstGeom prst="rect">
            <a:avLst/>
          </a:prstGeom>
          <a:noFill/>
        </p:spPr>
        <p:txBody>
          <a:bodyPr wrap="square" rtlCol="0">
            <a:spAutoFit/>
          </a:bodyPr>
          <a:lstStyle/>
          <a:p>
            <a:r>
              <a:rPr lang="en-US" sz="1400"/>
              <a:t>   </a:t>
            </a:r>
            <a:r>
              <a:rPr lang="en-US" sz="2400" b="1"/>
              <a:t>Sine and Cosine Waves  </a:t>
            </a:r>
          </a:p>
          <a:p>
            <a:endParaRPr lang="en-US" sz="1400"/>
          </a:p>
          <a:p>
            <a:r>
              <a:rPr lang="en-US" sz="2000" b="1">
                <a:solidFill>
                  <a:srgbClr val="FF0000"/>
                </a:solidFill>
              </a:rPr>
              <a:t> </a:t>
            </a:r>
            <a:r>
              <a:rPr lang="en-US" sz="2000"/>
              <a:t> Complex wave </a:t>
            </a:r>
            <a:r>
              <a:rPr lang="en-US" sz="2000">
                <a:sym typeface="Wingdings" panose="05000000000000000000" pitchFamily="2" charset="2"/>
              </a:rPr>
              <a:t> Combination of simpler sine and cosine waves of different frequencies and amplitude. </a:t>
            </a:r>
            <a:endParaRPr lang="en-US" sz="2000"/>
          </a:p>
          <a:p>
            <a:endParaRPr lang="en-US" sz="2000"/>
          </a:p>
          <a:p>
            <a:r>
              <a:rPr lang="en-US" sz="2000"/>
              <a:t> </a:t>
            </a:r>
            <a:r>
              <a:rPr lang="en-US" sz="2000">
                <a:sym typeface="Wingdings" panose="05000000000000000000" pitchFamily="2" charset="2"/>
              </a:rPr>
              <a:t> “any periodic (or regularly repeating) wave, however complicated , can be described in terms of an </a:t>
            </a:r>
          </a:p>
          <a:p>
            <a:r>
              <a:rPr lang="en-US" sz="2000">
                <a:sym typeface="Wingdings" panose="05000000000000000000" pitchFamily="2" charset="2"/>
              </a:rPr>
              <a:t>        infinite number of sine waves(of various amplitudes and phases) added together”</a:t>
            </a:r>
            <a:endParaRPr lang="en-US" sz="2000"/>
          </a:p>
          <a:p>
            <a:r>
              <a:rPr lang="en-US" sz="2000"/>
              <a:t>  </a:t>
            </a:r>
            <a:endParaRPr lang="en-US" sz="2000" b="1"/>
          </a:p>
          <a:p>
            <a:endParaRPr lang="en-US" sz="2000" b="1"/>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111"/>
            <a:ext cx="726363" cy="993731"/>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9168" y="562031"/>
            <a:ext cx="1088136" cy="377952"/>
          </a:xfrm>
          <a:prstGeom prst="rect">
            <a:avLst/>
          </a:prstGeom>
        </p:spPr>
      </p:pic>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06286" y="-10992"/>
            <a:ext cx="685714" cy="419048"/>
          </a:xfrm>
          <a:prstGeom prst="rect">
            <a:avLst/>
          </a:prstGeom>
        </p:spPr>
      </p:pic>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18" name="Rounded Rectangle 18">
            <a:extLst>
              <a:ext uri="{FF2B5EF4-FFF2-40B4-BE49-F238E27FC236}">
                <a16:creationId xmlns:a16="http://schemas.microsoft.com/office/drawing/2014/main" id="{23A96D9D-8128-478A-A3C2-1F87CF6289ED}"/>
              </a:ext>
            </a:extLst>
          </p:cNvPr>
          <p:cNvSpPr/>
          <p:nvPr/>
        </p:nvSpPr>
        <p:spPr>
          <a:xfrm>
            <a:off x="0" y="1060759"/>
            <a:ext cx="3338818"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sz="2800">
                <a:solidFill>
                  <a:srgbClr val="FF0000"/>
                </a:solidFill>
              </a:rPr>
              <a:t>FOURIER THEOREM</a:t>
            </a:r>
          </a:p>
        </p:txBody>
      </p:sp>
      <p:pic>
        <p:nvPicPr>
          <p:cNvPr id="6" name="Picture 5">
            <a:extLst>
              <a:ext uri="{FF2B5EF4-FFF2-40B4-BE49-F238E27FC236}">
                <a16:creationId xmlns:a16="http://schemas.microsoft.com/office/drawing/2014/main" id="{91A1484C-AE70-B3E6-0EC3-C594B98BABC8}"/>
              </a:ext>
            </a:extLst>
          </p:cNvPr>
          <p:cNvPicPr>
            <a:picLocks noChangeAspect="1"/>
          </p:cNvPicPr>
          <p:nvPr/>
        </p:nvPicPr>
        <p:blipFill>
          <a:blip r:embed="rId6"/>
          <a:stretch>
            <a:fillRect/>
          </a:stretch>
        </p:blipFill>
        <p:spPr>
          <a:xfrm>
            <a:off x="3680538" y="4252384"/>
            <a:ext cx="4562475" cy="1905000"/>
          </a:xfrm>
          <a:prstGeom prst="rect">
            <a:avLst/>
          </a:prstGeom>
        </p:spPr>
      </p:pic>
    </p:spTree>
    <p:extLst>
      <p:ext uri="{BB962C8B-B14F-4D97-AF65-F5344CB8AC3E}">
        <p14:creationId xmlns:p14="http://schemas.microsoft.com/office/powerpoint/2010/main" val="199256384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315028" y="464955"/>
            <a:ext cx="5335105" cy="381684"/>
          </a:xfrm>
        </p:spPr>
        <p:txBody>
          <a:bodyPr/>
          <a:lstStyle/>
          <a:p>
            <a:r>
              <a:rPr lang="en-US" sz="2800" b="1"/>
              <a:t>8</a:t>
            </a:r>
          </a:p>
        </p:txBody>
      </p:sp>
      <p:sp>
        <p:nvSpPr>
          <p:cNvPr id="5" name="TextBox 4"/>
          <p:cNvSpPr txBox="1"/>
          <p:nvPr/>
        </p:nvSpPr>
        <p:spPr>
          <a:xfrm>
            <a:off x="0" y="2081203"/>
            <a:ext cx="12192000" cy="3447098"/>
          </a:xfrm>
          <a:prstGeom prst="rect">
            <a:avLst/>
          </a:prstGeom>
          <a:noFill/>
        </p:spPr>
        <p:txBody>
          <a:bodyPr wrap="square" rtlCol="0">
            <a:spAutoFit/>
          </a:bodyPr>
          <a:lstStyle/>
          <a:p>
            <a:r>
              <a:rPr lang="en-US" sz="1400"/>
              <a:t>   </a:t>
            </a:r>
            <a:r>
              <a:rPr lang="en-US" sz="2400" b="1"/>
              <a:t>Discrete Fourier Transform  </a:t>
            </a:r>
          </a:p>
          <a:p>
            <a:endParaRPr lang="en-US" sz="1400"/>
          </a:p>
          <a:p>
            <a:r>
              <a:rPr lang="en-US" sz="2000" b="1">
                <a:solidFill>
                  <a:srgbClr val="FF0000"/>
                </a:solidFill>
              </a:rPr>
              <a:t> </a:t>
            </a:r>
            <a:r>
              <a:rPr lang="en-US" sz="2000"/>
              <a:t> </a:t>
            </a:r>
          </a:p>
          <a:p>
            <a:r>
              <a:rPr lang="en-US" sz="2000"/>
              <a:t>Mathematical tool – Transform </a:t>
            </a:r>
            <a:r>
              <a:rPr lang="en-US" sz="2000" b="1"/>
              <a:t>discrete signal </a:t>
            </a:r>
            <a:r>
              <a:rPr lang="en-US" sz="2000"/>
              <a:t>(numbers sequence representing signal at different points in time)     to </a:t>
            </a:r>
            <a:r>
              <a:rPr lang="en-US" sz="2000" b="1"/>
              <a:t>frequency components</a:t>
            </a:r>
            <a:r>
              <a:rPr lang="en-US" sz="2000"/>
              <a:t>.  </a:t>
            </a:r>
          </a:p>
          <a:p>
            <a:endParaRPr lang="en-US" sz="2000"/>
          </a:p>
          <a:p>
            <a:endParaRPr lang="en-US" sz="2000"/>
          </a:p>
          <a:p>
            <a:endParaRPr lang="en-US" sz="2000"/>
          </a:p>
          <a:p>
            <a:r>
              <a:rPr lang="en-US" sz="2000"/>
              <a:t> Large datasets  </a:t>
            </a:r>
            <a:r>
              <a:rPr lang="en-US" sz="2000">
                <a:sym typeface="Wingdings" panose="05000000000000000000" pitchFamily="2" charset="2"/>
              </a:rPr>
              <a:t> DFF is computational expensive. </a:t>
            </a:r>
            <a:r>
              <a:rPr lang="en-US" sz="2000" b="1"/>
              <a:t> </a:t>
            </a:r>
          </a:p>
          <a:p>
            <a:endParaRPr lang="en-US" sz="2000" b="1"/>
          </a:p>
          <a:p>
            <a:endParaRPr lang="en-US" sz="2000" b="1"/>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111"/>
            <a:ext cx="726363" cy="993731"/>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9168" y="562031"/>
            <a:ext cx="1088136" cy="377952"/>
          </a:xfrm>
          <a:prstGeom prst="rect">
            <a:avLst/>
          </a:prstGeom>
        </p:spPr>
      </p:pic>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06286" y="-10992"/>
            <a:ext cx="685714" cy="419048"/>
          </a:xfrm>
          <a:prstGeom prst="rect">
            <a:avLst/>
          </a:prstGeom>
        </p:spPr>
      </p:pic>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18" name="Rounded Rectangle 18">
            <a:extLst>
              <a:ext uri="{FF2B5EF4-FFF2-40B4-BE49-F238E27FC236}">
                <a16:creationId xmlns:a16="http://schemas.microsoft.com/office/drawing/2014/main" id="{23A96D9D-8128-478A-A3C2-1F87CF6289ED}"/>
              </a:ext>
            </a:extLst>
          </p:cNvPr>
          <p:cNvSpPr/>
          <p:nvPr/>
        </p:nvSpPr>
        <p:spPr>
          <a:xfrm>
            <a:off x="0" y="1060759"/>
            <a:ext cx="6096000"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sz="2800">
                <a:solidFill>
                  <a:srgbClr val="FF0000"/>
                </a:solidFill>
              </a:rPr>
              <a:t>DISCRETE FOURIER TRANSFORM (DFT)</a:t>
            </a:r>
          </a:p>
        </p:txBody>
      </p:sp>
      <p:pic>
        <p:nvPicPr>
          <p:cNvPr id="6" name="Picture 5">
            <a:extLst>
              <a:ext uri="{FF2B5EF4-FFF2-40B4-BE49-F238E27FC236}">
                <a16:creationId xmlns:a16="http://schemas.microsoft.com/office/drawing/2014/main" id="{80CA6141-7CAE-1085-F18E-E58D9D696CAB}"/>
              </a:ext>
            </a:extLst>
          </p:cNvPr>
          <p:cNvPicPr>
            <a:picLocks noChangeAspect="1"/>
          </p:cNvPicPr>
          <p:nvPr/>
        </p:nvPicPr>
        <p:blipFill>
          <a:blip r:embed="rId6"/>
          <a:stretch>
            <a:fillRect/>
          </a:stretch>
        </p:blipFill>
        <p:spPr>
          <a:xfrm>
            <a:off x="8636160" y="3555993"/>
            <a:ext cx="3463327" cy="2516828"/>
          </a:xfrm>
          <a:prstGeom prst="rect">
            <a:avLst/>
          </a:prstGeom>
        </p:spPr>
      </p:pic>
    </p:spTree>
    <p:extLst>
      <p:ext uri="{BB962C8B-B14F-4D97-AF65-F5344CB8AC3E}">
        <p14:creationId xmlns:p14="http://schemas.microsoft.com/office/powerpoint/2010/main" val="59393134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315028" y="464955"/>
            <a:ext cx="5335105" cy="381684"/>
          </a:xfrm>
        </p:spPr>
        <p:txBody>
          <a:bodyPr/>
          <a:lstStyle/>
          <a:p>
            <a:r>
              <a:rPr lang="en-US" sz="2800" b="1"/>
              <a:t>9</a:t>
            </a:r>
          </a:p>
        </p:txBody>
      </p:sp>
      <p:sp>
        <p:nvSpPr>
          <p:cNvPr id="5" name="TextBox 4"/>
          <p:cNvSpPr txBox="1"/>
          <p:nvPr/>
        </p:nvSpPr>
        <p:spPr>
          <a:xfrm>
            <a:off x="0" y="2081203"/>
            <a:ext cx="12192000" cy="3877985"/>
          </a:xfrm>
          <a:prstGeom prst="rect">
            <a:avLst/>
          </a:prstGeom>
          <a:noFill/>
        </p:spPr>
        <p:txBody>
          <a:bodyPr wrap="square" rtlCol="0">
            <a:spAutoFit/>
          </a:bodyPr>
          <a:lstStyle/>
          <a:p>
            <a:r>
              <a:rPr lang="en-US" sz="1400"/>
              <a:t>   </a:t>
            </a:r>
            <a:r>
              <a:rPr lang="en-US" sz="2400" b="1"/>
              <a:t>Divide and Conquer Approach   </a:t>
            </a:r>
          </a:p>
          <a:p>
            <a:endParaRPr lang="en-US" sz="1400"/>
          </a:p>
          <a:p>
            <a:endParaRPr lang="en-US" sz="1400"/>
          </a:p>
          <a:p>
            <a:endParaRPr lang="en-US" sz="1400"/>
          </a:p>
          <a:p>
            <a:r>
              <a:rPr lang="en-US" sz="2000" b="1">
                <a:solidFill>
                  <a:srgbClr val="FF0000"/>
                </a:solidFill>
              </a:rPr>
              <a:t> </a:t>
            </a:r>
            <a:r>
              <a:rPr lang="en-US" sz="2000"/>
              <a:t> FFT – Dividing signals into smaller components. </a:t>
            </a:r>
          </a:p>
          <a:p>
            <a:endParaRPr lang="en-US" sz="2000"/>
          </a:p>
          <a:p>
            <a:endParaRPr lang="en-US" sz="2000"/>
          </a:p>
          <a:p>
            <a:endParaRPr lang="en-US" sz="2000"/>
          </a:p>
          <a:p>
            <a:r>
              <a:rPr lang="en-US" sz="2000"/>
              <a:t> Recursively use DFF on smaller components then combining the results.  </a:t>
            </a:r>
          </a:p>
          <a:p>
            <a:endParaRPr lang="en-US" sz="2000"/>
          </a:p>
          <a:p>
            <a:r>
              <a:rPr lang="en-US" sz="2000"/>
              <a:t> </a:t>
            </a:r>
            <a:endParaRPr lang="en-US" sz="2000" b="1"/>
          </a:p>
          <a:p>
            <a:endParaRPr lang="en-US" sz="2000" b="1"/>
          </a:p>
          <a:p>
            <a:endParaRPr lang="en-US" sz="2000" b="1"/>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111"/>
            <a:ext cx="726363" cy="993731"/>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9168" y="562031"/>
            <a:ext cx="1088136" cy="377952"/>
          </a:xfrm>
          <a:prstGeom prst="rect">
            <a:avLst/>
          </a:prstGeom>
        </p:spPr>
      </p:pic>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06286" y="-10992"/>
            <a:ext cx="685714" cy="419048"/>
          </a:xfrm>
          <a:prstGeom prst="rect">
            <a:avLst/>
          </a:prstGeom>
        </p:spPr>
      </p:pic>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18" name="Rounded Rectangle 18">
            <a:extLst>
              <a:ext uri="{FF2B5EF4-FFF2-40B4-BE49-F238E27FC236}">
                <a16:creationId xmlns:a16="http://schemas.microsoft.com/office/drawing/2014/main" id="{23A96D9D-8128-478A-A3C2-1F87CF6289ED}"/>
              </a:ext>
            </a:extLst>
          </p:cNvPr>
          <p:cNvSpPr/>
          <p:nvPr/>
        </p:nvSpPr>
        <p:spPr>
          <a:xfrm>
            <a:off x="-1" y="1060759"/>
            <a:ext cx="3942827"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sz="2800">
                <a:solidFill>
                  <a:srgbClr val="FF0000"/>
                </a:solidFill>
              </a:rPr>
              <a:t>ALGORITHM APPROACH</a:t>
            </a:r>
          </a:p>
        </p:txBody>
      </p:sp>
      <p:pic>
        <p:nvPicPr>
          <p:cNvPr id="6" name="Picture 5">
            <a:extLst>
              <a:ext uri="{FF2B5EF4-FFF2-40B4-BE49-F238E27FC236}">
                <a16:creationId xmlns:a16="http://schemas.microsoft.com/office/drawing/2014/main" id="{65017F13-BC3B-3202-E641-FAAAF2C57F9F}"/>
              </a:ext>
            </a:extLst>
          </p:cNvPr>
          <p:cNvPicPr>
            <a:picLocks noChangeAspect="1"/>
          </p:cNvPicPr>
          <p:nvPr/>
        </p:nvPicPr>
        <p:blipFill>
          <a:blip r:embed="rId6"/>
          <a:stretch>
            <a:fillRect/>
          </a:stretch>
        </p:blipFill>
        <p:spPr>
          <a:xfrm>
            <a:off x="6772755" y="1138324"/>
            <a:ext cx="4996999" cy="2262323"/>
          </a:xfrm>
          <a:prstGeom prst="rect">
            <a:avLst/>
          </a:prstGeom>
        </p:spPr>
      </p:pic>
    </p:spTree>
    <p:extLst>
      <p:ext uri="{BB962C8B-B14F-4D97-AF65-F5344CB8AC3E}">
        <p14:creationId xmlns:p14="http://schemas.microsoft.com/office/powerpoint/2010/main" val="279378657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315028" y="464955"/>
            <a:ext cx="5335105" cy="381684"/>
          </a:xfrm>
        </p:spPr>
        <p:txBody>
          <a:bodyPr/>
          <a:lstStyle/>
          <a:p>
            <a:r>
              <a:rPr lang="en-US" sz="2800" b="1"/>
              <a:t>4</a:t>
            </a:r>
          </a:p>
        </p:txBody>
      </p:sp>
      <p:sp>
        <p:nvSpPr>
          <p:cNvPr id="5" name="TextBox 4"/>
          <p:cNvSpPr txBox="1"/>
          <p:nvPr/>
        </p:nvSpPr>
        <p:spPr>
          <a:xfrm>
            <a:off x="0" y="2081203"/>
            <a:ext cx="12192000" cy="2339102"/>
          </a:xfrm>
          <a:prstGeom prst="rect">
            <a:avLst/>
          </a:prstGeom>
          <a:noFill/>
        </p:spPr>
        <p:txBody>
          <a:bodyPr wrap="square" rtlCol="0">
            <a:spAutoFit/>
          </a:bodyPr>
          <a:lstStyle/>
          <a:p>
            <a:r>
              <a:rPr lang="en-US" sz="1400"/>
              <a:t>   </a:t>
            </a:r>
            <a:r>
              <a:rPr lang="en-US" sz="2400" b="1"/>
              <a:t>Inverse Fast Fourier Transform  </a:t>
            </a:r>
          </a:p>
          <a:p>
            <a:endParaRPr lang="en-US" sz="1400"/>
          </a:p>
          <a:p>
            <a:endParaRPr lang="en-US" sz="1400"/>
          </a:p>
          <a:p>
            <a:endParaRPr lang="en-US" sz="1400"/>
          </a:p>
          <a:p>
            <a:r>
              <a:rPr lang="en-US" sz="2000" b="1">
                <a:solidFill>
                  <a:srgbClr val="FF0000"/>
                </a:solidFill>
              </a:rPr>
              <a:t> </a:t>
            </a:r>
            <a:r>
              <a:rPr lang="en-US" sz="2000"/>
              <a:t> IFFT – Transform the signal back to time domain from frequency domain.</a:t>
            </a:r>
          </a:p>
          <a:p>
            <a:endParaRPr lang="en-US" sz="2000" b="1"/>
          </a:p>
          <a:p>
            <a:endParaRPr lang="en-US" sz="2000" b="1"/>
          </a:p>
          <a:p>
            <a:endParaRPr lang="en-US" sz="2000" b="1"/>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111"/>
            <a:ext cx="726363" cy="993731"/>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9168" y="562031"/>
            <a:ext cx="1088136" cy="377952"/>
          </a:xfrm>
          <a:prstGeom prst="rect">
            <a:avLst/>
          </a:prstGeom>
        </p:spPr>
      </p:pic>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06286" y="-10992"/>
            <a:ext cx="685714" cy="419048"/>
          </a:xfrm>
          <a:prstGeom prst="rect">
            <a:avLst/>
          </a:prstGeom>
        </p:spPr>
      </p:pic>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18" name="Rounded Rectangle 18">
            <a:extLst>
              <a:ext uri="{FF2B5EF4-FFF2-40B4-BE49-F238E27FC236}">
                <a16:creationId xmlns:a16="http://schemas.microsoft.com/office/drawing/2014/main" id="{23A96D9D-8128-478A-A3C2-1F87CF6289ED}"/>
              </a:ext>
            </a:extLst>
          </p:cNvPr>
          <p:cNvSpPr/>
          <p:nvPr/>
        </p:nvSpPr>
        <p:spPr>
          <a:xfrm>
            <a:off x="0" y="1060759"/>
            <a:ext cx="6451134"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sz="2800">
                <a:solidFill>
                  <a:srgbClr val="FF0000"/>
                </a:solidFill>
              </a:rPr>
              <a:t>INVERSE FAST FOURIER TRANSFORM (IFFT)</a:t>
            </a:r>
          </a:p>
        </p:txBody>
      </p:sp>
    </p:spTree>
    <p:extLst>
      <p:ext uri="{BB962C8B-B14F-4D97-AF65-F5344CB8AC3E}">
        <p14:creationId xmlns:p14="http://schemas.microsoft.com/office/powerpoint/2010/main" val="359844612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315028" y="464955"/>
            <a:ext cx="5335105" cy="381684"/>
          </a:xfrm>
        </p:spPr>
        <p:txBody>
          <a:bodyPr/>
          <a:lstStyle/>
          <a:p>
            <a:r>
              <a:rPr lang="en-US" sz="2800" b="1"/>
              <a:t>11</a:t>
            </a:r>
          </a:p>
        </p:txBody>
      </p:sp>
      <p:sp>
        <p:nvSpPr>
          <p:cNvPr id="5" name="TextBox 4"/>
          <p:cNvSpPr txBox="1"/>
          <p:nvPr/>
        </p:nvSpPr>
        <p:spPr>
          <a:xfrm>
            <a:off x="0" y="2081203"/>
            <a:ext cx="12192000" cy="4370427"/>
          </a:xfrm>
          <a:prstGeom prst="rect">
            <a:avLst/>
          </a:prstGeom>
          <a:noFill/>
        </p:spPr>
        <p:txBody>
          <a:bodyPr wrap="square" rtlCol="0">
            <a:spAutoFit/>
          </a:bodyPr>
          <a:lstStyle/>
          <a:p>
            <a:r>
              <a:rPr lang="en-US" sz="1400"/>
              <a:t>   </a:t>
            </a:r>
            <a:r>
              <a:rPr lang="en-US" sz="2400" b="1"/>
              <a:t>Fourier Transform   </a:t>
            </a:r>
          </a:p>
          <a:p>
            <a:endParaRPr lang="en-US" sz="1400"/>
          </a:p>
          <a:p>
            <a:r>
              <a:rPr lang="en-US" sz="2000" b="1">
                <a:solidFill>
                  <a:srgbClr val="FF0000"/>
                </a:solidFill>
              </a:rPr>
              <a:t> </a:t>
            </a:r>
            <a:r>
              <a:rPr lang="en-US" sz="2000"/>
              <a:t> Applicability –  used for non </a:t>
            </a:r>
            <a:r>
              <a:rPr lang="en-US" sz="2000" b="1"/>
              <a:t>periodic signals</a:t>
            </a:r>
            <a:r>
              <a:rPr lang="en-US" sz="2000"/>
              <a:t>. Signal extend infinite in time. </a:t>
            </a:r>
            <a:r>
              <a:rPr lang="en-US" sz="2000" err="1"/>
              <a:t>Eg.</a:t>
            </a:r>
            <a:r>
              <a:rPr lang="en-US" sz="2000"/>
              <a:t> Continuous audio signal</a:t>
            </a:r>
          </a:p>
          <a:p>
            <a:r>
              <a:rPr lang="en-US" sz="2000"/>
              <a:t> </a:t>
            </a:r>
          </a:p>
          <a:p>
            <a:r>
              <a:rPr lang="en-US" sz="2000"/>
              <a:t>  Representation – represents signal in continuous function in the frequency domain. Shows how much of </a:t>
            </a:r>
          </a:p>
          <a:p>
            <a:r>
              <a:rPr lang="en-US" sz="2000"/>
              <a:t>                               each frequency component present in a signal.</a:t>
            </a:r>
          </a:p>
          <a:p>
            <a:r>
              <a:rPr lang="en-US" sz="2000"/>
              <a:t> </a:t>
            </a:r>
          </a:p>
          <a:p>
            <a:r>
              <a:rPr lang="en-US" sz="2000"/>
              <a:t>  Time –frequency Duality  - provide information of both frequency content and time-domain behavior </a:t>
            </a:r>
          </a:p>
          <a:p>
            <a:r>
              <a:rPr lang="en-US" sz="2000"/>
              <a:t>                                             of signal. Easy to see how different frequencies are distributed over time. </a:t>
            </a:r>
          </a:p>
          <a:p>
            <a:endParaRPr lang="en-US" sz="2000"/>
          </a:p>
          <a:p>
            <a:r>
              <a:rPr lang="en-US" sz="2000"/>
              <a:t>  Continuous Frequencies -  Consider all possible frequencies in a continuous range. </a:t>
            </a:r>
          </a:p>
          <a:p>
            <a:endParaRPr lang="en-US" sz="2000" b="1"/>
          </a:p>
          <a:p>
            <a:r>
              <a:rPr lang="en-US" sz="2000" b="1"/>
              <a:t>   application example </a:t>
            </a:r>
            <a:r>
              <a:rPr lang="en-US" sz="2000" b="1">
                <a:sym typeface="Wingdings" panose="05000000000000000000" pitchFamily="2" charset="2"/>
              </a:rPr>
              <a:t> Pitch detection algorithm (when playing a piano)</a:t>
            </a:r>
            <a:endParaRPr lang="en-US" sz="2000" b="1"/>
          </a:p>
          <a:p>
            <a:endParaRPr lang="en-US" sz="2000" b="1"/>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111"/>
            <a:ext cx="726363" cy="993731"/>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9168" y="562031"/>
            <a:ext cx="1088136" cy="377952"/>
          </a:xfrm>
          <a:prstGeom prst="rect">
            <a:avLst/>
          </a:prstGeom>
        </p:spPr>
      </p:pic>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06286" y="-10992"/>
            <a:ext cx="685714" cy="419048"/>
          </a:xfrm>
          <a:prstGeom prst="rect">
            <a:avLst/>
          </a:prstGeom>
        </p:spPr>
      </p:pic>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18" name="Rounded Rectangle 18">
            <a:extLst>
              <a:ext uri="{FF2B5EF4-FFF2-40B4-BE49-F238E27FC236}">
                <a16:creationId xmlns:a16="http://schemas.microsoft.com/office/drawing/2014/main" id="{23A96D9D-8128-478A-A3C2-1F87CF6289ED}"/>
              </a:ext>
            </a:extLst>
          </p:cNvPr>
          <p:cNvSpPr/>
          <p:nvPr/>
        </p:nvSpPr>
        <p:spPr>
          <a:xfrm>
            <a:off x="0" y="1060759"/>
            <a:ext cx="3548543" cy="52686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sz="2800">
                <a:solidFill>
                  <a:srgbClr val="FF0000"/>
                </a:solidFill>
              </a:rPr>
              <a:t>FOURIER TRANSFORM</a:t>
            </a:r>
          </a:p>
        </p:txBody>
      </p:sp>
      <p:pic>
        <p:nvPicPr>
          <p:cNvPr id="6" name="Picture 5">
            <a:extLst>
              <a:ext uri="{FF2B5EF4-FFF2-40B4-BE49-F238E27FC236}">
                <a16:creationId xmlns:a16="http://schemas.microsoft.com/office/drawing/2014/main" id="{5E68368E-6940-8B0D-0D6A-9A72C0827BB6}"/>
              </a:ext>
            </a:extLst>
          </p:cNvPr>
          <p:cNvPicPr>
            <a:picLocks noChangeAspect="1"/>
          </p:cNvPicPr>
          <p:nvPr/>
        </p:nvPicPr>
        <p:blipFill>
          <a:blip r:embed="rId6"/>
          <a:stretch>
            <a:fillRect/>
          </a:stretch>
        </p:blipFill>
        <p:spPr>
          <a:xfrm>
            <a:off x="8537415" y="1031246"/>
            <a:ext cx="3458842" cy="1649328"/>
          </a:xfrm>
          <a:prstGeom prst="rect">
            <a:avLst/>
          </a:prstGeom>
        </p:spPr>
      </p:pic>
    </p:spTree>
    <p:extLst>
      <p:ext uri="{BB962C8B-B14F-4D97-AF65-F5344CB8AC3E}">
        <p14:creationId xmlns:p14="http://schemas.microsoft.com/office/powerpoint/2010/main" val="262005067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300279" y="464955"/>
            <a:ext cx="5267373" cy="381684"/>
          </a:xfrm>
        </p:spPr>
        <p:txBody>
          <a:bodyPr/>
          <a:lstStyle/>
          <a:p>
            <a:r>
              <a:rPr lang="en-US" sz="2400" b="1"/>
              <a:t>18</a:t>
            </a:r>
          </a:p>
        </p:txBody>
      </p:sp>
      <p:sp>
        <p:nvSpPr>
          <p:cNvPr id="5" name="TextBox 4"/>
          <p:cNvSpPr txBox="1"/>
          <p:nvPr/>
        </p:nvSpPr>
        <p:spPr>
          <a:xfrm>
            <a:off x="-1" y="1434443"/>
            <a:ext cx="12101689" cy="2836097"/>
          </a:xfrm>
          <a:prstGeom prst="rect">
            <a:avLst/>
          </a:prstGeom>
          <a:noFill/>
        </p:spPr>
        <p:txBody>
          <a:bodyPr wrap="square" rtlCol="0">
            <a:spAutoFit/>
          </a:bodyPr>
          <a:lstStyle/>
          <a:p>
            <a:r>
              <a:rPr lang="en-US" sz="2000">
                <a:sym typeface="Wingdings" panose="05000000000000000000" pitchFamily="2" charset="2"/>
              </a:rPr>
              <a:t> </a:t>
            </a:r>
          </a:p>
          <a:p>
            <a:pPr>
              <a:lnSpc>
                <a:spcPct val="150000"/>
              </a:lnSpc>
            </a:pPr>
            <a:endParaRPr lang="en-US" sz="2000">
              <a:sym typeface="Wingdings" panose="05000000000000000000" pitchFamily="2" charset="2"/>
            </a:endParaRPr>
          </a:p>
          <a:p>
            <a:pPr>
              <a:lnSpc>
                <a:spcPct val="150000"/>
              </a:lnSpc>
            </a:pPr>
            <a:endParaRPr lang="en-US" sz="2000">
              <a:sym typeface="Wingdings" panose="05000000000000000000" pitchFamily="2" charset="2"/>
            </a:endParaRPr>
          </a:p>
          <a:p>
            <a:pPr>
              <a:lnSpc>
                <a:spcPct val="150000"/>
              </a:lnSpc>
            </a:pPr>
            <a:endParaRPr lang="en-US" sz="2800">
              <a:sym typeface="Wingdings" panose="05000000000000000000" pitchFamily="2" charset="2"/>
            </a:endParaRPr>
          </a:p>
          <a:p>
            <a:pPr>
              <a:lnSpc>
                <a:spcPct val="150000"/>
              </a:lnSpc>
            </a:pPr>
            <a:r>
              <a:rPr lang="en-US" sz="2000">
                <a:sym typeface="Wingdings" panose="05000000000000000000" pitchFamily="2" charset="2"/>
              </a:rPr>
              <a:t>                                                                                                      </a:t>
            </a:r>
            <a:endParaRPr lang="en-US" sz="2000"/>
          </a:p>
          <a:p>
            <a:pPr marL="342900" indent="-342900">
              <a:lnSpc>
                <a:spcPct val="150000"/>
              </a:lnSpc>
              <a:buFont typeface="Arial" panose="020B0604020202020204" pitchFamily="34" charset="0"/>
              <a:buChar char="•"/>
            </a:pPr>
            <a:endParaRPr lang="en-US" sz="2000"/>
          </a:p>
        </p:txBody>
      </p:sp>
      <p:sp>
        <p:nvSpPr>
          <p:cNvPr id="2" name="Text Placeholder 1"/>
          <p:cNvSpPr>
            <a:spLocks noGrp="1"/>
          </p:cNvSpPr>
          <p:nvPr>
            <p:ph type="body" sz="quarter" idx="14"/>
          </p:nvPr>
        </p:nvSpPr>
        <p:spPr/>
        <p:txBody>
          <a:bodyPr/>
          <a:lstStyle/>
          <a:p>
            <a:endParaRPr lang="en-US"/>
          </a:p>
        </p:txBody>
      </p:sp>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111"/>
            <a:ext cx="726363" cy="993731"/>
          </a:xfrm>
          <a:prstGeom prst="rect">
            <a:avLst/>
          </a:prstGeom>
        </p:spPr>
      </p:pic>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9168" y="562031"/>
            <a:ext cx="1088136" cy="377952"/>
          </a:xfrm>
          <a:prstGeom prst="rect">
            <a:avLst/>
          </a:prstGeom>
        </p:spPr>
      </p:pic>
      <p:cxnSp>
        <p:nvCxnSpPr>
          <p:cNvPr id="16" name="Straight Connector 15"/>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pic>
        <p:nvPicPr>
          <p:cNvPr id="17" name="Picture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06286" y="-10992"/>
            <a:ext cx="685714" cy="419048"/>
          </a:xfrm>
          <a:prstGeom prst="rect">
            <a:avLst/>
          </a:prstGeom>
        </p:spPr>
      </p:pic>
      <p:sp>
        <p:nvSpPr>
          <p:cNvPr id="18"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19" name="Straight Connector 18"/>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 name="Straight Connector 19"/>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ectangle 1"/>
          <p:cNvSpPr>
            <a:spLocks noChangeArrowheads="1"/>
          </p:cNvSpPr>
          <p:nvPr/>
        </p:nvSpPr>
        <p:spPr bwMode="auto">
          <a:xfrm>
            <a:off x="0" y="-253916"/>
            <a:ext cx="184731"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900" b="0" i="0" u="none" strike="noStrike" cap="none" normalizeH="0" baseline="0">
                <a:ln>
                  <a:noFill/>
                </a:ln>
                <a:solidFill>
                  <a:schemeClr val="tx1"/>
                </a:solidFill>
                <a:effectLst/>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 name="Rounded Rectangle 20">
            <a:extLst>
              <a:ext uri="{FF2B5EF4-FFF2-40B4-BE49-F238E27FC236}">
                <a16:creationId xmlns:a16="http://schemas.microsoft.com/office/drawing/2014/main" id="{36504B8E-D2BC-4149-973C-CD4662BAFEF0}"/>
              </a:ext>
            </a:extLst>
          </p:cNvPr>
          <p:cNvSpPr/>
          <p:nvPr/>
        </p:nvSpPr>
        <p:spPr>
          <a:xfrm>
            <a:off x="4268235" y="1028926"/>
            <a:ext cx="2840930" cy="463040"/>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sz="3200">
                <a:solidFill>
                  <a:srgbClr val="FF0000"/>
                </a:solidFill>
              </a:rPr>
              <a:t>Research Plan</a:t>
            </a:r>
          </a:p>
        </p:txBody>
      </p:sp>
      <p:sp>
        <p:nvSpPr>
          <p:cNvPr id="7" name="Oval 6">
            <a:extLst>
              <a:ext uri="{FF2B5EF4-FFF2-40B4-BE49-F238E27FC236}">
                <a16:creationId xmlns:a16="http://schemas.microsoft.com/office/drawing/2014/main" id="{5E7AE19F-E883-46C6-A117-278D3E905CB7}"/>
              </a:ext>
            </a:extLst>
          </p:cNvPr>
          <p:cNvSpPr/>
          <p:nvPr/>
        </p:nvSpPr>
        <p:spPr>
          <a:xfrm>
            <a:off x="507779" y="2001511"/>
            <a:ext cx="665056" cy="700773"/>
          </a:xfrm>
          <a:prstGeom prst="ellipse">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b="1"/>
              <a:t>1</a:t>
            </a:r>
          </a:p>
        </p:txBody>
      </p:sp>
      <p:sp>
        <p:nvSpPr>
          <p:cNvPr id="30" name="Oval 29">
            <a:extLst>
              <a:ext uri="{FF2B5EF4-FFF2-40B4-BE49-F238E27FC236}">
                <a16:creationId xmlns:a16="http://schemas.microsoft.com/office/drawing/2014/main" id="{DF5A9617-18FB-403F-A1A1-21973DCCDF86}"/>
              </a:ext>
            </a:extLst>
          </p:cNvPr>
          <p:cNvSpPr/>
          <p:nvPr/>
        </p:nvSpPr>
        <p:spPr>
          <a:xfrm>
            <a:off x="505282" y="2832300"/>
            <a:ext cx="649258" cy="654281"/>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b="1"/>
              <a:t>2</a:t>
            </a:r>
          </a:p>
        </p:txBody>
      </p:sp>
      <p:sp>
        <p:nvSpPr>
          <p:cNvPr id="32" name="Oval 31">
            <a:extLst>
              <a:ext uri="{FF2B5EF4-FFF2-40B4-BE49-F238E27FC236}">
                <a16:creationId xmlns:a16="http://schemas.microsoft.com/office/drawing/2014/main" id="{D794E267-0560-464B-8A1B-3290E964E5C5}"/>
              </a:ext>
            </a:extLst>
          </p:cNvPr>
          <p:cNvSpPr/>
          <p:nvPr/>
        </p:nvSpPr>
        <p:spPr>
          <a:xfrm>
            <a:off x="505282" y="3596509"/>
            <a:ext cx="649258" cy="657346"/>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b="1"/>
              <a:t>3</a:t>
            </a:r>
          </a:p>
        </p:txBody>
      </p:sp>
      <p:graphicFrame>
        <p:nvGraphicFramePr>
          <p:cNvPr id="8" name="Table 8">
            <a:extLst>
              <a:ext uri="{FF2B5EF4-FFF2-40B4-BE49-F238E27FC236}">
                <a16:creationId xmlns:a16="http://schemas.microsoft.com/office/drawing/2014/main" id="{840F4232-D481-4A95-A66C-4D54BBD3906D}"/>
              </a:ext>
            </a:extLst>
          </p:cNvPr>
          <p:cNvGraphicFramePr>
            <a:graphicFrameLocks noGrp="1"/>
          </p:cNvGraphicFramePr>
          <p:nvPr>
            <p:extLst>
              <p:ext uri="{D42A27DB-BD31-4B8C-83A1-F6EECF244321}">
                <p14:modId xmlns:p14="http://schemas.microsoft.com/office/powerpoint/2010/main" val="2516875534"/>
              </p:ext>
            </p:extLst>
          </p:nvPr>
        </p:nvGraphicFramePr>
        <p:xfrm>
          <a:off x="1309768" y="1814225"/>
          <a:ext cx="9989931" cy="2966720"/>
        </p:xfrm>
        <a:graphic>
          <a:graphicData uri="http://schemas.openxmlformats.org/drawingml/2006/table">
            <a:tbl>
              <a:tblPr firstRow="1" bandRow="1">
                <a:tableStyleId>{FABFCF23-3B69-468F-B69F-88F6DE6A72F2}</a:tableStyleId>
              </a:tblPr>
              <a:tblGrid>
                <a:gridCol w="2354470">
                  <a:extLst>
                    <a:ext uri="{9D8B030D-6E8A-4147-A177-3AD203B41FA5}">
                      <a16:colId xmlns:a16="http://schemas.microsoft.com/office/drawing/2014/main" val="2936963112"/>
                    </a:ext>
                  </a:extLst>
                </a:gridCol>
                <a:gridCol w="347323">
                  <a:extLst>
                    <a:ext uri="{9D8B030D-6E8A-4147-A177-3AD203B41FA5}">
                      <a16:colId xmlns:a16="http://schemas.microsoft.com/office/drawing/2014/main" val="68676634"/>
                    </a:ext>
                  </a:extLst>
                </a:gridCol>
                <a:gridCol w="860834">
                  <a:extLst>
                    <a:ext uri="{9D8B030D-6E8A-4147-A177-3AD203B41FA5}">
                      <a16:colId xmlns:a16="http://schemas.microsoft.com/office/drawing/2014/main" val="641325648"/>
                    </a:ext>
                  </a:extLst>
                </a:gridCol>
                <a:gridCol w="1258956">
                  <a:extLst>
                    <a:ext uri="{9D8B030D-6E8A-4147-A177-3AD203B41FA5}">
                      <a16:colId xmlns:a16="http://schemas.microsoft.com/office/drawing/2014/main" val="2119496380"/>
                    </a:ext>
                  </a:extLst>
                </a:gridCol>
                <a:gridCol w="1192696">
                  <a:extLst>
                    <a:ext uri="{9D8B030D-6E8A-4147-A177-3AD203B41FA5}">
                      <a16:colId xmlns:a16="http://schemas.microsoft.com/office/drawing/2014/main" val="2971418083"/>
                    </a:ext>
                  </a:extLst>
                </a:gridCol>
                <a:gridCol w="1139687">
                  <a:extLst>
                    <a:ext uri="{9D8B030D-6E8A-4147-A177-3AD203B41FA5}">
                      <a16:colId xmlns:a16="http://schemas.microsoft.com/office/drawing/2014/main" val="1605363376"/>
                    </a:ext>
                  </a:extLst>
                </a:gridCol>
                <a:gridCol w="1285461">
                  <a:extLst>
                    <a:ext uri="{9D8B030D-6E8A-4147-A177-3AD203B41FA5}">
                      <a16:colId xmlns:a16="http://schemas.microsoft.com/office/drawing/2014/main" val="2874721805"/>
                    </a:ext>
                  </a:extLst>
                </a:gridCol>
                <a:gridCol w="1550504">
                  <a:extLst>
                    <a:ext uri="{9D8B030D-6E8A-4147-A177-3AD203B41FA5}">
                      <a16:colId xmlns:a16="http://schemas.microsoft.com/office/drawing/2014/main" val="1590857811"/>
                    </a:ext>
                  </a:extLst>
                </a:gridCol>
              </a:tblGrid>
              <a:tr h="370840">
                <a:tc gridSpan="2">
                  <a:txBody>
                    <a:bodyPr/>
                    <a:lstStyle/>
                    <a:p>
                      <a:r>
                        <a:rPr lang="en-US"/>
                        <a:t>Activities/Timeframe</a:t>
                      </a:r>
                    </a:p>
                  </a:txBody>
                  <a:tcPr/>
                </a:tc>
                <a:tc hMerge="1">
                  <a:txBody>
                    <a:bodyPr/>
                    <a:lstStyle/>
                    <a:p>
                      <a:endParaRPr lang="en-US"/>
                    </a:p>
                  </a:txBody>
                  <a:tcPr/>
                </a:tc>
                <a:tc>
                  <a:txBody>
                    <a:bodyPr/>
                    <a:lstStyle/>
                    <a:p>
                      <a:r>
                        <a:rPr lang="en-US"/>
                        <a:t>June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July</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August</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Sept</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October</a:t>
                      </a:r>
                    </a:p>
                  </a:txBody>
                  <a:tcPr/>
                </a:tc>
                <a:tc>
                  <a:txBody>
                    <a:bodyPr/>
                    <a:lstStyle/>
                    <a:p>
                      <a:r>
                        <a:rPr lang="en-US"/>
                        <a:t>November</a:t>
                      </a:r>
                    </a:p>
                  </a:txBody>
                  <a:tcPr/>
                </a:tc>
                <a:extLst>
                  <a:ext uri="{0D108BD9-81ED-4DB2-BD59-A6C34878D82A}">
                    <a16:rowId xmlns:a16="http://schemas.microsoft.com/office/drawing/2014/main" val="1309448462"/>
                  </a:ext>
                </a:extLst>
              </a:tr>
              <a:tr h="370840">
                <a:tc gridSpan="8">
                  <a:txBody>
                    <a:bodyPr/>
                    <a:lstStyle/>
                    <a:p>
                      <a:r>
                        <a:rPr lang="en-US" b="1"/>
                        <a:t>STI_ Journal </a:t>
                      </a:r>
                      <a:r>
                        <a:rPr lang="en-US" sz="1800" b="1"/>
                        <a:t>3</a:t>
                      </a:r>
                      <a:r>
                        <a:rPr lang="en-US" sz="1800" b="1" baseline="30000"/>
                        <a:t>rd</a:t>
                      </a:r>
                      <a:r>
                        <a:rPr lang="en-US" sz="1800" b="1"/>
                        <a:t> re-</a:t>
                      </a:r>
                      <a:r>
                        <a:rPr lang="en-US" b="1"/>
                        <a:t> submission     </a:t>
                      </a:r>
                      <a:r>
                        <a:rPr lang="en-US" b="1">
                          <a:highlight>
                            <a:srgbClr val="FFFF00"/>
                          </a:highlight>
                        </a:rPr>
                        <a:t>----</a:t>
                      </a:r>
                      <a:r>
                        <a:rPr lang="en-US" b="1">
                          <a:highlight>
                            <a:srgbClr val="FFFF00"/>
                          </a:highlight>
                          <a:sym typeface="Wingdings" panose="05000000000000000000" pitchFamily="2" charset="2"/>
                        </a:rPr>
                        <a:t></a:t>
                      </a:r>
                      <a:r>
                        <a:rPr lang="en-US" b="1">
                          <a:sym typeface="Wingdings" panose="05000000000000000000" pitchFamily="2" charset="2"/>
                        </a:rPr>
                        <a:t>|     </a:t>
                      </a:r>
                      <a:endParaRPr lang="en-US" b="0"/>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57701247"/>
                  </a:ext>
                </a:extLst>
              </a:tr>
              <a:tr h="370840">
                <a:tc gridSpan="8">
                  <a:txBody>
                    <a:bodyPr/>
                    <a:lstStyle/>
                    <a:p>
                      <a:r>
                        <a:rPr lang="en-US" b="1"/>
                        <a:t>i. </a:t>
                      </a:r>
                      <a:r>
                        <a:rPr lang="en-US" b="0"/>
                        <a:t>Correct</a:t>
                      </a:r>
                      <a:r>
                        <a:rPr lang="en-US"/>
                        <a:t> and </a:t>
                      </a:r>
                      <a:r>
                        <a:rPr lang="en-US" b="1"/>
                        <a:t> </a:t>
                      </a:r>
                      <a:r>
                        <a:rPr lang="en-US"/>
                        <a:t>Improve the content quality     (</a:t>
                      </a:r>
                      <a:r>
                        <a:rPr lang="en-US">
                          <a:solidFill>
                            <a:srgbClr val="FF0000"/>
                          </a:solidFill>
                        </a:rPr>
                        <a:t>Previous-</a:t>
                      </a:r>
                      <a:r>
                        <a:rPr lang="en-US" baseline="0">
                          <a:solidFill>
                            <a:srgbClr val="FF0000"/>
                          </a:solidFill>
                        </a:rPr>
                        <a:t> research materials</a:t>
                      </a:r>
                      <a:r>
                        <a:rPr lang="en-US"/>
                        <a:t>) – on-going</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44158166"/>
                  </a:ext>
                </a:extLst>
              </a:tr>
              <a:tr h="370840">
                <a:tc gridSpan="8">
                  <a:txBody>
                    <a:bodyPr/>
                    <a:lstStyle/>
                    <a:p>
                      <a:r>
                        <a:rPr lang="en-US" b="1"/>
                        <a:t>IWMST- Conference           </a:t>
                      </a:r>
                      <a:r>
                        <a:rPr lang="en-US" b="1">
                          <a:highlight>
                            <a:srgbClr val="00FFFF"/>
                          </a:highlight>
                        </a:rPr>
                        <a:t>------------------------------------------</a:t>
                      </a:r>
                      <a:r>
                        <a:rPr lang="en-US" b="1">
                          <a:highlight>
                            <a:srgbClr val="00FFFF"/>
                          </a:highlight>
                          <a:sym typeface="Wingdings" panose="05000000000000000000" pitchFamily="2" charset="2"/>
                        </a:rPr>
                        <a:t></a:t>
                      </a:r>
                      <a:r>
                        <a:rPr lang="en-US" b="1">
                          <a:sym typeface="Wingdings" panose="05000000000000000000" pitchFamily="2" charset="2"/>
                        </a:rPr>
                        <a:t>|</a:t>
                      </a:r>
                      <a:endParaRPr lang="en-US" b="1"/>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730605424"/>
                  </a:ext>
                </a:extLst>
              </a:tr>
              <a:tr h="370840">
                <a:tc gridSpan="8">
                  <a:txBody>
                    <a:bodyPr/>
                    <a:lstStyle/>
                    <a:p>
                      <a:r>
                        <a:rPr lang="en-US" b="1" err="1"/>
                        <a:t>i</a:t>
                      </a:r>
                      <a:r>
                        <a:rPr lang="en-US" b="1"/>
                        <a:t>. </a:t>
                      </a:r>
                      <a:r>
                        <a:rPr lang="en-US"/>
                        <a:t> Submitted a  paper to report research progress</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77281520"/>
                  </a:ext>
                </a:extLst>
              </a:tr>
              <a:tr h="370840">
                <a:tc gridSpan="8">
                  <a:txBody>
                    <a:bodyPr/>
                    <a:lstStyle/>
                    <a:p>
                      <a:r>
                        <a:rPr lang="en-US" b="1"/>
                        <a:t>  </a:t>
                      </a:r>
                      <a:r>
                        <a:rPr lang="en-US" b="1" err="1"/>
                        <a:t>mdpi_Journal</a:t>
                      </a:r>
                      <a:r>
                        <a:rPr lang="en-US" b="1"/>
                        <a:t> submission                </a:t>
                      </a:r>
                      <a:r>
                        <a:rPr lang="en-US" b="1">
                          <a:highlight>
                            <a:srgbClr val="FF0000"/>
                          </a:highlight>
                        </a:rPr>
                        <a:t>---------------------------------------------------------------------</a:t>
                      </a:r>
                      <a:r>
                        <a:rPr lang="en-US" b="1">
                          <a:highlight>
                            <a:srgbClr val="FF0000"/>
                          </a:highlight>
                          <a:sym typeface="Wingdings" panose="05000000000000000000" pitchFamily="2" charset="2"/>
                        </a:rPr>
                        <a:t></a:t>
                      </a:r>
                      <a:endParaRPr lang="en-US" b="1">
                        <a:highlight>
                          <a:srgbClr val="FF0000"/>
                        </a:highlight>
                      </a:endParaRP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04411083"/>
                  </a:ext>
                </a:extLst>
              </a:tr>
              <a:tr h="370840">
                <a:tc gridSpan="8">
                  <a:txBody>
                    <a:bodyPr/>
                    <a:lstStyle/>
                    <a:p>
                      <a:r>
                        <a:rPr lang="en-US" b="1" err="1"/>
                        <a:t>i</a:t>
                      </a:r>
                      <a:r>
                        <a:rPr lang="en-US" b="1"/>
                        <a:t>.  </a:t>
                      </a:r>
                      <a:r>
                        <a:rPr lang="en-US" b="0"/>
                        <a:t>Improving</a:t>
                      </a:r>
                      <a:r>
                        <a:rPr lang="en-US"/>
                        <a:t>  IWMST research paper       (Creative language processing) (</a:t>
                      </a:r>
                      <a:r>
                        <a:rPr lang="en-US">
                          <a:solidFill>
                            <a:srgbClr val="FF0000"/>
                          </a:solidFill>
                        </a:rPr>
                        <a:t>New-</a:t>
                      </a:r>
                      <a:r>
                        <a:rPr lang="en-US" baseline="0">
                          <a:solidFill>
                            <a:srgbClr val="FF0000"/>
                          </a:solidFill>
                        </a:rPr>
                        <a:t> research approaches</a:t>
                      </a:r>
                      <a:r>
                        <a:rPr lang="en-US"/>
                        <a:t>)</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72089245"/>
                  </a:ext>
                </a:extLst>
              </a:tr>
              <a:tr h="370840">
                <a:tc>
                  <a:txBody>
                    <a:bodyPr/>
                    <a:lstStyle/>
                    <a:p>
                      <a:endParaRPr lang="en-US"/>
                    </a:p>
                  </a:txBody>
                  <a:tcPr/>
                </a:tc>
                <a:tc gridSpan="2">
                  <a:txBody>
                    <a:bodyPr/>
                    <a:lstStyle/>
                    <a:p>
                      <a:endParaRPr lang="en-US"/>
                    </a:p>
                  </a:txBody>
                  <a:tcPr/>
                </a:tc>
                <a:tc hMerge="1">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39285331"/>
                  </a:ext>
                </a:extLst>
              </a:tr>
            </a:tbl>
          </a:graphicData>
        </a:graphic>
      </p:graphicFrame>
      <p:sp>
        <p:nvSpPr>
          <p:cNvPr id="9" name="Rectangle: Rounded Corners 8">
            <a:extLst>
              <a:ext uri="{FF2B5EF4-FFF2-40B4-BE49-F238E27FC236}">
                <a16:creationId xmlns:a16="http://schemas.microsoft.com/office/drawing/2014/main" id="{AA76DA7C-A1AE-4B05-97DA-5025C8B0DEC8}"/>
              </a:ext>
            </a:extLst>
          </p:cNvPr>
          <p:cNvSpPr/>
          <p:nvPr/>
        </p:nvSpPr>
        <p:spPr>
          <a:xfrm>
            <a:off x="4150517" y="5247964"/>
            <a:ext cx="3754095" cy="713726"/>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b="1">
                <a:solidFill>
                  <a:schemeClr val="tx1"/>
                </a:solidFill>
              </a:rPr>
              <a:t>                </a:t>
            </a:r>
            <a:r>
              <a:rPr lang="en-US" b="1">
                <a:solidFill>
                  <a:srgbClr val="FF0000"/>
                </a:solidFill>
              </a:rPr>
              <a:t>Journal  Submission</a:t>
            </a:r>
          </a:p>
        </p:txBody>
      </p:sp>
      <p:sp>
        <p:nvSpPr>
          <p:cNvPr id="10" name="Star: 4 Points 9">
            <a:extLst>
              <a:ext uri="{FF2B5EF4-FFF2-40B4-BE49-F238E27FC236}">
                <a16:creationId xmlns:a16="http://schemas.microsoft.com/office/drawing/2014/main" id="{399D8591-A6D3-4DE7-BB40-ECD1CC80FB5A}"/>
              </a:ext>
            </a:extLst>
          </p:cNvPr>
          <p:cNvSpPr/>
          <p:nvPr/>
        </p:nvSpPr>
        <p:spPr>
          <a:xfrm>
            <a:off x="4374770" y="5451068"/>
            <a:ext cx="290513" cy="316664"/>
          </a:xfrm>
          <a:prstGeom prst="star4">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3193897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p:txBody>
          <a:bodyPr/>
          <a:lstStyle/>
          <a:p>
            <a:r>
              <a:rPr lang="en-US" sz="2400" b="1"/>
              <a:t>14</a:t>
            </a:r>
          </a:p>
        </p:txBody>
      </p:sp>
      <p:sp>
        <p:nvSpPr>
          <p:cNvPr id="5" name="TextBox 4"/>
          <p:cNvSpPr txBox="1"/>
          <p:nvPr/>
        </p:nvSpPr>
        <p:spPr>
          <a:xfrm>
            <a:off x="-1" y="1434443"/>
            <a:ext cx="12101689" cy="2836097"/>
          </a:xfrm>
          <a:prstGeom prst="rect">
            <a:avLst/>
          </a:prstGeom>
          <a:noFill/>
        </p:spPr>
        <p:txBody>
          <a:bodyPr wrap="square" rtlCol="0">
            <a:spAutoFit/>
          </a:bodyPr>
          <a:lstStyle/>
          <a:p>
            <a:r>
              <a:rPr lang="en-US" sz="2000">
                <a:sym typeface="Wingdings" panose="05000000000000000000" pitchFamily="2" charset="2"/>
              </a:rPr>
              <a:t> </a:t>
            </a:r>
          </a:p>
          <a:p>
            <a:pPr>
              <a:lnSpc>
                <a:spcPct val="150000"/>
              </a:lnSpc>
            </a:pPr>
            <a:endParaRPr lang="en-US" sz="2000">
              <a:sym typeface="Wingdings" panose="05000000000000000000" pitchFamily="2" charset="2"/>
            </a:endParaRPr>
          </a:p>
          <a:p>
            <a:pPr>
              <a:lnSpc>
                <a:spcPct val="150000"/>
              </a:lnSpc>
            </a:pPr>
            <a:endParaRPr lang="en-US" sz="2000">
              <a:sym typeface="Wingdings" panose="05000000000000000000" pitchFamily="2" charset="2"/>
            </a:endParaRPr>
          </a:p>
          <a:p>
            <a:pPr>
              <a:lnSpc>
                <a:spcPct val="150000"/>
              </a:lnSpc>
            </a:pPr>
            <a:endParaRPr lang="en-US" sz="2800">
              <a:sym typeface="Wingdings" panose="05000000000000000000" pitchFamily="2" charset="2"/>
            </a:endParaRPr>
          </a:p>
          <a:p>
            <a:pPr>
              <a:lnSpc>
                <a:spcPct val="150000"/>
              </a:lnSpc>
            </a:pPr>
            <a:r>
              <a:rPr lang="en-US" sz="2000">
                <a:sym typeface="Wingdings" panose="05000000000000000000" pitchFamily="2" charset="2"/>
              </a:rPr>
              <a:t>                                                                                                      </a:t>
            </a:r>
            <a:endParaRPr lang="en-US" sz="2000"/>
          </a:p>
          <a:p>
            <a:pPr marL="342900" indent="-342900">
              <a:lnSpc>
                <a:spcPct val="150000"/>
              </a:lnSpc>
              <a:buFont typeface="Arial" panose="020B0604020202020204" pitchFamily="34" charset="0"/>
              <a:buChar char="•"/>
            </a:pPr>
            <a:endParaRPr lang="en-US" sz="2000"/>
          </a:p>
        </p:txBody>
      </p:sp>
      <p:sp>
        <p:nvSpPr>
          <p:cNvPr id="2" name="Text Placeholder 1"/>
          <p:cNvSpPr>
            <a:spLocks noGrp="1"/>
          </p:cNvSpPr>
          <p:nvPr>
            <p:ph type="body" sz="quarter" idx="14"/>
          </p:nvPr>
        </p:nvSpPr>
        <p:spPr/>
        <p:txBody>
          <a:bodyPr/>
          <a:lstStyle/>
          <a:p>
            <a:endParaRPr lang="en-US"/>
          </a:p>
        </p:txBody>
      </p:sp>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111"/>
            <a:ext cx="726363" cy="993731"/>
          </a:xfrm>
          <a:prstGeom prst="rect">
            <a:avLst/>
          </a:prstGeom>
        </p:spPr>
      </p:pic>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9168" y="562031"/>
            <a:ext cx="1088136" cy="377952"/>
          </a:xfrm>
          <a:prstGeom prst="rect">
            <a:avLst/>
          </a:prstGeom>
        </p:spPr>
      </p:pic>
      <p:cxnSp>
        <p:nvCxnSpPr>
          <p:cNvPr id="16" name="Straight Connector 15"/>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pic>
        <p:nvPicPr>
          <p:cNvPr id="17" name="Picture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06286" y="-10992"/>
            <a:ext cx="685714" cy="419048"/>
          </a:xfrm>
          <a:prstGeom prst="rect">
            <a:avLst/>
          </a:prstGeom>
        </p:spPr>
      </p:pic>
      <p:sp>
        <p:nvSpPr>
          <p:cNvPr id="18"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19" name="Straight Connector 18"/>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 name="Straight Connector 19"/>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ectangle 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333333"/>
                </a:solidFill>
                <a:effectLst/>
                <a:latin typeface="MathJax_Math-italic"/>
              </a:rPr>
              <a:t>μ</a:t>
            </a:r>
            <a:r>
              <a:rPr kumimoji="0" lang="en-US" altLang="en-US" sz="800" b="0" i="0" u="none" strike="noStrike" cap="none" normalizeH="0" baseline="0">
                <a:ln>
                  <a:noFill/>
                </a:ln>
                <a:solidFill>
                  <a:srgbClr val="333333"/>
                </a:solidFill>
                <a:effectLst/>
                <a:latin typeface="MathJax_Math-italic"/>
              </a:rPr>
              <a:t>i</a:t>
            </a:r>
            <a:r>
              <a:rPr kumimoji="0" lang="en-US" altLang="en-US" sz="1000" b="0" i="0" u="none" strike="noStrike" cap="none" normalizeH="0" baseline="0">
                <a:ln>
                  <a:noFill/>
                </a:ln>
                <a:solidFill>
                  <a:srgbClr val="333333"/>
                </a:solidFill>
                <a:effectLst/>
                <a:latin typeface="Helvetica Neue"/>
              </a:rPr>
              <a:t>μi</a:t>
            </a:r>
            <a:br>
              <a:rPr kumimoji="0" lang="en-US" altLang="en-US" sz="900" b="0" i="0" u="none" strike="noStrike" cap="none" normalizeH="0" baseline="0">
                <a:ln>
                  <a:noFill/>
                </a:ln>
                <a:solidFill>
                  <a:schemeClr val="tx1"/>
                </a:solidFill>
                <a:effectLst/>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 name="Rounded Rectangle 20">
            <a:extLst>
              <a:ext uri="{FF2B5EF4-FFF2-40B4-BE49-F238E27FC236}">
                <a16:creationId xmlns:a16="http://schemas.microsoft.com/office/drawing/2014/main" id="{36504B8E-D2BC-4149-973C-CD4662BAFEF0}"/>
              </a:ext>
            </a:extLst>
          </p:cNvPr>
          <p:cNvSpPr/>
          <p:nvPr/>
        </p:nvSpPr>
        <p:spPr>
          <a:xfrm>
            <a:off x="4523129" y="355150"/>
            <a:ext cx="2840930" cy="463040"/>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sz="3200">
                <a:solidFill>
                  <a:srgbClr val="FF0000"/>
                </a:solidFill>
              </a:rPr>
              <a:t>Activity Plan</a:t>
            </a:r>
          </a:p>
        </p:txBody>
      </p:sp>
      <p:sp>
        <p:nvSpPr>
          <p:cNvPr id="7" name="Oval 6">
            <a:extLst>
              <a:ext uri="{FF2B5EF4-FFF2-40B4-BE49-F238E27FC236}">
                <a16:creationId xmlns:a16="http://schemas.microsoft.com/office/drawing/2014/main" id="{5E7AE19F-E883-46C6-A117-278D3E905CB7}"/>
              </a:ext>
            </a:extLst>
          </p:cNvPr>
          <p:cNvSpPr/>
          <p:nvPr/>
        </p:nvSpPr>
        <p:spPr>
          <a:xfrm>
            <a:off x="272855" y="2076135"/>
            <a:ext cx="245806" cy="285613"/>
          </a:xfrm>
          <a:prstGeom prst="ellipse">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b="1"/>
              <a:t>1</a:t>
            </a:r>
          </a:p>
        </p:txBody>
      </p:sp>
      <p:sp>
        <p:nvSpPr>
          <p:cNvPr id="30" name="Oval 29">
            <a:extLst>
              <a:ext uri="{FF2B5EF4-FFF2-40B4-BE49-F238E27FC236}">
                <a16:creationId xmlns:a16="http://schemas.microsoft.com/office/drawing/2014/main" id="{DF5A9617-18FB-403F-A1A1-21973DCCDF86}"/>
              </a:ext>
            </a:extLst>
          </p:cNvPr>
          <p:cNvSpPr/>
          <p:nvPr/>
        </p:nvSpPr>
        <p:spPr>
          <a:xfrm>
            <a:off x="267414" y="2908677"/>
            <a:ext cx="245806" cy="285613"/>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b="1"/>
              <a:t>2</a:t>
            </a:r>
          </a:p>
        </p:txBody>
      </p:sp>
      <p:sp>
        <p:nvSpPr>
          <p:cNvPr id="32" name="Oval 31">
            <a:extLst>
              <a:ext uri="{FF2B5EF4-FFF2-40B4-BE49-F238E27FC236}">
                <a16:creationId xmlns:a16="http://schemas.microsoft.com/office/drawing/2014/main" id="{D794E267-0560-464B-8A1B-3290E964E5C5}"/>
              </a:ext>
            </a:extLst>
          </p:cNvPr>
          <p:cNvSpPr/>
          <p:nvPr/>
        </p:nvSpPr>
        <p:spPr>
          <a:xfrm>
            <a:off x="267414" y="3668357"/>
            <a:ext cx="245806" cy="285613"/>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b="1"/>
              <a:t>3</a:t>
            </a:r>
          </a:p>
        </p:txBody>
      </p:sp>
      <p:sp>
        <p:nvSpPr>
          <p:cNvPr id="33" name="Oval 32">
            <a:extLst>
              <a:ext uri="{FF2B5EF4-FFF2-40B4-BE49-F238E27FC236}">
                <a16:creationId xmlns:a16="http://schemas.microsoft.com/office/drawing/2014/main" id="{A2CE3FCE-477C-4225-82DC-CE48F11FE5E6}"/>
              </a:ext>
            </a:extLst>
          </p:cNvPr>
          <p:cNvSpPr/>
          <p:nvPr/>
        </p:nvSpPr>
        <p:spPr>
          <a:xfrm>
            <a:off x="267414" y="4526503"/>
            <a:ext cx="245806" cy="285613"/>
          </a:xfrm>
          <a:prstGeom prst="ellipse">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b="1"/>
              <a:t>4</a:t>
            </a:r>
          </a:p>
        </p:txBody>
      </p:sp>
      <p:graphicFrame>
        <p:nvGraphicFramePr>
          <p:cNvPr id="22" name="Object 21">
            <a:extLst>
              <a:ext uri="{FF2B5EF4-FFF2-40B4-BE49-F238E27FC236}">
                <a16:creationId xmlns:a16="http://schemas.microsoft.com/office/drawing/2014/main" id="{47D10C92-485B-4DB6-8D19-6791DD23936B}"/>
              </a:ext>
            </a:extLst>
          </p:cNvPr>
          <p:cNvGraphicFramePr>
            <a:graphicFrameLocks noChangeAspect="1"/>
          </p:cNvGraphicFramePr>
          <p:nvPr>
            <p:extLst>
              <p:ext uri="{D42A27DB-BD31-4B8C-83A1-F6EECF244321}">
                <p14:modId xmlns:p14="http://schemas.microsoft.com/office/powerpoint/2010/main" val="190980779"/>
              </p:ext>
            </p:extLst>
          </p:nvPr>
        </p:nvGraphicFramePr>
        <p:xfrm>
          <a:off x="624531" y="1493051"/>
          <a:ext cx="10957869" cy="3561777"/>
        </p:xfrm>
        <a:graphic>
          <a:graphicData uri="http://schemas.openxmlformats.org/presentationml/2006/ole">
            <mc:AlternateContent xmlns:mc="http://schemas.openxmlformats.org/markup-compatibility/2006">
              <mc:Choice xmlns:v="urn:schemas-microsoft-com:vml" Requires="v">
                <p:oleObj name="Worksheet" r:id="rId6" imgW="10048844" imgH="2486031" progId="Excel.Sheet.12">
                  <p:embed/>
                </p:oleObj>
              </mc:Choice>
              <mc:Fallback>
                <p:oleObj name="Worksheet" r:id="rId6" imgW="10048844" imgH="2486031" progId="Excel.Sheet.12">
                  <p:embed/>
                  <p:pic>
                    <p:nvPicPr>
                      <p:cNvPr id="22" name="Object 21">
                        <a:extLst>
                          <a:ext uri="{FF2B5EF4-FFF2-40B4-BE49-F238E27FC236}">
                            <a16:creationId xmlns:a16="http://schemas.microsoft.com/office/drawing/2014/main" id="{47D10C92-485B-4DB6-8D19-6791DD23936B}"/>
                          </a:ext>
                        </a:extLst>
                      </p:cNvPr>
                      <p:cNvPicPr/>
                      <p:nvPr/>
                    </p:nvPicPr>
                    <p:blipFill>
                      <a:blip r:embed="rId7"/>
                      <a:stretch>
                        <a:fillRect/>
                      </a:stretch>
                    </p:blipFill>
                    <p:spPr>
                      <a:xfrm>
                        <a:off x="624531" y="1493051"/>
                        <a:ext cx="10957869" cy="3561777"/>
                      </a:xfrm>
                      <a:prstGeom prst="rect">
                        <a:avLst/>
                      </a:prstGeom>
                    </p:spPr>
                  </p:pic>
                </p:oleObj>
              </mc:Fallback>
            </mc:AlternateContent>
          </a:graphicData>
        </a:graphic>
      </p:graphicFrame>
      <p:pic>
        <p:nvPicPr>
          <p:cNvPr id="7172" name="Straight Arrow Connector 4">
            <a:extLst>
              <a:ext uri="{FF2B5EF4-FFF2-40B4-BE49-F238E27FC236}">
                <a16:creationId xmlns:a16="http://schemas.microsoft.com/office/drawing/2014/main" id="{571460E4-1E26-44EE-9762-E4A989E72EA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4300" y="95250"/>
            <a:ext cx="4610100" cy="2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8517193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315028" y="464955"/>
            <a:ext cx="5335105" cy="381684"/>
          </a:xfrm>
        </p:spPr>
        <p:txBody>
          <a:bodyPr/>
          <a:lstStyle/>
          <a:p>
            <a:r>
              <a:rPr lang="en-US" sz="2800" b="1"/>
              <a:t>5</a:t>
            </a:r>
          </a:p>
        </p:txBody>
      </p:sp>
      <p:sp>
        <p:nvSpPr>
          <p:cNvPr id="5" name="TextBox 4"/>
          <p:cNvSpPr txBox="1"/>
          <p:nvPr/>
        </p:nvSpPr>
        <p:spPr>
          <a:xfrm>
            <a:off x="0" y="2081203"/>
            <a:ext cx="12192000" cy="4093428"/>
          </a:xfrm>
          <a:prstGeom prst="rect">
            <a:avLst/>
          </a:prstGeom>
          <a:noFill/>
        </p:spPr>
        <p:txBody>
          <a:bodyPr wrap="square" rtlCol="0">
            <a:spAutoFit/>
          </a:bodyPr>
          <a:lstStyle/>
          <a:p>
            <a:endParaRPr lang="en-US" sz="2000">
              <a:solidFill>
                <a:srgbClr val="FF0000"/>
              </a:solidFill>
              <a:sym typeface="Wingdings" panose="05000000000000000000" pitchFamily="2" charset="2"/>
            </a:endParaRPr>
          </a:p>
          <a:p>
            <a:endParaRPr lang="en-US" sz="2000">
              <a:solidFill>
                <a:srgbClr val="FF0000"/>
              </a:solidFill>
              <a:sym typeface="Wingdings" panose="05000000000000000000" pitchFamily="2" charset="2"/>
            </a:endParaRPr>
          </a:p>
          <a:p>
            <a:endParaRPr lang="en-US" sz="2000">
              <a:solidFill>
                <a:srgbClr val="FF0000"/>
              </a:solidFill>
              <a:sym typeface="Wingdings" panose="05000000000000000000" pitchFamily="2" charset="2"/>
            </a:endParaRPr>
          </a:p>
          <a:p>
            <a:pPr marL="342900" indent="-342900">
              <a:buFont typeface="Arial" panose="020B0604020202020204" pitchFamily="34" charset="0"/>
              <a:buChar char="•"/>
            </a:pPr>
            <a:r>
              <a:rPr lang="en-US" sz="2000">
                <a:solidFill>
                  <a:srgbClr val="FF0000"/>
                </a:solidFill>
                <a:sym typeface="Wingdings" panose="05000000000000000000" pitchFamily="2" charset="2"/>
              </a:rPr>
              <a:t> extraction of temporal and phrasal features</a:t>
            </a:r>
          </a:p>
          <a:p>
            <a:pPr marL="342900" indent="-342900">
              <a:buFont typeface="Arial" panose="020B0604020202020204" pitchFamily="34" charset="0"/>
              <a:buChar char="•"/>
            </a:pPr>
            <a:r>
              <a:rPr lang="en-US" sz="2000">
                <a:solidFill>
                  <a:srgbClr val="FF0000"/>
                </a:solidFill>
                <a:sym typeface="Wingdings" panose="05000000000000000000" pitchFamily="2" charset="2"/>
              </a:rPr>
              <a:t> classification by Support Vector Machines</a:t>
            </a:r>
          </a:p>
          <a:p>
            <a:endParaRPr lang="en-US" sz="2000">
              <a:solidFill>
                <a:srgbClr val="FF0000"/>
              </a:solidFill>
              <a:sym typeface="Wingdings" panose="05000000000000000000" pitchFamily="2" charset="2"/>
            </a:endParaRPr>
          </a:p>
          <a:p>
            <a:endParaRPr lang="en-US" sz="1600"/>
          </a:p>
          <a:p>
            <a:endParaRPr lang="en-US" sz="1600"/>
          </a:p>
          <a:p>
            <a:r>
              <a:rPr lang="en-US" sz="1600" err="1"/>
              <a:t>Kazutaka</a:t>
            </a:r>
            <a:r>
              <a:rPr lang="en-US" sz="1600"/>
              <a:t> Shimada, </a:t>
            </a:r>
            <a:r>
              <a:rPr lang="en-US" sz="1600" err="1"/>
              <a:t>Yurie</a:t>
            </a:r>
            <a:r>
              <a:rPr lang="en-US" sz="1600"/>
              <a:t> Onitsuka, </a:t>
            </a:r>
            <a:r>
              <a:rPr lang="en-US" sz="1600" err="1"/>
              <a:t>Shunsuke</a:t>
            </a:r>
            <a:r>
              <a:rPr lang="en-US" sz="1600"/>
              <a:t> Inoue and Tsutomu Endo (2015) “On-site Likelihood Identification of Tweets Using a Two-Stage Method” Tourism Informatics, Intelligent Systems reference library, Volume 90</a:t>
            </a:r>
          </a:p>
          <a:p>
            <a:endParaRPr lang="en-US" sz="1600"/>
          </a:p>
          <a:p>
            <a:pPr marL="342900" indent="-342900">
              <a:buFont typeface="Arial" panose="020B0604020202020204" pitchFamily="34" charset="0"/>
              <a:buChar char="•"/>
            </a:pPr>
            <a:r>
              <a:rPr lang="en-US" sz="2000">
                <a:solidFill>
                  <a:srgbClr val="FF0000"/>
                </a:solidFill>
                <a:sym typeface="Wingdings" panose="05000000000000000000" pitchFamily="2" charset="2"/>
              </a:rPr>
              <a:t>   Filtering process  and Identification process</a:t>
            </a:r>
          </a:p>
          <a:p>
            <a:pPr marL="342900" indent="-342900">
              <a:buFont typeface="Arial" panose="020B0604020202020204" pitchFamily="34" charset="0"/>
              <a:buChar char="•"/>
            </a:pPr>
            <a:r>
              <a:rPr lang="en-US" sz="2000">
                <a:solidFill>
                  <a:srgbClr val="FF0000"/>
                </a:solidFill>
                <a:sym typeface="Wingdings" panose="05000000000000000000" pitchFamily="2" charset="2"/>
              </a:rPr>
              <a:t>   Classification by Support vector machines </a:t>
            </a:r>
            <a:endParaRPr lang="en-US" sz="1400">
              <a:solidFill>
                <a:srgbClr val="FF0000"/>
              </a:solidFill>
            </a:endParaRPr>
          </a:p>
          <a:p>
            <a:endParaRPr lang="en-US" sz="2000"/>
          </a:p>
        </p:txBody>
      </p:sp>
      <p:sp>
        <p:nvSpPr>
          <p:cNvPr id="6" name="TextBox 5"/>
          <p:cNvSpPr txBox="1"/>
          <p:nvPr/>
        </p:nvSpPr>
        <p:spPr>
          <a:xfrm>
            <a:off x="587144" y="2042400"/>
            <a:ext cx="2560320" cy="523220"/>
          </a:xfrm>
          <a:prstGeom prst="rect">
            <a:avLst/>
          </a:prstGeom>
          <a:noFill/>
        </p:spPr>
        <p:txBody>
          <a:bodyPr wrap="square" rtlCol="0">
            <a:spAutoFit/>
          </a:bodyPr>
          <a:lstStyle/>
          <a:p>
            <a:r>
              <a:rPr lang="en-US" sz="2800" b="1">
                <a:solidFill>
                  <a:srgbClr val="B60225"/>
                </a:solidFill>
              </a:rPr>
              <a:t> Oku et al. </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111"/>
            <a:ext cx="726363" cy="993731"/>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9168" y="562031"/>
            <a:ext cx="1088136" cy="377952"/>
          </a:xfrm>
          <a:prstGeom prst="rect">
            <a:avLst/>
          </a:prstGeom>
        </p:spPr>
      </p:pic>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06286" y="-10992"/>
            <a:ext cx="685714" cy="419048"/>
          </a:xfrm>
          <a:prstGeom prst="rect">
            <a:avLst/>
          </a:prstGeom>
        </p:spPr>
      </p:pic>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sz="1200" b="1">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15" name="TextBox 14">
            <a:extLst>
              <a:ext uri="{FF2B5EF4-FFF2-40B4-BE49-F238E27FC236}">
                <a16:creationId xmlns:a16="http://schemas.microsoft.com/office/drawing/2014/main" id="{2B63DE75-071B-499C-8FFE-F040ACACE811}"/>
              </a:ext>
            </a:extLst>
          </p:cNvPr>
          <p:cNvSpPr txBox="1"/>
          <p:nvPr/>
        </p:nvSpPr>
        <p:spPr>
          <a:xfrm>
            <a:off x="0" y="3792056"/>
            <a:ext cx="3291840" cy="523220"/>
          </a:xfrm>
          <a:prstGeom prst="rect">
            <a:avLst/>
          </a:prstGeom>
          <a:noFill/>
        </p:spPr>
        <p:txBody>
          <a:bodyPr wrap="square" rtlCol="0">
            <a:spAutoFit/>
          </a:bodyPr>
          <a:lstStyle/>
          <a:p>
            <a:r>
              <a:rPr lang="en-US" sz="2800" b="1">
                <a:solidFill>
                  <a:srgbClr val="B60225"/>
                </a:solidFill>
              </a:rPr>
              <a:t>      Shimada et al. </a:t>
            </a:r>
          </a:p>
        </p:txBody>
      </p:sp>
      <p:sp>
        <p:nvSpPr>
          <p:cNvPr id="16" name="Rectangle: Rounded Corners 15">
            <a:extLst>
              <a:ext uri="{FF2B5EF4-FFF2-40B4-BE49-F238E27FC236}">
                <a16:creationId xmlns:a16="http://schemas.microsoft.com/office/drawing/2014/main" id="{4633E1A8-1821-43F4-B9C2-7B41A527AA18}"/>
              </a:ext>
            </a:extLst>
          </p:cNvPr>
          <p:cNvSpPr/>
          <p:nvPr/>
        </p:nvSpPr>
        <p:spPr>
          <a:xfrm>
            <a:off x="6096000" y="5610716"/>
            <a:ext cx="5603828" cy="491613"/>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a:t>Unlike them, we will adopt a deep learning approach</a:t>
            </a:r>
          </a:p>
        </p:txBody>
      </p:sp>
      <p:sp>
        <p:nvSpPr>
          <p:cNvPr id="17" name="TextBox 16">
            <a:extLst>
              <a:ext uri="{FF2B5EF4-FFF2-40B4-BE49-F238E27FC236}">
                <a16:creationId xmlns:a16="http://schemas.microsoft.com/office/drawing/2014/main" id="{B7FF12F2-6748-45AC-99B9-72EAB6E8F1D7}"/>
              </a:ext>
            </a:extLst>
          </p:cNvPr>
          <p:cNvSpPr txBox="1"/>
          <p:nvPr/>
        </p:nvSpPr>
        <p:spPr>
          <a:xfrm>
            <a:off x="-1" y="1519180"/>
            <a:ext cx="12022667" cy="1569660"/>
          </a:xfrm>
          <a:prstGeom prst="rect">
            <a:avLst/>
          </a:prstGeom>
          <a:noFill/>
        </p:spPr>
        <p:txBody>
          <a:bodyPr wrap="square" rtlCol="0">
            <a:spAutoFit/>
          </a:bodyPr>
          <a:lstStyle/>
          <a:p>
            <a:endParaRPr lang="en-US" sz="1600"/>
          </a:p>
          <a:p>
            <a:endParaRPr lang="en-US" sz="1600"/>
          </a:p>
          <a:p>
            <a:endParaRPr lang="en-US" sz="1600"/>
          </a:p>
          <a:p>
            <a:endParaRPr lang="en-US" sz="1600"/>
          </a:p>
          <a:p>
            <a:r>
              <a:rPr lang="en-US" sz="1600"/>
              <a:t>Kenta Oku and Fumio Hattori (2015) “Mapping geotagged tweets to tourist’s spots considering activity region of spot” Tourism informatics, Intelligent Systems reference library, Volume 90.</a:t>
            </a:r>
            <a:r>
              <a:rPr lang="en-US" sz="1600">
                <a:solidFill>
                  <a:srgbClr val="FF0000"/>
                </a:solidFill>
              </a:rPr>
              <a:t> </a:t>
            </a:r>
            <a:endParaRPr lang="en-US" sz="1600"/>
          </a:p>
        </p:txBody>
      </p:sp>
      <p:sp>
        <p:nvSpPr>
          <p:cNvPr id="18" name="Oval 17">
            <a:extLst>
              <a:ext uri="{FF2B5EF4-FFF2-40B4-BE49-F238E27FC236}">
                <a16:creationId xmlns:a16="http://schemas.microsoft.com/office/drawing/2014/main" id="{324C8C4A-20B8-4F7C-ADE7-3DFC61559342}"/>
              </a:ext>
            </a:extLst>
          </p:cNvPr>
          <p:cNvSpPr/>
          <p:nvPr/>
        </p:nvSpPr>
        <p:spPr>
          <a:xfrm>
            <a:off x="152062" y="2160824"/>
            <a:ext cx="325689" cy="314632"/>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b="1"/>
              <a:t>1</a:t>
            </a:r>
          </a:p>
        </p:txBody>
      </p:sp>
      <p:sp>
        <p:nvSpPr>
          <p:cNvPr id="19" name="Oval 18">
            <a:extLst>
              <a:ext uri="{FF2B5EF4-FFF2-40B4-BE49-F238E27FC236}">
                <a16:creationId xmlns:a16="http://schemas.microsoft.com/office/drawing/2014/main" id="{F6593625-FF83-44C7-87BD-4FDB1A7624DF}"/>
              </a:ext>
            </a:extLst>
          </p:cNvPr>
          <p:cNvSpPr/>
          <p:nvPr/>
        </p:nvSpPr>
        <p:spPr>
          <a:xfrm>
            <a:off x="152062" y="3910470"/>
            <a:ext cx="325689" cy="314632"/>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b="1"/>
              <a:t>2</a:t>
            </a:r>
          </a:p>
        </p:txBody>
      </p:sp>
      <p:sp>
        <p:nvSpPr>
          <p:cNvPr id="21" name="TextBox 20">
            <a:extLst>
              <a:ext uri="{FF2B5EF4-FFF2-40B4-BE49-F238E27FC236}">
                <a16:creationId xmlns:a16="http://schemas.microsoft.com/office/drawing/2014/main" id="{E37902E1-8C19-44C0-986B-8E2E78FFE92A}"/>
              </a:ext>
            </a:extLst>
          </p:cNvPr>
          <p:cNvSpPr txBox="1"/>
          <p:nvPr/>
        </p:nvSpPr>
        <p:spPr>
          <a:xfrm>
            <a:off x="152062" y="1267924"/>
            <a:ext cx="2689612" cy="523220"/>
          </a:xfrm>
          <a:prstGeom prst="rect">
            <a:avLst/>
          </a:prstGeom>
          <a:noFill/>
        </p:spPr>
        <p:txBody>
          <a:bodyPr wrap="square" rtlCol="0">
            <a:spAutoFit/>
          </a:bodyPr>
          <a:lstStyle/>
          <a:p>
            <a:r>
              <a:rPr lang="en-US" sz="2800" b="1">
                <a:solidFill>
                  <a:srgbClr val="B60225"/>
                </a:solidFill>
              </a:rPr>
              <a:t> </a:t>
            </a:r>
            <a:r>
              <a:rPr lang="en-US" sz="2800">
                <a:solidFill>
                  <a:srgbClr val="0099FF"/>
                </a:solidFill>
              </a:rPr>
              <a:t>Related Works</a:t>
            </a:r>
            <a:endParaRPr lang="en-US" sz="2800" b="1">
              <a:solidFill>
                <a:srgbClr val="0099FF"/>
              </a:solidFill>
            </a:endParaRPr>
          </a:p>
        </p:txBody>
      </p:sp>
    </p:spTree>
    <p:extLst>
      <p:ext uri="{BB962C8B-B14F-4D97-AF65-F5344CB8AC3E}">
        <p14:creationId xmlns:p14="http://schemas.microsoft.com/office/powerpoint/2010/main" val="407138345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p:txBody>
          <a:bodyPr/>
          <a:lstStyle/>
          <a:p>
            <a:r>
              <a:rPr lang="en-US" sz="2800" b="1"/>
              <a:t>36</a:t>
            </a:r>
          </a:p>
        </p:txBody>
      </p:sp>
      <p:sp>
        <p:nvSpPr>
          <p:cNvPr id="5" name="TextBox 4"/>
          <p:cNvSpPr txBox="1"/>
          <p:nvPr/>
        </p:nvSpPr>
        <p:spPr>
          <a:xfrm>
            <a:off x="-1" y="1434443"/>
            <a:ext cx="12101689" cy="4651979"/>
          </a:xfrm>
          <a:prstGeom prst="rect">
            <a:avLst/>
          </a:prstGeom>
          <a:noFill/>
        </p:spPr>
        <p:txBody>
          <a:bodyPr wrap="square" rtlCol="0">
            <a:spAutoFit/>
          </a:bodyPr>
          <a:lstStyle/>
          <a:p>
            <a:r>
              <a:rPr lang="en-US" sz="2400" b="1">
                <a:solidFill>
                  <a:srgbClr val="B60225"/>
                </a:solidFill>
              </a:rPr>
              <a:t>     Point of Interests </a:t>
            </a:r>
          </a:p>
          <a:p>
            <a:pPr>
              <a:lnSpc>
                <a:spcPct val="150000"/>
              </a:lnSpc>
            </a:pPr>
            <a:r>
              <a:rPr lang="en-US" sz="2400" b="1">
                <a:solidFill>
                  <a:srgbClr val="B60225"/>
                </a:solidFill>
              </a:rPr>
              <a:t>  </a:t>
            </a:r>
            <a:r>
              <a:rPr lang="en-US" sz="2400" b="1">
                <a:solidFill>
                  <a:srgbClr val="B60225"/>
                </a:solidFill>
                <a:sym typeface="Wingdings" panose="05000000000000000000" pitchFamily="2" charset="2"/>
              </a:rPr>
              <a:t>  We map these events to these specific sight spots. </a:t>
            </a:r>
            <a:endParaRPr lang="en-US" sz="2400" b="1">
              <a:solidFill>
                <a:srgbClr val="B60225"/>
              </a:solidFill>
            </a:endParaRPr>
          </a:p>
          <a:p>
            <a:pPr>
              <a:lnSpc>
                <a:spcPct val="150000"/>
              </a:lnSpc>
            </a:pPr>
            <a:r>
              <a:rPr lang="en-US" sz="2000"/>
              <a:t>      </a:t>
            </a:r>
          </a:p>
          <a:p>
            <a:pPr>
              <a:lnSpc>
                <a:spcPct val="150000"/>
              </a:lnSpc>
            </a:pPr>
            <a:r>
              <a:rPr lang="en-US" sz="2000" b="1"/>
              <a:t> Examples of on- spot judged tourist reviews from the classified tweets                                                   </a:t>
            </a:r>
            <a:endParaRPr lang="en-US" sz="2000">
              <a:sym typeface="Wingdings" panose="05000000000000000000" pitchFamily="2" charset="2"/>
            </a:endParaRPr>
          </a:p>
          <a:p>
            <a:pPr>
              <a:lnSpc>
                <a:spcPct val="150000"/>
              </a:lnSpc>
            </a:pPr>
            <a:endParaRPr lang="en-US" sz="2000">
              <a:sym typeface="Wingdings" panose="05000000000000000000" pitchFamily="2" charset="2"/>
            </a:endParaRPr>
          </a:p>
          <a:p>
            <a:pPr>
              <a:lnSpc>
                <a:spcPct val="150000"/>
              </a:lnSpc>
            </a:pPr>
            <a:r>
              <a:rPr lang="en-US" sz="2000">
                <a:sym typeface="Wingdings" panose="05000000000000000000" pitchFamily="2" charset="2"/>
              </a:rPr>
              <a:t>                                                        </a:t>
            </a:r>
          </a:p>
          <a:p>
            <a:pPr>
              <a:lnSpc>
                <a:spcPct val="150000"/>
              </a:lnSpc>
            </a:pPr>
            <a:r>
              <a:rPr lang="en-US" sz="2000">
                <a:sym typeface="Wingdings" panose="05000000000000000000" pitchFamily="2" charset="2"/>
              </a:rPr>
              <a:t>                                                                                                       </a:t>
            </a:r>
            <a:br>
              <a:rPr lang="en-US" sz="2000"/>
            </a:br>
            <a:endParaRPr lang="en-US" sz="2000"/>
          </a:p>
          <a:p>
            <a:pPr marL="342900" indent="-342900">
              <a:lnSpc>
                <a:spcPct val="150000"/>
              </a:lnSpc>
              <a:buFont typeface="Arial" panose="020B0604020202020204" pitchFamily="34" charset="0"/>
              <a:buChar char="•"/>
            </a:pPr>
            <a:endParaRPr lang="en-US" sz="2000"/>
          </a:p>
          <a:p>
            <a:pPr marL="342900" indent="-342900">
              <a:lnSpc>
                <a:spcPct val="150000"/>
              </a:lnSpc>
              <a:buFont typeface="Arial" panose="020B0604020202020204" pitchFamily="34" charset="0"/>
              <a:buChar char="•"/>
            </a:pPr>
            <a:endParaRPr lang="en-US" sz="2000"/>
          </a:p>
        </p:txBody>
      </p:sp>
      <p:sp>
        <p:nvSpPr>
          <p:cNvPr id="2" name="Text Placeholder 1"/>
          <p:cNvSpPr>
            <a:spLocks noGrp="1"/>
          </p:cNvSpPr>
          <p:nvPr>
            <p:ph type="body" sz="quarter" idx="14"/>
          </p:nvPr>
        </p:nvSpPr>
        <p:spPr/>
        <p:txBody>
          <a:bodyPr/>
          <a:lstStyle/>
          <a:p>
            <a:endParaRPr lang="en-US"/>
          </a:p>
        </p:txBody>
      </p:sp>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111"/>
            <a:ext cx="726363" cy="993731"/>
          </a:xfrm>
          <a:prstGeom prst="rect">
            <a:avLst/>
          </a:prstGeom>
        </p:spPr>
      </p:pic>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9168" y="562031"/>
            <a:ext cx="1088136" cy="377952"/>
          </a:xfrm>
          <a:prstGeom prst="rect">
            <a:avLst/>
          </a:prstGeom>
        </p:spPr>
      </p:pic>
      <p:cxnSp>
        <p:nvCxnSpPr>
          <p:cNvPr id="16" name="Straight Connector 15"/>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pic>
        <p:nvPicPr>
          <p:cNvPr id="17" name="Picture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06286" y="-10992"/>
            <a:ext cx="685714" cy="419048"/>
          </a:xfrm>
          <a:prstGeom prst="rect">
            <a:avLst/>
          </a:prstGeom>
        </p:spPr>
      </p:pic>
      <p:sp>
        <p:nvSpPr>
          <p:cNvPr id="18"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19" name="Straight Connector 18"/>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 name="Straight Connector 19"/>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6" name="Rectangle 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333333"/>
                </a:solidFill>
                <a:effectLst/>
                <a:latin typeface="MathJax_Math-italic"/>
              </a:rPr>
              <a:t>μ</a:t>
            </a:r>
            <a:r>
              <a:rPr kumimoji="0" lang="en-US" altLang="en-US" sz="800" b="0" i="0" u="none" strike="noStrike" cap="none" normalizeH="0" baseline="0">
                <a:ln>
                  <a:noFill/>
                </a:ln>
                <a:solidFill>
                  <a:srgbClr val="333333"/>
                </a:solidFill>
                <a:effectLst/>
                <a:latin typeface="MathJax_Math-italic"/>
              </a:rPr>
              <a:t>i</a:t>
            </a:r>
            <a:r>
              <a:rPr kumimoji="0" lang="en-US" altLang="en-US" sz="1000" b="0" i="0" u="none" strike="noStrike" cap="none" normalizeH="0" baseline="0">
                <a:ln>
                  <a:noFill/>
                </a:ln>
                <a:solidFill>
                  <a:srgbClr val="333333"/>
                </a:solidFill>
                <a:effectLst/>
                <a:latin typeface="Helvetica Neue"/>
              </a:rPr>
              <a:t>μi</a:t>
            </a:r>
            <a:br>
              <a:rPr kumimoji="0" lang="en-US" altLang="en-US" sz="900" b="0" i="0" u="none" strike="noStrike" cap="none" normalizeH="0" baseline="0">
                <a:ln>
                  <a:noFill/>
                </a:ln>
                <a:solidFill>
                  <a:schemeClr val="tx1"/>
                </a:solidFill>
                <a:effectLst/>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9" name="Picture 8"/>
          <p:cNvPicPr>
            <a:picLocks noChangeAspect="1"/>
          </p:cNvPicPr>
          <p:nvPr/>
        </p:nvPicPr>
        <p:blipFill>
          <a:blip r:embed="rId6"/>
          <a:srcRect/>
          <a:stretch/>
        </p:blipFill>
        <p:spPr>
          <a:xfrm>
            <a:off x="155700" y="3521196"/>
            <a:ext cx="6686548" cy="2299780"/>
          </a:xfrm>
          <a:prstGeom prst="rect">
            <a:avLst/>
          </a:prstGeom>
        </p:spPr>
      </p:pic>
      <p:pic>
        <p:nvPicPr>
          <p:cNvPr id="22" name="Picture 21">
            <a:extLst>
              <a:ext uri="{FF2B5EF4-FFF2-40B4-BE49-F238E27FC236}">
                <a16:creationId xmlns:a16="http://schemas.microsoft.com/office/drawing/2014/main" id="{636AF568-CA6A-47CF-97A9-406C5379C642}"/>
              </a:ext>
            </a:extLst>
          </p:cNvPr>
          <p:cNvPicPr/>
          <p:nvPr/>
        </p:nvPicPr>
        <p:blipFill>
          <a:blip r:embed="rId7"/>
          <a:srcRect/>
          <a:stretch/>
        </p:blipFill>
        <p:spPr>
          <a:xfrm>
            <a:off x="7361536" y="3521196"/>
            <a:ext cx="4220864" cy="2299780"/>
          </a:xfrm>
          <a:prstGeom prst="rect">
            <a:avLst/>
          </a:prstGeom>
        </p:spPr>
      </p:pic>
    </p:spTree>
    <p:extLst>
      <p:ext uri="{BB962C8B-B14F-4D97-AF65-F5344CB8AC3E}">
        <p14:creationId xmlns:p14="http://schemas.microsoft.com/office/powerpoint/2010/main" val="259786814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315028" y="464955"/>
            <a:ext cx="5335105" cy="381684"/>
          </a:xfrm>
        </p:spPr>
        <p:txBody>
          <a:bodyPr/>
          <a:lstStyle/>
          <a:p>
            <a:r>
              <a:rPr lang="en-US" sz="2800" b="1"/>
              <a:t>40</a:t>
            </a:r>
          </a:p>
        </p:txBody>
      </p:sp>
      <p:sp>
        <p:nvSpPr>
          <p:cNvPr id="5" name="TextBox 4"/>
          <p:cNvSpPr txBox="1"/>
          <p:nvPr/>
        </p:nvSpPr>
        <p:spPr>
          <a:xfrm>
            <a:off x="0" y="2081203"/>
            <a:ext cx="12192000" cy="3847207"/>
          </a:xfrm>
          <a:prstGeom prst="rect">
            <a:avLst/>
          </a:prstGeom>
          <a:noFill/>
        </p:spPr>
        <p:txBody>
          <a:bodyPr wrap="square" rtlCol="0">
            <a:spAutoFit/>
          </a:bodyPr>
          <a:lstStyle/>
          <a:p>
            <a:r>
              <a:rPr lang="en-US" sz="2400" b="1"/>
              <a:t>     BERT performed better than SVM but requires high computational resources.      </a:t>
            </a:r>
          </a:p>
          <a:p>
            <a:r>
              <a:rPr lang="en-US" sz="2400" b="1"/>
              <a:t>     (practical irrelevance)</a:t>
            </a:r>
          </a:p>
          <a:p>
            <a:endParaRPr lang="en-US" sz="2000" b="1">
              <a:sym typeface="Wingdings" panose="05000000000000000000" pitchFamily="2" charset="2"/>
            </a:endParaRPr>
          </a:p>
          <a:p>
            <a:r>
              <a:rPr lang="en-US" sz="2400" b="1">
                <a:sym typeface="Wingdings" panose="05000000000000000000" pitchFamily="2" charset="2"/>
              </a:rPr>
              <a:t>    </a:t>
            </a:r>
          </a:p>
          <a:p>
            <a:r>
              <a:rPr lang="en-US" sz="2400" b="1">
                <a:sym typeface="Wingdings" panose="05000000000000000000" pitchFamily="2" charset="2"/>
              </a:rPr>
              <a:t>    Tweets ambiguity hinder better  performance  of SVM</a:t>
            </a:r>
          </a:p>
          <a:p>
            <a:endParaRPr lang="en-US" sz="2000" b="1">
              <a:sym typeface="Wingdings" panose="05000000000000000000" pitchFamily="2" charset="2"/>
            </a:endParaRPr>
          </a:p>
          <a:p>
            <a:endParaRPr lang="en-US" sz="2800" b="1">
              <a:sym typeface="Wingdings" panose="05000000000000000000" pitchFamily="2" charset="2"/>
            </a:endParaRPr>
          </a:p>
          <a:p>
            <a:endParaRPr lang="en-US" sz="2000" b="1">
              <a:sym typeface="Wingdings" panose="05000000000000000000" pitchFamily="2" charset="2"/>
            </a:endParaRPr>
          </a:p>
          <a:p>
            <a:r>
              <a:rPr lang="en-US" sz="2000" b="1">
                <a:sym typeface="Wingdings" panose="05000000000000000000" pitchFamily="2" charset="2"/>
              </a:rPr>
              <a:t>     Study aim to support local wildlife tourism in Tanzania .</a:t>
            </a:r>
          </a:p>
          <a:p>
            <a:endParaRPr lang="en-US" sz="2000" b="1">
              <a:sym typeface="Wingdings" panose="05000000000000000000" pitchFamily="2" charset="2"/>
            </a:endParaRPr>
          </a:p>
          <a:p>
            <a:r>
              <a:rPr lang="en-US" sz="2000" b="1">
                <a:sym typeface="Wingdings" panose="05000000000000000000" pitchFamily="2" charset="2"/>
              </a:rPr>
              <a:t>      Same approach can be adopted for Hokkaido region. (</a:t>
            </a:r>
            <a:r>
              <a:rPr lang="en-US" sz="2000" b="1" err="1">
                <a:sym typeface="Wingdings" panose="05000000000000000000" pitchFamily="2" charset="2"/>
              </a:rPr>
              <a:t>Eg.</a:t>
            </a:r>
            <a:r>
              <a:rPr lang="en-US" sz="2000" b="1">
                <a:sym typeface="Wingdings" panose="05000000000000000000" pitchFamily="2" charset="2"/>
              </a:rPr>
              <a:t>  </a:t>
            </a:r>
            <a:r>
              <a:rPr lang="en-US" sz="2000" b="1" err="1">
                <a:sym typeface="Wingdings" panose="05000000000000000000" pitchFamily="2" charset="2"/>
              </a:rPr>
              <a:t>Shiretoko</a:t>
            </a:r>
            <a:r>
              <a:rPr lang="en-US" sz="2000" b="1">
                <a:sym typeface="Wingdings" panose="05000000000000000000" pitchFamily="2" charset="2"/>
              </a:rPr>
              <a:t> park)</a:t>
            </a:r>
            <a:endParaRPr lang="en-US" sz="2000"/>
          </a:p>
        </p:txBody>
      </p:sp>
      <p:sp>
        <p:nvSpPr>
          <p:cNvPr id="6" name="TextBox 5"/>
          <p:cNvSpPr txBox="1"/>
          <p:nvPr/>
        </p:nvSpPr>
        <p:spPr>
          <a:xfrm>
            <a:off x="0" y="1378513"/>
            <a:ext cx="2940148" cy="523220"/>
          </a:xfrm>
          <a:prstGeom prst="rect">
            <a:avLst/>
          </a:prstGeom>
          <a:noFill/>
        </p:spPr>
        <p:txBody>
          <a:bodyPr wrap="square" rtlCol="0">
            <a:spAutoFit/>
          </a:bodyPr>
          <a:lstStyle/>
          <a:p>
            <a:r>
              <a:rPr lang="en-US" sz="2800" b="1">
                <a:solidFill>
                  <a:srgbClr val="0099FF"/>
                </a:solidFill>
              </a:rPr>
              <a:t>Final Remarks</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111"/>
            <a:ext cx="726363" cy="993731"/>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9168" y="562031"/>
            <a:ext cx="1088136" cy="377952"/>
          </a:xfrm>
          <a:prstGeom prst="rect">
            <a:avLst/>
          </a:prstGeom>
        </p:spPr>
      </p:pic>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06286" y="-10992"/>
            <a:ext cx="685714" cy="419048"/>
          </a:xfrm>
          <a:prstGeom prst="rect">
            <a:avLst/>
          </a:prstGeom>
        </p:spPr>
      </p:pic>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23" name="Rounded Rectangle 22"/>
          <p:cNvSpPr/>
          <p:nvPr/>
        </p:nvSpPr>
        <p:spPr>
          <a:xfrm>
            <a:off x="4523130" y="328646"/>
            <a:ext cx="2731162" cy="378469"/>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en-US" sz="3200">
                <a:solidFill>
                  <a:srgbClr val="FF0000"/>
                </a:solidFill>
              </a:rPr>
              <a:t>6.  Conclusion</a:t>
            </a:r>
          </a:p>
        </p:txBody>
      </p:sp>
      <p:sp>
        <p:nvSpPr>
          <p:cNvPr id="15" name="Oval 14">
            <a:extLst>
              <a:ext uri="{FF2B5EF4-FFF2-40B4-BE49-F238E27FC236}">
                <a16:creationId xmlns:a16="http://schemas.microsoft.com/office/drawing/2014/main" id="{9746C927-E406-4AD8-BF9D-4885A1D496F5}"/>
              </a:ext>
            </a:extLst>
          </p:cNvPr>
          <p:cNvSpPr/>
          <p:nvPr/>
        </p:nvSpPr>
        <p:spPr>
          <a:xfrm>
            <a:off x="37492" y="2177794"/>
            <a:ext cx="325689" cy="314632"/>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b="1"/>
              <a:t>1</a:t>
            </a:r>
          </a:p>
        </p:txBody>
      </p:sp>
      <p:sp>
        <p:nvSpPr>
          <p:cNvPr id="16" name="Oval 15">
            <a:extLst>
              <a:ext uri="{FF2B5EF4-FFF2-40B4-BE49-F238E27FC236}">
                <a16:creationId xmlns:a16="http://schemas.microsoft.com/office/drawing/2014/main" id="{107B2990-8F35-4B59-81BC-2FB854A49981}"/>
              </a:ext>
            </a:extLst>
          </p:cNvPr>
          <p:cNvSpPr/>
          <p:nvPr/>
        </p:nvSpPr>
        <p:spPr>
          <a:xfrm>
            <a:off x="40455" y="3588009"/>
            <a:ext cx="325689" cy="314632"/>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b="1"/>
              <a:t>2</a:t>
            </a:r>
          </a:p>
        </p:txBody>
      </p:sp>
      <p:sp>
        <p:nvSpPr>
          <p:cNvPr id="17" name="Oval 16">
            <a:extLst>
              <a:ext uri="{FF2B5EF4-FFF2-40B4-BE49-F238E27FC236}">
                <a16:creationId xmlns:a16="http://schemas.microsoft.com/office/drawing/2014/main" id="{8D4917F6-FBEA-43ED-801A-F7A7260E086E}"/>
              </a:ext>
            </a:extLst>
          </p:cNvPr>
          <p:cNvSpPr/>
          <p:nvPr/>
        </p:nvSpPr>
        <p:spPr>
          <a:xfrm>
            <a:off x="37492" y="4887585"/>
            <a:ext cx="325689" cy="314632"/>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b="1"/>
              <a:t>3</a:t>
            </a:r>
          </a:p>
        </p:txBody>
      </p:sp>
    </p:spTree>
    <p:extLst>
      <p:ext uri="{BB962C8B-B14F-4D97-AF65-F5344CB8AC3E}">
        <p14:creationId xmlns:p14="http://schemas.microsoft.com/office/powerpoint/2010/main" val="149324878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315028" y="464955"/>
            <a:ext cx="5335105" cy="381684"/>
          </a:xfrm>
        </p:spPr>
        <p:txBody>
          <a:bodyPr/>
          <a:lstStyle/>
          <a:p>
            <a:r>
              <a:rPr lang="en-US" sz="2800" b="1"/>
              <a:t>39</a:t>
            </a:r>
          </a:p>
        </p:txBody>
      </p:sp>
      <p:sp>
        <p:nvSpPr>
          <p:cNvPr id="5" name="TextBox 4"/>
          <p:cNvSpPr txBox="1"/>
          <p:nvPr/>
        </p:nvSpPr>
        <p:spPr>
          <a:xfrm>
            <a:off x="0" y="2100867"/>
            <a:ext cx="12192000" cy="4093428"/>
          </a:xfrm>
          <a:prstGeom prst="rect">
            <a:avLst/>
          </a:prstGeom>
          <a:noFill/>
        </p:spPr>
        <p:txBody>
          <a:bodyPr wrap="square" rtlCol="0">
            <a:spAutoFit/>
          </a:bodyPr>
          <a:lstStyle/>
          <a:p>
            <a:endParaRPr lang="en-US" sz="2800">
              <a:solidFill>
                <a:srgbClr val="00B0F0"/>
              </a:solidFill>
              <a:sym typeface="Wingdings" panose="05000000000000000000" pitchFamily="2" charset="2"/>
            </a:endParaRPr>
          </a:p>
          <a:p>
            <a:endParaRPr lang="en-US" sz="2800">
              <a:solidFill>
                <a:srgbClr val="00B0F0"/>
              </a:solidFill>
              <a:sym typeface="Wingdings" panose="05000000000000000000" pitchFamily="2" charset="2"/>
            </a:endParaRPr>
          </a:p>
          <a:p>
            <a:r>
              <a:rPr lang="en-US" sz="2800" b="1">
                <a:solidFill>
                  <a:srgbClr val="FF0000"/>
                </a:solidFill>
              </a:rPr>
              <a:t>              </a:t>
            </a:r>
            <a:endParaRPr lang="en-US" sz="2800">
              <a:sym typeface="Wingdings" panose="05000000000000000000" pitchFamily="2" charset="2"/>
            </a:endParaRPr>
          </a:p>
          <a:p>
            <a:endParaRPr lang="en-US" sz="2800">
              <a:solidFill>
                <a:srgbClr val="00B0F0"/>
              </a:solidFill>
              <a:sym typeface="Wingdings" panose="05000000000000000000" pitchFamily="2" charset="2"/>
            </a:endParaRPr>
          </a:p>
          <a:p>
            <a:r>
              <a:rPr lang="en-US" sz="2400" b="1" u="sng">
                <a:solidFill>
                  <a:srgbClr val="FF0000"/>
                </a:solidFill>
              </a:rPr>
              <a:t> </a:t>
            </a:r>
          </a:p>
          <a:p>
            <a:r>
              <a:rPr lang="en-US" sz="2400">
                <a:solidFill>
                  <a:srgbClr val="FF0000"/>
                </a:solidFill>
              </a:rPr>
              <a:t> </a:t>
            </a:r>
            <a:endParaRPr lang="en-US" sz="2000"/>
          </a:p>
          <a:p>
            <a:endParaRPr lang="en-US" sz="2000"/>
          </a:p>
          <a:p>
            <a:pPr algn="just"/>
            <a:r>
              <a:rPr lang="en-US" sz="2000"/>
              <a:t> </a:t>
            </a:r>
          </a:p>
          <a:p>
            <a:pPr algn="just"/>
            <a:endParaRPr lang="en-US" sz="2000">
              <a:solidFill>
                <a:srgbClr val="FF0000"/>
              </a:solidFill>
            </a:endParaRPr>
          </a:p>
          <a:p>
            <a:pPr algn="just"/>
            <a:r>
              <a:rPr lang="en-US" sz="2000">
                <a:solidFill>
                  <a:srgbClr val="FF0000"/>
                </a:solidFill>
              </a:rPr>
              <a:t>Authorities Announcements </a:t>
            </a:r>
            <a:r>
              <a:rPr lang="en-US" sz="2000"/>
              <a:t>, </a:t>
            </a:r>
            <a:r>
              <a:rPr lang="en-US" sz="2000">
                <a:solidFill>
                  <a:srgbClr val="FF0000"/>
                </a:solidFill>
              </a:rPr>
              <a:t>Travel Plan</a:t>
            </a:r>
            <a:r>
              <a:rPr lang="en-US" sz="2000"/>
              <a:t>, </a:t>
            </a:r>
            <a:r>
              <a:rPr lang="en-US" sz="2000">
                <a:solidFill>
                  <a:srgbClr val="FF0000"/>
                </a:solidFill>
              </a:rPr>
              <a:t>Company advertisements, Un-related topics </a:t>
            </a:r>
            <a:r>
              <a:rPr lang="en-US" sz="2000">
                <a:solidFill>
                  <a:srgbClr val="FF0000"/>
                </a:solidFill>
                <a:sym typeface="Wingdings" panose="05000000000000000000" pitchFamily="2" charset="2"/>
              </a:rPr>
              <a:t></a:t>
            </a:r>
            <a:r>
              <a:rPr lang="en-US" sz="2000">
                <a:solidFill>
                  <a:srgbClr val="FF0000"/>
                </a:solidFill>
              </a:rPr>
              <a:t> </a:t>
            </a:r>
            <a:r>
              <a:rPr lang="en-US" sz="2000"/>
              <a:t> </a:t>
            </a:r>
          </a:p>
          <a:p>
            <a:pPr algn="just"/>
            <a:endParaRPr lang="en-US" sz="2000" b="1"/>
          </a:p>
        </p:txBody>
      </p:sp>
      <p:sp>
        <p:nvSpPr>
          <p:cNvPr id="6" name="TextBox 5"/>
          <p:cNvSpPr txBox="1"/>
          <p:nvPr/>
        </p:nvSpPr>
        <p:spPr>
          <a:xfrm>
            <a:off x="0" y="1378514"/>
            <a:ext cx="4765964" cy="523220"/>
          </a:xfrm>
          <a:prstGeom prst="rect">
            <a:avLst/>
          </a:prstGeom>
          <a:noFill/>
        </p:spPr>
        <p:txBody>
          <a:bodyPr wrap="square" rtlCol="0">
            <a:spAutoFit/>
          </a:bodyPr>
          <a:lstStyle/>
          <a:p>
            <a:pPr algn="ctr"/>
            <a:r>
              <a:rPr lang="en-US" sz="2800" b="1" err="1">
                <a:solidFill>
                  <a:srgbClr val="0099FF"/>
                </a:solidFill>
              </a:rPr>
              <a:t>Eg.</a:t>
            </a:r>
            <a:r>
              <a:rPr lang="en-US" sz="2800" b="1">
                <a:solidFill>
                  <a:srgbClr val="0099FF"/>
                </a:solidFill>
              </a:rPr>
              <a:t> Contradicting tweets</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111"/>
            <a:ext cx="726363" cy="993731"/>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9168" y="562031"/>
            <a:ext cx="1088136" cy="377952"/>
          </a:xfrm>
          <a:prstGeom prst="rect">
            <a:avLst/>
          </a:prstGeom>
        </p:spPr>
      </p:pic>
      <p:cxnSp>
        <p:nvCxnSpPr>
          <p:cNvPr id="10" name="Straight Connector 9"/>
          <p:cNvCxnSpPr/>
          <p:nvPr/>
        </p:nvCxnSpPr>
        <p:spPr>
          <a:xfrm>
            <a:off x="0" y="938942"/>
            <a:ext cx="12192000" cy="0"/>
          </a:xfrm>
          <a:prstGeom prst="line">
            <a:avLst/>
          </a:prstGeom>
        </p:spPr>
        <p:style>
          <a:lnRef idx="2">
            <a:schemeClr val="accent5"/>
          </a:lnRef>
          <a:fillRef idx="0">
            <a:schemeClr val="accent5"/>
          </a:fillRef>
          <a:effectRef idx="1">
            <a:schemeClr val="accent5"/>
          </a:effectRef>
          <a:fontRef idx="minor">
            <a:schemeClr val="tx1"/>
          </a:fontRef>
        </p:style>
      </p:cxnSp>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06286" y="-10992"/>
            <a:ext cx="685714" cy="419048"/>
          </a:xfrm>
          <a:prstGeom prst="rect">
            <a:avLst/>
          </a:prstGeom>
        </p:spPr>
      </p:pic>
      <p:sp>
        <p:nvSpPr>
          <p:cNvPr id="4" name="Text Placeholder 3"/>
          <p:cNvSpPr>
            <a:spLocks noGrp="1"/>
          </p:cNvSpPr>
          <p:nvPr>
            <p:ph type="body" sz="quarter" idx="14"/>
          </p:nvPr>
        </p:nvSpPr>
        <p:spPr/>
        <p:txBody>
          <a:bodyPr/>
          <a:lstStyle/>
          <a:p>
            <a:endParaRPr lang="en-US"/>
          </a:p>
        </p:txBody>
      </p:sp>
      <p:sp>
        <p:nvSpPr>
          <p:cNvPr id="20" name="Text Placeholder 19"/>
          <p:cNvSpPr>
            <a:spLocks noGrp="1"/>
          </p:cNvSpPr>
          <p:nvPr>
            <p:ph type="body" sz="quarter" idx="14"/>
          </p:nvPr>
        </p:nvSpPr>
        <p:spPr/>
        <p:txBody>
          <a:bodyPr/>
          <a:lstStyle/>
          <a:p>
            <a:endParaRPr lang="en-US"/>
          </a:p>
        </p:txBody>
      </p:sp>
      <p:sp>
        <p:nvSpPr>
          <p:cNvPr id="24" name="Text Placeholder 14"/>
          <p:cNvSpPr>
            <a:spLocks noGrp="1"/>
          </p:cNvSpPr>
          <p:nvPr>
            <p:ph type="body" sz="quarter" idx="14"/>
          </p:nvPr>
        </p:nvSpPr>
        <p:spPr>
          <a:xfrm>
            <a:off x="0" y="6278137"/>
            <a:ext cx="12192000" cy="579863"/>
          </a:xfrm>
          <a:gradFill>
            <a:gsLst>
              <a:gs pos="100000">
                <a:srgbClr val="0099FF"/>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p:spPr>
        <p:txBody>
          <a:bodyPr/>
          <a:lstStyle/>
          <a:p>
            <a:endParaRPr lang="en-US" sz="1200" b="1"/>
          </a:p>
          <a:p>
            <a:endParaRPr lang="en-US">
              <a:solidFill>
                <a:schemeClr val="bg1"/>
              </a:solidFill>
            </a:endParaRPr>
          </a:p>
        </p:txBody>
      </p:sp>
      <p:cxnSp>
        <p:nvCxnSpPr>
          <p:cNvPr id="25" name="Straight Connector 24"/>
          <p:cNvCxnSpPr/>
          <p:nvPr/>
        </p:nvCxnSpPr>
        <p:spPr>
          <a:xfrm>
            <a:off x="0" y="6305801"/>
            <a:ext cx="12192000"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p:cNvCxnSpPr/>
          <p:nvPr/>
        </p:nvCxnSpPr>
        <p:spPr>
          <a:xfrm>
            <a:off x="0" y="6773333"/>
            <a:ext cx="12192000" cy="0"/>
          </a:xfrm>
          <a:prstGeom prst="line">
            <a:avLst/>
          </a:prstGeom>
        </p:spPr>
        <p:style>
          <a:lnRef idx="3">
            <a:schemeClr val="accent3"/>
          </a:lnRef>
          <a:fillRef idx="0">
            <a:schemeClr val="accent3"/>
          </a:fillRef>
          <a:effectRef idx="2">
            <a:schemeClr val="accent3"/>
          </a:effectRef>
          <a:fontRef idx="minor">
            <a:schemeClr val="tx1"/>
          </a:fontRef>
        </p:style>
      </p:cxnSp>
      <p:sp>
        <p:nvSpPr>
          <p:cNvPr id="2" name="Rectangle: Rounded Corners 1">
            <a:extLst>
              <a:ext uri="{FF2B5EF4-FFF2-40B4-BE49-F238E27FC236}">
                <a16:creationId xmlns:a16="http://schemas.microsoft.com/office/drawing/2014/main" id="{F1272A99-6ED5-4567-BEC2-D991BA0ACED5}"/>
              </a:ext>
            </a:extLst>
          </p:cNvPr>
          <p:cNvSpPr/>
          <p:nvPr/>
        </p:nvSpPr>
        <p:spPr>
          <a:xfrm>
            <a:off x="10482460" y="5496935"/>
            <a:ext cx="1366683" cy="351703"/>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b="1"/>
              <a:t>Not Useful</a:t>
            </a:r>
          </a:p>
        </p:txBody>
      </p:sp>
      <p:graphicFrame>
        <p:nvGraphicFramePr>
          <p:cNvPr id="12" name="Table 12">
            <a:extLst>
              <a:ext uri="{FF2B5EF4-FFF2-40B4-BE49-F238E27FC236}">
                <a16:creationId xmlns:a16="http://schemas.microsoft.com/office/drawing/2014/main" id="{F6B36F9A-AD2D-499E-9DB1-010F1BFCEA43}"/>
              </a:ext>
            </a:extLst>
          </p:cNvPr>
          <p:cNvGraphicFramePr>
            <a:graphicFrameLocks noGrp="1"/>
          </p:cNvGraphicFramePr>
          <p:nvPr>
            <p:extLst>
              <p:ext uri="{D42A27DB-BD31-4B8C-83A1-F6EECF244321}">
                <p14:modId xmlns:p14="http://schemas.microsoft.com/office/powerpoint/2010/main" val="446824802"/>
              </p:ext>
            </p:extLst>
          </p:nvPr>
        </p:nvGraphicFramePr>
        <p:xfrm>
          <a:off x="363181" y="2091147"/>
          <a:ext cx="11220642" cy="2865120"/>
        </p:xfrm>
        <a:graphic>
          <a:graphicData uri="http://schemas.openxmlformats.org/drawingml/2006/table">
            <a:tbl>
              <a:tblPr firstRow="1" bandRow="1">
                <a:tableStyleId>{5A111915-BE36-4E01-A7E5-04B1672EAD32}</a:tableStyleId>
              </a:tblPr>
              <a:tblGrid>
                <a:gridCol w="9088582">
                  <a:extLst>
                    <a:ext uri="{9D8B030D-6E8A-4147-A177-3AD203B41FA5}">
                      <a16:colId xmlns:a16="http://schemas.microsoft.com/office/drawing/2014/main" val="1924737740"/>
                    </a:ext>
                  </a:extLst>
                </a:gridCol>
                <a:gridCol w="2132060">
                  <a:extLst>
                    <a:ext uri="{9D8B030D-6E8A-4147-A177-3AD203B41FA5}">
                      <a16:colId xmlns:a16="http://schemas.microsoft.com/office/drawing/2014/main" val="548050245"/>
                    </a:ext>
                  </a:extLst>
                </a:gridCol>
              </a:tblGrid>
              <a:tr h="370840">
                <a:tc>
                  <a:txBody>
                    <a:bodyPr/>
                    <a:lstStyle/>
                    <a:p>
                      <a:r>
                        <a:rPr lang="en-US" b="1"/>
                        <a:t>tweet</a:t>
                      </a:r>
                    </a:p>
                  </a:txBody>
                  <a:tcPr/>
                </a:tc>
                <a:tc>
                  <a:txBody>
                    <a:bodyPr/>
                    <a:lstStyle/>
                    <a:p>
                      <a:r>
                        <a:rPr lang="en-US" b="1"/>
                        <a:t>Remarks</a:t>
                      </a:r>
                    </a:p>
                  </a:txBody>
                  <a:tcPr/>
                </a:tc>
                <a:extLst>
                  <a:ext uri="{0D108BD9-81ED-4DB2-BD59-A6C34878D82A}">
                    <a16:rowId xmlns:a16="http://schemas.microsoft.com/office/drawing/2014/main" val="2224583413"/>
                  </a:ext>
                </a:extLst>
              </a:tr>
              <a:tr h="370840">
                <a:tc>
                  <a:txBody>
                    <a:bodyPr/>
                    <a:lstStyle/>
                    <a:p>
                      <a:r>
                        <a:rPr lang="en-US"/>
                        <a:t>drinking a </a:t>
                      </a:r>
                      <a:r>
                        <a:rPr lang="en-US" err="1"/>
                        <a:t>serengeti</a:t>
                      </a:r>
                      <a:r>
                        <a:rPr lang="en-US"/>
                        <a:t> wheat by @ </a:t>
                      </a:r>
                      <a:r>
                        <a:rPr lang="en-US" err="1"/>
                        <a:t>mjbrewery</a:t>
                      </a:r>
                      <a:r>
                        <a:rPr lang="en-US"/>
                        <a:t> at @</a:t>
                      </a:r>
                      <a:r>
                        <a:rPr lang="en-US" err="1"/>
                        <a:t>seatacaairport</a:t>
                      </a:r>
                      <a:endParaRPr lang="en-US"/>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a:solidFill>
                            <a:schemeClr val="accent6">
                              <a:lumMod val="75000"/>
                            </a:schemeClr>
                          </a:solidFill>
                        </a:rPr>
                        <a:t>Different topic</a:t>
                      </a:r>
                    </a:p>
                  </a:txBody>
                  <a:tcPr/>
                </a:tc>
                <a:extLst>
                  <a:ext uri="{0D108BD9-81ED-4DB2-BD59-A6C34878D82A}">
                    <a16:rowId xmlns:a16="http://schemas.microsoft.com/office/drawing/2014/main" val="3211893880"/>
                  </a:ext>
                </a:extLst>
              </a:tr>
              <a:tr h="370840">
                <a:tc>
                  <a:txBody>
                    <a:bodyPr/>
                    <a:lstStyle/>
                    <a:p>
                      <a:r>
                        <a:rPr lang="en-US" err="1"/>
                        <a:t>i’m</a:t>
                      </a:r>
                      <a:r>
                        <a:rPr lang="en-US"/>
                        <a:t> at </a:t>
                      </a:r>
                      <a:r>
                        <a:rPr lang="en-US" err="1"/>
                        <a:t>serengeti</a:t>
                      </a:r>
                      <a:r>
                        <a:rPr lang="en-US"/>
                        <a:t> park in </a:t>
                      </a:r>
                      <a:r>
                        <a:rPr lang="en-US" err="1"/>
                        <a:t>hodenhagen</a:t>
                      </a:r>
                      <a:endParaRPr lang="en-US"/>
                    </a:p>
                  </a:txBody>
                  <a:tcPr/>
                </a:tc>
                <a:tc>
                  <a:txBody>
                    <a:bodyPr/>
                    <a:lstStyle/>
                    <a:p>
                      <a:r>
                        <a:rPr lang="en-US" b="1">
                          <a:solidFill>
                            <a:srgbClr val="FF0000"/>
                          </a:solidFill>
                        </a:rPr>
                        <a:t>Different park</a:t>
                      </a:r>
                    </a:p>
                  </a:txBody>
                  <a:tcPr/>
                </a:tc>
                <a:extLst>
                  <a:ext uri="{0D108BD9-81ED-4DB2-BD59-A6C34878D82A}">
                    <a16:rowId xmlns:a16="http://schemas.microsoft.com/office/drawing/2014/main" val="1660603950"/>
                  </a:ext>
                </a:extLst>
              </a:tr>
              <a:tr h="370840">
                <a:tc>
                  <a:txBody>
                    <a:bodyPr/>
                    <a:lstStyle/>
                    <a:p>
                      <a:r>
                        <a:rPr lang="en-US" err="1"/>
                        <a:t>ochestra</a:t>
                      </a:r>
                      <a:r>
                        <a:rPr lang="en-US"/>
                        <a:t> tuning up to play live during the screening of discovery channel </a:t>
                      </a:r>
                      <a:r>
                        <a:rPr lang="en-US" err="1"/>
                        <a:t>serengeti</a:t>
                      </a:r>
                      <a:r>
                        <a:rPr lang="en-US"/>
                        <a:t> can not wait</a:t>
                      </a:r>
                    </a:p>
                  </a:txBody>
                  <a:tcPr/>
                </a:tc>
                <a:tc>
                  <a:txBody>
                    <a:bodyPr/>
                    <a:lstStyle/>
                    <a:p>
                      <a:r>
                        <a:rPr lang="en-US" b="1">
                          <a:solidFill>
                            <a:schemeClr val="accent6">
                              <a:lumMod val="75000"/>
                            </a:schemeClr>
                          </a:solidFill>
                        </a:rPr>
                        <a:t>Different topic</a:t>
                      </a:r>
                    </a:p>
                  </a:txBody>
                  <a:tcPr/>
                </a:tc>
                <a:extLst>
                  <a:ext uri="{0D108BD9-81ED-4DB2-BD59-A6C34878D82A}">
                    <a16:rowId xmlns:a16="http://schemas.microsoft.com/office/drawing/2014/main" val="1527640078"/>
                  </a:ext>
                </a:extLst>
              </a:tr>
              <a:tr h="370840">
                <a:tc>
                  <a:txBody>
                    <a:bodyPr/>
                    <a:lstStyle/>
                    <a:p>
                      <a:r>
                        <a:rPr lang="en-US"/>
                        <a:t>ready for a </a:t>
                      </a:r>
                      <a:r>
                        <a:rPr lang="en-US" err="1"/>
                        <a:t>serengeti</a:t>
                      </a:r>
                      <a:r>
                        <a:rPr lang="en-US"/>
                        <a:t> night at the </a:t>
                      </a:r>
                      <a:r>
                        <a:rPr lang="en-US" err="1"/>
                        <a:t>topeka</a:t>
                      </a:r>
                      <a:r>
                        <a:rPr lang="en-US"/>
                        <a:t> zoo @ </a:t>
                      </a:r>
                      <a:r>
                        <a:rPr lang="en-US" err="1"/>
                        <a:t>topeka</a:t>
                      </a:r>
                      <a:r>
                        <a:rPr lang="en-US"/>
                        <a:t> center</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a:solidFill>
                            <a:srgbClr val="FF0000"/>
                          </a:solidFill>
                        </a:rPr>
                        <a:t>Different park</a:t>
                      </a:r>
                    </a:p>
                  </a:txBody>
                  <a:tcPr/>
                </a:tc>
                <a:extLst>
                  <a:ext uri="{0D108BD9-81ED-4DB2-BD59-A6C34878D82A}">
                    <a16:rowId xmlns:a16="http://schemas.microsoft.com/office/drawing/2014/main" val="145782552"/>
                  </a:ext>
                </a:extLst>
              </a:tr>
              <a:tr h="370840">
                <a:tc>
                  <a:txBody>
                    <a:bodyPr/>
                    <a:lstStyle/>
                    <a:p>
                      <a:r>
                        <a:rPr lang="en-US"/>
                        <a:t>did you know </a:t>
                      </a:r>
                      <a:r>
                        <a:rPr lang="en-US" err="1"/>
                        <a:t>serengeti</a:t>
                      </a:r>
                      <a:r>
                        <a:rPr lang="en-US"/>
                        <a:t> won the </a:t>
                      </a:r>
                      <a:r>
                        <a:rPr lang="en-US" err="1"/>
                        <a:t>africas</a:t>
                      </a:r>
                      <a:r>
                        <a:rPr lang="en-US"/>
                        <a:t> leading national park the unforgettable beauty of the nature unspoiled</a:t>
                      </a:r>
                    </a:p>
                  </a:txBody>
                  <a:tcPr/>
                </a:tc>
                <a:tc>
                  <a:txBody>
                    <a:bodyPr/>
                    <a:lstStyle/>
                    <a:p>
                      <a:r>
                        <a:rPr lang="en-US" b="1">
                          <a:solidFill>
                            <a:srgbClr val="7030A0"/>
                          </a:solidFill>
                        </a:rPr>
                        <a:t>public announcement</a:t>
                      </a:r>
                    </a:p>
                  </a:txBody>
                  <a:tcPr/>
                </a:tc>
                <a:extLst>
                  <a:ext uri="{0D108BD9-81ED-4DB2-BD59-A6C34878D82A}">
                    <a16:rowId xmlns:a16="http://schemas.microsoft.com/office/drawing/2014/main" val="6532647"/>
                  </a:ext>
                </a:extLst>
              </a:tr>
              <a:tr h="370840">
                <a:tc>
                  <a:txBody>
                    <a:bodyPr/>
                    <a:lstStyle/>
                    <a:p>
                      <a:r>
                        <a:rPr lang="en-US"/>
                        <a:t>for booking safari Serengeti Ngorongoro </a:t>
                      </a:r>
                      <a:r>
                        <a:rPr lang="en-US" err="1"/>
                        <a:t>mikumi</a:t>
                      </a:r>
                      <a:r>
                        <a:rPr lang="en-US"/>
                        <a:t> national park  </a:t>
                      </a:r>
                      <a:r>
                        <a:rPr lang="en-US" err="1"/>
                        <a:t>zanzibar</a:t>
                      </a:r>
                      <a:r>
                        <a:rPr lang="en-US"/>
                        <a:t> trip vacation beaches</a:t>
                      </a:r>
                    </a:p>
                  </a:txBody>
                  <a:tcPr/>
                </a:tc>
                <a:tc>
                  <a:txBody>
                    <a:bodyPr/>
                    <a:lstStyle/>
                    <a:p>
                      <a:r>
                        <a:rPr lang="en-US" b="1">
                          <a:solidFill>
                            <a:srgbClr val="0099FF"/>
                          </a:solidFill>
                        </a:rPr>
                        <a:t>advertisement</a:t>
                      </a:r>
                    </a:p>
                  </a:txBody>
                  <a:tcPr/>
                </a:tc>
                <a:extLst>
                  <a:ext uri="{0D108BD9-81ED-4DB2-BD59-A6C34878D82A}">
                    <a16:rowId xmlns:a16="http://schemas.microsoft.com/office/drawing/2014/main" val="151418269"/>
                  </a:ext>
                </a:extLst>
              </a:tr>
            </a:tbl>
          </a:graphicData>
        </a:graphic>
      </p:graphicFrame>
    </p:spTree>
    <p:extLst>
      <p:ext uri="{BB962C8B-B14F-4D97-AF65-F5344CB8AC3E}">
        <p14:creationId xmlns:p14="http://schemas.microsoft.com/office/powerpoint/2010/main" val="602268850"/>
      </p:ext>
    </p:extLst>
  </p:cSld>
  <p:clrMapOvr>
    <a:masterClrMapping/>
  </p:clrMapOvr>
</p:sld>
</file>

<file path=ppt/theme/theme1.xml><?xml version="1.0" encoding="utf-8"?>
<a:theme xmlns:a="http://schemas.openxmlformats.org/drawingml/2006/main" name="13061449H-SBU_SBM_CH_PPTtemplate_REV_070513">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Stony Brook University">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Stony Brook Medicin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Stony Brook Children'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78c8fd3-85c4-4100-b24f-e73808412fb0">
      <Terms xmlns="http://schemas.microsoft.com/office/infopath/2007/PartnerControls"/>
    </lcf76f155ced4ddcb4097134ff3c332f>
    <TaxCatchAll xmlns="50499947-af45-4fd2-b164-1c9bf29c958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EA095C8600A4B74DBB4DCBF0B1F724DF" ma:contentTypeVersion="10" ma:contentTypeDescription="新しいドキュメントを作成します。" ma:contentTypeScope="" ma:versionID="8bc7fde412da2577dde46b8961673bd9">
  <xsd:schema xmlns:xsd="http://www.w3.org/2001/XMLSchema" xmlns:xs="http://www.w3.org/2001/XMLSchema" xmlns:p="http://schemas.microsoft.com/office/2006/metadata/properties" xmlns:ns2="e78c8fd3-85c4-4100-b24f-e73808412fb0" xmlns:ns3="50499947-af45-4fd2-b164-1c9bf29c9587" targetNamespace="http://schemas.microsoft.com/office/2006/metadata/properties" ma:root="true" ma:fieldsID="8c55532b5fba556dfc0c216bed3478b3" ns2:_="" ns3:_="">
    <xsd:import namespace="e78c8fd3-85c4-4100-b24f-e73808412fb0"/>
    <xsd:import namespace="50499947-af45-4fd2-b164-1c9bf29c958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8c8fd3-85c4-4100-b24f-e73808412fb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c1ec0f05-8db9-4cb4-a53b-b8806002f24b"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0499947-af45-4fd2-b164-1c9bf29c9587"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1db12fb-be8b-41e9-82ca-a81da4ae21ad}" ma:internalName="TaxCatchAll" ma:showField="CatchAllData" ma:web="50499947-af45-4fd2-b164-1c9bf29c958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3113719-A86D-4A25-A8BB-6E1F36826FF9}">
  <ds:schemaRefs>
    <ds:schemaRef ds:uri="50499947-af45-4fd2-b164-1c9bf29c9587"/>
    <ds:schemaRef ds:uri="e78c8fd3-85c4-4100-b24f-e73808412fb0"/>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5AC7ECA2-6E5E-48A0-A228-5B91588545BB}">
  <ds:schemaRefs>
    <ds:schemaRef ds:uri="http://schemas.microsoft.com/sharepoint/v3/contenttype/forms"/>
  </ds:schemaRefs>
</ds:datastoreItem>
</file>

<file path=customXml/itemProps3.xml><?xml version="1.0" encoding="utf-8"?>
<ds:datastoreItem xmlns:ds="http://schemas.openxmlformats.org/officeDocument/2006/customXml" ds:itemID="{9A210DFC-D6CE-4FCF-AE39-FB358626B8FC}">
  <ds:schemaRefs>
    <ds:schemaRef ds:uri="50499947-af45-4fd2-b164-1c9bf29c9587"/>
    <ds:schemaRef ds:uri="e78c8fd3-85c4-4100-b24f-e73808412fb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presentation</Template>
  <Application>Microsoft Office PowerPoint</Application>
  <PresentationFormat>Widescreen</PresentationFormat>
  <Slides>137</Slides>
  <Notes>137</Notes>
  <HiddenSlides>110</HiddenSlides>
  <ScaleCrop>false</ScaleCrop>
  <HeadingPairs>
    <vt:vector size="4" baseType="variant">
      <vt:variant>
        <vt:lpstr>Theme</vt:lpstr>
      </vt:variant>
      <vt:variant>
        <vt:i4>4</vt:i4>
      </vt:variant>
      <vt:variant>
        <vt:lpstr>Slide Titles</vt:lpstr>
      </vt:variant>
      <vt:variant>
        <vt:i4>137</vt:i4>
      </vt:variant>
    </vt:vector>
  </HeadingPairs>
  <TitlesOfParts>
    <vt:vector size="141" baseType="lpstr">
      <vt:lpstr>13061449H-SBU_SBM_CH_PPTtemplate_REV_070513</vt:lpstr>
      <vt:lpstr>Stony Brook University</vt:lpstr>
      <vt:lpstr>Stony Brook Medicine</vt:lpstr>
      <vt:lpstr>Stony Brook Children's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Santosh Kr. Ghosh</dc:creator>
  <cp:revision>1</cp:revision>
  <cp:lastPrinted>2025-06-30T01:03:30Z</cp:lastPrinted>
  <dcterms:created xsi:type="dcterms:W3CDTF">2014-12-04T00:40:47Z</dcterms:created>
  <dcterms:modified xsi:type="dcterms:W3CDTF">2026-09-07T01:21:36Z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0x010100EA095C8600A4B74DBB4DCBF0B1F724DF</vt:lpwstr>
  </property>
  <property fmtid="{D5CDD505-2E9C-101B-9397-08002B2CF9AE}" pid="3" name="MediaServiceImageTags">
    <vt:lpwstr/>
  </property>
</Properties>
</file>